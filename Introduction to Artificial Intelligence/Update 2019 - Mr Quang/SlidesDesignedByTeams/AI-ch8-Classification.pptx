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handoutMasterIdLst>
    <p:handoutMasterId r:id="rId9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546" y="-90"/>
      </p:cViewPr>
      <p:guideLst>
        <p:guide orient="horz" pos="2381"/>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vi-VN" sz="1400" b="0" i="0" u="none" strike="noStrike" kern="1200">
              <a:ln>
                <a:noFill/>
              </a:ln>
              <a:latin typeface="Arial" pitchFamily="18"/>
              <a:ea typeface="Microsoft YaHei" pitchFamily="2"/>
              <a:cs typeface="Arial" pitchFamily="2"/>
            </a:endParaRPr>
          </a:p>
        </p:txBody>
      </p:sp>
      <p:sp>
        <p:nvSpPr>
          <p:cNvPr id="3" name="Date Placeholder 2"/>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vi-VN" sz="1400" b="0" i="0" u="none" strike="noStrike" kern="1200">
              <a:ln>
                <a:noFill/>
              </a:ln>
              <a:latin typeface="Arial" pitchFamily="18"/>
              <a:ea typeface="Microsoft YaHei" pitchFamily="2"/>
              <a:cs typeface="Arial" pitchFamily="2"/>
            </a:endParaRPr>
          </a:p>
        </p:txBody>
      </p:sp>
      <p:sp>
        <p:nvSpPr>
          <p:cNvPr id="4" name="Footer Placeholder 3"/>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vi-VN" sz="1400" b="0" i="0" u="none" strike="noStrike" kern="1200">
              <a:ln>
                <a:noFill/>
              </a:ln>
              <a:latin typeface="Arial" pitchFamily="18"/>
              <a:ea typeface="Microsoft YaHei" pitchFamily="2"/>
              <a:cs typeface="Arial" pitchFamily="2"/>
            </a:endParaRPr>
          </a:p>
        </p:txBody>
      </p:sp>
      <p:sp>
        <p:nvSpPr>
          <p:cNvPr id="5" name="Slide Number Placeholder 4"/>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17ABEE5F-3193-42F7-8E69-FC688407E0EF}" type="slidenum">
              <a:t>‹#›</a:t>
            </a:fld>
            <a:endParaRPr lang="vi-VN" sz="1400" b="0" i="0" u="none" strike="noStrike" kern="1200">
              <a:ln>
                <a:noFill/>
              </a:ln>
              <a:latin typeface="Arial" pitchFamily="18"/>
              <a:ea typeface="Microsoft YaHei" pitchFamily="2"/>
              <a:cs typeface="Arial" pitchFamily="2"/>
            </a:endParaRPr>
          </a:p>
        </p:txBody>
      </p:sp>
    </p:spTree>
    <p:extLst>
      <p:ext uri="{BB962C8B-B14F-4D97-AF65-F5344CB8AC3E}">
        <p14:creationId xmlns:p14="http://schemas.microsoft.com/office/powerpoint/2010/main" val="1816867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07000" y="812520"/>
            <a:ext cx="5345280" cy="4008959"/>
          </a:xfrm>
          <a:prstGeom prst="rect">
            <a:avLst/>
          </a:prstGeom>
          <a:noFill/>
          <a:ln>
            <a:noFill/>
            <a:prstDash val="solid"/>
          </a:ln>
        </p:spPr>
      </p:sp>
      <p:sp>
        <p:nvSpPr>
          <p:cNvPr id="3" name="Notes Placeholder 2"/>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vi-VN"/>
          </a:p>
        </p:txBody>
      </p:sp>
      <p:sp>
        <p:nvSpPr>
          <p:cNvPr id="4" name="Header Placeholder 3"/>
          <p:cNvSpPr txBox="1">
            <a:spLocks noGrp="1"/>
          </p:cNvSpPr>
          <p:nvPr>
            <p:ph type="hdr" sz="quarter"/>
          </p:nvPr>
        </p:nvSpPr>
        <p:spPr>
          <a:xfrm>
            <a:off x="0" y="0"/>
            <a:ext cx="3280680" cy="534240"/>
          </a:xfrm>
          <a:prstGeom prst="rect">
            <a:avLst/>
          </a:prstGeom>
          <a:noFill/>
          <a:ln>
            <a:noFill/>
          </a:ln>
        </p:spPr>
        <p:txBody>
          <a:bodyPr lIns="0" tIns="0" rIns="0" bIns="0" anchorCtr="0">
            <a:noAutofit/>
          </a:bodyPr>
          <a:lstStyle>
            <a:lvl1pPr lvl="0" rtl="0" hangingPunct="0">
              <a:buNone/>
              <a:tabLst/>
              <a:defRPr lang="vi-VN" sz="1400" kern="1200">
                <a:latin typeface="Times New Roman" pitchFamily="18"/>
                <a:ea typeface="Lucida Sans Unicode" pitchFamily="2"/>
                <a:cs typeface="Tahoma" pitchFamily="2"/>
              </a:defRPr>
            </a:lvl1pPr>
          </a:lstStyle>
          <a:p>
            <a:pPr lvl="0"/>
            <a:endParaRPr lang="vi-VN"/>
          </a:p>
        </p:txBody>
      </p:sp>
      <p:sp>
        <p:nvSpPr>
          <p:cNvPr id="5" name="Date Placeholder 4"/>
          <p:cNvSpPr txBox="1">
            <a:spLocks noGrp="1"/>
          </p:cNvSpPr>
          <p:nvPr>
            <p:ph type="dt" idx="1"/>
          </p:nvPr>
        </p:nvSpPr>
        <p:spPr>
          <a:xfrm>
            <a:off x="4278960" y="0"/>
            <a:ext cx="3280680" cy="534240"/>
          </a:xfrm>
          <a:prstGeom prst="rect">
            <a:avLst/>
          </a:prstGeom>
          <a:noFill/>
          <a:ln>
            <a:noFill/>
          </a:ln>
        </p:spPr>
        <p:txBody>
          <a:bodyPr lIns="0" tIns="0" rIns="0" bIns="0" anchorCtr="0">
            <a:noAutofit/>
          </a:bodyPr>
          <a:lstStyle>
            <a:lvl1pPr lvl="0" algn="r" rtl="0" hangingPunct="0">
              <a:buNone/>
              <a:tabLst/>
              <a:defRPr lang="vi-VN" sz="1400" kern="1200">
                <a:latin typeface="Times New Roman" pitchFamily="18"/>
                <a:ea typeface="Lucida Sans Unicode" pitchFamily="2"/>
                <a:cs typeface="Tahoma" pitchFamily="2"/>
              </a:defRPr>
            </a:lvl1pPr>
          </a:lstStyle>
          <a:p>
            <a:pPr lvl="0"/>
            <a:endParaRPr lang="vi-VN"/>
          </a:p>
        </p:txBody>
      </p:sp>
      <p:sp>
        <p:nvSpPr>
          <p:cNvPr id="6" name="Footer Placeholder 5"/>
          <p:cNvSpPr txBox="1">
            <a:spLocks noGrp="1"/>
          </p:cNvSpPr>
          <p:nvPr>
            <p:ph type="ftr" sz="quarter" idx="4"/>
          </p:nvPr>
        </p:nvSpPr>
        <p:spPr>
          <a:xfrm>
            <a:off x="0" y="10157400"/>
            <a:ext cx="3280680" cy="534240"/>
          </a:xfrm>
          <a:prstGeom prst="rect">
            <a:avLst/>
          </a:prstGeom>
          <a:noFill/>
          <a:ln>
            <a:noFill/>
          </a:ln>
        </p:spPr>
        <p:txBody>
          <a:bodyPr lIns="0" tIns="0" rIns="0" bIns="0" anchor="b" anchorCtr="0">
            <a:noAutofit/>
          </a:bodyPr>
          <a:lstStyle>
            <a:lvl1pPr lvl="0" rtl="0" hangingPunct="0">
              <a:buNone/>
              <a:tabLst/>
              <a:defRPr lang="vi-VN" sz="1400" kern="1200">
                <a:latin typeface="Times New Roman" pitchFamily="18"/>
                <a:ea typeface="Lucida Sans Unicode" pitchFamily="2"/>
                <a:cs typeface="Tahoma" pitchFamily="2"/>
              </a:defRPr>
            </a:lvl1pPr>
          </a:lstStyle>
          <a:p>
            <a:pPr lvl="0"/>
            <a:endParaRPr lang="vi-VN"/>
          </a:p>
        </p:txBody>
      </p:sp>
      <p:sp>
        <p:nvSpPr>
          <p:cNvPr id="7" name="Slide Number Placeholder 6"/>
          <p:cNvSpPr txBox="1">
            <a:spLocks noGrp="1"/>
          </p:cNvSpPr>
          <p:nvPr>
            <p:ph type="sldNum" sz="quarter" idx="5"/>
          </p:nvPr>
        </p:nvSpPr>
        <p:spPr>
          <a:xfrm>
            <a:off x="4278960" y="10157400"/>
            <a:ext cx="3280680" cy="534240"/>
          </a:xfrm>
          <a:prstGeom prst="rect">
            <a:avLst/>
          </a:prstGeom>
          <a:noFill/>
          <a:ln>
            <a:noFill/>
          </a:ln>
        </p:spPr>
        <p:txBody>
          <a:bodyPr lIns="0" tIns="0" rIns="0" bIns="0" anchor="b" anchorCtr="0">
            <a:noAutofit/>
          </a:bodyPr>
          <a:lstStyle>
            <a:lvl1pPr lvl="0" algn="r" rtl="0" hangingPunct="0">
              <a:buNone/>
              <a:tabLst/>
              <a:defRPr lang="vi-VN" sz="1400" kern="1200">
                <a:latin typeface="Times New Roman" pitchFamily="18"/>
                <a:ea typeface="Lucida Sans Unicode" pitchFamily="2"/>
                <a:cs typeface="Tahoma" pitchFamily="2"/>
              </a:defRPr>
            </a:lvl1pPr>
          </a:lstStyle>
          <a:p>
            <a:pPr lvl="0"/>
            <a:fld id="{50AC0165-1B61-486A-9131-F88A7287A5A6}" type="slidenum">
              <a:t>‹#›</a:t>
            </a:fld>
            <a:endParaRPr lang="vi-VN"/>
          </a:p>
        </p:txBody>
      </p:sp>
    </p:spTree>
    <p:extLst>
      <p:ext uri="{BB962C8B-B14F-4D97-AF65-F5344CB8AC3E}">
        <p14:creationId xmlns:p14="http://schemas.microsoft.com/office/powerpoint/2010/main" val="2082710478"/>
      </p:ext>
    </p:extLst>
  </p:cSld>
  <p:clrMap bg1="lt1" tx1="dk1" bg2="lt2" tx2="dk2" accent1="accent1" accent2="accent2" accent3="accent3" accent4="accent4" accent5="accent5" accent6="accent6" hlink="hlink" folHlink="folHlink"/>
  <p:notesStyle>
    <a:lvl1pPr marL="216000" marR="0" indent="-216000" rtl="0" hangingPunct="0">
      <a:tabLst/>
      <a:defRPr lang="vi-VN" sz="2000" b="0" i="0" u="none" strike="noStrike" kern="1200">
        <a:ln>
          <a:noFill/>
        </a:ln>
        <a:latin typeface="Arial" pitchFamily="18"/>
        <a:ea typeface="Microsoft YaHei" pitchFamily="2"/>
        <a:cs typeface="Ari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3C8FEC38-12BB-46A4-A35C-752D57808E2B}" type="slidenum">
              <a:t>1</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vi-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39DD756D-FE4C-44CF-9769-F6CD15036F23}" type="slidenum">
              <a:t>2</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46631B63-DA4A-41E8-B4C0-DC2971669EFA}" type="slidenum">
              <a:t>3</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8133422C-6DED-475C-84CE-1F93F5DB9717}" type="slidenum">
              <a:t>4</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8371E9C2-2793-4036-B340-34E40F1B1EBF}" type="slidenum">
              <a:t>5</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FD1CC17A-C092-4C0F-9DC7-AB173E553B11}" type="slidenum">
              <a:t>6</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B186CEFD-DE8B-456E-A48A-2F8B49C17259}" type="slidenum">
              <a:t>7</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B244B286-5C6E-44FE-BDFB-49FD5A818B50}" type="slidenum">
              <a:t>8</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B7736E85-9978-47C6-B0AB-8A6B7FAA778E}" type="slidenum">
              <a:t>9</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3A27FE4F-167F-43CE-906D-D02F7A2F3A2A}" type="slidenum">
              <a:t>10</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466F295F-F3DB-473E-8DB9-F21D0EBCDE5D}" type="slidenum">
              <a:t>11</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E02AA529-FC57-4DFC-95B9-61E40A01B60B}" type="slidenum">
              <a:t>12</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84DD7DC5-824B-48A5-B760-8CF3DDDAAD45}" type="slidenum">
              <a:t>13</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5928E420-7A62-402D-8BFB-B5E82C13B961}" type="slidenum">
              <a:t>14</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4537A070-567C-46F1-9558-7A0BBC74A0FE}" type="slidenum">
              <a:t>15</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5DAC3F75-4D19-4220-8E50-DF4438763A90}" type="slidenum">
              <a:t>16</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ACB3A3D8-D3C6-4F03-ABC1-0E767B75E1F7}" type="slidenum">
              <a:t>17</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8DD82F34-0655-46C2-9EE4-79EACC1E6D63}" type="slidenum">
              <a:t>18</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9BA45F4A-0646-4155-8B89-65C0FD4B8FE4}" type="slidenum">
              <a:t>19</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AF0CA1AC-9B2F-48DC-8DFB-ED5F1CF37A7E}" type="slidenum">
              <a:t>20</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4C85DCD8-4BFF-42D6-92EE-C3BCDD73BC9B}" type="slidenum">
              <a:t>21</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EA88748D-6509-48AA-9097-B7694CC4493C}" type="slidenum">
              <a:t>22</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3BD68261-1E52-4269-A440-1F8B270AB9B7}" type="slidenum">
              <a:t>23</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054FFA00-32B0-43AA-BE3B-2DCEC8F6E1C0}" type="slidenum">
              <a:t>24</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D4EFF999-EAE8-4DD6-9992-5D61C045AA75}" type="slidenum">
              <a:t>25</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3F819C83-F881-4EB3-B988-241B8653C55A}" type="slidenum">
              <a:t>26</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7EEC4C95-E02D-4332-9070-77BCF7CDC764}" type="slidenum">
              <a:t>27</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E719CE3A-EE5A-4E52-A665-3B4D0FA8BC60}" type="slidenum">
              <a:t>28</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lvl="0"/>
            <a:fld id="{30190EE4-E66F-49A8-B3B8-DCCDBCB6558A}" type="slidenum">
              <a:t>29</a:t>
            </a:fld>
            <a:endParaRPr lang="vi-VN"/>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lvl="0"/>
            <a:endParaRPr lang="vi-VN"/>
          </a:p>
        </p:txBody>
      </p:sp>
      <p:sp>
        <p:nvSpPr>
          <p:cNvPr id="5" name="Footer Placeholder 4"/>
          <p:cNvSpPr>
            <a:spLocks noGrp="1"/>
          </p:cNvSpPr>
          <p:nvPr>
            <p:ph type="ftr" sz="quarter" idx="11"/>
          </p:nvPr>
        </p:nvSpPr>
        <p:spPr/>
        <p:txBody>
          <a:bodyPr/>
          <a:lstStyle/>
          <a:p>
            <a:pPr lvl="0"/>
            <a:endParaRPr lang="vi-VN"/>
          </a:p>
        </p:txBody>
      </p:sp>
      <p:sp>
        <p:nvSpPr>
          <p:cNvPr id="6" name="Slide Number Placeholder 5"/>
          <p:cNvSpPr>
            <a:spLocks noGrp="1"/>
          </p:cNvSpPr>
          <p:nvPr>
            <p:ph type="sldNum" sz="quarter" idx="12"/>
          </p:nvPr>
        </p:nvSpPr>
        <p:spPr/>
        <p:txBody>
          <a:bodyPr/>
          <a:lstStyle/>
          <a:p>
            <a:pPr lvl="0"/>
            <a:fld id="{96176327-3CD1-4509-87C0-696E5E78502A}" type="slidenum">
              <a:t>‹#›</a:t>
            </a:fld>
            <a:endParaRPr lang="vi-VN"/>
          </a:p>
        </p:txBody>
      </p:sp>
    </p:spTree>
    <p:extLst>
      <p:ext uri="{BB962C8B-B14F-4D97-AF65-F5344CB8AC3E}">
        <p14:creationId xmlns:p14="http://schemas.microsoft.com/office/powerpoint/2010/main" val="23924765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vi-VN"/>
          </a:p>
        </p:txBody>
      </p:sp>
      <p:sp>
        <p:nvSpPr>
          <p:cNvPr id="5" name="Footer Placeholder 4"/>
          <p:cNvSpPr>
            <a:spLocks noGrp="1"/>
          </p:cNvSpPr>
          <p:nvPr>
            <p:ph type="ftr" sz="quarter" idx="11"/>
          </p:nvPr>
        </p:nvSpPr>
        <p:spPr/>
        <p:txBody>
          <a:bodyPr/>
          <a:lstStyle/>
          <a:p>
            <a:pPr lvl="0"/>
            <a:endParaRPr lang="vi-VN"/>
          </a:p>
        </p:txBody>
      </p:sp>
      <p:sp>
        <p:nvSpPr>
          <p:cNvPr id="6" name="Slide Number Placeholder 5"/>
          <p:cNvSpPr>
            <a:spLocks noGrp="1"/>
          </p:cNvSpPr>
          <p:nvPr>
            <p:ph type="sldNum" sz="quarter" idx="12"/>
          </p:nvPr>
        </p:nvSpPr>
        <p:spPr/>
        <p:txBody>
          <a:bodyPr/>
          <a:lstStyle/>
          <a:p>
            <a:pPr lvl="0"/>
            <a:fld id="{A43FB120-260C-4092-9DCA-4D83DBE7ABBD}" type="slidenum">
              <a:t>‹#›</a:t>
            </a:fld>
            <a:endParaRPr lang="vi-VN"/>
          </a:p>
        </p:txBody>
      </p:sp>
    </p:spTree>
    <p:extLst>
      <p:ext uri="{BB962C8B-B14F-4D97-AF65-F5344CB8AC3E}">
        <p14:creationId xmlns:p14="http://schemas.microsoft.com/office/powerpoint/2010/main" val="39999078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87388" y="5059363"/>
            <a:ext cx="8694737" cy="16525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lvl="0"/>
            <a:endParaRPr lang="vi-VN"/>
          </a:p>
        </p:txBody>
      </p:sp>
      <p:sp>
        <p:nvSpPr>
          <p:cNvPr id="5" name="Footer Placeholder 4"/>
          <p:cNvSpPr>
            <a:spLocks noGrp="1"/>
          </p:cNvSpPr>
          <p:nvPr>
            <p:ph type="ftr" sz="quarter" idx="11"/>
          </p:nvPr>
        </p:nvSpPr>
        <p:spPr/>
        <p:txBody>
          <a:bodyPr/>
          <a:lstStyle/>
          <a:p>
            <a:pPr lvl="0"/>
            <a:endParaRPr lang="vi-VN"/>
          </a:p>
        </p:txBody>
      </p:sp>
      <p:sp>
        <p:nvSpPr>
          <p:cNvPr id="6" name="Slide Number Placeholder 5"/>
          <p:cNvSpPr>
            <a:spLocks noGrp="1"/>
          </p:cNvSpPr>
          <p:nvPr>
            <p:ph type="sldNum" sz="quarter" idx="12"/>
          </p:nvPr>
        </p:nvSpPr>
        <p:spPr/>
        <p:txBody>
          <a:bodyPr/>
          <a:lstStyle/>
          <a:p>
            <a:pPr lvl="0"/>
            <a:fld id="{3EDD3F37-C296-46B5-B348-267A396E8CA1}" type="slidenum">
              <a:t>‹#›</a:t>
            </a:fld>
            <a:endParaRPr lang="vi-VN"/>
          </a:p>
        </p:txBody>
      </p:sp>
    </p:spTree>
    <p:extLst>
      <p:ext uri="{BB962C8B-B14F-4D97-AF65-F5344CB8AC3E}">
        <p14:creationId xmlns:p14="http://schemas.microsoft.com/office/powerpoint/2010/main" val="29990763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3238" y="1768475"/>
            <a:ext cx="4459287" cy="49895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4925" y="1768475"/>
            <a:ext cx="4460875" cy="49895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lvl="0"/>
            <a:endParaRPr lang="vi-VN"/>
          </a:p>
        </p:txBody>
      </p:sp>
      <p:sp>
        <p:nvSpPr>
          <p:cNvPr id="6" name="Footer Placeholder 5"/>
          <p:cNvSpPr>
            <a:spLocks noGrp="1"/>
          </p:cNvSpPr>
          <p:nvPr>
            <p:ph type="ftr" sz="quarter" idx="11"/>
          </p:nvPr>
        </p:nvSpPr>
        <p:spPr/>
        <p:txBody>
          <a:bodyPr/>
          <a:lstStyle/>
          <a:p>
            <a:pPr lvl="0"/>
            <a:endParaRPr lang="vi-VN"/>
          </a:p>
        </p:txBody>
      </p:sp>
      <p:sp>
        <p:nvSpPr>
          <p:cNvPr id="7" name="Slide Number Placeholder 6"/>
          <p:cNvSpPr>
            <a:spLocks noGrp="1"/>
          </p:cNvSpPr>
          <p:nvPr>
            <p:ph type="sldNum" sz="quarter" idx="12"/>
          </p:nvPr>
        </p:nvSpPr>
        <p:spPr/>
        <p:txBody>
          <a:bodyPr/>
          <a:lstStyle/>
          <a:p>
            <a:pPr lvl="0"/>
            <a:fld id="{68FF7DD6-D924-49A0-9E32-3DE4DE9D1217}" type="slidenum">
              <a:t>‹#›</a:t>
            </a:fld>
            <a:endParaRPr lang="vi-VN"/>
          </a:p>
        </p:txBody>
      </p:sp>
    </p:spTree>
    <p:extLst>
      <p:ext uri="{BB962C8B-B14F-4D97-AF65-F5344CB8AC3E}">
        <p14:creationId xmlns:p14="http://schemas.microsoft.com/office/powerpoint/2010/main" val="792153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93738" y="2760663"/>
            <a:ext cx="426561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103813" y="2760663"/>
            <a:ext cx="428466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vi-VN"/>
          </a:p>
        </p:txBody>
      </p:sp>
      <p:sp>
        <p:nvSpPr>
          <p:cNvPr id="8" name="Footer Placeholder 7"/>
          <p:cNvSpPr>
            <a:spLocks noGrp="1"/>
          </p:cNvSpPr>
          <p:nvPr>
            <p:ph type="ftr" sz="quarter" idx="11"/>
          </p:nvPr>
        </p:nvSpPr>
        <p:spPr/>
        <p:txBody>
          <a:bodyPr/>
          <a:lstStyle/>
          <a:p>
            <a:pPr lvl="0"/>
            <a:endParaRPr lang="vi-VN"/>
          </a:p>
        </p:txBody>
      </p:sp>
      <p:sp>
        <p:nvSpPr>
          <p:cNvPr id="9" name="Slide Number Placeholder 8"/>
          <p:cNvSpPr>
            <a:spLocks noGrp="1"/>
          </p:cNvSpPr>
          <p:nvPr>
            <p:ph type="sldNum" sz="quarter" idx="12"/>
          </p:nvPr>
        </p:nvSpPr>
        <p:spPr/>
        <p:txBody>
          <a:bodyPr/>
          <a:lstStyle/>
          <a:p>
            <a:pPr lvl="0"/>
            <a:fld id="{080ACFC6-2CA3-4EFC-8224-F247F716968A}" type="slidenum">
              <a:t>‹#›</a:t>
            </a:fld>
            <a:endParaRPr lang="vi-VN"/>
          </a:p>
        </p:txBody>
      </p:sp>
    </p:spTree>
    <p:extLst>
      <p:ext uri="{BB962C8B-B14F-4D97-AF65-F5344CB8AC3E}">
        <p14:creationId xmlns:p14="http://schemas.microsoft.com/office/powerpoint/2010/main" val="5525007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lvl="0"/>
            <a:endParaRPr lang="vi-VN"/>
          </a:p>
        </p:txBody>
      </p:sp>
      <p:sp>
        <p:nvSpPr>
          <p:cNvPr id="4" name="Footer Placeholder 3"/>
          <p:cNvSpPr>
            <a:spLocks noGrp="1"/>
          </p:cNvSpPr>
          <p:nvPr>
            <p:ph type="ftr" sz="quarter" idx="11"/>
          </p:nvPr>
        </p:nvSpPr>
        <p:spPr/>
        <p:txBody>
          <a:bodyPr/>
          <a:lstStyle/>
          <a:p>
            <a:pPr lvl="0"/>
            <a:endParaRPr lang="vi-VN"/>
          </a:p>
        </p:txBody>
      </p:sp>
      <p:sp>
        <p:nvSpPr>
          <p:cNvPr id="5" name="Slide Number Placeholder 4"/>
          <p:cNvSpPr>
            <a:spLocks noGrp="1"/>
          </p:cNvSpPr>
          <p:nvPr>
            <p:ph type="sldNum" sz="quarter" idx="12"/>
          </p:nvPr>
        </p:nvSpPr>
        <p:spPr/>
        <p:txBody>
          <a:bodyPr/>
          <a:lstStyle/>
          <a:p>
            <a:pPr lvl="0"/>
            <a:fld id="{99EB47E0-54A9-4BED-AAF2-02B32389D559}" type="slidenum">
              <a:t>‹#›</a:t>
            </a:fld>
            <a:endParaRPr lang="vi-VN"/>
          </a:p>
        </p:txBody>
      </p:sp>
    </p:spTree>
    <p:extLst>
      <p:ext uri="{BB962C8B-B14F-4D97-AF65-F5344CB8AC3E}">
        <p14:creationId xmlns:p14="http://schemas.microsoft.com/office/powerpoint/2010/main" val="2406660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vi-VN"/>
          </a:p>
        </p:txBody>
      </p:sp>
      <p:sp>
        <p:nvSpPr>
          <p:cNvPr id="3" name="Footer Placeholder 2"/>
          <p:cNvSpPr>
            <a:spLocks noGrp="1"/>
          </p:cNvSpPr>
          <p:nvPr>
            <p:ph type="ftr" sz="quarter" idx="11"/>
          </p:nvPr>
        </p:nvSpPr>
        <p:spPr/>
        <p:txBody>
          <a:bodyPr/>
          <a:lstStyle/>
          <a:p>
            <a:pPr lvl="0"/>
            <a:endParaRPr lang="vi-VN"/>
          </a:p>
        </p:txBody>
      </p:sp>
      <p:sp>
        <p:nvSpPr>
          <p:cNvPr id="4" name="Slide Number Placeholder 3"/>
          <p:cNvSpPr>
            <a:spLocks noGrp="1"/>
          </p:cNvSpPr>
          <p:nvPr>
            <p:ph type="sldNum" sz="quarter" idx="12"/>
          </p:nvPr>
        </p:nvSpPr>
        <p:spPr/>
        <p:txBody>
          <a:bodyPr/>
          <a:lstStyle/>
          <a:p>
            <a:pPr lvl="0"/>
            <a:fld id="{EDC250CB-05FE-4FAE-A6D3-8E1991513979}" type="slidenum">
              <a:t>‹#›</a:t>
            </a:fld>
            <a:endParaRPr lang="vi-VN"/>
          </a:p>
        </p:txBody>
      </p:sp>
    </p:spTree>
    <p:extLst>
      <p:ext uri="{BB962C8B-B14F-4D97-AF65-F5344CB8AC3E}">
        <p14:creationId xmlns:p14="http://schemas.microsoft.com/office/powerpoint/2010/main" val="4220177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lvl="0"/>
            <a:endParaRPr lang="vi-VN"/>
          </a:p>
        </p:txBody>
      </p:sp>
      <p:sp>
        <p:nvSpPr>
          <p:cNvPr id="6" name="Footer Placeholder 5"/>
          <p:cNvSpPr>
            <a:spLocks noGrp="1"/>
          </p:cNvSpPr>
          <p:nvPr>
            <p:ph type="ftr" sz="quarter" idx="11"/>
          </p:nvPr>
        </p:nvSpPr>
        <p:spPr/>
        <p:txBody>
          <a:bodyPr/>
          <a:lstStyle/>
          <a:p>
            <a:pPr lvl="0"/>
            <a:endParaRPr lang="vi-VN"/>
          </a:p>
        </p:txBody>
      </p:sp>
      <p:sp>
        <p:nvSpPr>
          <p:cNvPr id="7" name="Slide Number Placeholder 6"/>
          <p:cNvSpPr>
            <a:spLocks noGrp="1"/>
          </p:cNvSpPr>
          <p:nvPr>
            <p:ph type="sldNum" sz="quarter" idx="12"/>
          </p:nvPr>
        </p:nvSpPr>
        <p:spPr/>
        <p:txBody>
          <a:bodyPr/>
          <a:lstStyle/>
          <a:p>
            <a:pPr lvl="0"/>
            <a:fld id="{076BAC47-C84D-4035-97FF-49A9D76EB792}" type="slidenum">
              <a:t>‹#›</a:t>
            </a:fld>
            <a:endParaRPr lang="vi-VN"/>
          </a:p>
        </p:txBody>
      </p:sp>
    </p:spTree>
    <p:extLst>
      <p:ext uri="{BB962C8B-B14F-4D97-AF65-F5344CB8AC3E}">
        <p14:creationId xmlns:p14="http://schemas.microsoft.com/office/powerpoint/2010/main" val="4613988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lvl="0"/>
            <a:endParaRPr lang="vi-VN"/>
          </a:p>
        </p:txBody>
      </p:sp>
      <p:sp>
        <p:nvSpPr>
          <p:cNvPr id="6" name="Footer Placeholder 5"/>
          <p:cNvSpPr>
            <a:spLocks noGrp="1"/>
          </p:cNvSpPr>
          <p:nvPr>
            <p:ph type="ftr" sz="quarter" idx="11"/>
          </p:nvPr>
        </p:nvSpPr>
        <p:spPr/>
        <p:txBody>
          <a:bodyPr/>
          <a:lstStyle/>
          <a:p>
            <a:pPr lvl="0"/>
            <a:endParaRPr lang="vi-VN"/>
          </a:p>
        </p:txBody>
      </p:sp>
      <p:sp>
        <p:nvSpPr>
          <p:cNvPr id="7" name="Slide Number Placeholder 6"/>
          <p:cNvSpPr>
            <a:spLocks noGrp="1"/>
          </p:cNvSpPr>
          <p:nvPr>
            <p:ph type="sldNum" sz="quarter" idx="12"/>
          </p:nvPr>
        </p:nvSpPr>
        <p:spPr/>
        <p:txBody>
          <a:bodyPr/>
          <a:lstStyle/>
          <a:p>
            <a:pPr lvl="0"/>
            <a:fld id="{AE9FCC88-6264-4B28-950A-E35FF1DC7399}" type="slidenum">
              <a:t>‹#›</a:t>
            </a:fld>
            <a:endParaRPr lang="vi-VN"/>
          </a:p>
        </p:txBody>
      </p:sp>
    </p:spTree>
    <p:extLst>
      <p:ext uri="{BB962C8B-B14F-4D97-AF65-F5344CB8AC3E}">
        <p14:creationId xmlns:p14="http://schemas.microsoft.com/office/powerpoint/2010/main" val="5419559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vi-VN"/>
          </a:p>
        </p:txBody>
      </p:sp>
      <p:sp>
        <p:nvSpPr>
          <p:cNvPr id="5" name="Footer Placeholder 4"/>
          <p:cNvSpPr>
            <a:spLocks noGrp="1"/>
          </p:cNvSpPr>
          <p:nvPr>
            <p:ph type="ftr" sz="quarter" idx="11"/>
          </p:nvPr>
        </p:nvSpPr>
        <p:spPr/>
        <p:txBody>
          <a:bodyPr/>
          <a:lstStyle/>
          <a:p>
            <a:pPr lvl="0"/>
            <a:endParaRPr lang="vi-VN"/>
          </a:p>
        </p:txBody>
      </p:sp>
      <p:sp>
        <p:nvSpPr>
          <p:cNvPr id="6" name="Slide Number Placeholder 5"/>
          <p:cNvSpPr>
            <a:spLocks noGrp="1"/>
          </p:cNvSpPr>
          <p:nvPr>
            <p:ph type="sldNum" sz="quarter" idx="12"/>
          </p:nvPr>
        </p:nvSpPr>
        <p:spPr/>
        <p:txBody>
          <a:bodyPr/>
          <a:lstStyle/>
          <a:p>
            <a:pPr lvl="0"/>
            <a:fld id="{52B97B70-D0E7-4330-883C-8E98C72409F3}" type="slidenum">
              <a:t>‹#›</a:t>
            </a:fld>
            <a:endParaRPr lang="vi-VN"/>
          </a:p>
        </p:txBody>
      </p:sp>
    </p:spTree>
    <p:extLst>
      <p:ext uri="{BB962C8B-B14F-4D97-AF65-F5344CB8AC3E}">
        <p14:creationId xmlns:p14="http://schemas.microsoft.com/office/powerpoint/2010/main" val="13225960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8850" y="301625"/>
            <a:ext cx="2266950" cy="64563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3238" y="301625"/>
            <a:ext cx="6653212" cy="645636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vi-VN"/>
          </a:p>
        </p:txBody>
      </p:sp>
      <p:sp>
        <p:nvSpPr>
          <p:cNvPr id="5" name="Footer Placeholder 4"/>
          <p:cNvSpPr>
            <a:spLocks noGrp="1"/>
          </p:cNvSpPr>
          <p:nvPr>
            <p:ph type="ftr" sz="quarter" idx="11"/>
          </p:nvPr>
        </p:nvSpPr>
        <p:spPr/>
        <p:txBody>
          <a:bodyPr/>
          <a:lstStyle/>
          <a:p>
            <a:pPr lvl="0"/>
            <a:endParaRPr lang="vi-VN"/>
          </a:p>
        </p:txBody>
      </p:sp>
      <p:sp>
        <p:nvSpPr>
          <p:cNvPr id="6" name="Slide Number Placeholder 5"/>
          <p:cNvSpPr>
            <a:spLocks noGrp="1"/>
          </p:cNvSpPr>
          <p:nvPr>
            <p:ph type="sldNum" sz="quarter" idx="12"/>
          </p:nvPr>
        </p:nvSpPr>
        <p:spPr/>
        <p:txBody>
          <a:bodyPr/>
          <a:lstStyle/>
          <a:p>
            <a:pPr lvl="0"/>
            <a:fld id="{3CC8084B-CBCB-48A1-B8CA-806B8574C71A}" type="slidenum">
              <a:t>‹#›</a:t>
            </a:fld>
            <a:endParaRPr lang="vi-VN"/>
          </a:p>
        </p:txBody>
      </p:sp>
    </p:spTree>
    <p:extLst>
      <p:ext uri="{BB962C8B-B14F-4D97-AF65-F5344CB8AC3E}">
        <p14:creationId xmlns:p14="http://schemas.microsoft.com/office/powerpoint/2010/main" val="1100824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txBox="1">
            <a:spLocks noGrp="1"/>
          </p:cNvSpPr>
          <p:nvPr>
            <p:ph type="title"/>
          </p:nvPr>
        </p:nvSpPr>
        <p:spPr>
          <a:xfrm>
            <a:off x="503999" y="301320"/>
            <a:ext cx="9071640" cy="1262160"/>
          </a:xfrm>
          <a:prstGeom prst="rect">
            <a:avLst/>
          </a:prstGeom>
          <a:noFill/>
          <a:ln>
            <a:noFill/>
          </a:ln>
        </p:spPr>
        <p:txBody>
          <a:bodyPr lIns="0" tIns="0" rIns="0" bIns="0" anchor="ctr"/>
          <a:lstStyle/>
          <a:p>
            <a:endParaRPr lang="vi-VN"/>
          </a:p>
        </p:txBody>
      </p:sp>
      <p:sp>
        <p:nvSpPr>
          <p:cNvPr id="3" name="Text Placeholder 2"/>
          <p:cNvSpPr txBox="1">
            <a:spLocks noGrp="1"/>
          </p:cNvSpPr>
          <p:nvPr>
            <p:ph type="body" idx="1"/>
          </p:nvPr>
        </p:nvSpPr>
        <p:spPr>
          <a:xfrm>
            <a:off x="503999" y="1769040"/>
            <a:ext cx="9071640" cy="4989240"/>
          </a:xfrm>
          <a:prstGeom prst="rect">
            <a:avLst/>
          </a:prstGeom>
          <a:noFill/>
          <a:ln>
            <a:noFill/>
          </a:ln>
        </p:spPr>
        <p:txBody>
          <a:bodyPr lIns="0" tIns="0" rIns="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txBox="1">
            <a:spLocks noGrp="1"/>
          </p:cNvSpPr>
          <p:nvPr>
            <p:ph type="dt" sz="half" idx="2"/>
          </p:nvPr>
        </p:nvSpPr>
        <p:spPr>
          <a:xfrm>
            <a:off x="503999" y="6887160"/>
            <a:ext cx="2348280" cy="521280"/>
          </a:xfrm>
          <a:prstGeom prst="rect">
            <a:avLst/>
          </a:prstGeom>
          <a:noFill/>
          <a:ln>
            <a:noFill/>
          </a:ln>
        </p:spPr>
        <p:txBody>
          <a:bodyPr lIns="0" tIns="0" rIns="0" bIns="0" anchorCtr="0">
            <a:noAutofit/>
          </a:bodyPr>
          <a:lstStyle>
            <a:lvl1pPr lvl="0" rtl="0" hangingPunct="0">
              <a:buNone/>
              <a:tabLst/>
              <a:defRPr lang="vi-VN" sz="1400" kern="1200">
                <a:latin typeface="Times New Roman" pitchFamily="18"/>
                <a:ea typeface="Lucida Sans Unicode" pitchFamily="2"/>
                <a:cs typeface="Tahoma" pitchFamily="2"/>
              </a:defRPr>
            </a:lvl1pPr>
          </a:lstStyle>
          <a:p>
            <a:pPr lvl="0"/>
            <a:endParaRPr lang="vi-VN"/>
          </a:p>
        </p:txBody>
      </p:sp>
      <p:sp>
        <p:nvSpPr>
          <p:cNvPr id="5" name="Footer Placeholder 4"/>
          <p:cNvSpPr txBox="1">
            <a:spLocks noGrp="1"/>
          </p:cNvSpPr>
          <p:nvPr>
            <p:ph type="ftr" sz="quarter" idx="3"/>
          </p:nvPr>
        </p:nvSpPr>
        <p:spPr>
          <a:xfrm>
            <a:off x="3447360" y="6887160"/>
            <a:ext cx="3195000" cy="521280"/>
          </a:xfrm>
          <a:prstGeom prst="rect">
            <a:avLst/>
          </a:prstGeom>
          <a:noFill/>
          <a:ln>
            <a:noFill/>
          </a:ln>
        </p:spPr>
        <p:txBody>
          <a:bodyPr lIns="0" tIns="0" rIns="0" bIns="0" anchorCtr="0">
            <a:noAutofit/>
          </a:bodyPr>
          <a:lstStyle>
            <a:lvl1pPr lvl="0" algn="ctr" rtl="0" hangingPunct="0">
              <a:buNone/>
              <a:tabLst/>
              <a:defRPr lang="vi-VN" sz="1400" kern="1200">
                <a:latin typeface="Times New Roman" pitchFamily="18"/>
                <a:ea typeface="Lucida Sans Unicode" pitchFamily="2"/>
                <a:cs typeface="Tahoma" pitchFamily="2"/>
              </a:defRPr>
            </a:lvl1pPr>
          </a:lstStyle>
          <a:p>
            <a:pPr lvl="0"/>
            <a:endParaRPr lang="vi-VN"/>
          </a:p>
        </p:txBody>
      </p:sp>
      <p:sp>
        <p:nvSpPr>
          <p:cNvPr id="6" name="Slide Number Placeholder 5"/>
          <p:cNvSpPr txBox="1">
            <a:spLocks noGrp="1"/>
          </p:cNvSpPr>
          <p:nvPr>
            <p:ph type="sldNum" sz="quarter" idx="4"/>
          </p:nvPr>
        </p:nvSpPr>
        <p:spPr>
          <a:xfrm>
            <a:off x="7227360" y="6887160"/>
            <a:ext cx="2348280" cy="521280"/>
          </a:xfrm>
          <a:prstGeom prst="rect">
            <a:avLst/>
          </a:prstGeom>
          <a:noFill/>
          <a:ln>
            <a:noFill/>
          </a:ln>
        </p:spPr>
        <p:txBody>
          <a:bodyPr lIns="0" tIns="0" rIns="0" bIns="0" anchorCtr="0">
            <a:noAutofit/>
          </a:bodyPr>
          <a:lstStyle>
            <a:lvl1pPr lvl="0" algn="r" rtl="0" hangingPunct="0">
              <a:buNone/>
              <a:tabLst/>
              <a:defRPr lang="vi-VN" sz="1400" kern="1200">
                <a:latin typeface="Times New Roman" pitchFamily="18"/>
                <a:ea typeface="Lucida Sans Unicode" pitchFamily="2"/>
                <a:cs typeface="Tahoma" pitchFamily="2"/>
              </a:defRPr>
            </a:lvl1pPr>
          </a:lstStyle>
          <a:p>
            <a:pPr lvl="0"/>
            <a:fld id="{E3D86E9C-5C4C-493F-B34D-82EB475A61B5}" type="slidenum">
              <a:t>‹#›</a:t>
            </a:fld>
            <a:endParaRPr lang="vi-V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ctr" rtl="0" hangingPunct="0">
        <a:tabLst/>
        <a:defRPr lang="vi-VN" sz="4400" b="0" i="0" u="none" strike="noStrike" kern="1200">
          <a:ln>
            <a:noFill/>
          </a:ln>
          <a:latin typeface="Arial" pitchFamily="18"/>
          <a:ea typeface="Microsoft YaHei" pitchFamily="2"/>
          <a:cs typeface="Arial" pitchFamily="2"/>
        </a:defRPr>
      </a:lvl1pPr>
    </p:titleStyle>
    <p:bodyStyle>
      <a:lvl1pPr marL="0" marR="0" indent="0" rtl="0" hangingPunct="0">
        <a:spcBef>
          <a:spcPts val="0"/>
        </a:spcBef>
        <a:spcAft>
          <a:spcPts val="1414"/>
        </a:spcAft>
        <a:tabLst/>
        <a:defRPr lang="vi-VN" sz="3200" b="0" i="0" u="none" strike="noStrike" kern="1200">
          <a:ln>
            <a:noFill/>
          </a:ln>
          <a:latin typeface="Arial" pitchFamily="18"/>
          <a:ea typeface="Microsoft YaHei" pitchFamily="2"/>
          <a:cs typeface="Arial" pitchFamily="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lnSpc>
                <a:spcPct val="115000"/>
              </a:lnSpc>
              <a:spcAft>
                <a:spcPts val="1001"/>
              </a:spcAft>
            </a:pPr>
            <a:r>
              <a:rPr lang="vi-VN" sz="5400" dirty="0">
                <a:latin typeface="Calibri" pitchFamily="34"/>
                <a:cs typeface="Calibri" pitchFamily="34"/>
              </a:rPr>
              <a:t>Chapter 8</a:t>
            </a:r>
          </a:p>
          <a:p>
            <a:pPr lvl="0" algn="ctr">
              <a:lnSpc>
                <a:spcPct val="115000"/>
              </a:lnSpc>
              <a:spcAft>
                <a:spcPts val="1001"/>
              </a:spcAft>
            </a:pPr>
            <a:r>
              <a:rPr lang="vi-VN" sz="5400" dirty="0">
                <a:latin typeface="Calibri" pitchFamily="34"/>
                <a:cs typeface="Calibri" pitchFamily="34"/>
              </a:rPr>
              <a:t>Classification: Basic Concept</a:t>
            </a:r>
          </a:p>
          <a:p>
            <a:pPr lvl="0" algn="r">
              <a:lnSpc>
                <a:spcPct val="115000"/>
              </a:lnSpc>
              <a:spcAft>
                <a:spcPts val="1001"/>
              </a:spcAft>
            </a:pPr>
            <a:endParaRPr lang="vi-VN" sz="2800" dirty="0">
              <a:latin typeface="Calibri" pitchFamily="34"/>
              <a:cs typeface="Calibri" pitchFamily="34"/>
            </a:endParaRPr>
          </a:p>
          <a:p>
            <a:pPr lvl="0" algn="r">
              <a:lnSpc>
                <a:spcPct val="115000"/>
              </a:lnSpc>
              <a:spcAft>
                <a:spcPts val="1001"/>
              </a:spcAft>
            </a:pPr>
            <a:r>
              <a:rPr lang="vi-VN" sz="2800" dirty="0">
                <a:latin typeface="Calibri" pitchFamily="34"/>
                <a:cs typeface="Calibri" pitchFamily="34"/>
              </a:rPr>
              <a:t>Ôn Đông Hải - </a:t>
            </a:r>
            <a:r>
              <a:rPr lang="vi-VN" sz="2800" dirty="0" smtClean="0">
                <a:latin typeface="Calibri" pitchFamily="34"/>
                <a:cs typeface="Calibri" pitchFamily="34"/>
              </a:rPr>
              <a:t>ITITIU14025</a:t>
            </a:r>
          </a:p>
          <a:p>
            <a:pPr lvl="0" algn="r">
              <a:lnSpc>
                <a:spcPct val="115000"/>
              </a:lnSpc>
              <a:spcAft>
                <a:spcPts val="1001"/>
              </a:spcAft>
            </a:pPr>
            <a:r>
              <a:rPr lang="vi-VN" sz="2800" smtClean="0">
                <a:latin typeface="Calibri" pitchFamily="34"/>
                <a:cs typeface="Calibri" pitchFamily="34"/>
              </a:rPr>
              <a:t>Tô Hoàng Hải – ITITIU14026</a:t>
            </a:r>
            <a:endParaRPr lang="vi-VN" sz="2800" dirty="0">
              <a:latin typeface="Calibri" pitchFamily="34"/>
              <a:cs typeface="Calibri" pitchFamily="34"/>
            </a:endParaRPr>
          </a:p>
          <a:p>
            <a:pPr lvl="0" algn="r">
              <a:lnSpc>
                <a:spcPct val="115000"/>
              </a:lnSpc>
              <a:spcAft>
                <a:spcPts val="1001"/>
              </a:spcAft>
            </a:pPr>
            <a:endParaRPr lang="vi-VN" sz="2400" dirty="0">
              <a:latin typeface="Calibri" pitchFamily="34"/>
              <a:cs typeface="Calibri" pitchFamily="34"/>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r>
              <a:rPr lang="vi-VN" sz="4000"/>
              <a:t>Content</a:t>
            </a:r>
          </a:p>
          <a:p>
            <a:pPr lvl="0" algn="l">
              <a:lnSpc>
                <a:spcPct val="115000"/>
              </a:lnSpc>
              <a:spcAft>
                <a:spcPts val="1001"/>
              </a:spcAft>
            </a:pPr>
            <a:r>
              <a:rPr lang="vi-VN">
                <a:latin typeface="Calibri" pitchFamily="34"/>
                <a:cs typeface="Calibri" pitchFamily="34"/>
              </a:rPr>
              <a:t>8.1 Basic Concept</a:t>
            </a:r>
          </a:p>
          <a:p>
            <a:pPr lvl="0" algn="l">
              <a:lnSpc>
                <a:spcPct val="115000"/>
              </a:lnSpc>
              <a:spcAft>
                <a:spcPts val="1001"/>
              </a:spcAft>
            </a:pPr>
            <a:r>
              <a:rPr lang="vi-VN">
                <a:latin typeface="Calibri" pitchFamily="34"/>
                <a:cs typeface="Calibri" pitchFamily="34"/>
              </a:rPr>
              <a:t>8.2 Decision Tree Induction</a:t>
            </a:r>
          </a:p>
          <a:p>
            <a:pPr lvl="0" algn="l">
              <a:lnSpc>
                <a:spcPct val="115000"/>
              </a:lnSpc>
              <a:spcAft>
                <a:spcPts val="1001"/>
              </a:spcAft>
            </a:pPr>
            <a:r>
              <a:rPr lang="vi-VN">
                <a:latin typeface="Calibri" pitchFamily="34"/>
                <a:cs typeface="Calibri" pitchFamily="34"/>
              </a:rPr>
              <a:t>8.3 Bayes Classification Methods</a:t>
            </a:r>
          </a:p>
          <a:p>
            <a:pPr lvl="0" algn="l">
              <a:lnSpc>
                <a:spcPct val="115000"/>
              </a:lnSpc>
              <a:spcAft>
                <a:spcPts val="1001"/>
              </a:spcAft>
            </a:pPr>
            <a:r>
              <a:rPr lang="vi-VN">
                <a:latin typeface="Calibri" pitchFamily="34"/>
                <a:cs typeface="Calibri" pitchFamily="34"/>
              </a:rPr>
              <a:t>8.4 Rule-based Classification</a:t>
            </a:r>
          </a:p>
          <a:p>
            <a:pPr lvl="0" algn="l">
              <a:lnSpc>
                <a:spcPct val="115000"/>
              </a:lnSpc>
              <a:spcAft>
                <a:spcPts val="1001"/>
              </a:spcAft>
            </a:pPr>
            <a:r>
              <a:rPr lang="vi-VN">
                <a:latin typeface="Calibri" pitchFamily="34"/>
                <a:cs typeface="Calibri" pitchFamily="34"/>
              </a:rPr>
              <a:t>8.5 Model Evaluation and Selection</a:t>
            </a:r>
          </a:p>
          <a:p>
            <a:pPr lvl="0" algn="l">
              <a:lnSpc>
                <a:spcPct val="115000"/>
              </a:lnSpc>
              <a:spcAft>
                <a:spcPts val="1001"/>
              </a:spcAft>
            </a:pPr>
            <a:r>
              <a:rPr lang="vi-VN">
                <a:latin typeface="Calibri" pitchFamily="34"/>
                <a:cs typeface="Calibri" pitchFamily="34"/>
              </a:rPr>
              <a:t>8.6 Techniques to improve Classification Accuracy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r>
              <a:rPr lang="vi-VN"/>
              <a:t>8.1 Basic Concept</a:t>
            </a:r>
          </a:p>
          <a:p>
            <a:pPr lvl="0" algn="ctr"/>
            <a:endParaRPr lang="vi-VN"/>
          </a:p>
          <a:p>
            <a:pPr lvl="0" algn="l">
              <a:lnSpc>
                <a:spcPct val="115000"/>
              </a:lnSpc>
              <a:spcAft>
                <a:spcPts val="1001"/>
              </a:spcAft>
            </a:pPr>
            <a:r>
              <a:rPr lang="vi-VN" sz="2000">
                <a:latin typeface="Calibri" pitchFamily="34"/>
                <a:cs typeface="Calibri" pitchFamily="34"/>
              </a:rPr>
              <a:t>8.1.1  What is Classification?</a:t>
            </a:r>
          </a:p>
          <a:p>
            <a:pPr lvl="0" algn="l">
              <a:lnSpc>
                <a:spcPct val="115000"/>
              </a:lnSpc>
              <a:spcAft>
                <a:spcPts val="1001"/>
              </a:spcAft>
            </a:pPr>
            <a:endParaRPr lang="vi-VN" sz="2000">
              <a:latin typeface="Calibri" pitchFamily="34"/>
              <a:cs typeface="Calibri" pitchFamily="34"/>
            </a:endParaRPr>
          </a:p>
          <a:p>
            <a:pPr lvl="0" algn="l">
              <a:lnSpc>
                <a:spcPct val="115000"/>
              </a:lnSpc>
              <a:spcAft>
                <a:spcPts val="1001"/>
              </a:spcAft>
              <a:buSzPct val="45000"/>
              <a:buFont typeface="StarSymbol"/>
              <a:buChar char=""/>
            </a:pPr>
            <a:r>
              <a:rPr lang="vi-VN" sz="2000">
                <a:latin typeface="Calibri" pitchFamily="34"/>
                <a:cs typeface="Calibri" pitchFamily="34"/>
              </a:rPr>
              <a:t>A form of data analysis that extracts models describing important data classes.</a:t>
            </a:r>
          </a:p>
          <a:p>
            <a:pPr lvl="0" algn="l">
              <a:lnSpc>
                <a:spcPct val="115000"/>
              </a:lnSpc>
              <a:spcAft>
                <a:spcPts val="1001"/>
              </a:spcAft>
              <a:buSzPct val="45000"/>
              <a:buFont typeface="StarSymbol"/>
              <a:buChar char=""/>
            </a:pPr>
            <a:r>
              <a:rPr lang="vi-VN" sz="2000">
                <a:latin typeface="Calibri" pitchFamily="34"/>
                <a:cs typeface="Calibri" pitchFamily="34"/>
              </a:rPr>
              <a:t>Predict categorical (discrete, unordered) class labels.</a:t>
            </a:r>
          </a:p>
          <a:p>
            <a:pPr lvl="0" algn="l">
              <a:lnSpc>
                <a:spcPct val="115000"/>
              </a:lnSpc>
              <a:spcAft>
                <a:spcPts val="1001"/>
              </a:spcAft>
              <a:buSzPct val="45000"/>
              <a:buFont typeface="StarSymbol"/>
              <a:buChar char=""/>
            </a:pPr>
            <a:r>
              <a:rPr lang="vi-VN" sz="2000">
                <a:latin typeface="Calibri" pitchFamily="34"/>
                <a:cs typeface="Calibri" pitchFamily="34"/>
              </a:rPr>
              <a:t>Numerous applications, including fraud detection, target marketing, performance prediction, manufacturing, and medical diagnosis.</a:t>
            </a:r>
          </a:p>
          <a:p>
            <a:pPr lvl="0" algn="l"/>
            <a:endParaRPr lang="vi-VN" sz="1100">
              <a:latin typeface="Calibri" pitchFamily="34"/>
              <a:cs typeface="Calibri" pitchFamily="34"/>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name="page4">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r>
              <a:rPr lang="vi-VN"/>
              <a:t>Example</a:t>
            </a:r>
          </a:p>
          <a:p>
            <a:pPr lvl="0" algn="l">
              <a:lnSpc>
                <a:spcPct val="115000"/>
              </a:lnSpc>
              <a:spcAft>
                <a:spcPts val="1001"/>
              </a:spcAft>
            </a:pPr>
            <a:r>
              <a:rPr lang="vi-VN" sz="2000">
                <a:latin typeface="Calibri" pitchFamily="34"/>
                <a:cs typeface="Calibri" pitchFamily="34"/>
              </a:rPr>
              <a:t>- A bank loans ofﬁcer needs analysis of her data to learn which loan applicants are “safe” and which are “risky” for the bank.</a:t>
            </a:r>
          </a:p>
          <a:p>
            <a:pPr lvl="0" algn="l">
              <a:lnSpc>
                <a:spcPct val="115000"/>
              </a:lnSpc>
              <a:spcAft>
                <a:spcPts val="1001"/>
              </a:spcAft>
            </a:pPr>
            <a:r>
              <a:rPr lang="vi-VN" sz="2000">
                <a:latin typeface="Calibri" pitchFamily="34"/>
                <a:cs typeface="Calibri" pitchFamily="34"/>
              </a:rPr>
              <a:t>- A marketing manager at AllElectronics needs data analysis to help guess whether a customer with a given proﬁle will buy a new computer.</a:t>
            </a:r>
          </a:p>
          <a:p>
            <a:pPr lvl="0" algn="l">
              <a:lnSpc>
                <a:spcPct val="115000"/>
              </a:lnSpc>
              <a:spcAft>
                <a:spcPts val="1001"/>
              </a:spcAft>
            </a:pPr>
            <a:r>
              <a:rPr lang="vi-VN" sz="2000">
                <a:latin typeface="Wingdings" pitchFamily="18"/>
              </a:rPr>
              <a:t></a:t>
            </a:r>
            <a:r>
              <a:rPr lang="vi-VN" sz="2000">
                <a:latin typeface="Calibri" pitchFamily="34"/>
              </a:rPr>
              <a:t> </a:t>
            </a:r>
            <a:r>
              <a:rPr lang="vi-VN" sz="2000">
                <a:latin typeface="Calibri" pitchFamily="34"/>
                <a:cs typeface="Calibri" pitchFamily="34"/>
              </a:rPr>
              <a:t>The data analysis task is classiﬁcation, where a model or classiﬁer is constructed to predict class (categorical) labels, such as </a:t>
            </a:r>
            <a:r>
              <a:rPr lang="vi-VN" sz="2000">
                <a:solidFill>
                  <a:srgbClr val="FF0000"/>
                </a:solidFill>
                <a:latin typeface="Calibri" pitchFamily="34"/>
                <a:cs typeface="Calibri" pitchFamily="34"/>
              </a:rPr>
              <a:t>“safe”</a:t>
            </a:r>
            <a:r>
              <a:rPr lang="vi-VN" sz="2000">
                <a:latin typeface="Calibri" pitchFamily="34"/>
                <a:cs typeface="Calibri" pitchFamily="34"/>
              </a:rPr>
              <a:t> or </a:t>
            </a:r>
            <a:r>
              <a:rPr lang="vi-VN" sz="2000">
                <a:solidFill>
                  <a:srgbClr val="FF3333"/>
                </a:solidFill>
                <a:latin typeface="Calibri" pitchFamily="34"/>
                <a:cs typeface="Calibri" pitchFamily="34"/>
              </a:rPr>
              <a:t>“risky”</a:t>
            </a:r>
            <a:r>
              <a:rPr lang="vi-VN" sz="2000">
                <a:latin typeface="Calibri" pitchFamily="34"/>
                <a:cs typeface="Calibri" pitchFamily="34"/>
              </a:rPr>
              <a:t> for the loan application data; </a:t>
            </a:r>
            <a:r>
              <a:rPr lang="vi-VN" sz="2000">
                <a:solidFill>
                  <a:srgbClr val="FF3333"/>
                </a:solidFill>
                <a:latin typeface="Calibri" pitchFamily="34"/>
                <a:cs typeface="Calibri" pitchFamily="34"/>
              </a:rPr>
              <a:t>“yes”</a:t>
            </a:r>
            <a:r>
              <a:rPr lang="vi-VN" sz="2000">
                <a:latin typeface="Calibri" pitchFamily="34"/>
                <a:cs typeface="Calibri" pitchFamily="34"/>
              </a:rPr>
              <a:t> or </a:t>
            </a:r>
            <a:r>
              <a:rPr lang="vi-VN" sz="2000">
                <a:solidFill>
                  <a:srgbClr val="FF3333"/>
                </a:solidFill>
                <a:latin typeface="Calibri" pitchFamily="34"/>
                <a:cs typeface="Calibri" pitchFamily="34"/>
              </a:rPr>
              <a:t>“no”</a:t>
            </a:r>
            <a:r>
              <a:rPr lang="vi-VN" sz="2000">
                <a:latin typeface="Calibri" pitchFamily="34"/>
                <a:cs typeface="Calibri" pitchFamily="34"/>
              </a:rPr>
              <a:t> for the marketing data;</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lnSpc>
                <a:spcPct val="115000"/>
              </a:lnSpc>
              <a:spcAft>
                <a:spcPts val="1001"/>
              </a:spcAft>
            </a:pPr>
            <a:r>
              <a:rPr lang="vi-VN">
                <a:latin typeface="Calibri" pitchFamily="34"/>
                <a:cs typeface="Calibri" pitchFamily="34"/>
              </a:rPr>
              <a:t>8.1.2 General Approach to Classification</a:t>
            </a:r>
          </a:p>
          <a:p>
            <a:pPr lvl="0" algn="ctr">
              <a:lnSpc>
                <a:spcPct val="115000"/>
              </a:lnSpc>
              <a:spcAft>
                <a:spcPts val="1001"/>
              </a:spcAft>
            </a:pPr>
            <a:endParaRPr lang="vi-VN">
              <a:latin typeface="Calibri" pitchFamily="34"/>
              <a:cs typeface="Calibri" pitchFamily="34"/>
            </a:endParaRPr>
          </a:p>
          <a:p>
            <a:pPr lvl="0" algn="l">
              <a:lnSpc>
                <a:spcPct val="115000"/>
              </a:lnSpc>
              <a:spcAft>
                <a:spcPts val="1001"/>
              </a:spcAft>
            </a:pPr>
            <a:r>
              <a:rPr lang="en-US" sz="2000">
                <a:latin typeface="Calibri" pitchFamily="34"/>
                <a:cs typeface="Calibri" pitchFamily="34"/>
              </a:rPr>
              <a:t>Data classiﬁcation is a two-step process, consisting of:</a:t>
            </a:r>
          </a:p>
          <a:p>
            <a:pPr lvl="0" algn="l">
              <a:lnSpc>
                <a:spcPct val="115000"/>
              </a:lnSpc>
              <a:spcAft>
                <a:spcPts val="1001"/>
              </a:spcAft>
            </a:pPr>
            <a:endParaRPr lang="en-US" sz="2000">
              <a:latin typeface="Calibri" pitchFamily="34"/>
              <a:cs typeface="Calibri" pitchFamily="34"/>
            </a:endParaRPr>
          </a:p>
          <a:p>
            <a:pPr lvl="0" algn="l">
              <a:lnSpc>
                <a:spcPct val="115000"/>
              </a:lnSpc>
              <a:spcAft>
                <a:spcPts val="1001"/>
              </a:spcAft>
            </a:pPr>
            <a:r>
              <a:rPr lang="en-US" sz="2000">
                <a:latin typeface="Wingdings" pitchFamily="18"/>
              </a:rPr>
              <a:t> </a:t>
            </a:r>
            <a:r>
              <a:rPr lang="en-US" sz="2000" b="1">
                <a:solidFill>
                  <a:srgbClr val="6666FF"/>
                </a:solidFill>
                <a:latin typeface="Calibri" pitchFamily="34"/>
                <a:cs typeface="Calibri" pitchFamily="34"/>
              </a:rPr>
              <a:t>Learning step</a:t>
            </a:r>
            <a:r>
              <a:rPr lang="en-US" sz="2000">
                <a:latin typeface="Calibri" pitchFamily="34"/>
                <a:cs typeface="Calibri" pitchFamily="34"/>
              </a:rPr>
              <a:t>, where a classiﬁcation model is constructed.</a:t>
            </a:r>
          </a:p>
          <a:p>
            <a:pPr lvl="0" algn="l">
              <a:lnSpc>
                <a:spcPct val="115000"/>
              </a:lnSpc>
              <a:spcAft>
                <a:spcPts val="1001"/>
              </a:spcAft>
            </a:pPr>
            <a:endParaRPr lang="en-US" sz="2000">
              <a:latin typeface="Calibri" pitchFamily="34"/>
              <a:cs typeface="Calibri" pitchFamily="34"/>
            </a:endParaRPr>
          </a:p>
          <a:p>
            <a:pPr lvl="0" algn="l">
              <a:lnSpc>
                <a:spcPct val="115000"/>
              </a:lnSpc>
              <a:spcAft>
                <a:spcPts val="1001"/>
              </a:spcAft>
            </a:pPr>
            <a:r>
              <a:rPr lang="en-US" sz="2000">
                <a:solidFill>
                  <a:srgbClr val="000000"/>
                </a:solidFill>
                <a:latin typeface="Wingdings" pitchFamily="18"/>
              </a:rPr>
              <a:t> </a:t>
            </a:r>
            <a:r>
              <a:rPr lang="en-US" sz="2000" b="1">
                <a:solidFill>
                  <a:srgbClr val="6666FF"/>
                </a:solidFill>
                <a:latin typeface="Calibri" pitchFamily="34"/>
                <a:cs typeface="Calibri" pitchFamily="34"/>
              </a:rPr>
              <a:t>Classiﬁcation step</a:t>
            </a:r>
            <a:r>
              <a:rPr lang="en-US" sz="2000">
                <a:latin typeface="Calibri" pitchFamily="34"/>
                <a:cs typeface="Calibri" pitchFamily="34"/>
              </a:rPr>
              <a:t>, where the model is used to predict class labels for given data.</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l">
              <a:lnSpc>
                <a:spcPct val="115000"/>
              </a:lnSpc>
              <a:spcAft>
                <a:spcPts val="1001"/>
              </a:spcAft>
            </a:pPr>
            <a:r>
              <a:rPr lang="vi-VN">
                <a:latin typeface="Calibri" pitchFamily="34"/>
                <a:cs typeface="Calibri" pitchFamily="34"/>
              </a:rPr>
              <a:t>In the </a:t>
            </a:r>
            <a:r>
              <a:rPr lang="vi-VN" b="1">
                <a:solidFill>
                  <a:srgbClr val="6666FF"/>
                </a:solidFill>
                <a:latin typeface="Calibri" pitchFamily="34"/>
                <a:cs typeface="Calibri" pitchFamily="34"/>
              </a:rPr>
              <a:t>learning step</a:t>
            </a:r>
            <a:r>
              <a:rPr lang="vi-VN" b="1">
                <a:latin typeface="Calibri" pitchFamily="34"/>
                <a:cs typeface="Calibri" pitchFamily="34"/>
              </a:rPr>
              <a:t> (or </a:t>
            </a:r>
            <a:r>
              <a:rPr lang="vi-VN" b="1">
                <a:solidFill>
                  <a:srgbClr val="6666FF"/>
                </a:solidFill>
                <a:latin typeface="Calibri" pitchFamily="34"/>
                <a:cs typeface="Calibri" pitchFamily="34"/>
              </a:rPr>
              <a:t>training phase</a:t>
            </a:r>
            <a:r>
              <a:rPr lang="vi-VN" b="1">
                <a:latin typeface="Calibri" pitchFamily="34"/>
                <a:cs typeface="Calibri" pitchFamily="34"/>
              </a:rPr>
              <a:t>)</a:t>
            </a:r>
          </a:p>
          <a:p>
            <a:pPr lvl="0" algn="l">
              <a:lnSpc>
                <a:spcPct val="115000"/>
              </a:lnSpc>
              <a:spcAft>
                <a:spcPts val="1001"/>
              </a:spcAft>
            </a:pPr>
            <a:endParaRPr lang="en-US" sz="2000">
              <a:latin typeface="Calibri" pitchFamily="34"/>
              <a:cs typeface="Calibri" pitchFamily="34"/>
            </a:endParaRP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A classiﬁer is built describing a predetermined set of data classes or concepts.</a:t>
            </a:r>
          </a:p>
          <a:p>
            <a:pPr lvl="0" algn="l">
              <a:lnSpc>
                <a:spcPct val="115000"/>
              </a:lnSpc>
              <a:spcAft>
                <a:spcPts val="1001"/>
              </a:spcAft>
            </a:pPr>
            <a:r>
              <a:rPr lang="en-US" sz="2000">
                <a:solidFill>
                  <a:srgbClr val="000000"/>
                </a:solidFill>
                <a:latin typeface="Wingdings" pitchFamily="18"/>
              </a:rPr>
              <a:t> </a:t>
            </a:r>
            <a:r>
              <a:rPr lang="vi-VN" sz="2000">
                <a:latin typeface="Calibri" pitchFamily="34"/>
                <a:cs typeface="Calibri" pitchFamily="34"/>
              </a:rPr>
              <a:t>By analyzing or “learning from” a </a:t>
            </a:r>
            <a:r>
              <a:rPr lang="vi-VN" sz="2000" b="1">
                <a:solidFill>
                  <a:srgbClr val="6666FF"/>
                </a:solidFill>
                <a:latin typeface="Calibri" pitchFamily="34"/>
                <a:cs typeface="Calibri" pitchFamily="34"/>
              </a:rPr>
              <a:t>training set,</a:t>
            </a:r>
            <a:r>
              <a:rPr lang="vi-VN" sz="2000" b="1">
                <a:latin typeface="Calibri" pitchFamily="34"/>
                <a:cs typeface="Calibri" pitchFamily="34"/>
              </a:rPr>
              <a:t> </a:t>
            </a:r>
            <a:r>
              <a:rPr lang="vi-VN" sz="2000">
                <a:latin typeface="Calibri" pitchFamily="34"/>
                <a:cs typeface="Calibri" pitchFamily="34"/>
              </a:rPr>
              <a:t>a classiﬁcation  algorithm builds the classiﬁer.</a:t>
            </a:r>
          </a:p>
          <a:p>
            <a:pPr lvl="0" algn="l">
              <a:lnSpc>
                <a:spcPct val="115000"/>
              </a:lnSpc>
              <a:spcAft>
                <a:spcPts val="1001"/>
              </a:spcAft>
            </a:pPr>
            <a:r>
              <a:rPr lang="vi-VN" sz="2000">
                <a:latin typeface="Wingdings" pitchFamily="18"/>
              </a:rPr>
              <a:t> </a:t>
            </a:r>
            <a:r>
              <a:rPr lang="vi-VN" sz="2000" b="1">
                <a:solidFill>
                  <a:srgbClr val="6666FF"/>
                </a:solidFill>
                <a:latin typeface="Calibri" pitchFamily="34"/>
                <a:cs typeface="Calibri" pitchFamily="34"/>
              </a:rPr>
              <a:t>A tuple, X</a:t>
            </a:r>
            <a:r>
              <a:rPr lang="vi-VN" sz="2000">
                <a:latin typeface="Calibri" pitchFamily="34"/>
                <a:cs typeface="Calibri" pitchFamily="34"/>
              </a:rPr>
              <a:t>, is represented by an n-dimensional </a:t>
            </a:r>
            <a:r>
              <a:rPr lang="vi-VN" sz="2000" b="1">
                <a:solidFill>
                  <a:srgbClr val="6666FF"/>
                </a:solidFill>
                <a:latin typeface="Calibri" pitchFamily="34"/>
                <a:cs typeface="Calibri" pitchFamily="34"/>
              </a:rPr>
              <a:t>attribute vector</a:t>
            </a:r>
            <a:r>
              <a:rPr lang="vi-VN" sz="2000">
                <a:latin typeface="Calibri" pitchFamily="34"/>
                <a:cs typeface="Calibri" pitchFamily="34"/>
              </a:rPr>
              <a:t>, from n database attributes.</a:t>
            </a:r>
          </a:p>
          <a:p>
            <a:pPr lvl="0" algn="l">
              <a:lnSpc>
                <a:spcPct val="115000"/>
              </a:lnSpc>
              <a:spcAft>
                <a:spcPts val="1001"/>
              </a:spcAft>
            </a:pPr>
            <a:r>
              <a:rPr lang="vi-VN" sz="2000">
                <a:solidFill>
                  <a:srgbClr val="000000"/>
                </a:solidFill>
                <a:latin typeface="Wingdings" pitchFamily="18"/>
              </a:rPr>
              <a:t> </a:t>
            </a:r>
            <a:r>
              <a:rPr lang="vi-VN" sz="2000">
                <a:latin typeface="Calibri" pitchFamily="34"/>
                <a:cs typeface="Calibri" pitchFamily="34"/>
              </a:rPr>
              <a:t>Each tuple, X, is assumed to belong to a predeﬁned class as determined by another database attribute called the </a:t>
            </a:r>
            <a:r>
              <a:rPr lang="vi-VN" sz="2000" b="1">
                <a:solidFill>
                  <a:srgbClr val="6666FF"/>
                </a:solidFill>
                <a:latin typeface="Calibri" pitchFamily="34"/>
                <a:cs typeface="Calibri" pitchFamily="34"/>
              </a:rPr>
              <a:t>class label attribute</a:t>
            </a:r>
            <a:r>
              <a:rPr lang="vi-VN" sz="2000">
                <a:latin typeface="Calibri" pitchFamily="34"/>
                <a:cs typeface="Calibri" pitchFamily="34"/>
              </a:rPr>
              <a:t>.</a:t>
            </a:r>
          </a:p>
          <a:p>
            <a:pPr lvl="0" algn="l">
              <a:lnSpc>
                <a:spcPct val="115000"/>
              </a:lnSpc>
              <a:spcAft>
                <a:spcPts val="1001"/>
              </a:spcAft>
            </a:pPr>
            <a:r>
              <a:rPr lang="vi-VN" sz="2000">
                <a:solidFill>
                  <a:srgbClr val="000000"/>
                </a:solidFill>
                <a:latin typeface="Wingdings" pitchFamily="18"/>
              </a:rPr>
              <a:t> </a:t>
            </a:r>
            <a:r>
              <a:rPr lang="vi-VN" sz="2000">
                <a:latin typeface="Calibri" pitchFamily="34"/>
                <a:cs typeface="Calibri" pitchFamily="34"/>
              </a:rPr>
              <a:t>The class label attribute is discrete-valued and unordered.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5040000"/>
            <a:ext cx="9071640" cy="1933920"/>
          </a:xfrm>
        </p:spPr>
        <p:txBody>
          <a:bodyPr anchor="ctr"/>
          <a:lstStyle/>
          <a:p>
            <a:pPr lvl="0" algn="ctr">
              <a:spcAft>
                <a:spcPts val="1001"/>
              </a:spcAft>
            </a:pPr>
            <a:r>
              <a:rPr lang="vi-VN" sz="2000">
                <a:latin typeface="Calibri" pitchFamily="34"/>
                <a:cs typeface="Calibri" pitchFamily="34"/>
              </a:rPr>
              <a:t>Figure 8.1a</a:t>
            </a:r>
          </a:p>
          <a:p>
            <a:pPr lvl="0" algn="l">
              <a:spcAft>
                <a:spcPts val="1001"/>
              </a:spcAft>
            </a:pPr>
            <a:r>
              <a:rPr lang="vi-VN" sz="2000">
                <a:latin typeface="Calibri" pitchFamily="34"/>
                <a:cs typeface="Calibri" pitchFamily="34"/>
              </a:rPr>
              <a:t>Learning Step: Here, the class label attribute is </a:t>
            </a:r>
            <a:r>
              <a:rPr lang="vi-VN" sz="2000" i="1">
                <a:latin typeface="Calibri" pitchFamily="34"/>
                <a:cs typeface="Calibri" pitchFamily="34"/>
              </a:rPr>
              <a:t>loan_decision</a:t>
            </a:r>
            <a:r>
              <a:rPr lang="vi-VN" sz="2000">
                <a:latin typeface="Calibri" pitchFamily="34"/>
                <a:cs typeface="Calibri" pitchFamily="34"/>
              </a:rPr>
              <a:t>, and the learned model or classiﬁer is represented in the form of classiﬁcation rules.</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503999" y="301320"/>
            <a:ext cx="8928000" cy="496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lnSpc>
                <a:spcPct val="115000"/>
              </a:lnSpc>
              <a:spcAft>
                <a:spcPts val="1001"/>
              </a:spcAft>
            </a:pPr>
            <a:r>
              <a:rPr lang="en-US" sz="1100">
                <a:latin typeface="Calibri" pitchFamily="34"/>
                <a:cs typeface="Calibri" pitchFamily="34"/>
              </a:rPr>
              <a:t> </a:t>
            </a:r>
            <a:r>
              <a:rPr lang="en-US">
                <a:latin typeface="Calibri" pitchFamily="34"/>
                <a:cs typeface="Calibri" pitchFamily="34"/>
              </a:rPr>
              <a:t>In the classification step:</a:t>
            </a:r>
          </a:p>
          <a:p>
            <a:pPr lvl="0" algn="ctr">
              <a:lnSpc>
                <a:spcPct val="115000"/>
              </a:lnSpc>
              <a:spcAft>
                <a:spcPts val="1001"/>
              </a:spcAft>
            </a:pPr>
            <a:endParaRPr lang="en-US">
              <a:latin typeface="Calibri" pitchFamily="34"/>
              <a:cs typeface="Calibri" pitchFamily="34"/>
            </a:endParaRP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The model is used for classiﬁcation.</a:t>
            </a:r>
          </a:p>
          <a:p>
            <a:pPr lvl="0" algn="l">
              <a:lnSpc>
                <a:spcPct val="115000"/>
              </a:lnSpc>
              <a:spcAft>
                <a:spcPts val="1001"/>
              </a:spcAft>
            </a:pPr>
            <a:r>
              <a:rPr lang="en-US" sz="2000">
                <a:solidFill>
                  <a:srgbClr val="000000"/>
                </a:solidFill>
                <a:latin typeface="Wingdings" pitchFamily="18"/>
              </a:rPr>
              <a:t> </a:t>
            </a:r>
            <a:r>
              <a:rPr lang="vi-VN" sz="2000">
                <a:latin typeface="Calibri" pitchFamily="34"/>
                <a:cs typeface="Calibri" pitchFamily="34"/>
              </a:rPr>
              <a:t>The predictive accuracy of the classiﬁer is estimated.</a:t>
            </a:r>
          </a:p>
          <a:p>
            <a:pPr lvl="0" algn="l">
              <a:lnSpc>
                <a:spcPct val="115000"/>
              </a:lnSpc>
              <a:spcAft>
                <a:spcPts val="1001"/>
              </a:spcAft>
            </a:pPr>
            <a:r>
              <a:rPr lang="en-US" sz="2000">
                <a:solidFill>
                  <a:srgbClr val="000000"/>
                </a:solidFill>
                <a:latin typeface="Wingdings" pitchFamily="18"/>
              </a:rPr>
              <a:t> </a:t>
            </a:r>
            <a:r>
              <a:rPr lang="vi-VN" sz="2000">
                <a:latin typeface="Calibri" pitchFamily="34"/>
                <a:cs typeface="Calibri" pitchFamily="34"/>
              </a:rPr>
              <a:t>A  </a:t>
            </a:r>
            <a:r>
              <a:rPr lang="vi-VN" sz="2000" b="1">
                <a:solidFill>
                  <a:srgbClr val="6666FF"/>
                </a:solidFill>
                <a:latin typeface="Calibri" pitchFamily="34"/>
                <a:cs typeface="Calibri" pitchFamily="34"/>
              </a:rPr>
              <a:t>test set</a:t>
            </a:r>
            <a:r>
              <a:rPr lang="vi-VN" sz="2000" b="1">
                <a:latin typeface="Calibri" pitchFamily="34"/>
                <a:cs typeface="Calibri" pitchFamily="34"/>
              </a:rPr>
              <a:t> </a:t>
            </a:r>
            <a:r>
              <a:rPr lang="vi-VN" sz="2000">
                <a:latin typeface="Calibri" pitchFamily="34"/>
                <a:cs typeface="Calibri" pitchFamily="34"/>
              </a:rPr>
              <a:t>is used, made up of </a:t>
            </a:r>
            <a:r>
              <a:rPr lang="vi-VN" sz="2000" b="1">
                <a:solidFill>
                  <a:srgbClr val="6666FF"/>
                </a:solidFill>
                <a:latin typeface="Calibri" pitchFamily="34"/>
                <a:cs typeface="Calibri" pitchFamily="34"/>
              </a:rPr>
              <a:t>test tuples</a:t>
            </a:r>
            <a:r>
              <a:rPr lang="vi-VN" sz="2000" b="1">
                <a:latin typeface="Calibri" pitchFamily="34"/>
                <a:cs typeface="Calibri" pitchFamily="34"/>
              </a:rPr>
              <a:t> </a:t>
            </a:r>
            <a:r>
              <a:rPr lang="vi-VN" sz="2000">
                <a:latin typeface="Calibri" pitchFamily="34"/>
                <a:cs typeface="Calibri" pitchFamily="34"/>
              </a:rPr>
              <a:t>and their associated class labels.</a:t>
            </a:r>
          </a:p>
          <a:p>
            <a:pPr lvl="0" algn="l">
              <a:lnSpc>
                <a:spcPct val="115000"/>
              </a:lnSpc>
              <a:spcAft>
                <a:spcPts val="1001"/>
              </a:spcAft>
            </a:pPr>
            <a:r>
              <a:rPr lang="en-US" sz="2000">
                <a:solidFill>
                  <a:srgbClr val="000000"/>
                </a:solidFill>
                <a:latin typeface="Wingdings" pitchFamily="18"/>
              </a:rPr>
              <a:t> </a:t>
            </a:r>
            <a:r>
              <a:rPr lang="vi-VN" sz="2000">
                <a:latin typeface="Calibri" pitchFamily="34"/>
                <a:cs typeface="Calibri" pitchFamily="34"/>
              </a:rPr>
              <a:t>The  </a:t>
            </a:r>
            <a:r>
              <a:rPr lang="vi-VN" sz="2000" b="1">
                <a:solidFill>
                  <a:srgbClr val="6666FF"/>
                </a:solidFill>
                <a:latin typeface="Calibri" pitchFamily="34"/>
                <a:cs typeface="Calibri" pitchFamily="34"/>
              </a:rPr>
              <a:t>accuracy</a:t>
            </a:r>
            <a:r>
              <a:rPr lang="vi-VN" sz="2000">
                <a:latin typeface="Calibri" pitchFamily="34"/>
                <a:cs typeface="Calibri" pitchFamily="34"/>
              </a:rPr>
              <a:t> of a classiﬁer on a given test set is the percentage of test set tuples that are correctly classiﬁed by the classiﬁer.  </a:t>
            </a:r>
          </a:p>
          <a:p>
            <a:pPr lvl="0" algn="l">
              <a:lnSpc>
                <a:spcPct val="115000"/>
              </a:lnSpc>
              <a:spcAft>
                <a:spcPts val="1001"/>
              </a:spcAft>
            </a:pPr>
            <a:r>
              <a:rPr lang="en-US" sz="2000">
                <a:solidFill>
                  <a:srgbClr val="000000"/>
                </a:solidFill>
                <a:latin typeface="Wingdings" pitchFamily="18"/>
              </a:rPr>
              <a:t> </a:t>
            </a:r>
            <a:r>
              <a:rPr lang="vi-VN" sz="2000">
                <a:latin typeface="Calibri" pitchFamily="34"/>
                <a:cs typeface="Calibri" pitchFamily="34"/>
              </a:rPr>
              <a:t>If the accuracy is considered acceptable, the classiﬁer can be used to classify future data tuples for which the class label is not known.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432359" y="5040000"/>
            <a:ext cx="9071640" cy="2015999"/>
          </a:xfrm>
        </p:spPr>
        <p:txBody>
          <a:bodyPr anchor="ctr"/>
          <a:lstStyle/>
          <a:p>
            <a:pPr lvl="0" algn="ctr">
              <a:spcAft>
                <a:spcPts val="1001"/>
              </a:spcAft>
            </a:pPr>
            <a:r>
              <a:rPr lang="vi-VN" sz="2000">
                <a:latin typeface="Calibri" pitchFamily="34"/>
                <a:cs typeface="Calibri" pitchFamily="34"/>
              </a:rPr>
              <a:t>Figure 8.1b</a:t>
            </a:r>
          </a:p>
          <a:p>
            <a:pPr lvl="0" algn="ctr">
              <a:spcAft>
                <a:spcPts val="1001"/>
              </a:spcAft>
            </a:pPr>
            <a:endParaRPr lang="vi-VN" sz="2000">
              <a:latin typeface="Calibri" pitchFamily="34"/>
              <a:cs typeface="Calibri" pitchFamily="34"/>
            </a:endParaRPr>
          </a:p>
          <a:p>
            <a:pPr lvl="0" algn="l">
              <a:spcAft>
                <a:spcPts val="1001"/>
              </a:spcAft>
            </a:pPr>
            <a:r>
              <a:rPr lang="vi-VN" sz="2000">
                <a:latin typeface="Calibri" pitchFamily="34"/>
                <a:cs typeface="Calibri" pitchFamily="34"/>
              </a:rPr>
              <a:t>Classiﬁcation: Test data are used to estimate the accuracy of the classiﬁcation rules. If the accuracy is considered acceptable, the rules can be applied to the classiﬁcation of new data tuples.</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432000" y="144000"/>
            <a:ext cx="9216000" cy="49615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lnSpc>
                <a:spcPct val="115000"/>
              </a:lnSpc>
              <a:spcAft>
                <a:spcPts val="1001"/>
              </a:spcAft>
            </a:pPr>
            <a:r>
              <a:rPr lang="vi-VN">
                <a:latin typeface="Calibri" pitchFamily="34"/>
                <a:cs typeface="Calibri" pitchFamily="34"/>
              </a:rPr>
              <a:t>8.2.1 Decicsion Tree Induction</a:t>
            </a:r>
          </a:p>
          <a:p>
            <a:pPr lvl="0" algn="ctr">
              <a:lnSpc>
                <a:spcPct val="115000"/>
              </a:lnSpc>
              <a:spcAft>
                <a:spcPts val="1001"/>
              </a:spcAft>
            </a:pPr>
            <a:r>
              <a:rPr lang="vi-VN" sz="2600">
                <a:latin typeface="Calibri" pitchFamily="34"/>
                <a:cs typeface="Calibri" pitchFamily="34"/>
              </a:rPr>
              <a:t>History</a:t>
            </a:r>
          </a:p>
          <a:p>
            <a:pPr lvl="0" algn="l">
              <a:lnSpc>
                <a:spcPct val="115000"/>
              </a:lnSpc>
              <a:spcAft>
                <a:spcPts val="1001"/>
              </a:spcAft>
            </a:pPr>
            <a:r>
              <a:rPr lang="vi-VN" sz="2000">
                <a:solidFill>
                  <a:srgbClr val="000000"/>
                </a:solidFill>
                <a:latin typeface="Wingdings" pitchFamily="18"/>
              </a:rPr>
              <a:t> </a:t>
            </a:r>
            <a:r>
              <a:rPr lang="vi-VN" sz="2000">
                <a:latin typeface="Calibri" pitchFamily="34"/>
                <a:cs typeface="Calibri" pitchFamily="34"/>
              </a:rPr>
              <a:t>During the late 1970s and early 1980s, J. Ross Quinlan, a researcher in machine learning, developed a decision tree algorithm known as </a:t>
            </a:r>
            <a:r>
              <a:rPr lang="vi-VN" sz="2000" b="1">
                <a:solidFill>
                  <a:srgbClr val="6666FF"/>
                </a:solidFill>
                <a:latin typeface="Calibri" pitchFamily="34"/>
                <a:cs typeface="Calibri" pitchFamily="34"/>
              </a:rPr>
              <a:t>ID3</a:t>
            </a:r>
            <a:r>
              <a:rPr lang="vi-VN" sz="2000">
                <a:latin typeface="Calibri" pitchFamily="34"/>
                <a:cs typeface="Calibri" pitchFamily="34"/>
              </a:rPr>
              <a:t> (Iterative Dichotomiser).</a:t>
            </a:r>
          </a:p>
          <a:p>
            <a:pPr lvl="0" algn="l">
              <a:lnSpc>
                <a:spcPct val="115000"/>
              </a:lnSpc>
              <a:spcAft>
                <a:spcPts val="1001"/>
              </a:spcAft>
            </a:pPr>
            <a:r>
              <a:rPr lang="vi-VN" sz="2000">
                <a:solidFill>
                  <a:srgbClr val="000000"/>
                </a:solidFill>
                <a:latin typeface="Wingdings" pitchFamily="18"/>
              </a:rPr>
              <a:t> </a:t>
            </a:r>
            <a:r>
              <a:rPr lang="vi-VN" sz="2000">
                <a:latin typeface="Calibri" pitchFamily="34"/>
                <a:cs typeface="Calibri" pitchFamily="34"/>
              </a:rPr>
              <a:t>Quinlan later presented </a:t>
            </a:r>
            <a:r>
              <a:rPr lang="vi-VN" sz="2000" b="1">
                <a:solidFill>
                  <a:srgbClr val="6666FF"/>
                </a:solidFill>
                <a:latin typeface="Calibri" pitchFamily="34"/>
                <a:cs typeface="Calibri" pitchFamily="34"/>
              </a:rPr>
              <a:t>C4.5</a:t>
            </a:r>
            <a:r>
              <a:rPr lang="vi-VN" sz="2000">
                <a:latin typeface="Calibri" pitchFamily="34"/>
                <a:cs typeface="Calibri" pitchFamily="34"/>
              </a:rPr>
              <a:t> (a successor of ID3), which became a benchmark to which newer supervised learning algorithms are often compared.</a:t>
            </a:r>
          </a:p>
          <a:p>
            <a:pPr lvl="0" algn="l">
              <a:lnSpc>
                <a:spcPct val="115000"/>
              </a:lnSpc>
              <a:spcAft>
                <a:spcPts val="1001"/>
              </a:spcAft>
            </a:pPr>
            <a:r>
              <a:rPr lang="vi-VN" sz="2000">
                <a:solidFill>
                  <a:srgbClr val="000000"/>
                </a:solidFill>
                <a:latin typeface="Wingdings" pitchFamily="18"/>
              </a:rPr>
              <a:t> </a:t>
            </a:r>
            <a:r>
              <a:rPr lang="vi-VN" sz="2000">
                <a:latin typeface="Calibri" pitchFamily="34"/>
                <a:cs typeface="Calibri" pitchFamily="34"/>
              </a:rPr>
              <a:t>In 1984, a group of statisticians (L. Breiman, J. Friedman, R. Olshen, and C. Stone) published the book </a:t>
            </a:r>
            <a:r>
              <a:rPr lang="vi-VN" sz="2000" b="1">
                <a:solidFill>
                  <a:srgbClr val="6666FF"/>
                </a:solidFill>
                <a:latin typeface="Calibri" pitchFamily="34"/>
                <a:cs typeface="Calibri" pitchFamily="34"/>
              </a:rPr>
              <a:t>Classiﬁcation and Regression Trees (CART)</a:t>
            </a:r>
            <a:r>
              <a:rPr lang="vi-VN" sz="2000">
                <a:latin typeface="Calibri" pitchFamily="34"/>
                <a:cs typeface="Calibri" pitchFamily="34"/>
              </a:rPr>
              <a:t>, which described the generation of binary decision trees.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r>
              <a:rPr lang="vi-VN"/>
              <a:t>What is </a:t>
            </a:r>
            <a:r>
              <a:rPr lang="vi-VN" b="1">
                <a:latin typeface="Calibri" pitchFamily="34"/>
                <a:cs typeface="Calibri" pitchFamily="34"/>
              </a:rPr>
              <a:t>Decision tree induction?</a:t>
            </a:r>
          </a:p>
          <a:p>
            <a:pPr lvl="0" algn="ctr"/>
            <a:endParaRPr lang="vi-VN" b="1">
              <a:latin typeface="Calibri" pitchFamily="34"/>
              <a:cs typeface="Calibri" pitchFamily="34"/>
            </a:endParaRPr>
          </a:p>
          <a:p>
            <a:pPr lvl="0" algn="l">
              <a:lnSpc>
                <a:spcPct val="115000"/>
              </a:lnSpc>
              <a:spcAft>
                <a:spcPts val="1001"/>
              </a:spcAft>
            </a:pPr>
            <a:r>
              <a:rPr lang="en-US" sz="2000">
                <a:solidFill>
                  <a:srgbClr val="000000"/>
                </a:solidFill>
                <a:latin typeface="Wingdings" pitchFamily="18"/>
              </a:rPr>
              <a:t> </a:t>
            </a:r>
            <a:r>
              <a:rPr lang="vi-VN" sz="2000">
                <a:latin typeface="Calibri" pitchFamily="34"/>
                <a:cs typeface="Calibri" pitchFamily="34"/>
              </a:rPr>
              <a:t>The learning of decision trees from class-labeled training tuples.</a:t>
            </a:r>
          </a:p>
          <a:p>
            <a:pPr lvl="0" algn="l">
              <a:lnSpc>
                <a:spcPct val="115000"/>
              </a:lnSpc>
              <a:spcAft>
                <a:spcPts val="1001"/>
              </a:spcAft>
            </a:pPr>
            <a:r>
              <a:rPr lang="en-US" sz="2000">
                <a:solidFill>
                  <a:srgbClr val="000000"/>
                </a:solidFill>
                <a:latin typeface="Wingdings" pitchFamily="18"/>
              </a:rPr>
              <a:t> </a:t>
            </a:r>
            <a:r>
              <a:rPr lang="vi-VN" sz="2000">
                <a:latin typeface="Calibri" pitchFamily="34"/>
                <a:cs typeface="Calibri" pitchFamily="34"/>
              </a:rPr>
              <a:t>A ﬂowchart-like tree structure, where</a:t>
            </a:r>
          </a:p>
          <a:p>
            <a:pPr lvl="0" algn="l">
              <a:lnSpc>
                <a:spcPct val="115000"/>
              </a:lnSpc>
              <a:spcAft>
                <a:spcPts val="1001"/>
              </a:spcAft>
            </a:pPr>
            <a:r>
              <a:rPr lang="vi-VN" sz="2000">
                <a:solidFill>
                  <a:srgbClr val="000000"/>
                </a:solidFill>
                <a:latin typeface="Wingdings" pitchFamily="18"/>
              </a:rPr>
              <a:t>	 </a:t>
            </a:r>
            <a:r>
              <a:rPr lang="vi-VN" sz="2000">
                <a:latin typeface="Calibri" pitchFamily="34"/>
                <a:cs typeface="Calibri" pitchFamily="34"/>
              </a:rPr>
              <a:t>Each internal node (nonleaf node) denotes a test on an attribute, </a:t>
            </a:r>
            <a:r>
              <a:rPr lang="vi-VN" sz="2000">
                <a:solidFill>
                  <a:srgbClr val="000000"/>
                </a:solidFill>
                <a:latin typeface="Calibri" pitchFamily="34"/>
                <a:cs typeface="Calibri" pitchFamily="34"/>
              </a:rPr>
              <a:t>denoted by 		        rectangles.</a:t>
            </a:r>
          </a:p>
          <a:p>
            <a:pPr lvl="0" algn="l">
              <a:lnSpc>
                <a:spcPct val="115000"/>
              </a:lnSpc>
              <a:spcAft>
                <a:spcPts val="1001"/>
              </a:spcAft>
            </a:pPr>
            <a:r>
              <a:rPr lang="vi-VN" sz="2000">
                <a:latin typeface="Calibri" pitchFamily="34"/>
                <a:cs typeface="Calibri" pitchFamily="34"/>
              </a:rPr>
              <a:t>	</a:t>
            </a:r>
            <a:r>
              <a:rPr lang="vi-VN" sz="2000">
                <a:solidFill>
                  <a:srgbClr val="000000"/>
                </a:solidFill>
                <a:latin typeface="Wingdings" pitchFamily="18"/>
              </a:rPr>
              <a:t> </a:t>
            </a:r>
            <a:r>
              <a:rPr lang="vi-VN" sz="2000">
                <a:latin typeface="Calibri" pitchFamily="34"/>
                <a:cs typeface="Calibri" pitchFamily="34"/>
              </a:rPr>
              <a:t>Each branch represents an outcome of the test</a:t>
            </a:r>
          </a:p>
          <a:p>
            <a:pPr lvl="0" algn="l">
              <a:lnSpc>
                <a:spcPct val="115000"/>
              </a:lnSpc>
              <a:spcAft>
                <a:spcPts val="1001"/>
              </a:spcAft>
            </a:pPr>
            <a:r>
              <a:rPr lang="vi-VN" sz="2000">
                <a:latin typeface="Calibri" pitchFamily="34"/>
                <a:cs typeface="Calibri" pitchFamily="34"/>
              </a:rPr>
              <a:t>	</a:t>
            </a:r>
            <a:r>
              <a:rPr lang="vi-VN" sz="2000">
                <a:solidFill>
                  <a:srgbClr val="000000"/>
                </a:solidFill>
                <a:latin typeface="Wingdings" pitchFamily="18"/>
              </a:rPr>
              <a:t> </a:t>
            </a:r>
            <a:r>
              <a:rPr lang="vi-VN" sz="2000">
                <a:latin typeface="Calibri" pitchFamily="34"/>
                <a:cs typeface="Calibri" pitchFamily="34"/>
              </a:rPr>
              <a:t>Each leaf node (or terminal node) holds a class label, </a:t>
            </a:r>
            <a:r>
              <a:rPr lang="vi-VN" sz="2000">
                <a:solidFill>
                  <a:srgbClr val="000000"/>
                </a:solidFill>
                <a:latin typeface="Calibri" pitchFamily="34"/>
                <a:cs typeface="Calibri" pitchFamily="34"/>
              </a:rPr>
              <a:t>denoted by ovals</a:t>
            </a:r>
            <a:r>
              <a:rPr lang="vi-VN" sz="2000">
                <a:latin typeface="Calibri" pitchFamily="34"/>
                <a:cs typeface="Calibri" pitchFamily="34"/>
              </a:rPr>
              <a:t>.</a:t>
            </a:r>
          </a:p>
          <a:p>
            <a:pPr lvl="0" algn="l">
              <a:lnSpc>
                <a:spcPct val="115000"/>
              </a:lnSpc>
              <a:spcAft>
                <a:spcPts val="1001"/>
              </a:spcAft>
            </a:pPr>
            <a:r>
              <a:rPr lang="vi-VN" sz="2000">
                <a:latin typeface="Calibri" pitchFamily="34"/>
                <a:cs typeface="Calibri" pitchFamily="34"/>
              </a:rPr>
              <a:t>	</a:t>
            </a:r>
            <a:r>
              <a:rPr lang="vi-VN" sz="2000">
                <a:solidFill>
                  <a:srgbClr val="000000"/>
                </a:solidFill>
                <a:latin typeface="Wingdings" pitchFamily="18"/>
              </a:rPr>
              <a:t> </a:t>
            </a:r>
            <a:r>
              <a:rPr lang="vi-VN" sz="2000">
                <a:latin typeface="Calibri" pitchFamily="34"/>
                <a:cs typeface="Calibri" pitchFamily="34"/>
              </a:rPr>
              <a:t>The topmost node in a tree is the root node.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algn="ctr"/>
            <a:endParaRPr lang="vi-VN"/>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503999" y="301320"/>
            <a:ext cx="9144000" cy="682667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lnSpc>
                <a:spcPct val="115000"/>
              </a:lnSpc>
              <a:spcAft>
                <a:spcPts val="1001"/>
              </a:spcAft>
            </a:pPr>
            <a:r>
              <a:rPr lang="en-US" sz="2800">
                <a:latin typeface="Calibri" pitchFamily="34"/>
                <a:cs typeface="Calibri" pitchFamily="34"/>
              </a:rPr>
              <a:t>“How are decision trees used for classiﬁcation?”</a:t>
            </a: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A tuple, X, for which the associated class label is unknown, has its attribute values tested against the decision tree. A path is traced from the root to a leaf node, which holds the class prediction for that tuple.</a:t>
            </a:r>
          </a:p>
          <a:p>
            <a:pPr lvl="0" algn="ctr">
              <a:lnSpc>
                <a:spcPct val="115000"/>
              </a:lnSpc>
              <a:spcAft>
                <a:spcPts val="1001"/>
              </a:spcAft>
            </a:pPr>
            <a:r>
              <a:rPr lang="en-US" sz="2800">
                <a:latin typeface="Calibri" pitchFamily="34"/>
                <a:cs typeface="Calibri" pitchFamily="34"/>
              </a:rPr>
              <a:t>“Why are decision tree classiﬁers so popular?”</a:t>
            </a: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Does not require any domain knowledge or parameter setting, and therefore is appropriate for exploratory knowledge discovery.</a:t>
            </a: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Can handle multidimensional data.  </a:t>
            </a: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The learning and classiﬁcation steps are simple and fast.</a:t>
            </a: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Decision tree classiﬁers have good accuracy.</a:t>
            </a:r>
          </a:p>
          <a:p>
            <a:pPr lvl="0" algn="l">
              <a:lnSpc>
                <a:spcPct val="115000"/>
              </a:lnSpc>
              <a:spcAft>
                <a:spcPts val="1001"/>
              </a:spcAft>
            </a:pPr>
            <a:r>
              <a:rPr lang="en-US" sz="2000">
                <a:solidFill>
                  <a:srgbClr val="000000"/>
                </a:solidFill>
                <a:latin typeface="Wingdings" pitchFamily="18"/>
              </a:rPr>
              <a:t> </a:t>
            </a:r>
            <a:r>
              <a:rPr lang="en-US" sz="2000">
                <a:latin typeface="Calibri" pitchFamily="34"/>
                <a:cs typeface="Calibri" pitchFamily="34"/>
              </a:rPr>
              <a:t>Used for classiﬁcation in many application areas such as medicine, manufacturing and production, ﬁnancial analysis, astronomy, and molecular biology. Decision trees are the basis of several commercial rule induction systems.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algn="ctr"/>
            <a:endParaRPr lang="vi-VN"/>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503999" y="1007999"/>
            <a:ext cx="9071640" cy="4392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algn="ctr"/>
            <a:endParaRPr lang="vi-VN"/>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766080" y="576000"/>
            <a:ext cx="8737920" cy="640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algn="ctr"/>
            <a:endParaRPr lang="vi-VN"/>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648000" y="453959"/>
            <a:ext cx="8712000" cy="667404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spcAft>
                <a:spcPts val="1001"/>
              </a:spcAft>
            </a:pPr>
            <a:r>
              <a:rPr lang="vi-VN">
                <a:latin typeface="Calibri" pitchFamily="34"/>
                <a:cs typeface="Calibri" pitchFamily="34"/>
              </a:rPr>
              <a:t>8.2.2 Attribute Selection Measures</a:t>
            </a:r>
          </a:p>
          <a:p>
            <a:pPr lvl="0" algn="ctr">
              <a:spcAft>
                <a:spcPts val="1001"/>
              </a:spcAft>
            </a:pPr>
            <a:endParaRPr lang="vi-VN">
              <a:latin typeface="Calibri" pitchFamily="34"/>
              <a:cs typeface="Calibri" pitchFamily="34"/>
            </a:endParaRPr>
          </a:p>
          <a:p>
            <a:pPr lvl="0" algn="l">
              <a:spcAft>
                <a:spcPts val="1001"/>
              </a:spcAft>
            </a:pPr>
            <a:r>
              <a:rPr lang="en-US" sz="2000">
                <a:solidFill>
                  <a:srgbClr val="000000"/>
                </a:solidFill>
                <a:latin typeface="Wingdings" pitchFamily="18"/>
              </a:rPr>
              <a:t> </a:t>
            </a:r>
            <a:r>
              <a:rPr lang="vi-VN" sz="2000">
                <a:latin typeface="Calibri" pitchFamily="34"/>
                <a:cs typeface="Calibri" pitchFamily="34"/>
              </a:rPr>
              <a:t>Is a heuristic for selecting the splitting criterion that “best”separates a given data partition, D,of class-labeled training tuples into individual classes.</a:t>
            </a:r>
          </a:p>
          <a:p>
            <a:pPr lvl="0" algn="l">
              <a:spcAft>
                <a:spcPts val="1001"/>
              </a:spcAft>
            </a:pPr>
            <a:r>
              <a:rPr lang="en-US" sz="2000">
                <a:solidFill>
                  <a:srgbClr val="000000"/>
                </a:solidFill>
                <a:latin typeface="Wingdings" pitchFamily="18"/>
              </a:rPr>
              <a:t> </a:t>
            </a:r>
            <a:r>
              <a:rPr lang="vi-VN" sz="2000">
                <a:latin typeface="Calibri" pitchFamily="34"/>
                <a:cs typeface="Calibri" pitchFamily="34"/>
              </a:rPr>
              <a:t>Also known as </a:t>
            </a:r>
            <a:r>
              <a:rPr lang="vi-VN" sz="2000" b="1">
                <a:solidFill>
                  <a:srgbClr val="6666FF"/>
                </a:solidFill>
                <a:latin typeface="Calibri" pitchFamily="34"/>
                <a:cs typeface="Calibri" pitchFamily="34"/>
              </a:rPr>
              <a:t>splitting rules</a:t>
            </a:r>
            <a:r>
              <a:rPr lang="vi-VN" sz="2000" b="1">
                <a:latin typeface="Calibri" pitchFamily="34"/>
                <a:cs typeface="Calibri" pitchFamily="34"/>
              </a:rPr>
              <a:t> </a:t>
            </a:r>
            <a:r>
              <a:rPr lang="vi-VN" sz="2000">
                <a:latin typeface="Calibri" pitchFamily="34"/>
                <a:cs typeface="Calibri" pitchFamily="34"/>
              </a:rPr>
              <a:t>because they determine how the tuples at a given node are to be split.</a:t>
            </a:r>
          </a:p>
          <a:p>
            <a:pPr lvl="0" algn="l">
              <a:spcAft>
                <a:spcPts val="1001"/>
              </a:spcAft>
            </a:pPr>
            <a:r>
              <a:rPr lang="en-US" sz="2000">
                <a:solidFill>
                  <a:srgbClr val="000000"/>
                </a:solidFill>
                <a:latin typeface="Wingdings" pitchFamily="18"/>
              </a:rPr>
              <a:t> </a:t>
            </a:r>
            <a:r>
              <a:rPr lang="en-US" sz="2000">
                <a:latin typeface="Calibri" pitchFamily="34"/>
                <a:cs typeface="Calibri" pitchFamily="34"/>
              </a:rPr>
              <a:t>Provides a ranking for each attribute describing the given training tuples. The attribute having the best score for the measure is chosen as the splitting attribute for the given tuples.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1152000"/>
            <a:ext cx="9071640" cy="5605920"/>
          </a:xfrm>
        </p:spPr>
        <p:txBody>
          <a:bodyPr anchor="ctr"/>
          <a:lstStyle/>
          <a:p>
            <a:pPr lvl="0" algn="ctr">
              <a:spcAft>
                <a:spcPts val="1001"/>
              </a:spcAft>
            </a:pPr>
            <a:r>
              <a:rPr lang="vi-VN" b="1">
                <a:latin typeface="Calibri" pitchFamily="34"/>
                <a:cs typeface="Calibri" pitchFamily="34"/>
              </a:rPr>
              <a:t>** </a:t>
            </a:r>
            <a:r>
              <a:rPr lang="vi-VN" b="1">
                <a:solidFill>
                  <a:srgbClr val="6666FF"/>
                </a:solidFill>
                <a:latin typeface="Calibri" pitchFamily="34"/>
                <a:cs typeface="Calibri" pitchFamily="34"/>
              </a:rPr>
              <a:t>Information Gain</a:t>
            </a:r>
          </a:p>
          <a:p>
            <a:pPr lvl="0" algn="l">
              <a:spcAft>
                <a:spcPts val="1001"/>
              </a:spcAft>
            </a:pPr>
            <a:r>
              <a:rPr lang="en-US" sz="2000">
                <a:solidFill>
                  <a:srgbClr val="000000"/>
                </a:solidFill>
                <a:latin typeface="Wingdings" pitchFamily="18"/>
              </a:rPr>
              <a:t> </a:t>
            </a:r>
            <a:r>
              <a:rPr lang="vi-VN" sz="2000">
                <a:solidFill>
                  <a:srgbClr val="000000"/>
                </a:solidFill>
                <a:latin typeface="Calibri" pitchFamily="34"/>
                <a:cs typeface="Calibri" pitchFamily="34"/>
              </a:rPr>
              <a:t>ID3 uses information gain as its attribute selection measure.</a:t>
            </a:r>
          </a:p>
          <a:p>
            <a:pPr lvl="0" algn="l"/>
            <a:r>
              <a:rPr lang="en-US" sz="2000">
                <a:solidFill>
                  <a:srgbClr val="000000"/>
                </a:solidFill>
                <a:latin typeface="Wingdings" pitchFamily="18"/>
              </a:rPr>
              <a:t> </a:t>
            </a:r>
            <a:r>
              <a:rPr lang="vi-VN" sz="2000">
                <a:solidFill>
                  <a:srgbClr val="000000"/>
                </a:solidFill>
                <a:latin typeface="Calibri" pitchFamily="34"/>
                <a:cs typeface="Calibri" pitchFamily="34"/>
              </a:rPr>
              <a:t>The attribute with the highest information gain is chosen as the splitting attribute for node N. This attribute minimizes the information needed to classify the tuples in the</a:t>
            </a:r>
          </a:p>
          <a:p>
            <a:pPr lvl="0" algn="l"/>
            <a:r>
              <a:rPr lang="vi-VN" sz="2000">
                <a:solidFill>
                  <a:srgbClr val="000000"/>
                </a:solidFill>
                <a:latin typeface="Calibri" pitchFamily="34"/>
                <a:cs typeface="Calibri" pitchFamily="34"/>
              </a:rPr>
              <a:t>resulting partitions and reﬂects the least randomness or “</a:t>
            </a:r>
            <a:r>
              <a:rPr lang="vi-VN" sz="2000" b="1">
                <a:solidFill>
                  <a:srgbClr val="6666FF"/>
                </a:solidFill>
                <a:latin typeface="Calibri" pitchFamily="34"/>
                <a:cs typeface="Calibri" pitchFamily="34"/>
              </a:rPr>
              <a:t>impurity</a:t>
            </a:r>
            <a:r>
              <a:rPr lang="vi-VN" sz="2000">
                <a:solidFill>
                  <a:srgbClr val="000000"/>
                </a:solidFill>
                <a:latin typeface="Calibri" pitchFamily="34"/>
                <a:cs typeface="Calibri" pitchFamily="34"/>
              </a:rPr>
              <a:t>” in these partitions.</a:t>
            </a:r>
          </a:p>
          <a:p>
            <a:pPr lvl="0" algn="l"/>
            <a:endParaRPr lang="vi-VN" sz="2000">
              <a:solidFill>
                <a:srgbClr val="000000"/>
              </a:solidFill>
              <a:latin typeface="Calibri" pitchFamily="34"/>
              <a:cs typeface="Calibri" pitchFamily="34"/>
            </a:endParaRPr>
          </a:p>
          <a:p>
            <a:pPr lvl="0" algn="l"/>
            <a:r>
              <a:rPr lang="en-US" sz="2000">
                <a:solidFill>
                  <a:srgbClr val="000000"/>
                </a:solidFill>
                <a:latin typeface="Wingdings" pitchFamily="18"/>
              </a:rPr>
              <a:t> </a:t>
            </a:r>
            <a:r>
              <a:rPr lang="vi-VN" sz="2000">
                <a:solidFill>
                  <a:srgbClr val="000000"/>
                </a:solidFill>
                <a:latin typeface="Calibri" pitchFamily="34"/>
                <a:cs typeface="Calibri" pitchFamily="34"/>
              </a:rPr>
              <a:t>The expected information needed to classify a tuple in D is given by</a:t>
            </a:r>
          </a:p>
          <a:p>
            <a:pPr lvl="0" algn="l"/>
            <a:endParaRPr lang="vi-VN" sz="2000">
              <a:solidFill>
                <a:srgbClr val="000000"/>
              </a:solidFill>
              <a:latin typeface="Calibri" pitchFamily="34"/>
              <a:cs typeface="Calibri" pitchFamily="34"/>
            </a:endParaRPr>
          </a:p>
          <a:p>
            <a:pPr lvl="0" algn="l"/>
            <a:endParaRPr lang="vi-VN" sz="2000">
              <a:solidFill>
                <a:srgbClr val="000000"/>
              </a:solidFill>
              <a:latin typeface="Calibri" pitchFamily="34"/>
              <a:cs typeface="Calibri" pitchFamily="34"/>
            </a:endParaRPr>
          </a:p>
          <a:p>
            <a:pPr lvl="0" algn="l"/>
            <a:endParaRPr lang="vi-VN" sz="2000">
              <a:solidFill>
                <a:srgbClr val="000000"/>
              </a:solidFill>
              <a:latin typeface="Calibri" pitchFamily="34"/>
              <a:cs typeface="Calibri" pitchFamily="34"/>
            </a:endParaRPr>
          </a:p>
          <a:p>
            <a:pPr lvl="0" algn="l"/>
            <a:endParaRPr lang="vi-VN" sz="2000">
              <a:solidFill>
                <a:srgbClr val="000000"/>
              </a:solidFill>
              <a:latin typeface="Calibri" pitchFamily="34"/>
              <a:cs typeface="Calibri" pitchFamily="34"/>
            </a:endParaRPr>
          </a:p>
          <a:p>
            <a:pPr lvl="0" algn="l"/>
            <a:endParaRPr lang="vi-VN" sz="2000">
              <a:solidFill>
                <a:srgbClr val="000000"/>
              </a:solidFill>
              <a:latin typeface="Calibri" pitchFamily="34"/>
              <a:cs typeface="Calibri" pitchFamily="34"/>
            </a:endParaRPr>
          </a:p>
          <a:p>
            <a:pPr lvl="0" algn="l"/>
            <a:endParaRPr lang="vi-VN" sz="2000">
              <a:solidFill>
                <a:srgbClr val="000000"/>
              </a:solidFill>
              <a:latin typeface="Calibri" pitchFamily="34"/>
              <a:cs typeface="Calibri" pitchFamily="34"/>
            </a:endParaRPr>
          </a:p>
          <a:p>
            <a:pPr lvl="0" algn="l"/>
            <a:r>
              <a:rPr lang="vi-VN" sz="2000">
                <a:solidFill>
                  <a:srgbClr val="000000"/>
                </a:solidFill>
                <a:latin typeface="Calibri" pitchFamily="34"/>
                <a:cs typeface="Calibri" pitchFamily="34"/>
              </a:rPr>
              <a:t>p</a:t>
            </a:r>
            <a:r>
              <a:rPr lang="vi-VN" sz="2000" baseline="-15000">
                <a:solidFill>
                  <a:srgbClr val="000000"/>
                </a:solidFill>
                <a:latin typeface="Calibri" pitchFamily="34"/>
                <a:cs typeface="Calibri" pitchFamily="34"/>
              </a:rPr>
              <a:t>i</a:t>
            </a:r>
            <a:r>
              <a:rPr lang="vi-VN" sz="2000">
                <a:solidFill>
                  <a:srgbClr val="000000"/>
                </a:solidFill>
                <a:latin typeface="Calibri" pitchFamily="34"/>
                <a:cs typeface="Calibri" pitchFamily="34"/>
              </a:rPr>
              <a:t> is the nonzero probability that an arbitrary tuple in D belongs to class Ci and is estimated by|Ci,D|/|D|.</a:t>
            </a:r>
          </a:p>
          <a:p>
            <a:pPr lvl="0" algn="l"/>
            <a:endParaRPr lang="vi-VN" sz="2000">
              <a:solidFill>
                <a:srgbClr val="000000"/>
              </a:solidFill>
              <a:latin typeface="Calibri" pitchFamily="34"/>
              <a:cs typeface="Calibri" pitchFamily="34"/>
            </a:endParaRPr>
          </a:p>
          <a:p>
            <a:pPr lvl="0" algn="ctr"/>
            <a:r>
              <a:rPr lang="vi-VN" sz="1100">
                <a:solidFill>
                  <a:srgbClr val="000000"/>
                </a:solidFill>
                <a:latin typeface="Calibri" pitchFamily="34"/>
                <a:cs typeface="Calibri" pitchFamily="34"/>
              </a:rPr>
              <a:t> </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152000" y="3846960"/>
            <a:ext cx="6480000" cy="126504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l"/>
            <a:r>
              <a:rPr lang="en-US" sz="2000">
                <a:solidFill>
                  <a:srgbClr val="000000"/>
                </a:solidFill>
                <a:latin typeface="Wingdings" pitchFamily="18"/>
              </a:rPr>
              <a:t> </a:t>
            </a:r>
            <a:r>
              <a:rPr lang="vi-VN" sz="2000"/>
              <a:t> After the partitioning, we still need more information to arrive at an exact classiﬁcation. This amount is measured by</a:t>
            </a:r>
          </a:p>
          <a:p>
            <a:pPr lvl="0" algn="ctr"/>
            <a:endParaRPr lang="vi-VN" sz="2000"/>
          </a:p>
          <a:p>
            <a:pPr lvl="0" algn="ctr"/>
            <a:endParaRPr lang="vi-VN" sz="2000"/>
          </a:p>
          <a:p>
            <a:pPr lvl="0" algn="ctr"/>
            <a:endParaRPr lang="vi-VN" sz="2000"/>
          </a:p>
          <a:p>
            <a:pPr lvl="0" algn="ctr"/>
            <a:endParaRPr lang="vi-VN" sz="2000"/>
          </a:p>
          <a:p>
            <a:pPr lvl="0" algn="l"/>
            <a:r>
              <a:rPr lang="vi-VN" sz="2000"/>
              <a:t>Info</a:t>
            </a:r>
            <a:r>
              <a:rPr lang="vi-VN" sz="2000" baseline="-33000"/>
              <a:t>A</a:t>
            </a:r>
            <a:r>
              <a:rPr lang="vi-VN" sz="2000"/>
              <a:t>(D) is the expected information required to classify a tuple from D based on the partitioning by A.</a:t>
            </a:r>
          </a:p>
          <a:p>
            <a:pPr lvl="0" algn="l"/>
            <a:r>
              <a:rPr lang="en-US" sz="2000">
                <a:solidFill>
                  <a:srgbClr val="000000"/>
                </a:solidFill>
                <a:latin typeface="Wingdings" pitchFamily="18"/>
              </a:rPr>
              <a:t> </a:t>
            </a:r>
            <a:r>
              <a:rPr lang="vi-VN" sz="2000"/>
              <a:t>Information gain is deﬁned as the difference between the original information requirement(i.e.,based on just the proportion of classes) and the new requirement (i.e., obtained after partitioning on A). That is,</a:t>
            </a:r>
          </a:p>
          <a:p>
            <a:pPr lvl="0" algn="ctr"/>
            <a:endParaRPr lang="vi-VN" sz="2000"/>
          </a:p>
          <a:p>
            <a:pPr lvl="0" algn="ctr"/>
            <a:endParaRPr lang="vi-VN" sz="2000"/>
          </a:p>
          <a:p>
            <a:pPr lvl="0" algn="ctr"/>
            <a:endParaRPr lang="vi-VN" sz="2000"/>
          </a:p>
          <a:p>
            <a:pPr lvl="0" algn="ctr"/>
            <a:endParaRPr lang="vi-VN" sz="2000"/>
          </a:p>
          <a:p>
            <a:pPr lvl="0" algn="l"/>
            <a:r>
              <a:rPr lang="en-US" sz="1100">
                <a:latin typeface="Calibri" pitchFamily="34"/>
                <a:cs typeface="Calibri" pitchFamily="34"/>
              </a:rPr>
              <a:t> </a:t>
            </a:r>
            <a:r>
              <a:rPr lang="en-US" sz="2000">
                <a:latin typeface="Calibri" pitchFamily="34"/>
                <a:cs typeface="Calibri" pitchFamily="34"/>
              </a:rPr>
              <a:t>The attribute A with the highest information gain, Gain(A), is chosen as the splitting attribute</a:t>
            </a:r>
            <a:r>
              <a:rPr lang="vi-VN" sz="2000">
                <a:latin typeface="Calibri" pitchFamily="34"/>
                <a:cs typeface="Calibri" pitchFamily="34"/>
              </a:rPr>
              <a:t> </a:t>
            </a:r>
            <a:r>
              <a:rPr lang="en-US" sz="2000">
                <a:latin typeface="Calibri" pitchFamily="34"/>
                <a:cs typeface="Calibri" pitchFamily="34"/>
              </a:rPr>
              <a:t>at</a:t>
            </a:r>
            <a:r>
              <a:rPr lang="vi-VN" sz="2000">
                <a:latin typeface="Calibri" pitchFamily="34"/>
                <a:cs typeface="Calibri" pitchFamily="34"/>
              </a:rPr>
              <a:t> </a:t>
            </a:r>
            <a:r>
              <a:rPr lang="en-US" sz="2000">
                <a:latin typeface="Calibri" pitchFamily="34"/>
                <a:cs typeface="Calibri" pitchFamily="34"/>
              </a:rPr>
              <a:t>node</a:t>
            </a:r>
            <a:r>
              <a:rPr lang="vi-VN" sz="2000">
                <a:latin typeface="Calibri" pitchFamily="34"/>
                <a:cs typeface="Calibri" pitchFamily="34"/>
              </a:rPr>
              <a:t> </a:t>
            </a:r>
            <a:r>
              <a:rPr lang="en-US" sz="2000">
                <a:latin typeface="Calibri" pitchFamily="34"/>
                <a:cs typeface="Calibri" pitchFamily="34"/>
              </a:rPr>
              <a:t>N.</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627120" y="1655999"/>
            <a:ext cx="7652880" cy="1080000"/>
          </a:xfrm>
          <a:prstGeom prst="rect">
            <a:avLst/>
          </a:prstGeom>
          <a:noFill/>
          <a:ln>
            <a:noFill/>
          </a:ln>
        </p:spPr>
      </p:pic>
      <p:pic>
        <p:nvPicPr>
          <p:cNvPr id="4" name="Picture 3">
            <a:extLst>
              <a:ext uri="{FF2B5EF4-FFF2-40B4-BE49-F238E27FC236}">
                <a16:creationId xmlns:a16="http://schemas.microsoft.com/office/drawing/2014/main" xmlns="" id="{00000000-0000-0000-0000-000000000000}"/>
              </a:ext>
            </a:extLst>
          </p:cNvPr>
          <p:cNvPicPr>
            <a:picLocks noChangeAspect="1"/>
          </p:cNvPicPr>
          <p:nvPr/>
        </p:nvPicPr>
        <p:blipFill>
          <a:blip r:embed="rId4">
            <a:lum/>
            <a:alphaModFix/>
          </a:blip>
          <a:srcRect/>
          <a:stretch>
            <a:fillRect/>
          </a:stretch>
        </p:blipFill>
        <p:spPr>
          <a:xfrm>
            <a:off x="1296000" y="4396320"/>
            <a:ext cx="7056000" cy="7876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ctr"/>
            <a:r>
              <a:rPr lang="vi-VN"/>
              <a:t>Example of Information Gain</a:t>
            </a:r>
          </a:p>
          <a:p>
            <a:pPr lvl="0" algn="ctr"/>
            <a:endParaRPr lang="vi-VN"/>
          </a:p>
          <a:p>
            <a:pPr lvl="0" algn="ctr"/>
            <a:endParaRPr lang="vi-VN"/>
          </a:p>
          <a:p>
            <a:pPr lvl="0" algn="ctr"/>
            <a:endParaRPr lang="vi-VN"/>
          </a:p>
          <a:p>
            <a:pPr lvl="0" algn="ctr"/>
            <a:endParaRPr lang="vi-VN"/>
          </a:p>
          <a:p>
            <a:pPr lvl="0" algn="ctr"/>
            <a:endParaRPr lang="vi-VN"/>
          </a:p>
          <a:p>
            <a:pPr lvl="0" algn="ctr"/>
            <a:endParaRPr lang="vi-VN"/>
          </a:p>
          <a:p>
            <a:pPr lvl="0" algn="ctr"/>
            <a:endParaRPr lang="vi-VN"/>
          </a:p>
          <a:p>
            <a:pPr lvl="0" algn="ctr"/>
            <a:endParaRPr lang="vi-VN"/>
          </a:p>
          <a:p>
            <a:pPr lvl="0" algn="ctr"/>
            <a:endParaRPr lang="vi-VN"/>
          </a:p>
          <a:p>
            <a:pPr lvl="0" algn="ctr"/>
            <a:endParaRPr lang="vi-VN"/>
          </a:p>
          <a:p>
            <a:pPr lvl="0" algn="ctr"/>
            <a:endParaRPr lang="vi-VN"/>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503999" y="1304640"/>
            <a:ext cx="8712000" cy="56793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t"/>
          <a:lstStyle/>
          <a:p>
            <a:pPr lvl="0" algn="l">
              <a:spcAft>
                <a:spcPts val="1001"/>
              </a:spcAft>
            </a:pPr>
            <a:r>
              <a:rPr lang="en-US" sz="1800">
                <a:solidFill>
                  <a:srgbClr val="000000"/>
                </a:solidFill>
                <a:latin typeface="Wingdings" pitchFamily="18"/>
              </a:rPr>
              <a:t> </a:t>
            </a:r>
            <a:r>
              <a:rPr lang="vi-VN" sz="1800">
                <a:latin typeface="Calibri" pitchFamily="34"/>
                <a:cs typeface="Calibri" pitchFamily="34"/>
              </a:rPr>
              <a:t>The class label attribute, buys_computer, has two distinct values {yes, no} </a:t>
            </a:r>
            <a:r>
              <a:rPr lang="vi-VN" sz="1800">
                <a:latin typeface="Wingdings" pitchFamily="18"/>
              </a:rPr>
              <a:t></a:t>
            </a:r>
            <a:r>
              <a:rPr lang="vi-VN" sz="1800">
                <a:latin typeface="Calibri" pitchFamily="34"/>
                <a:cs typeface="Calibri" pitchFamily="34"/>
              </a:rPr>
              <a:t>m=2.</a:t>
            </a:r>
          </a:p>
          <a:p>
            <a:pPr lvl="0" algn="l">
              <a:spcAft>
                <a:spcPts val="1001"/>
              </a:spcAft>
            </a:pPr>
            <a:r>
              <a:rPr lang="vi-VN" sz="1800">
                <a:latin typeface="Calibri" pitchFamily="34"/>
                <a:cs typeface="Calibri" pitchFamily="34"/>
              </a:rPr>
              <a:t>9 tuples of class </a:t>
            </a:r>
            <a:r>
              <a:rPr lang="vi-VN" sz="1800" b="1">
                <a:solidFill>
                  <a:srgbClr val="6666FF"/>
                </a:solidFill>
                <a:latin typeface="Calibri" pitchFamily="34"/>
                <a:cs typeface="Calibri" pitchFamily="34"/>
              </a:rPr>
              <a:t>yes</a:t>
            </a:r>
            <a:r>
              <a:rPr lang="vi-VN" sz="1800">
                <a:latin typeface="Calibri" pitchFamily="34"/>
                <a:cs typeface="Calibri" pitchFamily="34"/>
              </a:rPr>
              <a:t> and ﬁve tuples of class </a:t>
            </a:r>
            <a:r>
              <a:rPr lang="vi-VN" sz="1800" b="1">
                <a:solidFill>
                  <a:srgbClr val="6666FF"/>
                </a:solidFill>
                <a:latin typeface="Calibri" pitchFamily="34"/>
                <a:cs typeface="Calibri" pitchFamily="34"/>
              </a:rPr>
              <a:t>no</a:t>
            </a:r>
            <a:r>
              <a:rPr lang="vi-VN" sz="1800">
                <a:latin typeface="Calibri" pitchFamily="34"/>
                <a:cs typeface="Calibri" pitchFamily="34"/>
              </a:rPr>
              <a:t>.</a:t>
            </a:r>
          </a:p>
          <a:p>
            <a:pPr lvl="0" algn="l">
              <a:spcAft>
                <a:spcPts val="1001"/>
              </a:spcAft>
            </a:pPr>
            <a:r>
              <a:rPr lang="en-US" sz="1800">
                <a:solidFill>
                  <a:srgbClr val="000000"/>
                </a:solidFill>
                <a:latin typeface="Wingdings" pitchFamily="18"/>
              </a:rPr>
              <a:t> </a:t>
            </a:r>
            <a:r>
              <a:rPr lang="vi-VN" sz="1800">
                <a:latin typeface="Calibri" pitchFamily="34"/>
                <a:cs typeface="Calibri" pitchFamily="34"/>
              </a:rPr>
              <a:t>We ﬁrst use Eq. (8.1) to compute the expected information needed to classify a tuple in D:</a:t>
            </a:r>
          </a:p>
          <a:p>
            <a:pPr lvl="0" algn="l">
              <a:spcAft>
                <a:spcPts val="1001"/>
              </a:spcAft>
            </a:pPr>
            <a:endParaRPr lang="vi-VN" sz="1800">
              <a:latin typeface="Calibri" pitchFamily="34"/>
              <a:cs typeface="Calibri" pitchFamily="34"/>
            </a:endParaRPr>
          </a:p>
          <a:p>
            <a:pPr lvl="0" algn="l">
              <a:spcAft>
                <a:spcPts val="1001"/>
              </a:spcAft>
            </a:pPr>
            <a:endParaRPr lang="vi-VN" sz="1800">
              <a:latin typeface="Calibri" pitchFamily="34"/>
              <a:cs typeface="Calibri" pitchFamily="34"/>
            </a:endParaRPr>
          </a:p>
          <a:p>
            <a:pPr lvl="0" algn="l">
              <a:spcAft>
                <a:spcPts val="1001"/>
              </a:spcAft>
            </a:pPr>
            <a:r>
              <a:rPr lang="en-US" sz="1800">
                <a:solidFill>
                  <a:srgbClr val="000000"/>
                </a:solidFill>
                <a:latin typeface="Wingdings" pitchFamily="18"/>
              </a:rPr>
              <a:t> </a:t>
            </a:r>
            <a:r>
              <a:rPr lang="vi-VN" sz="1800">
                <a:latin typeface="Calibri" pitchFamily="34"/>
                <a:cs typeface="Calibri" pitchFamily="34"/>
              </a:rPr>
              <a:t>For the age category “youth,” there are two </a:t>
            </a:r>
            <a:r>
              <a:rPr lang="vi-VN" sz="1800" b="1">
                <a:solidFill>
                  <a:srgbClr val="6666FF"/>
                </a:solidFill>
                <a:latin typeface="Calibri" pitchFamily="34"/>
                <a:cs typeface="Calibri" pitchFamily="34"/>
              </a:rPr>
              <a:t>yes</a:t>
            </a:r>
            <a:r>
              <a:rPr lang="vi-VN" sz="1800">
                <a:latin typeface="Calibri" pitchFamily="34"/>
                <a:cs typeface="Calibri" pitchFamily="34"/>
              </a:rPr>
              <a:t> tuples and three </a:t>
            </a:r>
            <a:r>
              <a:rPr lang="vi-VN" sz="1800" b="1">
                <a:solidFill>
                  <a:srgbClr val="6666FF"/>
                </a:solidFill>
                <a:latin typeface="Calibri" pitchFamily="34"/>
                <a:cs typeface="Calibri" pitchFamily="34"/>
              </a:rPr>
              <a:t>no</a:t>
            </a:r>
            <a:r>
              <a:rPr lang="vi-VN" sz="1800">
                <a:latin typeface="Calibri" pitchFamily="34"/>
                <a:cs typeface="Calibri" pitchFamily="34"/>
              </a:rPr>
              <a:t> tuples. For the category “middle aged,” there are four </a:t>
            </a:r>
            <a:r>
              <a:rPr lang="vi-VN" sz="1800">
                <a:solidFill>
                  <a:srgbClr val="6666FF"/>
                </a:solidFill>
                <a:latin typeface="Calibri" pitchFamily="34"/>
                <a:cs typeface="Calibri" pitchFamily="34"/>
              </a:rPr>
              <a:t>yes</a:t>
            </a:r>
            <a:r>
              <a:rPr lang="vi-VN" sz="1800">
                <a:latin typeface="Calibri" pitchFamily="34"/>
                <a:cs typeface="Calibri" pitchFamily="34"/>
              </a:rPr>
              <a:t> tuples and zero </a:t>
            </a:r>
            <a:r>
              <a:rPr lang="vi-VN" sz="1800" b="1">
                <a:solidFill>
                  <a:srgbClr val="6666FF"/>
                </a:solidFill>
                <a:latin typeface="Calibri" pitchFamily="34"/>
                <a:cs typeface="Calibri" pitchFamily="34"/>
              </a:rPr>
              <a:t>no</a:t>
            </a:r>
            <a:r>
              <a:rPr lang="vi-VN" sz="1800">
                <a:latin typeface="Calibri" pitchFamily="34"/>
                <a:cs typeface="Calibri" pitchFamily="34"/>
              </a:rPr>
              <a:t> tuples. For the category “senior,” there are three </a:t>
            </a:r>
            <a:r>
              <a:rPr lang="vi-VN" sz="1800" b="1">
                <a:solidFill>
                  <a:srgbClr val="6666FF"/>
                </a:solidFill>
                <a:latin typeface="Calibri" pitchFamily="34"/>
                <a:cs typeface="Calibri" pitchFamily="34"/>
              </a:rPr>
              <a:t>yes</a:t>
            </a:r>
            <a:r>
              <a:rPr lang="vi-VN" sz="1800">
                <a:latin typeface="Calibri" pitchFamily="34"/>
                <a:cs typeface="Calibri" pitchFamily="34"/>
              </a:rPr>
              <a:t> tuples and two </a:t>
            </a:r>
            <a:r>
              <a:rPr lang="vi-VN" sz="1800" b="1">
                <a:solidFill>
                  <a:srgbClr val="6666FF"/>
                </a:solidFill>
                <a:latin typeface="Calibri" pitchFamily="34"/>
                <a:cs typeface="Calibri" pitchFamily="34"/>
              </a:rPr>
              <a:t>no</a:t>
            </a:r>
            <a:r>
              <a:rPr lang="vi-VN" sz="1800">
                <a:latin typeface="Calibri" pitchFamily="34"/>
                <a:cs typeface="Calibri" pitchFamily="34"/>
              </a:rPr>
              <a:t> tuples.</a:t>
            </a:r>
          </a:p>
          <a:p>
            <a:pPr lvl="0" algn="l">
              <a:spcAft>
                <a:spcPts val="1001"/>
              </a:spcAft>
            </a:pPr>
            <a:r>
              <a:rPr lang="en-US" sz="1800">
                <a:solidFill>
                  <a:srgbClr val="000000"/>
                </a:solidFill>
                <a:latin typeface="Wingdings" pitchFamily="18"/>
              </a:rPr>
              <a:t> </a:t>
            </a:r>
            <a:r>
              <a:rPr lang="vi-VN" sz="1800">
                <a:latin typeface="Calibri" pitchFamily="34"/>
                <a:cs typeface="Calibri" pitchFamily="34"/>
              </a:rPr>
              <a:t>Using Eq. (8.2), the expected information needed to classify a tuple in D if the tuples are partitioned according to age is</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284120" y="1404000"/>
            <a:ext cx="5903999" cy="1006559"/>
          </a:xfrm>
          <a:prstGeom prst="rect">
            <a:avLst/>
          </a:prstGeom>
          <a:noFill/>
          <a:ln>
            <a:noFill/>
          </a:ln>
        </p:spPr>
      </p:pic>
      <p:pic>
        <p:nvPicPr>
          <p:cNvPr id="4" name="Picture 3">
            <a:extLst>
              <a:ext uri="{FF2B5EF4-FFF2-40B4-BE49-F238E27FC236}">
                <a16:creationId xmlns:a16="http://schemas.microsoft.com/office/drawing/2014/main" xmlns="" id="{00000000-0000-0000-0000-000000000000}"/>
              </a:ext>
            </a:extLst>
          </p:cNvPr>
          <p:cNvPicPr>
            <a:picLocks noChangeAspect="1"/>
          </p:cNvPicPr>
          <p:nvPr/>
        </p:nvPicPr>
        <p:blipFill>
          <a:blip r:embed="rId4">
            <a:lum/>
            <a:alphaModFix/>
          </a:blip>
          <a:srcRect/>
          <a:stretch>
            <a:fillRect/>
          </a:stretch>
        </p:blipFill>
        <p:spPr>
          <a:xfrm>
            <a:off x="1800000" y="3913920"/>
            <a:ext cx="4752000" cy="982080"/>
          </a:xfrm>
          <a:prstGeom prst="rect">
            <a:avLst/>
          </a:prstGeom>
          <a:noFill/>
          <a:ln>
            <a:noFill/>
          </a:ln>
        </p:spPr>
      </p:pic>
      <p:pic>
        <p:nvPicPr>
          <p:cNvPr id="5" name="Picture 4">
            <a:extLst>
              <a:ext uri="{FF2B5EF4-FFF2-40B4-BE49-F238E27FC236}">
                <a16:creationId xmlns:a16="http://schemas.microsoft.com/office/drawing/2014/main" xmlns="" id="{00000000-0000-0000-0000-000000000000}"/>
              </a:ext>
            </a:extLst>
          </p:cNvPr>
          <p:cNvPicPr>
            <a:picLocks noChangeAspect="1"/>
          </p:cNvPicPr>
          <p:nvPr/>
        </p:nvPicPr>
        <p:blipFill>
          <a:blip r:embed="rId5">
            <a:lum/>
            <a:alphaModFix/>
          </a:blip>
          <a:srcRect/>
          <a:stretch>
            <a:fillRect/>
          </a:stretch>
        </p:blipFill>
        <p:spPr>
          <a:xfrm>
            <a:off x="3024000" y="4752000"/>
            <a:ext cx="3456000" cy="1944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l">
              <a:spcAft>
                <a:spcPts val="1001"/>
              </a:spcAft>
            </a:pPr>
            <a:r>
              <a:rPr lang="en-US" sz="1800">
                <a:solidFill>
                  <a:srgbClr val="000000"/>
                </a:solidFill>
                <a:latin typeface="Wingdings" pitchFamily="18"/>
              </a:rPr>
              <a:t> </a:t>
            </a:r>
            <a:r>
              <a:rPr lang="vi-VN" sz="2000">
                <a:latin typeface="Calibri" pitchFamily="34"/>
                <a:cs typeface="Calibri" pitchFamily="34"/>
              </a:rPr>
              <a:t>Hence, the gain in information from such a partitioning would be</a:t>
            </a:r>
          </a:p>
          <a:p>
            <a:pPr lvl="0" algn="l">
              <a:spcAft>
                <a:spcPts val="1001"/>
              </a:spcAft>
            </a:pPr>
            <a:endParaRPr lang="vi-VN" sz="2000">
              <a:latin typeface="Calibri" pitchFamily="34"/>
              <a:cs typeface="Calibri" pitchFamily="34"/>
            </a:endParaRPr>
          </a:p>
          <a:p>
            <a:pPr lvl="0" algn="l">
              <a:spcAft>
                <a:spcPts val="1001"/>
              </a:spcAft>
            </a:pPr>
            <a:endParaRPr lang="vi-VN" sz="2000">
              <a:latin typeface="Calibri" pitchFamily="34"/>
              <a:cs typeface="Calibri" pitchFamily="34"/>
            </a:endParaRPr>
          </a:p>
          <a:p>
            <a:pPr lvl="0" algn="l">
              <a:spcAft>
                <a:spcPts val="1001"/>
              </a:spcAft>
            </a:pPr>
            <a:r>
              <a:rPr lang="en-US" sz="1800">
                <a:solidFill>
                  <a:srgbClr val="000000"/>
                </a:solidFill>
                <a:latin typeface="Wingdings" pitchFamily="18"/>
              </a:rPr>
              <a:t> </a:t>
            </a:r>
            <a:r>
              <a:rPr lang="vi-VN" sz="2000">
                <a:latin typeface="Calibri" pitchFamily="34"/>
                <a:cs typeface="Calibri" pitchFamily="34"/>
              </a:rPr>
              <a:t>Similarly, we can compute</a:t>
            </a:r>
          </a:p>
          <a:p>
            <a:pPr lvl="0" algn="l">
              <a:spcAft>
                <a:spcPts val="1001"/>
              </a:spcAft>
            </a:pPr>
            <a:r>
              <a:rPr lang="vi-VN" sz="2000">
                <a:latin typeface="Calibri" pitchFamily="34"/>
                <a:cs typeface="Calibri" pitchFamily="34"/>
              </a:rPr>
              <a:t>		Gain(income) = 0.029 bits</a:t>
            </a:r>
          </a:p>
          <a:p>
            <a:pPr lvl="0" algn="l">
              <a:spcAft>
                <a:spcPts val="1001"/>
              </a:spcAft>
            </a:pPr>
            <a:r>
              <a:rPr lang="vi-VN" sz="2000">
                <a:latin typeface="Calibri" pitchFamily="34"/>
                <a:cs typeface="Calibri" pitchFamily="34"/>
              </a:rPr>
              <a:t>		Gain(student)=0.151 bits</a:t>
            </a:r>
          </a:p>
          <a:p>
            <a:pPr lvl="0" algn="l"/>
            <a:r>
              <a:rPr lang="vi-VN" sz="2000">
                <a:latin typeface="Calibri" pitchFamily="34"/>
                <a:cs typeface="Calibri" pitchFamily="34"/>
              </a:rPr>
              <a:t>	and Gain(credit rating)=0.048 bits.</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296000" y="2520000"/>
            <a:ext cx="6048000" cy="792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algn="ctr"/>
            <a:endParaRPr lang="vi-VN"/>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503999" y="341640"/>
            <a:ext cx="9144000" cy="67863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t"/>
          <a:lstStyle/>
          <a:p>
            <a:pPr lvl="0" algn="ctr">
              <a:spcAft>
                <a:spcPts val="1001"/>
              </a:spcAft>
            </a:pPr>
            <a:r>
              <a:rPr lang="vi-VN" b="1">
                <a:latin typeface="Calibri" pitchFamily="34"/>
                <a:cs typeface="Calibri" pitchFamily="34"/>
              </a:rPr>
              <a:t>** </a:t>
            </a:r>
            <a:r>
              <a:rPr lang="vi-VN" b="1">
                <a:solidFill>
                  <a:srgbClr val="6666FF"/>
                </a:solidFill>
                <a:latin typeface="Calibri" pitchFamily="34"/>
                <a:cs typeface="Calibri" pitchFamily="34"/>
              </a:rPr>
              <a:t>Gain Ratio</a:t>
            </a:r>
          </a:p>
          <a:p>
            <a:pPr lvl="0" algn="l">
              <a:lnSpc>
                <a:spcPct val="115000"/>
              </a:lnSpc>
              <a:spcAft>
                <a:spcPts val="1001"/>
              </a:spcAft>
            </a:pPr>
            <a:r>
              <a:rPr lang="en-US" sz="2000">
                <a:solidFill>
                  <a:srgbClr val="000000"/>
                </a:solidFill>
                <a:latin typeface="Wingdings" pitchFamily="18"/>
              </a:rPr>
              <a:t> </a:t>
            </a:r>
            <a:r>
              <a:rPr lang="en-US" sz="2000">
                <a:solidFill>
                  <a:srgbClr val="000000"/>
                </a:solidFill>
                <a:latin typeface="Calibri" pitchFamily="34"/>
                <a:cs typeface="Calibri" pitchFamily="34"/>
              </a:rPr>
              <a:t>C4.5, a successor of ID3, uses an extension to information gain known as gain ratio.</a:t>
            </a:r>
          </a:p>
          <a:p>
            <a:pPr lvl="0" algn="l">
              <a:lnSpc>
                <a:spcPct val="115000"/>
              </a:lnSpc>
              <a:spcAft>
                <a:spcPts val="1001"/>
              </a:spcAft>
            </a:pPr>
            <a:r>
              <a:rPr lang="en-US" sz="1800">
                <a:solidFill>
                  <a:srgbClr val="000000"/>
                </a:solidFill>
                <a:latin typeface="Wingdings" pitchFamily="18"/>
              </a:rPr>
              <a:t> </a:t>
            </a:r>
            <a:r>
              <a:rPr lang="en-US" sz="2000">
                <a:solidFill>
                  <a:srgbClr val="000000"/>
                </a:solidFill>
                <a:latin typeface="Calibri" pitchFamily="34"/>
                <a:cs typeface="Calibri" pitchFamily="34"/>
              </a:rPr>
              <a:t>Applies a kind of normalization to information gain using a “split information” value deﬁned analogously with Info(D) as</a:t>
            </a:r>
          </a:p>
          <a:p>
            <a:pPr lvl="0" algn="l">
              <a:lnSpc>
                <a:spcPct val="115000"/>
              </a:lnSpc>
              <a:spcAft>
                <a:spcPts val="1001"/>
              </a:spcAft>
            </a:pPr>
            <a:endParaRPr lang="en-US" sz="2000">
              <a:solidFill>
                <a:srgbClr val="000000"/>
              </a:solidFill>
              <a:latin typeface="Calibri" pitchFamily="34"/>
              <a:cs typeface="Calibri" pitchFamily="34"/>
            </a:endParaRPr>
          </a:p>
          <a:p>
            <a:pPr lvl="0" algn="l">
              <a:lnSpc>
                <a:spcPct val="115000"/>
              </a:lnSpc>
              <a:spcAft>
                <a:spcPts val="1001"/>
              </a:spcAft>
            </a:pPr>
            <a:endParaRPr lang="en-US" sz="2000">
              <a:solidFill>
                <a:srgbClr val="000000"/>
              </a:solidFill>
              <a:latin typeface="Calibri" pitchFamily="34"/>
              <a:cs typeface="Calibri" pitchFamily="34"/>
            </a:endParaRPr>
          </a:p>
          <a:p>
            <a:pPr lvl="0" algn="l">
              <a:spcAft>
                <a:spcPts val="1001"/>
              </a:spcAft>
            </a:pPr>
            <a:r>
              <a:rPr lang="en-US" sz="2000">
                <a:solidFill>
                  <a:srgbClr val="000000"/>
                </a:solidFill>
                <a:latin typeface="Calibri" pitchFamily="34"/>
                <a:cs typeface="Calibri" pitchFamily="34"/>
              </a:rPr>
              <a:t>This value represents the potential information generated by splitting the training data set, D, into v partitions, corresponding to the v outcomes of a test on attribute A.</a:t>
            </a:r>
          </a:p>
          <a:p>
            <a:pPr lvl="0" algn="l">
              <a:spcAft>
                <a:spcPts val="1001"/>
              </a:spcAft>
            </a:pPr>
            <a:r>
              <a:rPr lang="en-US" sz="1800">
                <a:solidFill>
                  <a:srgbClr val="000000"/>
                </a:solidFill>
                <a:latin typeface="Wingdings" pitchFamily="18"/>
              </a:rPr>
              <a:t> </a:t>
            </a:r>
            <a:r>
              <a:rPr lang="en-US" sz="2000">
                <a:solidFill>
                  <a:srgbClr val="000000"/>
                </a:solidFill>
                <a:latin typeface="Calibri" pitchFamily="34"/>
                <a:cs typeface="Calibri" pitchFamily="34"/>
              </a:rPr>
              <a:t>The gain ratio is deﬁned as</a:t>
            </a:r>
          </a:p>
          <a:p>
            <a:pPr lvl="0" algn="l">
              <a:spcAft>
                <a:spcPts val="1001"/>
              </a:spcAft>
            </a:pPr>
            <a:endParaRPr lang="en-US" sz="2000">
              <a:solidFill>
                <a:srgbClr val="000000"/>
              </a:solidFill>
              <a:latin typeface="Calibri" pitchFamily="34"/>
              <a:cs typeface="Calibri" pitchFamily="34"/>
            </a:endParaRPr>
          </a:p>
          <a:p>
            <a:pPr lvl="0" algn="l">
              <a:spcAft>
                <a:spcPts val="1001"/>
              </a:spcAft>
            </a:pPr>
            <a:endParaRPr lang="en-US" sz="2000">
              <a:solidFill>
                <a:srgbClr val="000000"/>
              </a:solidFill>
              <a:latin typeface="Calibri" pitchFamily="34"/>
              <a:cs typeface="Calibri" pitchFamily="34"/>
            </a:endParaRPr>
          </a:p>
          <a:p>
            <a:pPr lvl="0" algn="l">
              <a:spcAft>
                <a:spcPts val="1001"/>
              </a:spcAft>
            </a:pPr>
            <a:endParaRPr lang="en-US" sz="2000">
              <a:solidFill>
                <a:srgbClr val="000000"/>
              </a:solidFill>
              <a:latin typeface="Calibri" pitchFamily="34"/>
              <a:cs typeface="Calibri" pitchFamily="34"/>
            </a:endParaRPr>
          </a:p>
          <a:p>
            <a:pPr lvl="0" algn="l">
              <a:spcAft>
                <a:spcPts val="1001"/>
              </a:spcAft>
            </a:pPr>
            <a:r>
              <a:rPr lang="en-US" sz="2000">
                <a:solidFill>
                  <a:srgbClr val="000000"/>
                </a:solidFill>
                <a:latin typeface="Calibri" pitchFamily="34"/>
                <a:cs typeface="Calibri" pitchFamily="34"/>
              </a:rPr>
              <a:t>The attribute with the maximum gain ratio is selected as the splitting attribute.</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368000" y="2088000"/>
            <a:ext cx="6408000" cy="1092240"/>
          </a:xfrm>
          <a:prstGeom prst="rect">
            <a:avLst/>
          </a:prstGeom>
          <a:noFill/>
          <a:ln>
            <a:noFill/>
          </a:ln>
        </p:spPr>
      </p:pic>
      <p:pic>
        <p:nvPicPr>
          <p:cNvPr id="4" name="Picture 3">
            <a:extLst>
              <a:ext uri="{FF2B5EF4-FFF2-40B4-BE49-F238E27FC236}">
                <a16:creationId xmlns:a16="http://schemas.microsoft.com/office/drawing/2014/main" xmlns="" id="{00000000-0000-0000-0000-000000000000}"/>
              </a:ext>
            </a:extLst>
          </p:cNvPr>
          <p:cNvPicPr>
            <a:picLocks noChangeAspect="1"/>
          </p:cNvPicPr>
          <p:nvPr/>
        </p:nvPicPr>
        <p:blipFill>
          <a:blip r:embed="rId4">
            <a:lum/>
            <a:alphaModFix/>
          </a:blip>
          <a:srcRect/>
          <a:stretch>
            <a:fillRect/>
          </a:stretch>
        </p:blipFill>
        <p:spPr>
          <a:xfrm>
            <a:off x="1348920" y="4392000"/>
            <a:ext cx="6499080" cy="1296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t"/>
          <a:lstStyle/>
          <a:p>
            <a:pPr lvl="0" algn="ctr"/>
            <a:r>
              <a:rPr lang="vi-VN" dirty="0"/>
              <a:t>Example of Gain Ratio</a:t>
            </a:r>
          </a:p>
          <a:p>
            <a:pPr lvl="0" algn="l">
              <a:spcAft>
                <a:spcPts val="1001"/>
              </a:spcAft>
            </a:pPr>
            <a:r>
              <a:rPr lang="en-US" sz="1800" dirty="0">
                <a:solidFill>
                  <a:srgbClr val="000000"/>
                </a:solidFill>
                <a:latin typeface="Wingdings" pitchFamily="18"/>
              </a:rPr>
              <a:t> </a:t>
            </a:r>
            <a:r>
              <a:rPr lang="vi-VN" sz="2000" dirty="0">
                <a:latin typeface="Calibri" pitchFamily="34"/>
                <a:cs typeface="Calibri" pitchFamily="34"/>
              </a:rPr>
              <a:t>A test on income splits the data of Table 8.1 into three partitions, namely </a:t>
            </a:r>
            <a:r>
              <a:rPr lang="vi-VN" sz="2000" b="1" dirty="0">
                <a:solidFill>
                  <a:srgbClr val="6666FF"/>
                </a:solidFill>
                <a:latin typeface="Calibri" pitchFamily="34"/>
                <a:cs typeface="Calibri" pitchFamily="34"/>
              </a:rPr>
              <a:t>low</a:t>
            </a:r>
            <a:r>
              <a:rPr lang="vi-VN" sz="2000" dirty="0">
                <a:latin typeface="Calibri" pitchFamily="34"/>
                <a:cs typeface="Calibri" pitchFamily="34"/>
              </a:rPr>
              <a:t>, </a:t>
            </a:r>
            <a:r>
              <a:rPr lang="vi-VN" sz="2000" b="1" dirty="0">
                <a:solidFill>
                  <a:srgbClr val="6666FF"/>
                </a:solidFill>
                <a:latin typeface="Calibri" pitchFamily="34"/>
                <a:cs typeface="Calibri" pitchFamily="34"/>
              </a:rPr>
              <a:t>medium</a:t>
            </a:r>
            <a:r>
              <a:rPr lang="vi-VN" sz="2000" dirty="0">
                <a:latin typeface="Calibri" pitchFamily="34"/>
                <a:cs typeface="Calibri" pitchFamily="34"/>
              </a:rPr>
              <a:t>, and </a:t>
            </a:r>
            <a:r>
              <a:rPr lang="vi-VN" sz="2000" dirty="0">
                <a:solidFill>
                  <a:srgbClr val="6666FF"/>
                </a:solidFill>
                <a:latin typeface="Calibri" pitchFamily="34"/>
                <a:cs typeface="Calibri" pitchFamily="34"/>
              </a:rPr>
              <a:t>high</a:t>
            </a:r>
            <a:r>
              <a:rPr lang="vi-VN" sz="2000" dirty="0">
                <a:latin typeface="Calibri" pitchFamily="34"/>
                <a:cs typeface="Calibri" pitchFamily="34"/>
              </a:rPr>
              <a:t>, containing four, six, and four tuples, respectively. To compute the gain ratio of income, we ﬁrst use Eq. (8.5) to obtain</a:t>
            </a:r>
          </a:p>
          <a:p>
            <a:pPr lvl="0" algn="l">
              <a:spcAft>
                <a:spcPts val="1001"/>
              </a:spcAft>
            </a:pPr>
            <a:endParaRPr lang="vi-VN" sz="2000" dirty="0">
              <a:latin typeface="Calibri" pitchFamily="34"/>
              <a:cs typeface="Calibri" pitchFamily="34"/>
            </a:endParaRPr>
          </a:p>
          <a:p>
            <a:pPr lvl="0" algn="l">
              <a:spcAft>
                <a:spcPts val="1001"/>
              </a:spcAft>
            </a:pPr>
            <a:endParaRPr lang="vi-VN" sz="2000" dirty="0">
              <a:latin typeface="Calibri" pitchFamily="34"/>
              <a:cs typeface="Calibri" pitchFamily="34"/>
            </a:endParaRPr>
          </a:p>
          <a:p>
            <a:pPr lvl="0" algn="l">
              <a:spcAft>
                <a:spcPts val="1001"/>
              </a:spcAft>
            </a:pPr>
            <a:endParaRPr lang="vi-VN" sz="2000" dirty="0">
              <a:latin typeface="Calibri" pitchFamily="34"/>
              <a:cs typeface="Calibri" pitchFamily="34"/>
            </a:endParaRPr>
          </a:p>
          <a:p>
            <a:pPr lvl="0" algn="l">
              <a:spcAft>
                <a:spcPts val="1001"/>
              </a:spcAft>
            </a:pPr>
            <a:endParaRPr lang="vi-VN" sz="2000" dirty="0">
              <a:latin typeface="Calibri" pitchFamily="34"/>
              <a:cs typeface="Calibri" pitchFamily="34"/>
            </a:endParaRPr>
          </a:p>
          <a:p>
            <a:pPr lvl="0" algn="l">
              <a:spcAft>
                <a:spcPts val="1001"/>
              </a:spcAft>
            </a:pPr>
            <a:endParaRPr lang="vi-VN" sz="2000" dirty="0">
              <a:latin typeface="Calibri" pitchFamily="34"/>
              <a:cs typeface="Calibri" pitchFamily="34"/>
            </a:endParaRPr>
          </a:p>
          <a:p>
            <a:pPr lvl="0" algn="l">
              <a:spcAft>
                <a:spcPts val="1001"/>
              </a:spcAft>
            </a:pPr>
            <a:r>
              <a:rPr lang="vi-VN" sz="2000" dirty="0">
                <a:latin typeface="Calibri" pitchFamily="34"/>
                <a:cs typeface="Calibri" pitchFamily="34"/>
              </a:rPr>
              <a:t>From Example 8.1, we have Gain(income) = 0.029. Therefore,</a:t>
            </a:r>
          </a:p>
          <a:p>
            <a:pPr lvl="0" algn="l">
              <a:spcAft>
                <a:spcPts val="1001"/>
              </a:spcAft>
            </a:pPr>
            <a:endParaRPr lang="vi-VN" sz="1100" dirty="0">
              <a:latin typeface="Calibri" pitchFamily="34"/>
              <a:cs typeface="Calibri" pitchFamily="34"/>
            </a:endParaRPr>
          </a:p>
          <a:p>
            <a:pPr lvl="0" algn="ctr">
              <a:spcAft>
                <a:spcPts val="1001"/>
              </a:spcAft>
            </a:pPr>
            <a:r>
              <a:rPr lang="vi-VN" sz="2600" i="1" dirty="0">
                <a:latin typeface="Calibri" pitchFamily="34"/>
                <a:cs typeface="Calibri" pitchFamily="34"/>
              </a:rPr>
              <a:t>GainRatio(income) </a:t>
            </a:r>
            <a:r>
              <a:rPr lang="vi-VN" sz="2600" dirty="0">
                <a:latin typeface="Calibri" pitchFamily="34"/>
                <a:cs typeface="Calibri" pitchFamily="34"/>
              </a:rPr>
              <a:t> = 0.029/1.557 = 0.019</a:t>
            </a:r>
          </a:p>
          <a:p>
            <a:pPr lvl="0" algn="ctr"/>
            <a:endParaRPr lang="vi-VN" dirty="0"/>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440000" y="1927439"/>
            <a:ext cx="7272000" cy="16005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5107680"/>
          </a:xfrm>
        </p:spPr>
        <p:txBody>
          <a:bodyPr anchor="t"/>
          <a:lstStyle/>
          <a:p>
            <a:pPr lvl="0" algn="ctr">
              <a:spcAft>
                <a:spcPts val="0"/>
              </a:spcAft>
            </a:pPr>
            <a:r>
              <a:rPr lang="vi-VN" sz="2800" b="1">
                <a:latin typeface="Calibri" pitchFamily="34"/>
                <a:cs typeface="Calibri" pitchFamily="34"/>
              </a:rPr>
              <a:t>**</a:t>
            </a:r>
            <a:r>
              <a:rPr lang="vi-VN" sz="2800" b="1">
                <a:solidFill>
                  <a:srgbClr val="6666FF"/>
                </a:solidFill>
                <a:latin typeface="Calibri" pitchFamily="34"/>
                <a:cs typeface="Calibri" pitchFamily="34"/>
              </a:rPr>
              <a:t>Gini Index</a:t>
            </a:r>
          </a:p>
          <a:p>
            <a:pPr lvl="0" algn="l">
              <a:spcAft>
                <a:spcPts val="0"/>
              </a:spcAft>
            </a:pPr>
            <a:r>
              <a:rPr lang="en-US" sz="2000">
                <a:solidFill>
                  <a:srgbClr val="000000"/>
                </a:solidFill>
                <a:latin typeface="Wingdings" pitchFamily="18"/>
              </a:rPr>
              <a:t> </a:t>
            </a:r>
            <a:r>
              <a:rPr lang="vi-VN" sz="1800">
                <a:latin typeface="Calibri" pitchFamily="34"/>
                <a:cs typeface="Calibri" pitchFamily="34"/>
              </a:rPr>
              <a:t>The Gini index is used in CART.</a:t>
            </a:r>
          </a:p>
          <a:p>
            <a:pPr lvl="0" algn="l">
              <a:spcAft>
                <a:spcPts val="0"/>
              </a:spcAft>
            </a:pPr>
            <a:r>
              <a:rPr lang="en-US" sz="2000">
                <a:solidFill>
                  <a:srgbClr val="000000"/>
                </a:solidFill>
                <a:latin typeface="Wingdings" pitchFamily="18"/>
              </a:rPr>
              <a:t> </a:t>
            </a:r>
            <a:r>
              <a:rPr lang="vi-VN" sz="1800">
                <a:latin typeface="Calibri" pitchFamily="34"/>
                <a:cs typeface="Calibri" pitchFamily="34"/>
              </a:rPr>
              <a:t>The Gini index measures the impurity of D, a data partition or set of training tuples, as</a:t>
            </a:r>
          </a:p>
          <a:p>
            <a:pPr lvl="0" algn="l">
              <a:spcAft>
                <a:spcPts val="0"/>
              </a:spcAft>
            </a:pPr>
            <a:endParaRPr lang="vi-VN" sz="1800">
              <a:latin typeface="Calibri" pitchFamily="34"/>
              <a:cs typeface="Calibri" pitchFamily="34"/>
            </a:endParaRPr>
          </a:p>
          <a:p>
            <a:pPr lvl="0" algn="l">
              <a:spcAft>
                <a:spcPts val="0"/>
              </a:spcAft>
            </a:pPr>
            <a:endParaRPr lang="vi-VN" sz="1800">
              <a:latin typeface="Calibri" pitchFamily="34"/>
              <a:cs typeface="Calibri" pitchFamily="34"/>
            </a:endParaRPr>
          </a:p>
          <a:p>
            <a:pPr lvl="0" algn="l">
              <a:spcAft>
                <a:spcPts val="0"/>
              </a:spcAft>
            </a:pPr>
            <a:endParaRPr lang="vi-VN" sz="1800">
              <a:latin typeface="Calibri" pitchFamily="34"/>
              <a:cs typeface="Calibri" pitchFamily="34"/>
            </a:endParaRPr>
          </a:p>
          <a:p>
            <a:pPr lvl="0" algn="l">
              <a:spcAft>
                <a:spcPts val="0"/>
              </a:spcAft>
            </a:pPr>
            <a:endParaRPr lang="vi-VN" sz="1800">
              <a:latin typeface="Calibri" pitchFamily="34"/>
              <a:cs typeface="Calibri" pitchFamily="34"/>
            </a:endParaRPr>
          </a:p>
          <a:p>
            <a:pPr lvl="0" algn="l">
              <a:spcAft>
                <a:spcPts val="0"/>
              </a:spcAft>
            </a:pPr>
            <a:endParaRPr lang="vi-VN" sz="1800">
              <a:latin typeface="Calibri" pitchFamily="34"/>
              <a:cs typeface="Calibri" pitchFamily="34"/>
            </a:endParaRPr>
          </a:p>
          <a:p>
            <a:pPr lvl="0" algn="l">
              <a:spcAft>
                <a:spcPts val="0"/>
              </a:spcAft>
            </a:pPr>
            <a:r>
              <a:rPr lang="vi-VN" sz="1800">
                <a:latin typeface="Calibri" pitchFamily="34"/>
                <a:cs typeface="Calibri" pitchFamily="34"/>
              </a:rPr>
              <a:t>where p</a:t>
            </a:r>
            <a:r>
              <a:rPr lang="vi-VN" sz="1800" b="1" baseline="-28000">
                <a:latin typeface="Calibri" pitchFamily="34"/>
                <a:cs typeface="Calibri" pitchFamily="34"/>
              </a:rPr>
              <a:t>i</a:t>
            </a:r>
            <a:r>
              <a:rPr lang="vi-VN" sz="1800">
                <a:latin typeface="Calibri" pitchFamily="34"/>
                <a:cs typeface="Calibri" pitchFamily="34"/>
              </a:rPr>
              <a:t> is the probability that a tuple in D belongs to class C</a:t>
            </a:r>
            <a:r>
              <a:rPr lang="vi-VN" sz="1800" baseline="-28000">
                <a:latin typeface="Calibri" pitchFamily="34"/>
                <a:cs typeface="Calibri" pitchFamily="34"/>
              </a:rPr>
              <a:t>i</a:t>
            </a:r>
            <a:r>
              <a:rPr lang="vi-VN" sz="1800">
                <a:latin typeface="Calibri" pitchFamily="34"/>
                <a:cs typeface="Calibri" pitchFamily="34"/>
              </a:rPr>
              <a:t> and is estimated by |C</a:t>
            </a:r>
            <a:r>
              <a:rPr lang="vi-VN" sz="1800" b="1" baseline="-28000">
                <a:latin typeface="Calibri" pitchFamily="34"/>
                <a:cs typeface="Calibri" pitchFamily="34"/>
              </a:rPr>
              <a:t>i</a:t>
            </a:r>
            <a:r>
              <a:rPr lang="vi-VN" sz="1800" baseline="-28000">
                <a:latin typeface="Calibri" pitchFamily="34"/>
                <a:cs typeface="Calibri" pitchFamily="34"/>
              </a:rPr>
              <a:t> </a:t>
            </a:r>
            <a:r>
              <a:rPr lang="vi-VN" sz="1800">
                <a:latin typeface="Calibri" pitchFamily="34"/>
                <a:cs typeface="Calibri" pitchFamily="34"/>
              </a:rPr>
              <a:t>, D|/|D|. The sum is computed over m classes.</a:t>
            </a:r>
          </a:p>
          <a:p>
            <a:pPr lvl="0" algn="l">
              <a:spcAft>
                <a:spcPts val="0"/>
              </a:spcAft>
            </a:pPr>
            <a:endParaRPr lang="vi-VN" sz="1800">
              <a:latin typeface="Calibri" pitchFamily="34"/>
              <a:cs typeface="Calibri" pitchFamily="34"/>
            </a:endParaRPr>
          </a:p>
          <a:p>
            <a:pPr lvl="0" algn="l">
              <a:spcAft>
                <a:spcPts val="0"/>
              </a:spcAft>
            </a:pPr>
            <a:r>
              <a:rPr lang="en-US" sz="2000">
                <a:solidFill>
                  <a:srgbClr val="000000"/>
                </a:solidFill>
                <a:latin typeface="Wingdings" pitchFamily="18"/>
              </a:rPr>
              <a:t> </a:t>
            </a:r>
            <a:r>
              <a:rPr lang="vi-VN" sz="1800">
                <a:latin typeface="Calibri" pitchFamily="34"/>
                <a:cs typeface="Calibri" pitchFamily="34"/>
              </a:rPr>
              <a:t>The Gini index considers a binary split for each attribute.</a:t>
            </a:r>
          </a:p>
          <a:p>
            <a:pPr lvl="0" algn="l">
              <a:spcAft>
                <a:spcPts val="0"/>
              </a:spcAft>
            </a:pPr>
            <a:r>
              <a:rPr lang="en-US" sz="2000">
                <a:solidFill>
                  <a:srgbClr val="000000"/>
                </a:solidFill>
                <a:latin typeface="Wingdings" pitchFamily="18"/>
              </a:rPr>
              <a:t> </a:t>
            </a:r>
            <a:r>
              <a:rPr lang="vi-VN" sz="1800">
                <a:latin typeface="Calibri" pitchFamily="34"/>
                <a:cs typeface="Calibri" pitchFamily="34"/>
              </a:rPr>
              <a:t>Examine all the possible subsets of  known values of A. Each subset, S</a:t>
            </a:r>
            <a:r>
              <a:rPr lang="vi-VN" sz="1800" baseline="-33000">
                <a:latin typeface="Calibri" pitchFamily="34"/>
                <a:cs typeface="Calibri" pitchFamily="34"/>
              </a:rPr>
              <a:t>A</a:t>
            </a:r>
            <a:r>
              <a:rPr lang="vi-VN" sz="1800">
                <a:latin typeface="Calibri" pitchFamily="34"/>
                <a:cs typeface="Calibri" pitchFamily="34"/>
              </a:rPr>
              <a:t>, can be considered as a binary test for attribute A of the from “A ∈ S</a:t>
            </a:r>
            <a:r>
              <a:rPr lang="vi-VN" sz="1800" baseline="-33000">
                <a:latin typeface="Calibri" pitchFamily="34"/>
                <a:cs typeface="Calibri" pitchFamily="34"/>
              </a:rPr>
              <a:t>A</a:t>
            </a:r>
            <a:r>
              <a:rPr lang="vi-VN" sz="1800">
                <a:latin typeface="Calibri" pitchFamily="34"/>
                <a:cs typeface="Calibri" pitchFamily="34"/>
              </a:rPr>
              <a:t>?”</a:t>
            </a:r>
          </a:p>
          <a:p>
            <a:pPr lvl="0" algn="l">
              <a:spcAft>
                <a:spcPts val="0"/>
              </a:spcAft>
            </a:pPr>
            <a:r>
              <a:rPr lang="en-US" sz="2000">
                <a:solidFill>
                  <a:srgbClr val="000000"/>
                </a:solidFill>
                <a:latin typeface="Wingdings" pitchFamily="18"/>
              </a:rPr>
              <a:t> </a:t>
            </a:r>
            <a:r>
              <a:rPr lang="vi-VN" sz="1800">
                <a:latin typeface="Calibri" pitchFamily="34"/>
                <a:cs typeface="Calibri" pitchFamily="34"/>
              </a:rPr>
              <a:t>If a binary split on A partitions D into D</a:t>
            </a:r>
            <a:r>
              <a:rPr lang="vi-VN" sz="1800" baseline="-33000">
                <a:latin typeface="Calibri" pitchFamily="34"/>
                <a:cs typeface="Calibri" pitchFamily="34"/>
              </a:rPr>
              <a:t>1</a:t>
            </a:r>
            <a:r>
              <a:rPr lang="vi-VN" sz="1800">
                <a:latin typeface="Calibri" pitchFamily="34"/>
                <a:cs typeface="Calibri" pitchFamily="34"/>
              </a:rPr>
              <a:t> and D</a:t>
            </a:r>
            <a:r>
              <a:rPr lang="vi-VN" sz="1800" baseline="-33000">
                <a:latin typeface="Calibri" pitchFamily="34"/>
                <a:cs typeface="Calibri" pitchFamily="34"/>
              </a:rPr>
              <a:t>2</a:t>
            </a:r>
            <a:r>
              <a:rPr lang="vi-VN" sz="1800">
                <a:latin typeface="Calibri" pitchFamily="34"/>
                <a:cs typeface="Calibri" pitchFamily="34"/>
              </a:rPr>
              <a:t>, the Gini index of D given that partitioning is</a:t>
            </a:r>
          </a:p>
          <a:p>
            <a:pPr lvl="0" algn="l">
              <a:spcAft>
                <a:spcPts val="0"/>
              </a:spcAft>
            </a:pPr>
            <a:endParaRPr lang="vi-VN" sz="1800"/>
          </a:p>
          <a:p>
            <a:pPr lvl="0" algn="ctr">
              <a:spcAft>
                <a:spcPts val="0"/>
              </a:spcAft>
            </a:pPr>
            <a:endParaRPr lang="vi-VN" sz="1800">
              <a:latin typeface="Calibri" pitchFamily="34"/>
              <a:cs typeface="Calibri" pitchFamily="34"/>
            </a:endParaRP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807560" y="5243760"/>
            <a:ext cx="6040440" cy="1308240"/>
          </a:xfrm>
          <a:prstGeom prst="rect">
            <a:avLst/>
          </a:prstGeom>
          <a:noFill/>
          <a:ln>
            <a:noFill/>
          </a:ln>
        </p:spPr>
      </p:pic>
      <p:pic>
        <p:nvPicPr>
          <p:cNvPr id="4" name="Picture 3">
            <a:extLst>
              <a:ext uri="{FF2B5EF4-FFF2-40B4-BE49-F238E27FC236}">
                <a16:creationId xmlns:a16="http://schemas.microsoft.com/office/drawing/2014/main" xmlns="" id="{00000000-0000-0000-0000-000000000000}"/>
              </a:ext>
            </a:extLst>
          </p:cNvPr>
          <p:cNvPicPr>
            <a:picLocks noChangeAspect="1"/>
          </p:cNvPicPr>
          <p:nvPr/>
        </p:nvPicPr>
        <p:blipFill>
          <a:blip r:embed="rId4">
            <a:lum/>
            <a:alphaModFix/>
          </a:blip>
          <a:srcRect/>
          <a:stretch>
            <a:fillRect/>
          </a:stretch>
        </p:blipFill>
        <p:spPr>
          <a:xfrm>
            <a:off x="1512000" y="1296000"/>
            <a:ext cx="6336000" cy="116964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6456600"/>
          </a:xfrm>
        </p:spPr>
        <p:txBody>
          <a:bodyPr anchor="ctr"/>
          <a:lstStyle/>
          <a:p>
            <a:pPr lvl="0" algn="l">
              <a:spcAft>
                <a:spcPts val="1001"/>
              </a:spcAft>
            </a:pPr>
            <a:r>
              <a:rPr lang="en-US" sz="2000">
                <a:solidFill>
                  <a:srgbClr val="000000"/>
                </a:solidFill>
                <a:latin typeface="Wingdings" pitchFamily="18"/>
              </a:rPr>
              <a:t> </a:t>
            </a:r>
            <a:r>
              <a:rPr lang="en-US" sz="2000">
                <a:latin typeface="Calibri" pitchFamily="34"/>
                <a:cs typeface="Calibri" pitchFamily="34"/>
              </a:rPr>
              <a:t>The reduction in impurity that would be incurred by a binary split on a discrete- or continuous-valued attribute A is</a:t>
            </a:r>
          </a:p>
          <a:p>
            <a:pPr lvl="0" algn="l">
              <a:spcAft>
                <a:spcPts val="1001"/>
              </a:spcAft>
            </a:pPr>
            <a:endParaRPr lang="en-US" sz="2000">
              <a:latin typeface="Calibri" pitchFamily="34"/>
              <a:cs typeface="Calibri" pitchFamily="34"/>
            </a:endParaRPr>
          </a:p>
          <a:p>
            <a:pPr lvl="0" algn="l">
              <a:spcAft>
                <a:spcPts val="1001"/>
              </a:spcAft>
            </a:pPr>
            <a:endParaRPr lang="en-US" sz="2000">
              <a:latin typeface="Calibri" pitchFamily="34"/>
              <a:cs typeface="Calibri" pitchFamily="34"/>
            </a:endParaRPr>
          </a:p>
          <a:p>
            <a:pPr lvl="0" algn="l">
              <a:spcAft>
                <a:spcPts val="1001"/>
              </a:spcAft>
            </a:pPr>
            <a:endParaRPr lang="en-US" sz="2000">
              <a:latin typeface="Calibri" pitchFamily="34"/>
              <a:cs typeface="Calibri" pitchFamily="34"/>
            </a:endParaRPr>
          </a:p>
          <a:p>
            <a:pPr lvl="0" algn="l">
              <a:spcAft>
                <a:spcPts val="1001"/>
              </a:spcAft>
            </a:pPr>
            <a:r>
              <a:rPr lang="en-US" sz="2000">
                <a:solidFill>
                  <a:srgbClr val="000000"/>
                </a:solidFill>
                <a:latin typeface="Wingdings" pitchFamily="18"/>
              </a:rPr>
              <a:t> </a:t>
            </a:r>
            <a:r>
              <a:rPr lang="en-US" sz="2000">
                <a:latin typeface="Calibri" pitchFamily="34"/>
                <a:cs typeface="Calibri" pitchFamily="34"/>
              </a:rPr>
              <a:t>The attribute that maximizes the reduction in impurity (or, equivalently, has the minimum Gini index) is selected as the splitting attribute.</a:t>
            </a:r>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655999" y="2951999"/>
            <a:ext cx="6263999" cy="115164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03999" y="301320"/>
            <a:ext cx="9071640" cy="9284040"/>
          </a:xfrm>
        </p:spPr>
        <p:txBody>
          <a:bodyPr anchor="t"/>
          <a:lstStyle/>
          <a:p>
            <a:pPr lvl="0" algn="ctr"/>
            <a:r>
              <a:rPr lang="vi-VN" dirty="0"/>
              <a:t>Example of Gini Index</a:t>
            </a:r>
          </a:p>
          <a:p>
            <a:pPr lvl="0" algn="l">
              <a:spcAft>
                <a:spcPts val="1001"/>
              </a:spcAft>
            </a:pPr>
            <a:r>
              <a:rPr lang="en-US" sz="2000" dirty="0">
                <a:solidFill>
                  <a:srgbClr val="000000"/>
                </a:solidFill>
                <a:latin typeface="Wingdings" pitchFamily="18"/>
              </a:rPr>
              <a:t> </a:t>
            </a:r>
            <a:r>
              <a:rPr lang="vi-VN" sz="1800" dirty="0">
                <a:latin typeface="Calibri" pitchFamily="34"/>
                <a:cs typeface="Calibri" pitchFamily="34"/>
              </a:rPr>
              <a:t>In Table 8.1, there are nine tuples in the class buys_computer= yes and the remaining ﬁve tuples belong to the class buys computer=no.  Use Eq. (8.7) for the Gini index to compute the impurity of D:</a:t>
            </a:r>
          </a:p>
          <a:p>
            <a:pPr lvl="0" algn="l">
              <a:spcAft>
                <a:spcPts val="1001"/>
              </a:spcAft>
            </a:pPr>
            <a:endParaRPr lang="vi-VN" sz="1800" dirty="0">
              <a:latin typeface="Calibri" pitchFamily="34"/>
              <a:cs typeface="Calibri" pitchFamily="34"/>
            </a:endParaRPr>
          </a:p>
          <a:p>
            <a:pPr lvl="0" algn="l">
              <a:spcAft>
                <a:spcPts val="1001"/>
              </a:spcAft>
            </a:pPr>
            <a:endParaRPr lang="vi-VN" sz="1800" dirty="0">
              <a:latin typeface="Calibri" pitchFamily="34"/>
              <a:cs typeface="Calibri" pitchFamily="34"/>
            </a:endParaRPr>
          </a:p>
          <a:p>
            <a:pPr lvl="0" algn="l">
              <a:spcAft>
                <a:spcPts val="1001"/>
              </a:spcAft>
            </a:pPr>
            <a:endParaRPr lang="vi-VN" sz="1800" dirty="0">
              <a:latin typeface="Calibri" pitchFamily="34"/>
              <a:cs typeface="Calibri" pitchFamily="34"/>
            </a:endParaRPr>
          </a:p>
          <a:p>
            <a:pPr lvl="0" algn="l">
              <a:spcAft>
                <a:spcPts val="0"/>
              </a:spcAft>
            </a:pPr>
            <a:r>
              <a:rPr lang="en-US" sz="2000" dirty="0">
                <a:solidFill>
                  <a:srgbClr val="000000"/>
                </a:solidFill>
                <a:latin typeface="Wingdings" pitchFamily="18"/>
              </a:rPr>
              <a:t></a:t>
            </a:r>
            <a:r>
              <a:rPr lang="en-US" sz="1800" dirty="0">
                <a:latin typeface="Calibri" pitchFamily="34"/>
                <a:cs typeface="Calibri" pitchFamily="34"/>
              </a:rPr>
              <a:t>To ﬁnd the splitting criterion for the tuples in D, we need to compute the Gini index for each attribute.</a:t>
            </a:r>
          </a:p>
          <a:p>
            <a:pPr lvl="0" algn="l">
              <a:spcAft>
                <a:spcPts val="0"/>
              </a:spcAft>
            </a:pPr>
            <a:r>
              <a:rPr lang="en-US" sz="2000" dirty="0">
                <a:solidFill>
                  <a:srgbClr val="000000"/>
                </a:solidFill>
                <a:latin typeface="Wingdings" pitchFamily="18"/>
              </a:rPr>
              <a:t> </a:t>
            </a:r>
            <a:r>
              <a:rPr lang="en-US" sz="1800" dirty="0">
                <a:latin typeface="Calibri" pitchFamily="34"/>
                <a:cs typeface="Calibri" pitchFamily="34"/>
              </a:rPr>
              <a:t>Start with the attribute </a:t>
            </a:r>
            <a:r>
              <a:rPr lang="en-US" sz="1800" i="1" dirty="0" err="1">
                <a:latin typeface="Calibri" pitchFamily="34"/>
                <a:cs typeface="Calibri" pitchFamily="34"/>
              </a:rPr>
              <a:t>income.</a:t>
            </a:r>
            <a:r>
              <a:rPr lang="en-US" sz="1800" dirty="0" err="1">
                <a:latin typeface="Calibri" pitchFamily="34"/>
                <a:cs typeface="Calibri" pitchFamily="34"/>
              </a:rPr>
              <a:t>Consider</a:t>
            </a:r>
            <a:r>
              <a:rPr lang="en-US" sz="1800" dirty="0">
                <a:latin typeface="Calibri" pitchFamily="34"/>
                <a:cs typeface="Calibri" pitchFamily="34"/>
              </a:rPr>
              <a:t> the subset {low, medium}. This would result in 10 tuples in partition D1 satisfying the condition “income ∈ {low, medium}”. The remaining 4 tuples of D would be assigned to partition D2. The Gini index value computed based on this partitioning is:</a:t>
            </a:r>
          </a:p>
          <a:p>
            <a:pPr lvl="0" algn="l">
              <a:spcAft>
                <a:spcPts val="0"/>
              </a:spcAft>
            </a:pPr>
            <a:endParaRPr lang="en-US" sz="1800" dirty="0">
              <a:latin typeface="Calibri" pitchFamily="34"/>
              <a:cs typeface="Calibri" pitchFamily="34"/>
            </a:endParaRPr>
          </a:p>
          <a:p>
            <a:pPr lvl="0" algn="l">
              <a:spcAft>
                <a:spcPts val="0"/>
              </a:spcAft>
            </a:pPr>
            <a:endParaRPr lang="en-US" sz="1800" dirty="0">
              <a:latin typeface="Calibri" pitchFamily="34"/>
              <a:cs typeface="Calibri" pitchFamily="34"/>
            </a:endParaRPr>
          </a:p>
          <a:p>
            <a:pPr lvl="0" algn="l">
              <a:spcAft>
                <a:spcPts val="0"/>
              </a:spcAft>
            </a:pPr>
            <a:endParaRPr lang="en-US" sz="1800" dirty="0">
              <a:latin typeface="Cambria Math" pitchFamily="18"/>
              <a:ea typeface="Cambria Math" pitchFamily="2"/>
            </a:endParaRPr>
          </a:p>
          <a:p>
            <a:pPr lvl="0" algn="ctr"/>
            <a:endParaRPr lang="vi-VN" sz="2000" dirty="0"/>
          </a:p>
        </p:txBody>
      </p:sp>
      <p:pic>
        <p:nvPicPr>
          <p:cNvPr id="3" name="Picture 2">
            <a:extLst>
              <a:ext uri="{FF2B5EF4-FFF2-40B4-BE49-F238E27FC236}">
                <a16:creationId xmlns:a16="http://schemas.microsoft.com/office/drawing/2014/main" xmlns="" id="{00000000-0000-0000-0000-000000000000}"/>
              </a:ext>
            </a:extLst>
          </p:cNvPr>
          <p:cNvPicPr>
            <a:picLocks noChangeAspect="1"/>
          </p:cNvPicPr>
          <p:nvPr/>
        </p:nvPicPr>
        <p:blipFill>
          <a:blip r:embed="rId3">
            <a:lum/>
            <a:alphaModFix/>
          </a:blip>
          <a:srcRect/>
          <a:stretch>
            <a:fillRect/>
          </a:stretch>
        </p:blipFill>
        <p:spPr>
          <a:xfrm>
            <a:off x="1808639" y="1655999"/>
            <a:ext cx="4671360" cy="936000"/>
          </a:xfrm>
          <a:prstGeom prst="rect">
            <a:avLst/>
          </a:prstGeom>
          <a:noFill/>
          <a:ln>
            <a:noFill/>
          </a:ln>
        </p:spPr>
      </p:pic>
      <p:pic>
        <p:nvPicPr>
          <p:cNvPr id="4" name="Picture 3">
            <a:extLst>
              <a:ext uri="{FF2B5EF4-FFF2-40B4-BE49-F238E27FC236}">
                <a16:creationId xmlns:a16="http://schemas.microsoft.com/office/drawing/2014/main" xmlns="" id="{00000000-0000-0000-0000-000000000000}"/>
              </a:ext>
            </a:extLst>
          </p:cNvPr>
          <p:cNvPicPr>
            <a:picLocks noChangeAspect="1"/>
          </p:cNvPicPr>
          <p:nvPr/>
        </p:nvPicPr>
        <p:blipFill>
          <a:blip r:embed="rId4">
            <a:lum/>
            <a:alphaModFix/>
          </a:blip>
          <a:srcRect/>
          <a:stretch>
            <a:fillRect/>
          </a:stretch>
        </p:blipFill>
        <p:spPr>
          <a:xfrm>
            <a:off x="1512000" y="4524120"/>
            <a:ext cx="6120000" cy="25318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534479" y="1093800"/>
            <a:ext cx="9071640" cy="5474640"/>
          </a:xfrm>
        </p:spPr>
        <p:txBody>
          <a:bodyPr anchor="t"/>
          <a:lstStyle/>
          <a:p>
            <a:pPr>
              <a:lnSpc>
                <a:spcPct val="107000"/>
              </a:lnSpc>
              <a:spcAft>
                <a:spcPts val="1000"/>
              </a:spcAft>
            </a:pPr>
            <a:r>
              <a:rPr lang="en-US" sz="1800" dirty="0" smtClean="0">
                <a:solidFill>
                  <a:srgbClr val="000000"/>
                </a:solidFill>
                <a:latin typeface="Wingdings" pitchFamily="18"/>
              </a:rPr>
              <a:t> </a:t>
            </a:r>
            <a:r>
              <a:rPr lang="vi-VN" sz="1800" dirty="0" smtClean="0">
                <a:latin typeface="Cambria Math" panose="02040503050406030204" pitchFamily="18" charset="0"/>
                <a:ea typeface="Times New Roman" panose="02020603050405020304" pitchFamily="18" charset="0"/>
                <a:cs typeface="Cambria Math" panose="02040503050406030204" pitchFamily="18" charset="0"/>
              </a:rPr>
              <a:t>Similarly, the Gini index values for splits on the remaining subsets are </a:t>
            </a:r>
            <a:endParaRPr lang="en-US" sz="1800" dirty="0" smtClean="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vi-VN" sz="1800" b="1" dirty="0" smtClean="0">
                <a:latin typeface="Cambria Math" panose="02040503050406030204" pitchFamily="18" charset="0"/>
                <a:ea typeface="Times New Roman" panose="02020603050405020304" pitchFamily="18" charset="0"/>
                <a:cs typeface="Cambria Math" panose="02040503050406030204" pitchFamily="18" charset="0"/>
              </a:rPr>
              <a:t>0.458 (forthesubsets {low, high} and {medium}) </a:t>
            </a:r>
            <a:endParaRPr lang="en-US" sz="1800" dirty="0" smtClean="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vi-VN" sz="1800" dirty="0" smtClean="0">
                <a:latin typeface="Cambria Math" panose="02040503050406030204" pitchFamily="18" charset="0"/>
                <a:ea typeface="Times New Roman" panose="02020603050405020304" pitchFamily="18" charset="0"/>
                <a:cs typeface="Cambria Math" panose="02040503050406030204" pitchFamily="18" charset="0"/>
              </a:rPr>
              <a:t>and </a:t>
            </a:r>
            <a:r>
              <a:rPr lang="vi-VN" sz="1800" b="1" dirty="0" smtClean="0">
                <a:latin typeface="Cambria Math" panose="02040503050406030204" pitchFamily="18" charset="0"/>
                <a:ea typeface="Times New Roman" panose="02020603050405020304" pitchFamily="18" charset="0"/>
                <a:cs typeface="Cambria Math" panose="02040503050406030204" pitchFamily="18" charset="0"/>
              </a:rPr>
              <a:t>0.450 (for the subsets {medium, high} and {low}). </a:t>
            </a:r>
            <a:endParaRPr lang="en-US" sz="1800" dirty="0" smtClean="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vi-VN" sz="1800" dirty="0" smtClean="0">
                <a:latin typeface="Cambria Math" panose="02040503050406030204" pitchFamily="18" charset="0"/>
                <a:ea typeface="Times New Roman" panose="02020603050405020304" pitchFamily="18" charset="0"/>
                <a:cs typeface="Cambria Math" panose="02040503050406030204" pitchFamily="18" charset="0"/>
                <a:sym typeface="Wingdings" panose="05000000000000000000" pitchFamily="2" charset="2"/>
              </a:rPr>
              <a:t></a:t>
            </a:r>
            <a:r>
              <a:rPr lang="en-US" sz="1800" dirty="0" smtClean="0">
                <a:latin typeface="Cambria Math" panose="02040503050406030204" pitchFamily="18" charset="0"/>
                <a:ea typeface="Times New Roman" panose="02020603050405020304" pitchFamily="18" charset="0"/>
                <a:cs typeface="Cambria Math" panose="02040503050406030204" pitchFamily="18" charset="0"/>
                <a:sym typeface="Wingdings" panose="05000000000000000000" pitchFamily="2" charset="2"/>
              </a:rPr>
              <a:t> T</a:t>
            </a:r>
            <a:r>
              <a:rPr lang="vi-VN" sz="1800" dirty="0" smtClean="0">
                <a:latin typeface="Cambria Math" panose="02040503050406030204" pitchFamily="18" charset="0"/>
                <a:ea typeface="Times New Roman" panose="02020603050405020304" pitchFamily="18" charset="0"/>
                <a:cs typeface="Cambria Math" panose="02040503050406030204" pitchFamily="18" charset="0"/>
              </a:rPr>
              <a:t>he best binary split for attribute income is on {low, medium} (or {high}) because it minimizes the Gini index. </a:t>
            </a:r>
            <a:endParaRPr lang="en-US" sz="1800" dirty="0" smtClean="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en-US" sz="1800" dirty="0" smtClean="0">
                <a:solidFill>
                  <a:srgbClr val="000000"/>
                </a:solidFill>
                <a:latin typeface="Wingdings" pitchFamily="18"/>
              </a:rPr>
              <a:t> </a:t>
            </a:r>
            <a:r>
              <a:rPr lang="vi-VN" sz="1800" dirty="0" smtClean="0">
                <a:latin typeface="Cambria Math" panose="02040503050406030204" pitchFamily="18" charset="0"/>
                <a:ea typeface="Times New Roman" panose="02020603050405020304" pitchFamily="18" charset="0"/>
                <a:cs typeface="Cambria Math" panose="02040503050406030204" pitchFamily="18" charset="0"/>
              </a:rPr>
              <a:t>Evaluating age, we obtain {youth, senior} (or {middle aged}) as the best split for age with a Gini index of 0.375; the attributes student and</a:t>
            </a:r>
            <a:r>
              <a:rPr lang="en-US" sz="1800" dirty="0" smtClean="0">
                <a:latin typeface="Cambria Math" panose="02040503050406030204" pitchFamily="18" charset="0"/>
                <a:ea typeface="Times New Roman" panose="02020603050405020304" pitchFamily="18" charset="0"/>
                <a:cs typeface="Cambria Math" panose="02040503050406030204" pitchFamily="18" charset="0"/>
              </a:rPr>
              <a:t> </a:t>
            </a:r>
            <a:r>
              <a:rPr lang="vi-VN" sz="1800" dirty="0" smtClean="0">
                <a:latin typeface="Cambria Math" panose="02040503050406030204" pitchFamily="18" charset="0"/>
                <a:ea typeface="Times New Roman" panose="02020603050405020304" pitchFamily="18" charset="0"/>
                <a:cs typeface="Cambria Math" panose="02040503050406030204" pitchFamily="18" charset="0"/>
              </a:rPr>
              <a:t>credit rating are both binary, with Gini index values of 0.367 and 0.429, respectively. </a:t>
            </a:r>
            <a:endParaRPr lang="en-US" sz="1800" dirty="0" smtClean="0">
              <a:latin typeface="Calibri" panose="020F0502020204030204" pitchFamily="34" charset="0"/>
              <a:ea typeface="Times New Roman" panose="02020603050405020304" pitchFamily="18" charset="0"/>
              <a:cs typeface="Times New Roman" panose="02020603050405020304" pitchFamily="18" charset="0"/>
            </a:endParaRPr>
          </a:p>
          <a:p>
            <a:pPr marL="285750" indent="-285750">
              <a:lnSpc>
                <a:spcPct val="107000"/>
              </a:lnSpc>
              <a:spcAft>
                <a:spcPts val="1000"/>
              </a:spcAft>
              <a:buFont typeface="Wingdings" panose="05000000000000000000" pitchFamily="2" charset="2"/>
              <a:buChar char="Ø"/>
            </a:pPr>
            <a:r>
              <a:rPr lang="en-US" sz="1800" dirty="0" smtClean="0">
                <a:latin typeface="Calibri" panose="020F0502020204030204" pitchFamily="34" charset="0"/>
                <a:ea typeface="Times New Roman" panose="02020603050405020304" pitchFamily="18" charset="0"/>
                <a:cs typeface="Calibri" panose="020F0502020204030204" pitchFamily="34" charset="0"/>
              </a:rPr>
              <a:t>  The attribute age and splitting subset {youth, senior} therefore give the minimum Gini index overall, with a reduction in impurity of 0.459</a:t>
            </a:r>
            <a:r>
              <a:rPr lang="en-US" sz="1800" dirty="0" smtClean="0">
                <a:latin typeface="Cambria Math" panose="02040503050406030204" pitchFamily="18" charset="0"/>
                <a:ea typeface="Times New Roman" panose="02020603050405020304" pitchFamily="18" charset="0"/>
                <a:cs typeface="Cambria Math" panose="02040503050406030204" pitchFamily="18" charset="0"/>
              </a:rPr>
              <a:t>−0.357=0.102. </a:t>
            </a:r>
          </a:p>
          <a:p>
            <a:pPr marL="285750" indent="-285750">
              <a:lnSpc>
                <a:spcPct val="107000"/>
              </a:lnSpc>
              <a:spcAft>
                <a:spcPts val="1000"/>
              </a:spcAft>
              <a:buFont typeface="Wingdings" panose="05000000000000000000" pitchFamily="2" charset="2"/>
              <a:buChar char="Ø"/>
            </a:pPr>
            <a:r>
              <a:rPr lang="en-US" sz="1800" dirty="0" smtClean="0">
                <a:latin typeface="Cambria Math" panose="02040503050406030204" pitchFamily="18" charset="0"/>
                <a:ea typeface="Times New Roman" panose="02020603050405020304" pitchFamily="18" charset="0"/>
                <a:cs typeface="Cambria Math" panose="02040503050406030204" pitchFamily="18" charset="0"/>
              </a:rPr>
              <a:t>  The binary split</a:t>
            </a:r>
            <a:r>
              <a:rPr lang="vi-VN" sz="1800" dirty="0" smtClean="0">
                <a:latin typeface="Cambria Math" panose="02040503050406030204" pitchFamily="18" charset="0"/>
                <a:ea typeface="Times New Roman" panose="02020603050405020304" pitchFamily="18" charset="0"/>
                <a:cs typeface="Cambria Math" panose="02040503050406030204" pitchFamily="18" charset="0"/>
              </a:rPr>
              <a:t> “age∈{youth,senior?}” results in the maximum reduction in impurity of the tuples in D and is returned as the splitting criterion.</a:t>
            </a:r>
            <a:endParaRPr lang="vi-VN" sz="1800" dirty="0">
              <a:latin typeface="Cambria Math" pitchFamily="18"/>
              <a:ea typeface="Cambria Math" pitchFamily="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0080" y="1524000"/>
            <a:ext cx="8732520" cy="4294252"/>
          </a:xfrm>
          <a:prstGeom prst="rect">
            <a:avLst/>
          </a:prstGeom>
        </p:spPr>
        <p:txBody>
          <a:bodyPr wrap="square">
            <a:spAutoFit/>
          </a:bodyPr>
          <a:lstStyle/>
          <a:p>
            <a:pPr algn="ctr">
              <a:lnSpc>
                <a:spcPct val="107000"/>
              </a:lnSpc>
              <a:spcAft>
                <a:spcPts val="1000"/>
              </a:spcAft>
            </a:pPr>
            <a:r>
              <a:rPr lang="vi-VN" sz="3200" b="1" dirty="0">
                <a:latin typeface="Calibri" panose="020F0502020204030204" pitchFamily="34" charset="0"/>
                <a:ea typeface="Times New Roman" panose="02020603050405020304" pitchFamily="18" charset="0"/>
                <a:cs typeface="Calibri" panose="020F0502020204030204" pitchFamily="34" charset="0"/>
              </a:rPr>
              <a:t>**Other Attribute Selection Measures</a:t>
            </a:r>
            <a:r>
              <a:rPr lang="vi-VN" b="1" dirty="0">
                <a:latin typeface="Calibri" panose="020F0502020204030204" pitchFamily="34" charset="0"/>
                <a:ea typeface="Times New Roman" panose="02020603050405020304" pitchFamily="18" charset="0"/>
                <a:cs typeface="Calibri" panose="020F0502020204030204" pitchFamily="34" charset="0"/>
              </a:rPr>
              <a:t> </a:t>
            </a:r>
            <a:endParaRPr lang="en-US" b="1" dirty="0" smtClean="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b="1" dirty="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en-US" dirty="0">
                <a:solidFill>
                  <a:srgbClr val="000000"/>
                </a:solidFill>
                <a:latin typeface="Wingdings" pitchFamily="18"/>
              </a:rPr>
              <a:t> </a:t>
            </a:r>
            <a:r>
              <a:rPr lang="vi-VN" b="1"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CHAID</a:t>
            </a:r>
            <a:r>
              <a:rPr lang="vi-VN" dirty="0" smtClean="0">
                <a:latin typeface="Calibri" panose="020F0502020204030204" pitchFamily="34" charset="0"/>
                <a:ea typeface="Times New Roman" panose="02020603050405020304" pitchFamily="18" charset="0"/>
                <a:cs typeface="Calibri" panose="020F0502020204030204" pitchFamily="34" charset="0"/>
              </a:rPr>
              <a:t>,</a:t>
            </a:r>
            <a:r>
              <a:rPr lang="en-US" dirty="0" smtClean="0">
                <a:latin typeface="Calibri" panose="020F0502020204030204" pitchFamily="34" charset="0"/>
                <a:ea typeface="Times New Roman" panose="02020603050405020304" pitchFamily="18" charset="0"/>
                <a:cs typeface="Calibri" panose="020F0502020204030204" pitchFamily="34" charset="0"/>
              </a:rPr>
              <a:t> </a:t>
            </a:r>
            <a:r>
              <a:rPr lang="vi-VN" dirty="0" smtClean="0">
                <a:latin typeface="Calibri" panose="020F0502020204030204" pitchFamily="34" charset="0"/>
                <a:ea typeface="Times New Roman" panose="02020603050405020304" pitchFamily="18" charset="0"/>
                <a:cs typeface="Calibri" panose="020F0502020204030204" pitchFamily="34" charset="0"/>
              </a:rPr>
              <a:t>a</a:t>
            </a:r>
            <a:r>
              <a:rPr lang="en-US" dirty="0" smtClean="0">
                <a:latin typeface="Calibri" panose="020F0502020204030204" pitchFamily="34" charset="0"/>
                <a:ea typeface="Times New Roman" panose="02020603050405020304" pitchFamily="18" charset="0"/>
                <a:cs typeface="Calibri" panose="020F0502020204030204" pitchFamily="34" charset="0"/>
              </a:rPr>
              <a:t> </a:t>
            </a:r>
            <a:r>
              <a:rPr lang="vi-VN" dirty="0" smtClean="0">
                <a:latin typeface="Calibri" panose="020F0502020204030204" pitchFamily="34" charset="0"/>
                <a:ea typeface="Times New Roman" panose="02020603050405020304" pitchFamily="18" charset="0"/>
                <a:cs typeface="Calibri" panose="020F0502020204030204" pitchFamily="34" charset="0"/>
              </a:rPr>
              <a:t>decision</a:t>
            </a:r>
            <a:r>
              <a:rPr lang="en-US" dirty="0" smtClean="0">
                <a:latin typeface="Calibri" panose="020F0502020204030204" pitchFamily="34" charset="0"/>
                <a:ea typeface="Times New Roman" panose="02020603050405020304" pitchFamily="18" charset="0"/>
                <a:cs typeface="Calibri" panose="020F0502020204030204" pitchFamily="34" charset="0"/>
              </a:rPr>
              <a:t> </a:t>
            </a:r>
            <a:r>
              <a:rPr lang="vi-VN" dirty="0" smtClean="0">
                <a:latin typeface="Calibri" panose="020F0502020204030204" pitchFamily="34" charset="0"/>
                <a:ea typeface="Times New Roman" panose="02020603050405020304" pitchFamily="18" charset="0"/>
                <a:cs typeface="Calibri" panose="020F0502020204030204" pitchFamily="34" charset="0"/>
              </a:rPr>
              <a:t>tree </a:t>
            </a:r>
            <a:r>
              <a:rPr lang="vi-VN" dirty="0">
                <a:latin typeface="Calibri" panose="020F0502020204030204" pitchFamily="34" charset="0"/>
                <a:ea typeface="Times New Roman" panose="02020603050405020304" pitchFamily="18" charset="0"/>
                <a:cs typeface="Calibri" panose="020F0502020204030204" pitchFamily="34" charset="0"/>
              </a:rPr>
              <a:t>algorithm that is popular in marketing, uses an attribute selection measure that is based on the statistical </a:t>
            </a:r>
            <a:r>
              <a:rPr lang="el-GR" dirty="0">
                <a:latin typeface="Calibri" panose="020F0502020204030204" pitchFamily="34" charset="0"/>
                <a:ea typeface="Times New Roman" panose="02020603050405020304" pitchFamily="18" charset="0"/>
                <a:cs typeface="Calibri" panose="020F0502020204030204" pitchFamily="34" charset="0"/>
              </a:rPr>
              <a:t>χ2 test for independence.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el-GR" dirty="0">
                <a:latin typeface="Calibri" panose="020F0502020204030204" pitchFamily="34" charset="0"/>
                <a:ea typeface="Times New Roman" panose="02020603050405020304" pitchFamily="18" charset="0"/>
                <a:cs typeface="Calibri" panose="020F0502020204030204" pitchFamily="34" charset="0"/>
              </a:rPr>
              <a:t> </a:t>
            </a:r>
            <a:r>
              <a:rPr lang="en-US" dirty="0">
                <a:solidFill>
                  <a:srgbClr val="000000"/>
                </a:solidFill>
                <a:latin typeface="Wingdings" pitchFamily="18"/>
              </a:rPr>
              <a:t> </a:t>
            </a:r>
            <a:r>
              <a:rPr lang="el-GR" b="1"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C-SEP</a:t>
            </a:r>
            <a:r>
              <a:rPr lang="el-GR" dirty="0" smtClean="0">
                <a:latin typeface="Calibri" panose="020F0502020204030204" pitchFamily="34" charset="0"/>
                <a:ea typeface="Times New Roman" panose="02020603050405020304" pitchFamily="18" charset="0"/>
                <a:cs typeface="Calibri" panose="020F0502020204030204" pitchFamily="34" charset="0"/>
              </a:rPr>
              <a:t> </a:t>
            </a:r>
            <a:r>
              <a:rPr lang="el-GR" dirty="0">
                <a:latin typeface="Calibri" panose="020F0502020204030204" pitchFamily="34" charset="0"/>
                <a:ea typeface="Times New Roman" panose="02020603050405020304" pitchFamily="18" charset="0"/>
                <a:cs typeface="Calibri" panose="020F0502020204030204" pitchFamily="34" charset="0"/>
              </a:rPr>
              <a:t>(which performs better than information gain and the Gini index in certain cases)</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en-US" dirty="0">
                <a:solidFill>
                  <a:srgbClr val="000000"/>
                </a:solidFill>
                <a:latin typeface="Wingdings" pitchFamily="18"/>
              </a:rPr>
              <a:t> </a:t>
            </a:r>
            <a:r>
              <a:rPr lang="el-GR" b="1"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G-statistic</a:t>
            </a:r>
            <a:r>
              <a:rPr lang="el-GR" dirty="0" smtClean="0">
                <a:latin typeface="Calibri" panose="020F0502020204030204" pitchFamily="34" charset="0"/>
                <a:ea typeface="Times New Roman" panose="02020603050405020304" pitchFamily="18" charset="0"/>
                <a:cs typeface="Calibri" panose="020F0502020204030204" pitchFamily="34" charset="0"/>
              </a:rPr>
              <a:t> </a:t>
            </a:r>
            <a:r>
              <a:rPr lang="el-GR" dirty="0">
                <a:latin typeface="Calibri" panose="020F0502020204030204" pitchFamily="34" charset="0"/>
                <a:ea typeface="Times New Roman" panose="02020603050405020304" pitchFamily="18" charset="0"/>
                <a:cs typeface="Calibri" panose="020F0502020204030204" pitchFamily="34" charset="0"/>
              </a:rPr>
              <a:t>(an information theoretic measure that is a close approximation to χ2 distribution).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r>
              <a:rPr lang="el-GR" dirty="0">
                <a:latin typeface="Calibri" panose="020F0502020204030204" pitchFamily="34" charset="0"/>
                <a:ea typeface="Times New Roman" panose="02020603050405020304" pitchFamily="18" charset="0"/>
              </a:rPr>
              <a:t>Attribute selection measures based on the </a:t>
            </a:r>
            <a:r>
              <a:rPr lang="el-GR" b="1" dirty="0">
                <a:solidFill>
                  <a:srgbClr val="0070C0"/>
                </a:solidFill>
                <a:latin typeface="Calibri" panose="020F0502020204030204" pitchFamily="34" charset="0"/>
                <a:ea typeface="Times New Roman" panose="02020603050405020304" pitchFamily="18" charset="0"/>
              </a:rPr>
              <a:t>Minimum Description Length (MDL)</a:t>
            </a:r>
            <a:r>
              <a:rPr lang="el-GR" dirty="0">
                <a:latin typeface="Calibri" panose="020F0502020204030204" pitchFamily="34" charset="0"/>
                <a:ea typeface="Times New Roman" panose="02020603050405020304" pitchFamily="18" charset="0"/>
              </a:rPr>
              <a:t> principle have the least bias toward multivalued attributes. MDL-based measures use encoding techniques to deﬁne the “best” decision tree</a:t>
            </a:r>
            <a:r>
              <a:rPr lang="vi-VN" dirty="0">
                <a:latin typeface="Calibri" panose="020F0502020204030204" pitchFamily="34" charset="0"/>
                <a:ea typeface="Times New Roman" panose="02020603050405020304" pitchFamily="18" charset="0"/>
              </a:rPr>
              <a:t>.</a:t>
            </a:r>
            <a:endParaRPr lang="en-US" dirty="0"/>
          </a:p>
        </p:txBody>
      </p:sp>
    </p:spTree>
    <p:extLst>
      <p:ext uri="{BB962C8B-B14F-4D97-AF65-F5344CB8AC3E}">
        <p14:creationId xmlns:p14="http://schemas.microsoft.com/office/powerpoint/2010/main" val="35709755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8240" y="1250823"/>
            <a:ext cx="8183880" cy="4665123"/>
          </a:xfrm>
          <a:prstGeom prst="rect">
            <a:avLst/>
          </a:prstGeom>
        </p:spPr>
        <p:txBody>
          <a:bodyPr wrap="square">
            <a:spAutoFit/>
          </a:bodyPr>
          <a:lstStyle/>
          <a:p>
            <a:pPr algn="ctr">
              <a:lnSpc>
                <a:spcPct val="107000"/>
              </a:lnSpc>
              <a:spcAft>
                <a:spcPts val="1000"/>
              </a:spcAft>
            </a:pPr>
            <a:r>
              <a:rPr lang="el-GR" sz="3200" dirty="0">
                <a:latin typeface="Calibri" panose="020F0502020204030204" pitchFamily="34" charset="0"/>
                <a:ea typeface="Times New Roman" panose="02020603050405020304" pitchFamily="18" charset="0"/>
                <a:cs typeface="Calibri" panose="020F0502020204030204" pitchFamily="34" charset="0"/>
              </a:rPr>
              <a:t>8.2.3 Tree Pruning </a:t>
            </a:r>
            <a:endParaRPr lang="en-US" sz="3200" dirty="0" smtClean="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en-US" dirty="0">
                <a:solidFill>
                  <a:srgbClr val="000000"/>
                </a:solidFill>
                <a:latin typeface="Wingdings" pitchFamily="18"/>
              </a:rPr>
              <a:t> </a:t>
            </a:r>
            <a:r>
              <a:rPr lang="en-US" sz="2000" dirty="0" smtClean="0">
                <a:latin typeface="Calibri" panose="020F0502020204030204" pitchFamily="34" charset="0"/>
                <a:ea typeface="Times New Roman" panose="02020603050405020304" pitchFamily="18" charset="0"/>
                <a:cs typeface="Calibri" panose="020F0502020204030204" pitchFamily="34" charset="0"/>
              </a:rPr>
              <a:t>In a decision tree, </a:t>
            </a:r>
            <a:r>
              <a:rPr lang="el-GR" sz="2000" dirty="0" smtClean="0">
                <a:latin typeface="Calibri" panose="020F0502020204030204" pitchFamily="34" charset="0"/>
                <a:ea typeface="Times New Roman" panose="02020603050405020304" pitchFamily="18" charset="0"/>
                <a:cs typeface="Calibri" panose="020F0502020204030204" pitchFamily="34" charset="0"/>
              </a:rPr>
              <a:t>many </a:t>
            </a:r>
            <a:r>
              <a:rPr lang="el-GR" sz="2000" dirty="0">
                <a:latin typeface="Calibri" panose="020F0502020204030204" pitchFamily="34" charset="0"/>
                <a:ea typeface="Times New Roman" panose="02020603050405020304" pitchFamily="18" charset="0"/>
                <a:cs typeface="Calibri" panose="020F0502020204030204" pitchFamily="34" charset="0"/>
              </a:rPr>
              <a:t>of the branches will reﬂect anomalies in the training data due to noise or outliers. </a:t>
            </a:r>
            <a:endParaRPr lang="en-US" sz="20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r>
              <a:rPr lang="vi-VN" sz="2000" dirty="0">
                <a:latin typeface="Cambria Math" panose="02040503050406030204" pitchFamily="18" charset="0"/>
                <a:ea typeface="Times New Roman" panose="02020603050405020304" pitchFamily="18" charset="0"/>
                <a:cs typeface="Cambria Math" panose="02040503050406030204" pitchFamily="18" charset="0"/>
                <a:sym typeface="Wingdings" panose="05000000000000000000" pitchFamily="2" charset="2"/>
              </a:rPr>
              <a:t> </a:t>
            </a:r>
            <a:r>
              <a:rPr lang="en-US" sz="2000" dirty="0" smtClean="0">
                <a:latin typeface="Calibri" panose="020F0502020204030204" pitchFamily="34" charset="0"/>
                <a:ea typeface="Times New Roman" panose="02020603050405020304" pitchFamily="18" charset="0"/>
                <a:cs typeface="Calibri" panose="020F0502020204030204" pitchFamily="34" charset="0"/>
              </a:rPr>
              <a:t>P</a:t>
            </a:r>
            <a:r>
              <a:rPr lang="el-GR" sz="2000" dirty="0" smtClean="0">
                <a:latin typeface="Calibri" panose="020F0502020204030204" pitchFamily="34" charset="0"/>
                <a:ea typeface="Times New Roman" panose="02020603050405020304" pitchFamily="18" charset="0"/>
                <a:cs typeface="Calibri" panose="020F0502020204030204" pitchFamily="34" charset="0"/>
              </a:rPr>
              <a:t>roblem </a:t>
            </a:r>
            <a:r>
              <a:rPr lang="el-GR" sz="2000" dirty="0">
                <a:latin typeface="Calibri" panose="020F0502020204030204" pitchFamily="34" charset="0"/>
                <a:ea typeface="Times New Roman" panose="02020603050405020304" pitchFamily="18" charset="0"/>
                <a:cs typeface="Calibri" panose="020F0502020204030204" pitchFamily="34" charset="0"/>
              </a:rPr>
              <a:t>of overﬁtting the data. </a:t>
            </a:r>
            <a:endParaRPr lang="en-US" sz="20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r>
              <a:rPr lang="vi-VN" sz="2000" dirty="0">
                <a:latin typeface="Cambria Math" panose="02040503050406030204" pitchFamily="18" charset="0"/>
                <a:ea typeface="Times New Roman" panose="02020603050405020304" pitchFamily="18" charset="0"/>
                <a:cs typeface="Cambria Math" panose="02040503050406030204" pitchFamily="18" charset="0"/>
                <a:sym typeface="Wingdings" panose="05000000000000000000" pitchFamily="2" charset="2"/>
              </a:rPr>
              <a:t> </a:t>
            </a:r>
            <a:r>
              <a:rPr lang="en-US" sz="2000" dirty="0" smtClean="0">
                <a:latin typeface="Calibri" panose="020F0502020204030204" pitchFamily="34" charset="0"/>
                <a:ea typeface="Times New Roman" panose="02020603050405020304" pitchFamily="18" charset="0"/>
                <a:cs typeface="Calibri" panose="020F0502020204030204" pitchFamily="34" charset="0"/>
              </a:rPr>
              <a:t>Tree pruning </a:t>
            </a:r>
            <a:r>
              <a:rPr lang="el-GR" sz="2000" dirty="0" smtClean="0">
                <a:latin typeface="Calibri" panose="020F0502020204030204" pitchFamily="34" charset="0"/>
                <a:ea typeface="Times New Roman" panose="02020603050405020304" pitchFamily="18" charset="0"/>
                <a:cs typeface="Calibri" panose="020F0502020204030204" pitchFamily="34" charset="0"/>
              </a:rPr>
              <a:t>typically </a:t>
            </a:r>
            <a:r>
              <a:rPr lang="el-GR" sz="2000" dirty="0">
                <a:latin typeface="Calibri" panose="020F0502020204030204" pitchFamily="34" charset="0"/>
                <a:ea typeface="Times New Roman" panose="02020603050405020304" pitchFamily="18" charset="0"/>
                <a:cs typeface="Calibri" panose="020F0502020204030204" pitchFamily="34" charset="0"/>
              </a:rPr>
              <a:t>use statistical measures to remove the least-reliable branches.</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r>
              <a:rPr lang="en-US" sz="2000" dirty="0">
                <a:solidFill>
                  <a:srgbClr val="000000"/>
                </a:solidFill>
                <a:latin typeface="Wingdings" pitchFamily="18"/>
              </a:rPr>
              <a:t> </a:t>
            </a:r>
            <a:r>
              <a:rPr lang="el-GR" sz="2000" dirty="0" smtClean="0">
                <a:latin typeface="Calibri" panose="020F0502020204030204" pitchFamily="34" charset="0"/>
                <a:ea typeface="Times New Roman" panose="02020603050405020304" pitchFamily="18" charset="0"/>
              </a:rPr>
              <a:t>Pruned </a:t>
            </a:r>
            <a:r>
              <a:rPr lang="el-GR" sz="2000" dirty="0">
                <a:latin typeface="Calibri" panose="020F0502020204030204" pitchFamily="34" charset="0"/>
                <a:ea typeface="Times New Roman" panose="02020603050405020304" pitchFamily="18" charset="0"/>
              </a:rPr>
              <a:t>trees tend to be smaller and less complex and, thus, easier to comprehend.  </a:t>
            </a:r>
            <a:endParaRPr lang="en-US" sz="2000" dirty="0" smtClean="0">
              <a:latin typeface="Calibri" panose="020F0502020204030204" pitchFamily="34" charset="0"/>
              <a:ea typeface="Times New Roman" panose="02020603050405020304" pitchFamily="18" charset="0"/>
            </a:endParaRPr>
          </a:p>
          <a:p>
            <a:r>
              <a:rPr lang="en-US" sz="2000" dirty="0">
                <a:solidFill>
                  <a:srgbClr val="000000"/>
                </a:solidFill>
                <a:latin typeface="Wingdings" pitchFamily="18"/>
              </a:rPr>
              <a:t> </a:t>
            </a:r>
            <a:r>
              <a:rPr lang="en-US" sz="2000" dirty="0" smtClean="0">
                <a:latin typeface="Calibri" panose="020F0502020204030204" pitchFamily="34" charset="0"/>
                <a:ea typeface="Times New Roman" panose="02020603050405020304" pitchFamily="18" charset="0"/>
              </a:rPr>
              <a:t>U</a:t>
            </a:r>
            <a:r>
              <a:rPr lang="el-GR" sz="2000" dirty="0" smtClean="0">
                <a:latin typeface="Calibri" panose="020F0502020204030204" pitchFamily="34" charset="0"/>
                <a:ea typeface="Times New Roman" panose="02020603050405020304" pitchFamily="18" charset="0"/>
              </a:rPr>
              <a:t>sually </a:t>
            </a:r>
            <a:r>
              <a:rPr lang="el-GR" sz="2000" dirty="0">
                <a:latin typeface="Calibri" panose="020F0502020204030204" pitchFamily="34" charset="0"/>
                <a:ea typeface="Times New Roman" panose="02020603050405020304" pitchFamily="18" charset="0"/>
              </a:rPr>
              <a:t>faster and better at correctly classifying independent test data (i.e., of previously unseen tuples) than unpruned trees.</a:t>
            </a:r>
            <a:endParaRPr lang="en-US" sz="2000" dirty="0"/>
          </a:p>
        </p:txBody>
      </p:sp>
      <p:sp>
        <p:nvSpPr>
          <p:cNvPr id="4" name="Rectangle 3"/>
          <p:cNvSpPr/>
          <p:nvPr/>
        </p:nvSpPr>
        <p:spPr>
          <a:xfrm>
            <a:off x="1158240" y="6093193"/>
            <a:ext cx="7711440" cy="707886"/>
          </a:xfrm>
          <a:prstGeom prst="rect">
            <a:avLst/>
          </a:prstGeom>
        </p:spPr>
        <p:txBody>
          <a:bodyPr wrap="square">
            <a:spAutoFit/>
          </a:bodyPr>
          <a:lstStyle/>
          <a:p>
            <a:r>
              <a:rPr lang="en-US" sz="2000" dirty="0">
                <a:solidFill>
                  <a:srgbClr val="000000"/>
                </a:solidFill>
                <a:latin typeface="Wingdings" pitchFamily="18"/>
              </a:rPr>
              <a:t> </a:t>
            </a:r>
            <a:r>
              <a:rPr lang="vi-VN" sz="2000" dirty="0" smtClean="0">
                <a:latin typeface="Calibri" panose="020F0502020204030204" pitchFamily="34" charset="0"/>
                <a:ea typeface="Times New Roman" panose="02020603050405020304" pitchFamily="18" charset="0"/>
              </a:rPr>
              <a:t>T</a:t>
            </a:r>
            <a:r>
              <a:rPr lang="en-US" sz="2000" dirty="0">
                <a:latin typeface="Calibri" panose="020F0502020204030204" pitchFamily="34" charset="0"/>
                <a:ea typeface="Times New Roman" panose="02020603050405020304" pitchFamily="18" charset="0"/>
              </a:rPr>
              <a:t>wo common approaches to tree pruning: </a:t>
            </a:r>
            <a:r>
              <a:rPr lang="en-US" sz="2000" b="1" dirty="0" err="1">
                <a:solidFill>
                  <a:srgbClr val="0070C0"/>
                </a:solidFill>
                <a:latin typeface="Calibri" panose="020F0502020204030204" pitchFamily="34" charset="0"/>
                <a:ea typeface="Times New Roman" panose="02020603050405020304" pitchFamily="18" charset="0"/>
              </a:rPr>
              <a:t>prepruning</a:t>
            </a:r>
            <a:r>
              <a:rPr lang="en-US" sz="2000" dirty="0">
                <a:latin typeface="Calibri" panose="020F0502020204030204" pitchFamily="34" charset="0"/>
                <a:ea typeface="Times New Roman" panose="02020603050405020304" pitchFamily="18" charset="0"/>
              </a:rPr>
              <a:t> and </a:t>
            </a:r>
            <a:r>
              <a:rPr lang="en-US" sz="2000" b="1" dirty="0" err="1">
                <a:solidFill>
                  <a:srgbClr val="0070C0"/>
                </a:solidFill>
                <a:latin typeface="Calibri" panose="020F0502020204030204" pitchFamily="34" charset="0"/>
                <a:ea typeface="Times New Roman" panose="02020603050405020304" pitchFamily="18" charset="0"/>
              </a:rPr>
              <a:t>postpruning</a:t>
            </a:r>
            <a:r>
              <a:rPr lang="en-US" sz="2000" dirty="0">
                <a:latin typeface="Calibri" panose="020F0502020204030204" pitchFamily="34" charset="0"/>
                <a:ea typeface="Times New Roman" panose="02020603050405020304" pitchFamily="18" charset="0"/>
              </a:rPr>
              <a:t>.</a:t>
            </a:r>
            <a:endParaRPr lang="en-US" sz="2000" dirty="0"/>
          </a:p>
        </p:txBody>
      </p:sp>
    </p:spTree>
    <p:extLst>
      <p:ext uri="{BB962C8B-B14F-4D97-AF65-F5344CB8AC3E}">
        <p14:creationId xmlns:p14="http://schemas.microsoft.com/office/powerpoint/2010/main" val="1892013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87145"/>
            <a:ext cx="8671560" cy="4793615"/>
          </a:xfrm>
          <a:prstGeom prst="rect">
            <a:avLst/>
          </a:prstGeom>
          <a:noFill/>
          <a:ln>
            <a:noFill/>
          </a:ln>
        </p:spPr>
      </p:pic>
    </p:spTree>
    <p:extLst>
      <p:ext uri="{BB962C8B-B14F-4D97-AF65-F5344CB8AC3E}">
        <p14:creationId xmlns:p14="http://schemas.microsoft.com/office/powerpoint/2010/main" val="16964427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70605" y="653852"/>
            <a:ext cx="3736151" cy="584775"/>
          </a:xfrm>
          <a:prstGeom prst="rect">
            <a:avLst/>
          </a:prstGeom>
        </p:spPr>
        <p:txBody>
          <a:bodyPr wrap="none">
            <a:spAutoFit/>
          </a:bodyPr>
          <a:lstStyle/>
          <a:p>
            <a:r>
              <a:rPr lang="en-US" sz="3200" dirty="0" err="1">
                <a:latin typeface="Calibri" panose="020F0502020204030204" pitchFamily="34" charset="0"/>
                <a:ea typeface="Times New Roman" panose="02020603050405020304" pitchFamily="18" charset="0"/>
              </a:rPr>
              <a:t>P</a:t>
            </a:r>
            <a:r>
              <a:rPr lang="en-US" sz="3200" dirty="0" err="1" smtClean="0">
                <a:latin typeface="Calibri" panose="020F0502020204030204" pitchFamily="34" charset="0"/>
                <a:ea typeface="Times New Roman" panose="02020603050405020304" pitchFamily="18" charset="0"/>
              </a:rPr>
              <a:t>repruning</a:t>
            </a:r>
            <a:r>
              <a:rPr lang="en-US" sz="3200" dirty="0" smtClean="0">
                <a:latin typeface="Calibri" panose="020F0502020204030204" pitchFamily="34" charset="0"/>
                <a:ea typeface="Times New Roman" panose="02020603050405020304" pitchFamily="18" charset="0"/>
              </a:rPr>
              <a:t> Approach</a:t>
            </a:r>
            <a:endParaRPr lang="en-US" sz="3200" dirty="0"/>
          </a:p>
        </p:txBody>
      </p:sp>
      <p:sp>
        <p:nvSpPr>
          <p:cNvPr id="5" name="Rectangle 4"/>
          <p:cNvSpPr/>
          <p:nvPr/>
        </p:nvSpPr>
        <p:spPr>
          <a:xfrm>
            <a:off x="838200" y="2764176"/>
            <a:ext cx="8260080" cy="2677656"/>
          </a:xfrm>
          <a:prstGeom prst="rect">
            <a:avLst/>
          </a:prstGeom>
        </p:spPr>
        <p:txBody>
          <a:bodyPr wrap="square">
            <a:spAutoFit/>
          </a:bodyPr>
          <a:lstStyle/>
          <a:p>
            <a:pPr marL="342900" indent="-342900">
              <a:buFont typeface="Wingdings" panose="05000000000000000000" pitchFamily="2" charset="2"/>
              <a:buChar char="Ø"/>
            </a:pPr>
            <a:r>
              <a:rPr lang="en-US" sz="2400" dirty="0" smtClean="0">
                <a:latin typeface="Calibri" panose="020F0502020204030204" pitchFamily="34" charset="0"/>
                <a:ea typeface="Times New Roman" panose="02020603050405020304" pitchFamily="18" charset="0"/>
              </a:rPr>
              <a:t>A </a:t>
            </a:r>
            <a:r>
              <a:rPr lang="en-US" sz="2400" dirty="0">
                <a:latin typeface="Calibri" panose="020F0502020204030204" pitchFamily="34" charset="0"/>
                <a:ea typeface="Times New Roman" panose="02020603050405020304" pitchFamily="18" charset="0"/>
              </a:rPr>
              <a:t>tree is “pruned” by halting its construction </a:t>
            </a:r>
            <a:r>
              <a:rPr lang="en-US" sz="2400" dirty="0" smtClean="0">
                <a:latin typeface="Calibri" panose="020F0502020204030204" pitchFamily="34" charset="0"/>
                <a:ea typeface="Times New Roman" panose="02020603050405020304" pitchFamily="18" charset="0"/>
              </a:rPr>
              <a:t>early (</a:t>
            </a:r>
            <a:r>
              <a:rPr lang="en-US" sz="2400" dirty="0">
                <a:latin typeface="Calibri" panose="020F0502020204030204" pitchFamily="34" charset="0"/>
                <a:ea typeface="Times New Roman" panose="02020603050405020304" pitchFamily="18" charset="0"/>
              </a:rPr>
              <a:t>e.g., by deciding not to further split or partition the subset of training tuples at a given node). </a:t>
            </a: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endParaRPr lang="en-US" sz="2400" dirty="0" smtClean="0">
              <a:latin typeface="Calibri" panose="020F0502020204030204" pitchFamily="34" charset="0"/>
              <a:ea typeface="Times New Roman" panose="02020603050405020304" pitchFamily="18" charset="0"/>
            </a:endParaRPr>
          </a:p>
          <a:p>
            <a:r>
              <a:rPr lang="en-US" sz="2400" dirty="0">
                <a:solidFill>
                  <a:srgbClr val="000000"/>
                </a:solidFill>
                <a:latin typeface="Wingdings" pitchFamily="18"/>
              </a:rPr>
              <a:t> </a:t>
            </a:r>
            <a:r>
              <a:rPr lang="en-US" sz="2400" dirty="0" smtClean="0">
                <a:latin typeface="Calibri" panose="020F0502020204030204" pitchFamily="34" charset="0"/>
                <a:ea typeface="Times New Roman" panose="02020603050405020304" pitchFamily="18" charset="0"/>
              </a:rPr>
              <a:t>Upon </a:t>
            </a:r>
            <a:r>
              <a:rPr lang="en-US" sz="2400" dirty="0">
                <a:latin typeface="Calibri" panose="020F0502020204030204" pitchFamily="34" charset="0"/>
                <a:ea typeface="Times New Roman" panose="02020603050405020304" pitchFamily="18" charset="0"/>
              </a:rPr>
              <a:t>halting, the node becomes a leaf. The leaf may hold the most frequent class among  the subset tuples or the probability distribution of those tuples. </a:t>
            </a:r>
            <a:endParaRPr lang="en-US" sz="2400" dirty="0"/>
          </a:p>
        </p:txBody>
      </p:sp>
    </p:spTree>
    <p:extLst>
      <p:ext uri="{BB962C8B-B14F-4D97-AF65-F5344CB8AC3E}">
        <p14:creationId xmlns:p14="http://schemas.microsoft.com/office/powerpoint/2010/main" val="19537456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36394" y="821492"/>
            <a:ext cx="3897029" cy="584775"/>
          </a:xfrm>
          <a:prstGeom prst="rect">
            <a:avLst/>
          </a:prstGeom>
        </p:spPr>
        <p:txBody>
          <a:bodyPr wrap="none">
            <a:spAutoFit/>
          </a:bodyPr>
          <a:lstStyle/>
          <a:p>
            <a:r>
              <a:rPr lang="en-US" sz="3200" dirty="0" err="1" smtClean="0">
                <a:latin typeface="Calibri" panose="020F0502020204030204" pitchFamily="34" charset="0"/>
                <a:ea typeface="Times New Roman" panose="02020603050405020304" pitchFamily="18" charset="0"/>
              </a:rPr>
              <a:t>Postpruning</a:t>
            </a:r>
            <a:r>
              <a:rPr lang="en-US" sz="3200" dirty="0" smtClean="0">
                <a:latin typeface="Calibri" panose="020F0502020204030204" pitchFamily="34" charset="0"/>
                <a:ea typeface="Times New Roman" panose="02020603050405020304" pitchFamily="18" charset="0"/>
              </a:rPr>
              <a:t> Approach</a:t>
            </a:r>
            <a:endParaRPr lang="en-US" sz="3200" dirty="0"/>
          </a:p>
        </p:txBody>
      </p:sp>
      <p:sp>
        <p:nvSpPr>
          <p:cNvPr id="7" name="Rectangle 6"/>
          <p:cNvSpPr/>
          <p:nvPr/>
        </p:nvSpPr>
        <p:spPr>
          <a:xfrm>
            <a:off x="975360" y="1882909"/>
            <a:ext cx="8046720" cy="4447371"/>
          </a:xfrm>
          <a:prstGeom prst="rect">
            <a:avLst/>
          </a:prstGeom>
        </p:spPr>
        <p:txBody>
          <a:bodyPr wrap="square">
            <a:spAutoFit/>
          </a:bodyPr>
          <a:lstStyle/>
          <a:p>
            <a:pPr marL="3429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Calibri" panose="020F0502020204030204" pitchFamily="34" charset="0"/>
              </a:rPr>
              <a:t>M</a:t>
            </a:r>
            <a:r>
              <a:rPr lang="en-US" sz="2400" dirty="0" smtClean="0">
                <a:latin typeface="Calibri" panose="020F0502020204030204" pitchFamily="34" charset="0"/>
                <a:ea typeface="Times New Roman" panose="02020603050405020304" pitchFamily="18" charset="0"/>
                <a:cs typeface="Calibri" panose="020F0502020204030204" pitchFamily="34" charset="0"/>
              </a:rPr>
              <a:t>ore </a:t>
            </a:r>
            <a:r>
              <a:rPr lang="en-US" sz="2400" dirty="0">
                <a:latin typeface="Calibri" panose="020F0502020204030204" pitchFamily="34" charset="0"/>
                <a:ea typeface="Times New Roman" panose="02020603050405020304" pitchFamily="18" charset="0"/>
                <a:cs typeface="Calibri" panose="020F0502020204030204" pitchFamily="34" charset="0"/>
              </a:rPr>
              <a:t>common approach </a:t>
            </a:r>
            <a:r>
              <a:rPr lang="en-US" sz="2400" dirty="0" smtClean="0">
                <a:latin typeface="Calibri" panose="020F0502020204030204" pitchFamily="34" charset="0"/>
                <a:ea typeface="Times New Roman" panose="02020603050405020304" pitchFamily="18" charset="0"/>
                <a:cs typeface="Calibri" panose="020F0502020204030204" pitchFamily="34" charset="0"/>
              </a:rPr>
              <a:t>than </a:t>
            </a:r>
            <a:r>
              <a:rPr lang="en-US" sz="2400" dirty="0" err="1" smtClean="0">
                <a:latin typeface="Calibri" panose="020F0502020204030204" pitchFamily="34" charset="0"/>
                <a:ea typeface="Times New Roman" panose="02020603050405020304" pitchFamily="18" charset="0"/>
                <a:cs typeface="Calibri" panose="020F0502020204030204" pitchFamily="34" charset="0"/>
              </a:rPr>
              <a:t>prepruning</a:t>
            </a:r>
            <a:r>
              <a:rPr lang="en-US" sz="2400" dirty="0" smtClean="0">
                <a:latin typeface="Calibri" panose="020F0502020204030204" pitchFamily="34" charset="0"/>
                <a:ea typeface="Times New Roman" panose="02020603050405020304" pitchFamily="18" charset="0"/>
                <a:cs typeface="Calibri" panose="020F0502020204030204" pitchFamily="34" charset="0"/>
              </a:rPr>
              <a:t>.</a:t>
            </a:r>
          </a:p>
          <a:p>
            <a:pPr marL="3429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Calibri" panose="020F0502020204030204" pitchFamily="34" charset="0"/>
              </a:rPr>
              <a:t>R</a:t>
            </a:r>
            <a:r>
              <a:rPr lang="en-US" sz="2400" dirty="0" smtClean="0">
                <a:latin typeface="Calibri" panose="020F0502020204030204" pitchFamily="34" charset="0"/>
                <a:ea typeface="Times New Roman" panose="02020603050405020304" pitchFamily="18" charset="0"/>
                <a:cs typeface="Calibri" panose="020F0502020204030204" pitchFamily="34" charset="0"/>
              </a:rPr>
              <a:t>emoves </a:t>
            </a:r>
            <a:r>
              <a:rPr lang="en-US" sz="2400" dirty="0">
                <a:latin typeface="Calibri" panose="020F0502020204030204" pitchFamily="34" charset="0"/>
                <a:ea typeface="Times New Roman" panose="02020603050405020304" pitchFamily="18" charset="0"/>
                <a:cs typeface="Calibri" panose="020F0502020204030204" pitchFamily="34" charset="0"/>
              </a:rPr>
              <a:t>subtrees from a “fully grown” tree. </a:t>
            </a:r>
            <a:endParaRPr lang="en-US" sz="24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15000"/>
              </a:lnSpc>
              <a:spcAft>
                <a:spcPts val="1000"/>
              </a:spcAft>
              <a:buFont typeface="Wingdings" panose="05000000000000000000" pitchFamily="2" charset="2"/>
              <a:buChar char="Ø"/>
            </a:pPr>
            <a:r>
              <a:rPr lang="en-US" sz="2400" dirty="0" smtClean="0">
                <a:latin typeface="Calibri" panose="020F0502020204030204" pitchFamily="34" charset="0"/>
                <a:ea typeface="Times New Roman" panose="02020603050405020304" pitchFamily="18" charset="0"/>
                <a:cs typeface="Calibri" panose="020F0502020204030204" pitchFamily="34" charset="0"/>
              </a:rPr>
              <a:t>A </a:t>
            </a:r>
            <a:r>
              <a:rPr lang="en-US" sz="2400" dirty="0">
                <a:latin typeface="Calibri" panose="020F0502020204030204" pitchFamily="34" charset="0"/>
                <a:ea typeface="Times New Roman" panose="02020603050405020304" pitchFamily="18" charset="0"/>
                <a:cs typeface="Calibri" panose="020F0502020204030204" pitchFamily="34" charset="0"/>
              </a:rPr>
              <a:t>subtree at a given node is pruned by removing its branches and replacing it with a leaf. The leaf is labeled with the most frequent class among the subtree being replaced.</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r>
              <a:rPr lang="vi-VN" sz="2400" dirty="0">
                <a:latin typeface="Calibri" panose="020F0502020204030204" pitchFamily="34" charset="0"/>
                <a:ea typeface="Times New Roman" panose="02020603050405020304" pitchFamily="18" charset="0"/>
              </a:rPr>
              <a:t>For example, notice the subtree at node “A3?” in the unpruned tree of Figure 8.6. Suppose that the most common class within this subtree is “class B.” In the pruned version of the tree, the subtree in question is pruned by replacing it with the leaf “class B.”</a:t>
            </a:r>
            <a:endParaRPr lang="en-US" sz="2400" dirty="0"/>
          </a:p>
        </p:txBody>
      </p:sp>
    </p:spTree>
    <p:extLst>
      <p:ext uri="{BB962C8B-B14F-4D97-AF65-F5344CB8AC3E}">
        <p14:creationId xmlns:p14="http://schemas.microsoft.com/office/powerpoint/2010/main" val="17089368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2480" y="1524000"/>
            <a:ext cx="8534400" cy="4524315"/>
          </a:xfrm>
          <a:prstGeom prst="rect">
            <a:avLst/>
          </a:prstGeom>
        </p:spPr>
        <p:txBody>
          <a:bodyPr wrap="square">
            <a:spAutoFit/>
          </a:bodyPr>
          <a:lstStyle/>
          <a:p>
            <a:r>
              <a:rPr lang="vi-VN" sz="2400" b="1" dirty="0">
                <a:solidFill>
                  <a:srgbClr val="0070C0"/>
                </a:solidFill>
                <a:latin typeface="Calibri" panose="020F0502020204030204" pitchFamily="34" charset="0"/>
                <a:ea typeface="Times New Roman" panose="02020603050405020304" pitchFamily="18" charset="0"/>
              </a:rPr>
              <a:t>The cost complexity pruning algorithm</a:t>
            </a:r>
            <a:r>
              <a:rPr lang="vi-VN" sz="2400" dirty="0">
                <a:latin typeface="Calibri" panose="020F0502020204030204" pitchFamily="34" charset="0"/>
                <a:ea typeface="Times New Roman" panose="02020603050405020304" pitchFamily="18" charset="0"/>
              </a:rPr>
              <a:t> used in CART is an example of the post pruning approach</a:t>
            </a:r>
            <a:r>
              <a:rPr lang="vi-VN" sz="2400" dirty="0" smtClean="0">
                <a:latin typeface="Calibri" panose="020F0502020204030204" pitchFamily="34" charset="0"/>
                <a:ea typeface="Times New Roman" panose="02020603050405020304" pitchFamily="18" charset="0"/>
              </a:rPr>
              <a:t>.</a:t>
            </a:r>
            <a:endParaRPr lang="en-US" sz="2400" dirty="0" smtClean="0">
              <a:latin typeface="Calibri" panose="020F0502020204030204" pitchFamily="34" charset="0"/>
              <a:ea typeface="Times New Roman" panose="02020603050405020304" pitchFamily="18" charset="0"/>
            </a:endParaRPr>
          </a:p>
          <a:p>
            <a:r>
              <a:rPr lang="vi-VN" sz="2400" dirty="0" smtClean="0">
                <a:latin typeface="Calibri" panose="020F0502020204030204" pitchFamily="34" charset="0"/>
                <a:ea typeface="Times New Roman" panose="02020603050405020304" pitchFamily="18" charset="0"/>
              </a:rPr>
              <a:t>  </a:t>
            </a: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r>
              <a:rPr lang="vi-VN" sz="2400" dirty="0" smtClean="0">
                <a:latin typeface="Calibri" panose="020F0502020204030204" pitchFamily="34" charset="0"/>
                <a:ea typeface="Times New Roman" panose="02020603050405020304" pitchFamily="18" charset="0"/>
              </a:rPr>
              <a:t>A </a:t>
            </a:r>
            <a:r>
              <a:rPr lang="vi-VN" sz="2400" dirty="0">
                <a:latin typeface="Calibri" panose="020F0502020204030204" pitchFamily="34" charset="0"/>
                <a:ea typeface="Times New Roman" panose="02020603050405020304" pitchFamily="18" charset="0"/>
              </a:rPr>
              <a:t>pruning set of class-labeled tuples is used to estimate cost complexity. </a:t>
            </a: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r>
              <a:rPr lang="en-US" sz="2400" dirty="0">
                <a:latin typeface="Calibri" panose="020F0502020204030204" pitchFamily="34" charset="0"/>
                <a:ea typeface="Times New Roman" panose="02020603050405020304" pitchFamily="18" charset="0"/>
              </a:rPr>
              <a:t>S</a:t>
            </a:r>
            <a:r>
              <a:rPr lang="vi-VN" sz="2400" dirty="0" smtClean="0">
                <a:latin typeface="Calibri" panose="020F0502020204030204" pitchFamily="34" charset="0"/>
                <a:ea typeface="Times New Roman" panose="02020603050405020304" pitchFamily="18" charset="0"/>
              </a:rPr>
              <a:t>tarts </a:t>
            </a:r>
            <a:r>
              <a:rPr lang="vi-VN" sz="2400" dirty="0">
                <a:latin typeface="Calibri" panose="020F0502020204030204" pitchFamily="34" charset="0"/>
                <a:ea typeface="Times New Roman" panose="02020603050405020304" pitchFamily="18" charset="0"/>
              </a:rPr>
              <a:t>from the bottom of the </a:t>
            </a:r>
            <a:r>
              <a:rPr lang="vi-VN" sz="2400" dirty="0" smtClean="0">
                <a:latin typeface="Calibri" panose="020F0502020204030204" pitchFamily="34" charset="0"/>
                <a:ea typeface="Times New Roman" panose="02020603050405020304" pitchFamily="18" charset="0"/>
              </a:rPr>
              <a:t>tree</a:t>
            </a:r>
            <a:r>
              <a:rPr lang="en-US" sz="2400" dirty="0" smtClean="0">
                <a:latin typeface="Calibri" panose="020F0502020204030204" pitchFamily="34" charset="0"/>
                <a:ea typeface="Times New Roman" panose="02020603050405020304" pitchFamily="18" charset="0"/>
              </a:rPr>
              <a:t>, f</a:t>
            </a:r>
            <a:r>
              <a:rPr lang="vi-VN" sz="2400" dirty="0" smtClean="0">
                <a:latin typeface="Calibri" panose="020F0502020204030204" pitchFamily="34" charset="0"/>
                <a:ea typeface="Times New Roman" panose="02020603050405020304" pitchFamily="18" charset="0"/>
              </a:rPr>
              <a:t>or </a:t>
            </a:r>
            <a:r>
              <a:rPr lang="vi-VN" sz="2400" dirty="0">
                <a:latin typeface="Calibri" panose="020F0502020204030204" pitchFamily="34" charset="0"/>
                <a:ea typeface="Times New Roman" panose="02020603050405020304" pitchFamily="18" charset="0"/>
              </a:rPr>
              <a:t>each internal node, N, it computes the cost complexity of the subtree at N, and the cost complexity of the subtree at N if it were to be pruned (i.e., replaced by a leaf node). </a:t>
            </a: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r>
              <a:rPr lang="vi-VN" sz="2400" dirty="0" smtClean="0">
                <a:latin typeface="Calibri" panose="020F0502020204030204" pitchFamily="34" charset="0"/>
                <a:ea typeface="Times New Roman" panose="02020603050405020304" pitchFamily="18" charset="0"/>
              </a:rPr>
              <a:t>The </a:t>
            </a:r>
            <a:r>
              <a:rPr lang="vi-VN" sz="2400" dirty="0">
                <a:latin typeface="Calibri" panose="020F0502020204030204" pitchFamily="34" charset="0"/>
                <a:ea typeface="Times New Roman" panose="02020603050405020304" pitchFamily="18" charset="0"/>
              </a:rPr>
              <a:t>two values are compared. If pruning the subtree at node N would result in a smaller cost complexity, then the subtree is pruned. Otherwise, it is kept.</a:t>
            </a:r>
            <a:endParaRPr lang="en-US" sz="2400" dirty="0"/>
          </a:p>
        </p:txBody>
      </p:sp>
    </p:spTree>
    <p:extLst>
      <p:ext uri="{BB962C8B-B14F-4D97-AF65-F5344CB8AC3E}">
        <p14:creationId xmlns:p14="http://schemas.microsoft.com/office/powerpoint/2010/main" val="1428847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45037" y="0"/>
            <a:ext cx="8360410" cy="646331"/>
          </a:xfrm>
          <a:prstGeom prst="rect">
            <a:avLst/>
          </a:prstGeom>
        </p:spPr>
        <p:txBody>
          <a:bodyPr wrap="square">
            <a:spAutoFit/>
          </a:bodyPr>
          <a:lstStyle/>
          <a:p>
            <a:r>
              <a:rPr lang="vi-VN" dirty="0">
                <a:latin typeface="Calibri" panose="020F0502020204030204" pitchFamily="34" charset="0"/>
                <a:ea typeface="Times New Roman" panose="02020603050405020304" pitchFamily="18" charset="0"/>
              </a:rPr>
              <a:t>Decision trees can suffer from </a:t>
            </a:r>
            <a:r>
              <a:rPr lang="vi-VN" b="1" dirty="0">
                <a:solidFill>
                  <a:srgbClr val="0070C0"/>
                </a:solidFill>
                <a:latin typeface="Calibri" panose="020F0502020204030204" pitchFamily="34" charset="0"/>
                <a:ea typeface="Times New Roman" panose="02020603050405020304" pitchFamily="18" charset="0"/>
              </a:rPr>
              <a:t>repetition</a:t>
            </a:r>
            <a:r>
              <a:rPr lang="vi-VN" b="1" dirty="0">
                <a:latin typeface="Calibri" panose="020F0502020204030204" pitchFamily="34" charset="0"/>
                <a:ea typeface="Times New Roman" panose="02020603050405020304" pitchFamily="18" charset="0"/>
              </a:rPr>
              <a:t> </a:t>
            </a:r>
            <a:r>
              <a:rPr lang="vi-VN" dirty="0">
                <a:latin typeface="Calibri" panose="020F0502020204030204" pitchFamily="34" charset="0"/>
                <a:ea typeface="Times New Roman" panose="02020603050405020304" pitchFamily="18" charset="0"/>
              </a:rPr>
              <a:t>and </a:t>
            </a:r>
            <a:r>
              <a:rPr lang="vi-VN" b="1" dirty="0">
                <a:solidFill>
                  <a:srgbClr val="0070C0"/>
                </a:solidFill>
                <a:latin typeface="Calibri" panose="020F0502020204030204" pitchFamily="34" charset="0"/>
                <a:ea typeface="Times New Roman" panose="02020603050405020304" pitchFamily="18" charset="0"/>
              </a:rPr>
              <a:t>replication</a:t>
            </a:r>
            <a:r>
              <a:rPr lang="vi-VN" b="1" dirty="0">
                <a:latin typeface="Calibri" panose="020F0502020204030204" pitchFamily="34" charset="0"/>
                <a:ea typeface="Times New Roman" panose="02020603050405020304" pitchFamily="18" charset="0"/>
              </a:rPr>
              <a:t> </a:t>
            </a:r>
            <a:r>
              <a:rPr lang="vi-VN" dirty="0">
                <a:latin typeface="Calibri" panose="020F0502020204030204" pitchFamily="34" charset="0"/>
                <a:ea typeface="Times New Roman" panose="02020603050405020304" pitchFamily="18" charset="0"/>
              </a:rPr>
              <a:t>(Figure8.7), making them overwhelming to interpret.</a:t>
            </a:r>
            <a:endParaRPr lang="en-US" dirty="0"/>
          </a:p>
        </p:txBody>
      </p:sp>
      <p:pic>
        <p:nvPicPr>
          <p:cNvPr id="5" name="Picture 4"/>
          <p:cNvPicPr>
            <a:picLocks noChangeAspect="1"/>
          </p:cNvPicPr>
          <p:nvPr/>
        </p:nvPicPr>
        <p:blipFill>
          <a:blip r:embed="rId2"/>
          <a:stretch>
            <a:fillRect/>
          </a:stretch>
        </p:blipFill>
        <p:spPr>
          <a:xfrm>
            <a:off x="664525" y="646331"/>
            <a:ext cx="8509956" cy="6259570"/>
          </a:xfrm>
          <a:prstGeom prst="rect">
            <a:avLst/>
          </a:prstGeom>
        </p:spPr>
      </p:pic>
    </p:spTree>
    <p:extLst>
      <p:ext uri="{BB962C8B-B14F-4D97-AF65-F5344CB8AC3E}">
        <p14:creationId xmlns:p14="http://schemas.microsoft.com/office/powerpoint/2010/main" val="1214817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3880" y="506955"/>
            <a:ext cx="8915400" cy="5851474"/>
          </a:xfrm>
          <a:prstGeom prst="rect">
            <a:avLst/>
          </a:prstGeom>
        </p:spPr>
        <p:txBody>
          <a:bodyPr wrap="square">
            <a:spAutoFit/>
          </a:bodyPr>
          <a:lstStyle/>
          <a:p>
            <a:pPr>
              <a:lnSpc>
                <a:spcPct val="107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8.2.4 Scalability and Decision Tree </a:t>
            </a:r>
            <a:r>
              <a:rPr lang="vi-VN" sz="3200" dirty="0" smtClean="0">
                <a:latin typeface="Calibri" panose="020F0502020204030204" pitchFamily="34" charset="0"/>
                <a:ea typeface="Times New Roman" panose="02020603050405020304" pitchFamily="18" charset="0"/>
                <a:cs typeface="Calibri" panose="020F0502020204030204" pitchFamily="34" charset="0"/>
              </a:rPr>
              <a:t>Induction</a:t>
            </a: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r>
              <a:rPr lang="en-US" sz="2200" dirty="0" smtClean="0">
                <a:latin typeface="Calibri" panose="020F0502020204030204" pitchFamily="34" charset="0"/>
                <a:ea typeface="Times New Roman" panose="02020603050405020304" pitchFamily="18" charset="0"/>
                <a:cs typeface="Calibri" panose="020F0502020204030204" pitchFamily="34" charset="0"/>
              </a:rPr>
              <a:t>V</a:t>
            </a:r>
            <a:r>
              <a:rPr lang="vi-VN" sz="2200" dirty="0" smtClean="0">
                <a:latin typeface="Calibri" panose="020F0502020204030204" pitchFamily="34" charset="0"/>
                <a:ea typeface="Times New Roman" panose="02020603050405020304" pitchFamily="18" charset="0"/>
                <a:cs typeface="Calibri" panose="020F0502020204030204" pitchFamily="34" charset="0"/>
              </a:rPr>
              <a:t>ery </a:t>
            </a:r>
            <a:r>
              <a:rPr lang="vi-VN" sz="2200" dirty="0">
                <a:latin typeface="Calibri" panose="020F0502020204030204" pitchFamily="34" charset="0"/>
                <a:ea typeface="Times New Roman" panose="02020603050405020304" pitchFamily="18" charset="0"/>
                <a:cs typeface="Calibri" panose="020F0502020204030204" pitchFamily="34" charset="0"/>
              </a:rPr>
              <a:t>large training sets of millions of tuples are common.  </a:t>
            </a: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r>
              <a:rPr lang="vi-VN" sz="2200" dirty="0">
                <a:latin typeface="Calibri" panose="020F0502020204030204" pitchFamily="34" charset="0"/>
                <a:ea typeface="Times New Roman" panose="02020603050405020304" pitchFamily="18" charset="0"/>
                <a:cs typeface="Calibri" panose="020F0502020204030204" pitchFamily="34" charset="0"/>
                <a:sym typeface="Wingdings" panose="05000000000000000000" pitchFamily="2" charset="2"/>
              </a:rPr>
              <a:t></a:t>
            </a:r>
            <a:r>
              <a:rPr lang="vi-VN" sz="2200" dirty="0" smtClean="0">
                <a:latin typeface="Calibri" panose="020F0502020204030204" pitchFamily="34" charset="0"/>
                <a:ea typeface="Times New Roman" panose="02020603050405020304" pitchFamily="18" charset="0"/>
                <a:cs typeface="Calibri" panose="020F0502020204030204" pitchFamily="34" charset="0"/>
              </a:rPr>
              <a:t>More </a:t>
            </a:r>
            <a:r>
              <a:rPr lang="vi-VN" sz="2200" dirty="0">
                <a:latin typeface="Calibri" panose="020F0502020204030204" pitchFamily="34" charset="0"/>
                <a:ea typeface="Times New Roman" panose="02020603050405020304" pitchFamily="18" charset="0"/>
                <a:cs typeface="Calibri" panose="020F0502020204030204" pitchFamily="34" charset="0"/>
              </a:rPr>
              <a:t>scalable approaches, capable of handling training data that are too large to ﬁt in memory, are required. </a:t>
            </a: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07000"/>
              </a:lnSpc>
              <a:spcAft>
                <a:spcPts val="1000"/>
              </a:spcAft>
              <a:buFont typeface="Wingdings" panose="05000000000000000000" pitchFamily="2" charset="2"/>
              <a:buChar char="Ø"/>
            </a:pPr>
            <a:r>
              <a:rPr lang="vi-VN" sz="2200" dirty="0" smtClean="0">
                <a:latin typeface="Calibri" panose="020F0502020204030204" pitchFamily="34" charset="0"/>
                <a:ea typeface="Times New Roman" panose="02020603050405020304" pitchFamily="18" charset="0"/>
                <a:cs typeface="Calibri" panose="020F0502020204030204" pitchFamily="34" charset="0"/>
              </a:rPr>
              <a:t>RainForest</a:t>
            </a:r>
            <a:r>
              <a:rPr lang="en-US" sz="2200" dirty="0" smtClean="0">
                <a:latin typeface="Calibri" panose="020F0502020204030204" pitchFamily="34" charset="0"/>
                <a:ea typeface="Times New Roman" panose="02020603050405020304" pitchFamily="18" charset="0"/>
                <a:cs typeface="Calibri" panose="020F0502020204030204" pitchFamily="34" charset="0"/>
              </a:rPr>
              <a:t>: </a:t>
            </a:r>
            <a:r>
              <a:rPr lang="vi-VN" sz="2200" dirty="0" smtClean="0">
                <a:latin typeface="Calibri" panose="020F0502020204030204" pitchFamily="34" charset="0"/>
                <a:ea typeface="Times New Roman" panose="02020603050405020304" pitchFamily="18" charset="0"/>
                <a:cs typeface="Calibri" panose="020F0502020204030204" pitchFamily="34" charset="0"/>
              </a:rPr>
              <a:t>adapts </a:t>
            </a:r>
            <a:r>
              <a:rPr lang="vi-VN" sz="2200" dirty="0">
                <a:latin typeface="Calibri" panose="020F0502020204030204" pitchFamily="34" charset="0"/>
                <a:ea typeface="Times New Roman" panose="02020603050405020304" pitchFamily="18" charset="0"/>
                <a:cs typeface="Calibri" panose="020F0502020204030204" pitchFamily="34" charset="0"/>
              </a:rPr>
              <a:t>to the amount of main memory available and applies to any decision tree induction algorithm. The method maintains an AVC-set (where “AVC” stands for “Attribute-Value, Classlabel”) for each attribute, at each tree node, describing the training tuples at the node.</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vi-VN" sz="2200" dirty="0">
                <a:latin typeface="Calibri" panose="020F0502020204030204" pitchFamily="34" charset="0"/>
                <a:ea typeface="Times New Roman" panose="02020603050405020304" pitchFamily="18" charset="0"/>
              </a:rPr>
              <a:t>BOAT (Bootstrapped Optimistic Algorithm for Tree construction) is a decision tree algorithm that takes a completely different approach to </a:t>
            </a:r>
            <a:r>
              <a:rPr lang="vi-VN" sz="2200" dirty="0" smtClean="0">
                <a:latin typeface="Calibri" panose="020F0502020204030204" pitchFamily="34" charset="0"/>
                <a:ea typeface="Times New Roman" panose="02020603050405020304" pitchFamily="18" charset="0"/>
              </a:rPr>
              <a:t>scalability</a:t>
            </a:r>
            <a:r>
              <a:rPr lang="en-US" sz="2200" dirty="0" smtClean="0">
                <a:latin typeface="Calibri" panose="020F0502020204030204" pitchFamily="34" charset="0"/>
                <a:ea typeface="Times New Roman" panose="02020603050405020304" pitchFamily="18" charset="0"/>
              </a:rPr>
              <a:t>. It </a:t>
            </a:r>
            <a:r>
              <a:rPr lang="vi-VN" sz="2200" dirty="0" smtClean="0">
                <a:latin typeface="Calibri" panose="020F0502020204030204" pitchFamily="34" charset="0"/>
                <a:ea typeface="Times New Roman" panose="02020603050405020304" pitchFamily="18" charset="0"/>
              </a:rPr>
              <a:t>uses </a:t>
            </a:r>
            <a:r>
              <a:rPr lang="vi-VN" sz="2200" dirty="0">
                <a:latin typeface="Calibri" panose="020F0502020204030204" pitchFamily="34" charset="0"/>
                <a:ea typeface="Times New Roman" panose="02020603050405020304" pitchFamily="18" charset="0"/>
              </a:rPr>
              <a:t>a statistical technique known as “bootstrapping” (Section 8.5.4) to create several smaller samples (or subsets) of the given training data, each of which ﬁts in memory.</a:t>
            </a:r>
            <a:endParaRPr lang="en-US" sz="2200" dirty="0"/>
          </a:p>
        </p:txBody>
      </p:sp>
    </p:spTree>
    <p:extLst>
      <p:ext uri="{BB962C8B-B14F-4D97-AF65-F5344CB8AC3E}">
        <p14:creationId xmlns:p14="http://schemas.microsoft.com/office/powerpoint/2010/main" val="3336438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603566" y="786130"/>
            <a:ext cx="8753793" cy="5736590"/>
          </a:xfrm>
          <a:prstGeom prst="rect">
            <a:avLst/>
          </a:prstGeom>
          <a:noFill/>
          <a:ln>
            <a:noFill/>
          </a:ln>
        </p:spPr>
      </p:pic>
    </p:spTree>
    <p:extLst>
      <p:ext uri="{BB962C8B-B14F-4D97-AF65-F5344CB8AC3E}">
        <p14:creationId xmlns:p14="http://schemas.microsoft.com/office/powerpoint/2010/main" val="38151902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8310" y="238073"/>
            <a:ext cx="9137650" cy="1578509"/>
          </a:xfrm>
          <a:prstGeom prst="rect">
            <a:avLst/>
          </a:prstGeom>
        </p:spPr>
        <p:txBody>
          <a:bodyPr wrap="square">
            <a:spAutoFit/>
          </a:bodyPr>
          <a:lstStyle/>
          <a:p>
            <a:pPr>
              <a:lnSpc>
                <a:spcPct val="107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8.2.5 Visual Mining for Decision Tree Induction</a:t>
            </a:r>
            <a:r>
              <a:rPr lang="vi-VN" dirty="0">
                <a:latin typeface="Calibri" panose="020F0502020204030204" pitchFamily="34" charset="0"/>
                <a:ea typeface="Times New Roman" panose="02020603050405020304" pitchFamily="18" charset="0"/>
                <a:cs typeface="Calibri" panose="020F0502020204030204" pitchFamily="34"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r>
              <a:rPr lang="vi-VN" b="1" dirty="0">
                <a:latin typeface="Calibri" panose="020F0502020204030204" pitchFamily="34" charset="0"/>
                <a:ea typeface="Times New Roman" panose="02020603050405020304" pitchFamily="18" charset="0"/>
              </a:rPr>
              <a:t>Perception-based classiﬁcation (PBC) </a:t>
            </a:r>
            <a:r>
              <a:rPr lang="vi-VN" dirty="0">
                <a:latin typeface="Calibri" panose="020F0502020204030204" pitchFamily="34" charset="0"/>
                <a:ea typeface="Times New Roman" panose="02020603050405020304" pitchFamily="18" charset="0"/>
              </a:rPr>
              <a:t>is an interactive approach based on multidimensional visualization techniques and allows the user to incorporate background knowledge about the data when building a decision tree.</a:t>
            </a: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48310" y="1816582"/>
            <a:ext cx="8970010" cy="5178578"/>
          </a:xfrm>
          <a:prstGeom prst="rect">
            <a:avLst/>
          </a:prstGeom>
          <a:noFill/>
          <a:ln>
            <a:noFill/>
          </a:ln>
        </p:spPr>
      </p:pic>
    </p:spTree>
    <p:extLst>
      <p:ext uri="{BB962C8B-B14F-4D97-AF65-F5344CB8AC3E}">
        <p14:creationId xmlns:p14="http://schemas.microsoft.com/office/powerpoint/2010/main" val="2828355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152400"/>
            <a:ext cx="9052560" cy="6754670"/>
          </a:xfrm>
          <a:prstGeom prst="rect">
            <a:avLst/>
          </a:prstGeom>
        </p:spPr>
        <p:txBody>
          <a:bodyPr wrap="square">
            <a:spAutoFit/>
          </a:bodyPr>
          <a:lstStyle/>
          <a:p>
            <a:pPr algn="ctr">
              <a:lnSpc>
                <a:spcPct val="115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8.3 Bayes Classification </a:t>
            </a:r>
            <a:r>
              <a:rPr lang="vi-VN" sz="3200" dirty="0" smtClean="0">
                <a:latin typeface="Calibri" panose="020F0502020204030204" pitchFamily="34" charset="0"/>
                <a:ea typeface="Times New Roman" panose="02020603050405020304" pitchFamily="18" charset="0"/>
                <a:cs typeface="Calibri" panose="020F0502020204030204" pitchFamily="34" charset="0"/>
              </a:rPr>
              <a:t>Methods</a:t>
            </a:r>
            <a:endParaRPr lang="en-US" sz="3200" dirty="0" smtClean="0">
              <a:latin typeface="Calibri" panose="020F0502020204030204" pitchFamily="34" charset="0"/>
              <a:ea typeface="Times New Roman" panose="02020603050405020304" pitchFamily="18" charset="0"/>
              <a:cs typeface="Calibri" panose="020F0502020204030204" pitchFamily="34" charset="0"/>
            </a:endParaRPr>
          </a:p>
          <a:p>
            <a:pPr algn="ctr">
              <a:lnSpc>
                <a:spcPct val="115000"/>
              </a:lnSpc>
              <a:spcAft>
                <a:spcPts val="1000"/>
              </a:spcAft>
            </a:pP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vi-VN" sz="2800" dirty="0">
                <a:latin typeface="Calibri" panose="020F0502020204030204" pitchFamily="34" charset="0"/>
                <a:ea typeface="Times New Roman" panose="02020603050405020304" pitchFamily="18" charset="0"/>
                <a:cs typeface="Calibri" panose="020F0502020204030204" pitchFamily="34" charset="0"/>
              </a:rPr>
              <a:t>8.3.1 Bayes’ Theorem</a:t>
            </a:r>
            <a:r>
              <a:rPr lang="vi-VN" dirty="0">
                <a:latin typeface="Calibri" panose="020F0502020204030204" pitchFamily="34" charset="0"/>
                <a:ea typeface="Times New Roman" panose="02020603050405020304" pitchFamily="18" charset="0"/>
                <a:cs typeface="Calibri" panose="020F0502020204030204" pitchFamily="34"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vi-VN" sz="2400" dirty="0">
                <a:latin typeface="Calibri" panose="020F0502020204030204" pitchFamily="34" charset="0"/>
                <a:ea typeface="Times New Roman" panose="02020603050405020304" pitchFamily="18" charset="0"/>
                <a:cs typeface="Calibri" panose="020F0502020204030204" pitchFamily="34" charset="0"/>
              </a:rPr>
              <a:t>Bayes’ theorem is named after Thomas Bayes,  a nonconformist English clergyman who did early work in probability and decision theory during the 18th century.</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15000"/>
              </a:lnSpc>
              <a:spcAft>
                <a:spcPts val="1000"/>
              </a:spcAft>
              <a:buFont typeface="Arial" panose="020B0604020202020204" pitchFamily="34" charset="0"/>
              <a:buChar char="•"/>
            </a:pPr>
            <a:r>
              <a:rPr lang="vi-VN" sz="2400" dirty="0">
                <a:latin typeface="Calibri" panose="020F0502020204030204" pitchFamily="34" charset="0"/>
                <a:ea typeface="Times New Roman" panose="02020603050405020304" pitchFamily="18" charset="0"/>
                <a:cs typeface="Calibri" panose="020F0502020204030204" pitchFamily="34" charset="0"/>
              </a:rPr>
              <a:t>In Bayesian terms, X, a data tuple, is considered </a:t>
            </a:r>
            <a:r>
              <a:rPr lang="vi-VN" sz="24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“evidence.”</a:t>
            </a:r>
            <a:endParaRPr lang="en-US" sz="2400" b="1" dirty="0">
              <a:solidFill>
                <a:srgbClr val="0070C0"/>
              </a:solidFill>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15000"/>
              </a:lnSpc>
              <a:spcAft>
                <a:spcPts val="1000"/>
              </a:spcAft>
              <a:buFont typeface="Arial" panose="020B0604020202020204" pitchFamily="34" charset="0"/>
              <a:buChar char="•"/>
            </a:pPr>
            <a:r>
              <a:rPr lang="vi-VN" sz="2400" dirty="0">
                <a:latin typeface="Calibri" panose="020F0502020204030204" pitchFamily="34" charset="0"/>
                <a:ea typeface="Times New Roman" panose="02020603050405020304" pitchFamily="18" charset="0"/>
                <a:cs typeface="Calibri" panose="020F0502020204030204" pitchFamily="34" charset="0"/>
              </a:rPr>
              <a:t>Let H be some hypothesis such as that the data tuple X belongs to a speciﬁed class C.</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15000"/>
              </a:lnSpc>
              <a:spcAft>
                <a:spcPts val="1000"/>
              </a:spcAft>
              <a:buFont typeface="Arial" panose="020B0604020202020204" pitchFamily="34" charset="0"/>
              <a:buChar char="•"/>
            </a:pPr>
            <a:r>
              <a:rPr lang="en-US" sz="2400" dirty="0" smtClean="0">
                <a:latin typeface="Calibri" panose="020F0502020204030204" pitchFamily="34" charset="0"/>
                <a:ea typeface="Times New Roman" panose="02020603050405020304" pitchFamily="18" charset="0"/>
                <a:cs typeface="Calibri" panose="020F0502020204030204" pitchFamily="34" charset="0"/>
              </a:rPr>
              <a:t>W</a:t>
            </a:r>
            <a:r>
              <a:rPr lang="vi-VN" sz="2400" dirty="0" smtClean="0">
                <a:latin typeface="Calibri" panose="020F0502020204030204" pitchFamily="34" charset="0"/>
                <a:ea typeface="Times New Roman" panose="02020603050405020304" pitchFamily="18" charset="0"/>
                <a:cs typeface="Calibri" panose="020F0502020204030204" pitchFamily="34" charset="0"/>
              </a:rPr>
              <a:t>e </a:t>
            </a:r>
            <a:r>
              <a:rPr lang="vi-VN" sz="2400" dirty="0">
                <a:latin typeface="Calibri" panose="020F0502020204030204" pitchFamily="34" charset="0"/>
                <a:ea typeface="Times New Roman" panose="02020603050405020304" pitchFamily="18" charset="0"/>
                <a:cs typeface="Calibri" panose="020F0502020204030204" pitchFamily="34" charset="0"/>
              </a:rPr>
              <a:t>want to determine P(H|X), the probability that tuple X belongs to class C, given that we know the attribute description of X.</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400" dirty="0">
                <a:latin typeface="Calibri" panose="020F0502020204030204" pitchFamily="34" charset="0"/>
                <a:ea typeface="Times New Roman" panose="02020603050405020304" pitchFamily="18" charset="0"/>
              </a:rPr>
              <a:t>P(H|X) is the posterior probability, or a posteriori probability, of H conditioned on X.</a:t>
            </a:r>
            <a:endParaRPr lang="en-US" sz="2400" dirty="0"/>
          </a:p>
        </p:txBody>
      </p:sp>
    </p:spTree>
    <p:extLst>
      <p:ext uri="{BB962C8B-B14F-4D97-AF65-F5344CB8AC3E}">
        <p14:creationId xmlns:p14="http://schemas.microsoft.com/office/powerpoint/2010/main" val="22281306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8350" y="629236"/>
            <a:ext cx="8451850" cy="2462213"/>
          </a:xfrm>
          <a:prstGeom prst="rect">
            <a:avLst/>
          </a:prstGeom>
        </p:spPr>
        <p:txBody>
          <a:bodyPr wrap="square">
            <a:spAutoFit/>
          </a:bodyPr>
          <a:lstStyle/>
          <a:p>
            <a:r>
              <a:rPr lang="en-US" sz="2200" dirty="0" smtClean="0">
                <a:latin typeface="Calibri" panose="020F0502020204030204" pitchFamily="34" charset="0"/>
                <a:ea typeface="Times New Roman" panose="02020603050405020304" pitchFamily="18" charset="0"/>
              </a:rPr>
              <a:t>Example: </a:t>
            </a:r>
            <a:r>
              <a:rPr lang="vi-VN" sz="2200" dirty="0" smtClean="0">
                <a:latin typeface="Calibri" panose="020F0502020204030204" pitchFamily="34" charset="0"/>
                <a:ea typeface="Times New Roman" panose="02020603050405020304" pitchFamily="18" charset="0"/>
              </a:rPr>
              <a:t>suppose </a:t>
            </a:r>
            <a:r>
              <a:rPr lang="vi-VN" sz="2200" dirty="0">
                <a:latin typeface="Calibri" panose="020F0502020204030204" pitchFamily="34" charset="0"/>
                <a:ea typeface="Times New Roman" panose="02020603050405020304" pitchFamily="18" charset="0"/>
              </a:rPr>
              <a:t>our </a:t>
            </a:r>
            <a:r>
              <a:rPr lang="vi-VN" sz="2200" dirty="0" smtClean="0">
                <a:latin typeface="Calibri" panose="020F0502020204030204" pitchFamily="34" charset="0"/>
                <a:ea typeface="Times New Roman" panose="02020603050405020304" pitchFamily="18" charset="0"/>
              </a:rPr>
              <a:t>data </a:t>
            </a:r>
            <a:r>
              <a:rPr lang="vi-VN" sz="2200" dirty="0">
                <a:latin typeface="Calibri" panose="020F0502020204030204" pitchFamily="34" charset="0"/>
                <a:ea typeface="Times New Roman" panose="02020603050405020304" pitchFamily="18" charset="0"/>
              </a:rPr>
              <a:t>tuples is conﬁned to customers described by the attributes </a:t>
            </a:r>
            <a:r>
              <a:rPr lang="vi-VN" sz="2200" i="1" dirty="0">
                <a:latin typeface="Calibri" panose="020F0502020204030204" pitchFamily="34" charset="0"/>
                <a:ea typeface="Times New Roman" panose="02020603050405020304" pitchFamily="18" charset="0"/>
              </a:rPr>
              <a:t>age</a:t>
            </a:r>
            <a:r>
              <a:rPr lang="vi-VN" sz="2200" dirty="0">
                <a:latin typeface="Calibri" panose="020F0502020204030204" pitchFamily="34" charset="0"/>
                <a:ea typeface="Times New Roman" panose="02020603050405020304" pitchFamily="18" charset="0"/>
              </a:rPr>
              <a:t> and </a:t>
            </a:r>
            <a:r>
              <a:rPr lang="vi-VN" sz="2200" i="1" dirty="0">
                <a:latin typeface="Calibri" panose="020F0502020204030204" pitchFamily="34" charset="0"/>
                <a:ea typeface="Times New Roman" panose="02020603050405020304" pitchFamily="18" charset="0"/>
              </a:rPr>
              <a:t>income</a:t>
            </a:r>
            <a:r>
              <a:rPr lang="vi-VN" sz="2200" dirty="0">
                <a:latin typeface="Calibri" panose="020F0502020204030204" pitchFamily="34" charset="0"/>
                <a:ea typeface="Times New Roman" panose="02020603050405020304" pitchFamily="18" charset="0"/>
              </a:rPr>
              <a:t>, respectively, and that X is a 35-year-old customer with an income of $40,000. Suppose that H is the hypothesis that our customer will buy a computer</a:t>
            </a:r>
            <a:r>
              <a:rPr lang="vi-VN" sz="2200" dirty="0" smtClean="0">
                <a:latin typeface="Calibri" panose="020F0502020204030204" pitchFamily="34" charset="0"/>
                <a:ea typeface="Times New Roman" panose="02020603050405020304" pitchFamily="18" charset="0"/>
              </a:rPr>
              <a:t>.</a:t>
            </a:r>
            <a:endParaRPr lang="en-US" sz="2200" dirty="0" smtClean="0">
              <a:latin typeface="Calibri" panose="020F0502020204030204" pitchFamily="34" charset="0"/>
              <a:ea typeface="Times New Roman" panose="02020603050405020304" pitchFamily="18" charset="0"/>
            </a:endParaRPr>
          </a:p>
          <a:p>
            <a:endParaRPr lang="en-US" sz="2200" dirty="0">
              <a:latin typeface="Calibri" panose="020F0502020204030204" pitchFamily="34" charset="0"/>
              <a:ea typeface="Times New Roman" panose="02020603050405020304" pitchFamily="18" charset="0"/>
            </a:endParaRPr>
          </a:p>
          <a:p>
            <a:r>
              <a:rPr lang="vi-VN" sz="2200" dirty="0" smtClean="0">
                <a:latin typeface="Calibri" panose="020F0502020204030204" pitchFamily="34" charset="0"/>
                <a:ea typeface="Times New Roman" panose="02020603050405020304" pitchFamily="18" charset="0"/>
                <a:sym typeface="Wingdings" panose="05000000000000000000" pitchFamily="2" charset="2"/>
              </a:rPr>
              <a:t></a:t>
            </a:r>
            <a:r>
              <a:rPr lang="vi-VN" sz="2200" dirty="0" smtClean="0">
                <a:latin typeface="Calibri" panose="020F0502020204030204" pitchFamily="34" charset="0"/>
                <a:ea typeface="Times New Roman" panose="02020603050405020304" pitchFamily="18" charset="0"/>
              </a:rPr>
              <a:t>Then </a:t>
            </a:r>
            <a:r>
              <a:rPr lang="vi-VN" sz="2200" dirty="0">
                <a:latin typeface="Calibri" panose="020F0502020204030204" pitchFamily="34" charset="0"/>
                <a:ea typeface="Times New Roman" panose="02020603050405020304" pitchFamily="18" charset="0"/>
              </a:rPr>
              <a:t>P(H|X) reﬂects the probability that customer X will buy a computer given that we know the customer’s age and income. </a:t>
            </a:r>
            <a:endParaRPr lang="en-US" sz="2200" dirty="0"/>
          </a:p>
        </p:txBody>
      </p:sp>
      <p:sp>
        <p:nvSpPr>
          <p:cNvPr id="5" name="Rectangle 4"/>
          <p:cNvSpPr/>
          <p:nvPr/>
        </p:nvSpPr>
        <p:spPr>
          <a:xfrm>
            <a:off x="768350" y="3148005"/>
            <a:ext cx="8451850" cy="1107996"/>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sym typeface="Wingdings" panose="05000000000000000000" pitchFamily="2" charset="2"/>
              </a:rPr>
              <a:t> </a:t>
            </a:r>
            <a:r>
              <a:rPr lang="vi-VN" sz="2200" dirty="0" smtClean="0">
                <a:latin typeface="Calibri" panose="020F0502020204030204" pitchFamily="34" charset="0"/>
                <a:ea typeface="Times New Roman" panose="02020603050405020304" pitchFamily="18" charset="0"/>
              </a:rPr>
              <a:t>P(H</a:t>
            </a:r>
            <a:r>
              <a:rPr lang="vi-VN" sz="2200" dirty="0">
                <a:latin typeface="Calibri" panose="020F0502020204030204" pitchFamily="34" charset="0"/>
                <a:ea typeface="Times New Roman" panose="02020603050405020304" pitchFamily="18" charset="0"/>
              </a:rPr>
              <a:t>) is the prior probability, or a priori probability, of </a:t>
            </a:r>
            <a:r>
              <a:rPr lang="vi-VN" sz="2200" dirty="0" smtClean="0">
                <a:latin typeface="Calibri" panose="020F0502020204030204" pitchFamily="34" charset="0"/>
                <a:ea typeface="Times New Roman" panose="02020603050405020304" pitchFamily="18" charset="0"/>
              </a:rPr>
              <a:t>H.</a:t>
            </a:r>
            <a:r>
              <a:rPr lang="en-US" sz="2200" dirty="0" smtClean="0">
                <a:latin typeface="Calibri" panose="020F0502020204030204" pitchFamily="34" charset="0"/>
                <a:ea typeface="Times New Roman" panose="02020603050405020304" pitchFamily="18" charset="0"/>
              </a:rPr>
              <a:t>T</a:t>
            </a:r>
            <a:r>
              <a:rPr lang="vi-VN" sz="2200" dirty="0" smtClean="0">
                <a:latin typeface="Calibri" panose="020F0502020204030204" pitchFamily="34" charset="0"/>
                <a:ea typeface="Times New Roman" panose="02020603050405020304" pitchFamily="18" charset="0"/>
              </a:rPr>
              <a:t>his </a:t>
            </a:r>
            <a:r>
              <a:rPr lang="vi-VN" sz="2200" dirty="0">
                <a:latin typeface="Calibri" panose="020F0502020204030204" pitchFamily="34" charset="0"/>
                <a:ea typeface="Times New Roman" panose="02020603050405020304" pitchFamily="18" charset="0"/>
              </a:rPr>
              <a:t>is the probability that any given customer will buy a computer, regardless of age, income, or any other information, for that matter.</a:t>
            </a:r>
            <a:endParaRPr lang="en-US" sz="2200" dirty="0"/>
          </a:p>
        </p:txBody>
      </p:sp>
      <p:sp>
        <p:nvSpPr>
          <p:cNvPr id="7" name="Rectangle 6"/>
          <p:cNvSpPr/>
          <p:nvPr/>
        </p:nvSpPr>
        <p:spPr>
          <a:xfrm>
            <a:off x="768350" y="4256001"/>
            <a:ext cx="8573770" cy="2065694"/>
          </a:xfrm>
          <a:prstGeom prst="rect">
            <a:avLst/>
          </a:prstGeom>
        </p:spPr>
        <p:txBody>
          <a:bodyPr wrap="square">
            <a:spAutoFit/>
          </a:bodyPr>
          <a:lstStyle/>
          <a:p>
            <a:pPr>
              <a:lnSpc>
                <a:spcPct val="115000"/>
              </a:lnSpc>
              <a:spcAft>
                <a:spcPts val="1000"/>
              </a:spcAft>
            </a:pPr>
            <a:r>
              <a:rPr lang="vi-VN" sz="2200" dirty="0">
                <a:latin typeface="Calibri" panose="020F0502020204030204" pitchFamily="34" charset="0"/>
                <a:ea typeface="Times New Roman" panose="02020603050405020304" pitchFamily="18" charset="0"/>
                <a:sym typeface="Wingdings" panose="05000000000000000000" pitchFamily="2" charset="2"/>
              </a:rPr>
              <a:t> </a:t>
            </a:r>
            <a:r>
              <a:rPr lang="vi-VN" sz="2200" dirty="0" smtClean="0">
                <a:latin typeface="Calibri" panose="020F0502020204030204" pitchFamily="34" charset="0"/>
                <a:ea typeface="Times New Roman" panose="02020603050405020304" pitchFamily="18" charset="0"/>
                <a:cs typeface="Calibri" panose="020F0502020204030204" pitchFamily="34" charset="0"/>
              </a:rPr>
              <a:t>Similarly</a:t>
            </a:r>
            <a:r>
              <a:rPr lang="vi-VN" sz="2200" dirty="0">
                <a:latin typeface="Calibri" panose="020F0502020204030204" pitchFamily="34" charset="0"/>
                <a:ea typeface="Times New Roman" panose="02020603050405020304" pitchFamily="18" charset="0"/>
                <a:cs typeface="Calibri" panose="020F0502020204030204" pitchFamily="34" charset="0"/>
              </a:rPr>
              <a:t>, P(X|H) is the posterior probability of </a:t>
            </a:r>
            <a:r>
              <a:rPr lang="vi-VN" sz="2200" dirty="0" smtClean="0">
                <a:latin typeface="Calibri" panose="020F0502020204030204" pitchFamily="34" charset="0"/>
                <a:ea typeface="Times New Roman" panose="02020603050405020304" pitchFamily="18" charset="0"/>
                <a:cs typeface="Calibri" panose="020F0502020204030204" pitchFamily="34" charset="0"/>
              </a:rPr>
              <a:t>X </a:t>
            </a:r>
            <a:r>
              <a:rPr lang="vi-VN" sz="2200" dirty="0">
                <a:latin typeface="Calibri" panose="020F0502020204030204" pitchFamily="34" charset="0"/>
                <a:ea typeface="Times New Roman" panose="02020603050405020304" pitchFamily="18" charset="0"/>
                <a:cs typeface="Calibri" panose="020F0502020204030204" pitchFamily="34" charset="0"/>
              </a:rPr>
              <a:t>conditioned on </a:t>
            </a:r>
            <a:r>
              <a:rPr lang="vi-VN" sz="2200" dirty="0" smtClean="0">
                <a:latin typeface="Calibri" panose="020F0502020204030204" pitchFamily="34" charset="0"/>
                <a:ea typeface="Times New Roman" panose="02020603050405020304" pitchFamily="18" charset="0"/>
                <a:cs typeface="Calibri" panose="020F0502020204030204" pitchFamily="34" charset="0"/>
              </a:rPr>
              <a:t>H.</a:t>
            </a:r>
            <a:r>
              <a:rPr lang="en-US" sz="2200" dirty="0" smtClean="0">
                <a:latin typeface="Calibri" panose="020F0502020204030204" pitchFamily="34" charset="0"/>
                <a:ea typeface="Times New Roman" panose="02020603050405020304" pitchFamily="18" charset="0"/>
                <a:cs typeface="Calibri" panose="020F0502020204030204" pitchFamily="34" charset="0"/>
              </a:rPr>
              <a:t> I</a:t>
            </a:r>
            <a:r>
              <a:rPr lang="vi-VN" sz="2200" dirty="0" smtClean="0">
                <a:latin typeface="Calibri" panose="020F0502020204030204" pitchFamily="34" charset="0"/>
                <a:ea typeface="Times New Roman" panose="02020603050405020304" pitchFamily="18" charset="0"/>
                <a:cs typeface="Calibri" panose="020F0502020204030204" pitchFamily="34" charset="0"/>
              </a:rPr>
              <a:t>t </a:t>
            </a:r>
            <a:r>
              <a:rPr lang="vi-VN" sz="2200" dirty="0">
                <a:latin typeface="Calibri" panose="020F0502020204030204" pitchFamily="34" charset="0"/>
                <a:ea typeface="Times New Roman" panose="02020603050405020304" pitchFamily="18" charset="0"/>
                <a:cs typeface="Calibri" panose="020F0502020204030204" pitchFamily="34" charset="0"/>
              </a:rPr>
              <a:t>is the probability that a customer, X, is 35 years old and earns $40,000, given that we know the customer will buy a computer.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r>
              <a:rPr lang="vi-VN" sz="2200" dirty="0">
                <a:latin typeface="Calibri" panose="020F0502020204030204" pitchFamily="34" charset="0"/>
                <a:ea typeface="Times New Roman" panose="02020603050405020304" pitchFamily="18" charset="0"/>
                <a:sym typeface="Wingdings" panose="05000000000000000000" pitchFamily="2" charset="2"/>
              </a:rPr>
              <a:t> </a:t>
            </a:r>
            <a:r>
              <a:rPr lang="vi-VN" sz="2200" dirty="0" smtClean="0">
                <a:latin typeface="Calibri" panose="020F0502020204030204" pitchFamily="34" charset="0"/>
                <a:ea typeface="Times New Roman" panose="02020603050405020304" pitchFamily="18" charset="0"/>
              </a:rPr>
              <a:t>P(X</a:t>
            </a:r>
            <a:r>
              <a:rPr lang="vi-VN" sz="2200" dirty="0">
                <a:latin typeface="Calibri" panose="020F0502020204030204" pitchFamily="34" charset="0"/>
                <a:ea typeface="Times New Roman" panose="02020603050405020304" pitchFamily="18" charset="0"/>
              </a:rPr>
              <a:t>) is the prior probability of X. </a:t>
            </a:r>
            <a:r>
              <a:rPr lang="en-US" sz="2200" dirty="0" smtClean="0">
                <a:latin typeface="Calibri" panose="020F0502020204030204" pitchFamily="34" charset="0"/>
                <a:ea typeface="Times New Roman" panose="02020603050405020304" pitchFamily="18" charset="0"/>
              </a:rPr>
              <a:t>I</a:t>
            </a:r>
            <a:r>
              <a:rPr lang="vi-VN" sz="2200" dirty="0" smtClean="0">
                <a:latin typeface="Calibri" panose="020F0502020204030204" pitchFamily="34" charset="0"/>
                <a:ea typeface="Times New Roman" panose="02020603050405020304" pitchFamily="18" charset="0"/>
              </a:rPr>
              <a:t>t </a:t>
            </a:r>
            <a:r>
              <a:rPr lang="vi-VN" sz="2200" dirty="0">
                <a:latin typeface="Calibri" panose="020F0502020204030204" pitchFamily="34" charset="0"/>
                <a:ea typeface="Times New Roman" panose="02020603050405020304" pitchFamily="18" charset="0"/>
              </a:rPr>
              <a:t>is the probability that a person from our set of customers is 35 years old and earns $40,000.</a:t>
            </a:r>
            <a:endParaRPr lang="en-US" sz="2200" dirty="0"/>
          </a:p>
        </p:txBody>
      </p:sp>
    </p:spTree>
    <p:extLst>
      <p:ext uri="{BB962C8B-B14F-4D97-AF65-F5344CB8AC3E}">
        <p14:creationId xmlns:p14="http://schemas.microsoft.com/office/powerpoint/2010/main" val="2984552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05510" y="820153"/>
            <a:ext cx="8192770" cy="830997"/>
          </a:xfrm>
          <a:prstGeom prst="rect">
            <a:avLst/>
          </a:prstGeom>
        </p:spPr>
        <p:txBody>
          <a:bodyPr wrap="square">
            <a:spAutoFit/>
          </a:bodyPr>
          <a:lstStyle/>
          <a:p>
            <a:r>
              <a:rPr lang="vi-VN" sz="2400" dirty="0">
                <a:latin typeface="Calibri" panose="020F0502020204030204" pitchFamily="34" charset="0"/>
                <a:ea typeface="Times New Roman" panose="02020603050405020304" pitchFamily="18" charset="0"/>
              </a:rPr>
              <a:t>Bayes’ theorem provides a way of calculating the posterior probability, P(H|X</a:t>
            </a:r>
            <a:r>
              <a:rPr lang="vi-VN" sz="2400" dirty="0" smtClean="0">
                <a:latin typeface="Calibri" panose="020F0502020204030204" pitchFamily="34" charset="0"/>
                <a:ea typeface="Times New Roman" panose="02020603050405020304" pitchFamily="18" charset="0"/>
              </a:rPr>
              <a:t>)</a:t>
            </a:r>
            <a:r>
              <a:rPr lang="en-US" sz="2400" dirty="0" smtClean="0">
                <a:latin typeface="Calibri" panose="020F0502020204030204" pitchFamily="34" charset="0"/>
                <a:ea typeface="Times New Roman" panose="02020603050405020304" pitchFamily="18" charset="0"/>
              </a:rPr>
              <a:t>, that is</a:t>
            </a:r>
            <a:endParaRPr lang="en-US" sz="2400"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655886"/>
            <a:ext cx="7632382" cy="1687513"/>
          </a:xfrm>
          <a:prstGeom prst="rect">
            <a:avLst/>
          </a:prstGeom>
          <a:noFill/>
          <a:ln>
            <a:noFill/>
          </a:ln>
        </p:spPr>
      </p:pic>
    </p:spTree>
    <p:extLst>
      <p:ext uri="{BB962C8B-B14F-4D97-AF65-F5344CB8AC3E}">
        <p14:creationId xmlns:p14="http://schemas.microsoft.com/office/powerpoint/2010/main" val="25985674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2009456" y="275590"/>
            <a:ext cx="6128703" cy="882650"/>
          </a:xfrm>
          <a:prstGeom prst="rect">
            <a:avLst/>
          </a:prstGeom>
          <a:noFill/>
          <a:ln>
            <a:noFill/>
          </a:ln>
        </p:spPr>
      </p:pic>
      <p:sp>
        <p:nvSpPr>
          <p:cNvPr id="4" name="Rectangle 3"/>
          <p:cNvSpPr/>
          <p:nvPr/>
        </p:nvSpPr>
        <p:spPr>
          <a:xfrm>
            <a:off x="746760" y="1158240"/>
            <a:ext cx="8397240" cy="1623008"/>
          </a:xfrm>
          <a:prstGeom prst="rect">
            <a:avLst/>
          </a:prstGeom>
        </p:spPr>
        <p:txBody>
          <a:bodyPr wrap="square">
            <a:spAutoFit/>
          </a:bodyPr>
          <a:lstStyle/>
          <a:p>
            <a:pPr>
              <a:lnSpc>
                <a:spcPct val="107000"/>
              </a:lnSpc>
              <a:spcAft>
                <a:spcPts val="1000"/>
              </a:spcAft>
            </a:pPr>
            <a:r>
              <a:rPr lang="vi-VN" sz="2000" dirty="0">
                <a:latin typeface="Calibri" panose="020F0502020204030204" pitchFamily="34" charset="0"/>
                <a:ea typeface="Times New Roman" panose="02020603050405020304" pitchFamily="18" charset="0"/>
                <a:cs typeface="Calibri" panose="020F0502020204030204" pitchFamily="34" charset="0"/>
              </a:rPr>
              <a:t>The na</a:t>
            </a:r>
            <a:r>
              <a:rPr lang="en-US" sz="2000" dirty="0" smtClean="0">
                <a:latin typeface="Calibri" panose="020F0502020204030204" pitchFamily="34" charset="0"/>
                <a:ea typeface="Times New Roman" panose="02020603050405020304" pitchFamily="18" charset="0"/>
                <a:cs typeface="Calibri" panose="020F0502020204030204" pitchFamily="34" charset="0"/>
              </a:rPr>
              <a:t>¨</a:t>
            </a:r>
            <a:r>
              <a:rPr lang="en-US" sz="2000" dirty="0" err="1" smtClean="0">
                <a:latin typeface="Calibri" panose="020F0502020204030204" pitchFamily="34" charset="0"/>
                <a:ea typeface="Times New Roman" panose="02020603050405020304" pitchFamily="18" charset="0"/>
                <a:cs typeface="Calibri" panose="020F0502020204030204" pitchFamily="34" charset="0"/>
              </a:rPr>
              <a:t>ıve</a:t>
            </a:r>
            <a:r>
              <a:rPr lang="en-US" sz="2000" dirty="0" smtClean="0">
                <a:latin typeface="Calibri" panose="020F0502020204030204" pitchFamily="34" charset="0"/>
                <a:ea typeface="Times New Roman" panose="02020603050405020304" pitchFamily="18" charset="0"/>
                <a:cs typeface="Calibri" panose="020F0502020204030204" pitchFamily="34" charset="0"/>
              </a:rPr>
              <a:t> Bayesian </a:t>
            </a:r>
            <a:r>
              <a:rPr lang="en-US" sz="2000" dirty="0">
                <a:latin typeface="Calibri" panose="020F0502020204030204" pitchFamily="34" charset="0"/>
                <a:ea typeface="Times New Roman" panose="02020603050405020304" pitchFamily="18" charset="0"/>
                <a:cs typeface="Calibri" panose="020F0502020204030204" pitchFamily="34" charset="0"/>
              </a:rPr>
              <a:t>classiﬁer, or simple Bayesian classiﬁer, works as follows:</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en-US" sz="2000" dirty="0">
                <a:latin typeface="Calibri" panose="020F0502020204030204" pitchFamily="34" charset="0"/>
                <a:ea typeface="Times New Roman" panose="02020603050405020304" pitchFamily="18" charset="0"/>
                <a:cs typeface="Calibri" panose="020F0502020204030204" pitchFamily="34" charset="0"/>
              </a:rPr>
              <a:t>1. D </a:t>
            </a:r>
            <a:r>
              <a:rPr lang="vi-VN" sz="2000" dirty="0">
                <a:latin typeface="Calibri" panose="020F0502020204030204" pitchFamily="34" charset="0"/>
                <a:ea typeface="Times New Roman" panose="02020603050405020304" pitchFamily="18" charset="0"/>
                <a:cs typeface="Calibri" panose="020F0502020204030204" pitchFamily="34" charset="0"/>
              </a:rPr>
              <a:t>as</a:t>
            </a:r>
            <a:r>
              <a:rPr lang="en-US" sz="2000" dirty="0">
                <a:latin typeface="Calibri" panose="020F0502020204030204" pitchFamily="34" charset="0"/>
                <a:ea typeface="Times New Roman" panose="02020603050405020304" pitchFamily="18" charset="0"/>
                <a:cs typeface="Calibri" panose="020F0502020204030204" pitchFamily="34" charset="0"/>
              </a:rPr>
              <a:t> a training set of tuples and their associated class labels. </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r>
              <a:rPr lang="en-US" sz="2000" dirty="0">
                <a:latin typeface="Calibri" panose="020F0502020204030204" pitchFamily="34" charset="0"/>
                <a:ea typeface="Times New Roman" panose="02020603050405020304" pitchFamily="18" charset="0"/>
              </a:rPr>
              <a:t>2. Suppose that there are m classes, </a:t>
            </a:r>
            <a:r>
              <a:rPr lang="en-US" sz="2000" dirty="0" smtClean="0">
                <a:latin typeface="Calibri" panose="020F0502020204030204" pitchFamily="34" charset="0"/>
                <a:ea typeface="Times New Roman" panose="02020603050405020304" pitchFamily="18" charset="0"/>
              </a:rPr>
              <a:t>C</a:t>
            </a:r>
            <a:r>
              <a:rPr lang="en-US" sz="2000" baseline="-25000" dirty="0" smtClean="0">
                <a:latin typeface="Calibri" panose="020F0502020204030204" pitchFamily="34" charset="0"/>
                <a:ea typeface="Times New Roman" panose="02020603050405020304" pitchFamily="18" charset="0"/>
              </a:rPr>
              <a:t>1</a:t>
            </a:r>
            <a:r>
              <a:rPr lang="en-US" sz="2000" dirty="0" smtClean="0">
                <a:latin typeface="Calibri" panose="020F0502020204030204" pitchFamily="34" charset="0"/>
                <a:ea typeface="Times New Roman" panose="02020603050405020304" pitchFamily="18" charset="0"/>
              </a:rPr>
              <a:t>, C</a:t>
            </a:r>
            <a:r>
              <a:rPr lang="en-US" sz="2000" baseline="-25000" dirty="0" smtClean="0">
                <a:latin typeface="Calibri" panose="020F0502020204030204" pitchFamily="34" charset="0"/>
                <a:ea typeface="Times New Roman" panose="02020603050405020304" pitchFamily="18" charset="0"/>
              </a:rPr>
              <a:t>2</a:t>
            </a:r>
            <a:r>
              <a:rPr lang="en-US" sz="2000" dirty="0" smtClean="0">
                <a:latin typeface="Calibri" panose="020F0502020204030204" pitchFamily="34" charset="0"/>
                <a:ea typeface="Times New Roman" panose="02020603050405020304" pitchFamily="18" charset="0"/>
              </a:rPr>
              <a:t>,..., C</a:t>
            </a:r>
            <a:r>
              <a:rPr lang="en-US" sz="2000" baseline="-25000" dirty="0" smtClean="0">
                <a:latin typeface="Calibri" panose="020F0502020204030204" pitchFamily="34" charset="0"/>
                <a:ea typeface="Times New Roman" panose="02020603050405020304" pitchFamily="18" charset="0"/>
              </a:rPr>
              <a:t>m</a:t>
            </a:r>
            <a:r>
              <a:rPr lang="en-US" sz="2000" dirty="0" smtClean="0">
                <a:latin typeface="Calibri" panose="020F0502020204030204" pitchFamily="34" charset="0"/>
                <a:ea typeface="Times New Roman" panose="02020603050405020304" pitchFamily="18" charset="0"/>
              </a:rPr>
              <a:t>. </a:t>
            </a:r>
            <a:r>
              <a:rPr lang="vi-VN" sz="2000" dirty="0">
                <a:latin typeface="Calibri" panose="020F0502020204030204" pitchFamily="34" charset="0"/>
                <a:ea typeface="Times New Roman" panose="02020603050405020304" pitchFamily="18" charset="0"/>
              </a:rPr>
              <a:t>Th</a:t>
            </a:r>
            <a:r>
              <a:rPr lang="en-US" sz="2000" dirty="0">
                <a:latin typeface="Calibri" panose="020F0502020204030204" pitchFamily="34" charset="0"/>
                <a:ea typeface="Times New Roman" panose="02020603050405020304" pitchFamily="18" charset="0"/>
              </a:rPr>
              <a:t>e </a:t>
            </a:r>
            <a:r>
              <a:rPr lang="en-US" sz="2000" dirty="0" err="1">
                <a:latin typeface="Calibri" panose="020F0502020204030204" pitchFamily="34" charset="0"/>
                <a:ea typeface="Times New Roman" panose="02020603050405020304" pitchFamily="18" charset="0"/>
              </a:rPr>
              <a:t>na¨ıve</a:t>
            </a:r>
            <a:r>
              <a:rPr lang="en-US" sz="2000" dirty="0">
                <a:latin typeface="Calibri" panose="020F0502020204030204" pitchFamily="34" charset="0"/>
                <a:ea typeface="Times New Roman" panose="02020603050405020304" pitchFamily="18" charset="0"/>
              </a:rPr>
              <a:t> Bayesian classiﬁer predicts that tuple X belongs to the class C­</a:t>
            </a:r>
            <a:r>
              <a:rPr lang="en-US" sz="2000" baseline="-25000" dirty="0">
                <a:latin typeface="Calibri" panose="020F0502020204030204" pitchFamily="34" charset="0"/>
                <a:ea typeface="Times New Roman" panose="02020603050405020304" pitchFamily="18" charset="0"/>
              </a:rPr>
              <a:t>­</a:t>
            </a:r>
            <a:r>
              <a:rPr lang="vi-VN" sz="2000" baseline="-25000" dirty="0">
                <a:latin typeface="Calibri" panose="020F0502020204030204" pitchFamily="34" charset="0"/>
                <a:ea typeface="Times New Roman" panose="02020603050405020304" pitchFamily="18" charset="0"/>
              </a:rPr>
              <a:t>i</a:t>
            </a:r>
            <a:r>
              <a:rPr lang="en-US" sz="2000" dirty="0">
                <a:latin typeface="Calibri" panose="020F0502020204030204" pitchFamily="34" charset="0"/>
                <a:ea typeface="Times New Roman" panose="02020603050405020304" pitchFamily="18" charset="0"/>
              </a:rPr>
              <a:t> if and only if</a:t>
            </a:r>
            <a:endParaRPr lang="en-US" sz="2000" dirty="0"/>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009456" y="2891155"/>
            <a:ext cx="6262848" cy="772743"/>
          </a:xfrm>
          <a:prstGeom prst="rect">
            <a:avLst/>
          </a:prstGeom>
          <a:noFill/>
          <a:ln>
            <a:noFill/>
          </a:ln>
        </p:spPr>
      </p:pic>
      <p:sp>
        <p:nvSpPr>
          <p:cNvPr id="7" name="Rectangle 6"/>
          <p:cNvSpPr/>
          <p:nvPr/>
        </p:nvSpPr>
        <p:spPr>
          <a:xfrm>
            <a:off x="746760" y="3663898"/>
            <a:ext cx="8397240" cy="1938992"/>
          </a:xfrm>
          <a:prstGeom prst="rect">
            <a:avLst/>
          </a:prstGeom>
        </p:spPr>
        <p:txBody>
          <a:bodyPr wrap="square">
            <a:spAutoFit/>
          </a:bodyPr>
          <a:lstStyle/>
          <a:p>
            <a:r>
              <a:rPr lang="en-US" sz="2000" dirty="0">
                <a:latin typeface="Calibri" panose="020F0502020204030204" pitchFamily="34" charset="0"/>
                <a:ea typeface="Times New Roman" panose="02020603050405020304" pitchFamily="18" charset="0"/>
              </a:rPr>
              <a:t>3. As P(X) is constant for all classes, only </a:t>
            </a:r>
            <a:r>
              <a:rPr lang="en-US" sz="2000" dirty="0" smtClean="0">
                <a:latin typeface="Calibri" panose="020F0502020204030204" pitchFamily="34" charset="0"/>
                <a:ea typeface="Times New Roman" panose="02020603050405020304" pitchFamily="18" charset="0"/>
              </a:rPr>
              <a:t>P(X| C</a:t>
            </a:r>
            <a:r>
              <a:rPr lang="en-US" sz="2000" baseline="-25000" dirty="0" smtClean="0">
                <a:latin typeface="Calibri" panose="020F0502020204030204" pitchFamily="34" charset="0"/>
                <a:ea typeface="Times New Roman" panose="02020603050405020304" pitchFamily="18" charset="0"/>
              </a:rPr>
              <a:t>i</a:t>
            </a:r>
            <a:r>
              <a:rPr lang="en-US" sz="2000" dirty="0" smtClean="0">
                <a:latin typeface="Calibri" panose="020F0502020204030204" pitchFamily="34" charset="0"/>
                <a:ea typeface="Times New Roman" panose="02020603050405020304" pitchFamily="18" charset="0"/>
              </a:rPr>
              <a:t> )P(C</a:t>
            </a:r>
            <a:r>
              <a:rPr lang="en-US" sz="2000" baseline="-25000" dirty="0" smtClean="0">
                <a:latin typeface="Calibri" panose="020F0502020204030204" pitchFamily="34" charset="0"/>
                <a:ea typeface="Times New Roman" panose="02020603050405020304" pitchFamily="18" charset="0"/>
              </a:rPr>
              <a:t>i</a:t>
            </a:r>
            <a:r>
              <a:rPr lang="en-US" sz="2000" dirty="0" smtClean="0">
                <a:latin typeface="Calibri" panose="020F0502020204030204" pitchFamily="34" charset="0"/>
                <a:ea typeface="Times New Roman" panose="02020603050405020304" pitchFamily="18" charset="0"/>
              </a:rPr>
              <a:t> ) </a:t>
            </a:r>
            <a:r>
              <a:rPr lang="en-US" sz="2000" dirty="0">
                <a:latin typeface="Calibri" panose="020F0502020204030204" pitchFamily="34" charset="0"/>
                <a:ea typeface="Times New Roman" panose="02020603050405020304" pitchFamily="18" charset="0"/>
              </a:rPr>
              <a:t>needs to be maximized. If the class prior probabilities are not known, then it is commonly assumed that the classes are equally likely, that is, P(C1)=P(C2)=···=</a:t>
            </a:r>
            <a:r>
              <a:rPr lang="en-US" sz="2000" dirty="0" smtClean="0">
                <a:latin typeface="Calibri" panose="020F0502020204030204" pitchFamily="34" charset="0"/>
                <a:ea typeface="Times New Roman" panose="02020603050405020304" pitchFamily="18" charset="0"/>
              </a:rPr>
              <a:t>P(Cm)</a:t>
            </a:r>
          </a:p>
          <a:p>
            <a:r>
              <a:rPr lang="en-US" sz="2000" dirty="0">
                <a:latin typeface="Calibri" panose="020F0502020204030204" pitchFamily="34" charset="0"/>
                <a:ea typeface="Times New Roman" panose="02020603050405020304" pitchFamily="18" charset="0"/>
                <a:sym typeface="Wingdings" panose="05000000000000000000" pitchFamily="2" charset="2"/>
              </a:rPr>
              <a:t></a:t>
            </a:r>
            <a:r>
              <a:rPr lang="en-US" sz="2000" dirty="0" smtClean="0">
                <a:latin typeface="Calibri" panose="020F0502020204030204" pitchFamily="34" charset="0"/>
                <a:ea typeface="Times New Roman" panose="02020603050405020304" pitchFamily="18" charset="0"/>
              </a:rPr>
              <a:t>therefore </a:t>
            </a:r>
            <a:r>
              <a:rPr lang="en-US" sz="2000" dirty="0">
                <a:latin typeface="Calibri" panose="020F0502020204030204" pitchFamily="34" charset="0"/>
                <a:ea typeface="Times New Roman" panose="02020603050405020304" pitchFamily="18" charset="0"/>
              </a:rPr>
              <a:t>maximize P(</a:t>
            </a:r>
            <a:r>
              <a:rPr lang="en-US" sz="2000" dirty="0" err="1">
                <a:latin typeface="Calibri" panose="020F0502020204030204" pitchFamily="34" charset="0"/>
                <a:ea typeface="Times New Roman" panose="02020603050405020304" pitchFamily="18" charset="0"/>
              </a:rPr>
              <a:t>X|Ci</a:t>
            </a:r>
            <a:r>
              <a:rPr lang="en-US" sz="2000" dirty="0">
                <a:latin typeface="Calibri" panose="020F0502020204030204" pitchFamily="34" charset="0"/>
                <a:ea typeface="Times New Roman" panose="02020603050405020304" pitchFamily="18" charset="0"/>
              </a:rPr>
              <a:t>).</a:t>
            </a:r>
            <a:r>
              <a:rPr lang="vi-VN" sz="2000" dirty="0">
                <a:latin typeface="Calibri" panose="020F0502020204030204" pitchFamily="34" charset="0"/>
                <a:ea typeface="Times New Roman" panose="02020603050405020304" pitchFamily="18" charset="0"/>
              </a:rPr>
              <a:t> </a:t>
            </a:r>
            <a:endParaRPr lang="en-US" sz="2000" dirty="0" smtClean="0">
              <a:latin typeface="Calibri" panose="020F0502020204030204" pitchFamily="34" charset="0"/>
              <a:ea typeface="Times New Roman" panose="02020603050405020304" pitchFamily="18" charset="0"/>
            </a:endParaRPr>
          </a:p>
          <a:p>
            <a:r>
              <a:rPr lang="vi-VN" sz="2000" dirty="0" smtClean="0">
                <a:latin typeface="Calibri" panose="020F0502020204030204" pitchFamily="34" charset="0"/>
                <a:ea typeface="Times New Roman" panose="02020603050405020304" pitchFamily="18" charset="0"/>
              </a:rPr>
              <a:t>The </a:t>
            </a:r>
            <a:r>
              <a:rPr lang="vi-VN" sz="2000" dirty="0">
                <a:latin typeface="Calibri" panose="020F0502020204030204" pitchFamily="34" charset="0"/>
                <a:ea typeface="Times New Roman" panose="02020603050405020304" pitchFamily="18" charset="0"/>
              </a:rPr>
              <a:t>class prior probabilities may be estimated by P(Ci)=|C</a:t>
            </a:r>
            <a:r>
              <a:rPr lang="vi-VN" sz="2000" baseline="-25000" dirty="0">
                <a:latin typeface="Calibri" panose="020F0502020204030204" pitchFamily="34" charset="0"/>
                <a:ea typeface="Times New Roman" panose="02020603050405020304" pitchFamily="18" charset="0"/>
              </a:rPr>
              <a:t>i,D</a:t>
            </a:r>
            <a:r>
              <a:rPr lang="vi-VN" sz="2000" dirty="0">
                <a:latin typeface="Calibri" panose="020F0502020204030204" pitchFamily="34" charset="0"/>
                <a:ea typeface="Times New Roman" panose="02020603050405020304" pitchFamily="18" charset="0"/>
              </a:rPr>
              <a:t>|/|D|, </a:t>
            </a:r>
            <a:r>
              <a:rPr lang="vi-VN" sz="2000" dirty="0" smtClean="0">
                <a:latin typeface="Calibri" panose="020F0502020204030204" pitchFamily="34" charset="0"/>
                <a:ea typeface="Times New Roman" panose="02020603050405020304" pitchFamily="18" charset="0"/>
              </a:rPr>
              <a:t>where</a:t>
            </a:r>
            <a:r>
              <a:rPr lang="en-US" sz="2000" dirty="0" smtClean="0">
                <a:latin typeface="Calibri" panose="020F0502020204030204" pitchFamily="34" charset="0"/>
                <a:ea typeface="Times New Roman" panose="02020603050405020304" pitchFamily="18" charset="0"/>
              </a:rPr>
              <a:t> </a:t>
            </a:r>
            <a:r>
              <a:rPr lang="vi-VN" sz="2000" dirty="0" smtClean="0">
                <a:latin typeface="Calibri" panose="020F0502020204030204" pitchFamily="34" charset="0"/>
                <a:ea typeface="Times New Roman" panose="02020603050405020304" pitchFamily="18" charset="0"/>
              </a:rPr>
              <a:t>|</a:t>
            </a:r>
            <a:r>
              <a:rPr lang="vi-VN" sz="2000" dirty="0">
                <a:latin typeface="Calibri" panose="020F0502020204030204" pitchFamily="34" charset="0"/>
                <a:ea typeface="Times New Roman" panose="02020603050405020304" pitchFamily="18" charset="0"/>
              </a:rPr>
              <a:t>C</a:t>
            </a:r>
            <a:r>
              <a:rPr lang="vi-VN" sz="2000" baseline="-25000" dirty="0">
                <a:latin typeface="Calibri" panose="020F0502020204030204" pitchFamily="34" charset="0"/>
                <a:ea typeface="Times New Roman" panose="02020603050405020304" pitchFamily="18" charset="0"/>
              </a:rPr>
              <a:t>i,D</a:t>
            </a:r>
            <a:r>
              <a:rPr lang="vi-VN" sz="2000" dirty="0">
                <a:latin typeface="Calibri" panose="020F0502020204030204" pitchFamily="34" charset="0"/>
                <a:ea typeface="Times New Roman" panose="02020603050405020304" pitchFamily="18" charset="0"/>
              </a:rPr>
              <a:t>|is the number of training tuples of class C</a:t>
            </a:r>
            <a:r>
              <a:rPr lang="vi-VN" sz="2000" baseline="-25000" dirty="0">
                <a:latin typeface="Calibri" panose="020F0502020204030204" pitchFamily="34" charset="0"/>
                <a:ea typeface="Times New Roman" panose="02020603050405020304" pitchFamily="18" charset="0"/>
              </a:rPr>
              <a:t>i</a:t>
            </a:r>
            <a:r>
              <a:rPr lang="vi-VN" sz="2000" dirty="0">
                <a:latin typeface="Calibri" panose="020F0502020204030204" pitchFamily="34" charset="0"/>
                <a:ea typeface="Times New Roman" panose="02020603050405020304" pitchFamily="18" charset="0"/>
              </a:rPr>
              <a:t> in D.</a:t>
            </a:r>
            <a:endParaRPr lang="en-US" sz="2000" dirty="0"/>
          </a:p>
        </p:txBody>
      </p:sp>
    </p:spTree>
    <p:extLst>
      <p:ext uri="{BB962C8B-B14F-4D97-AF65-F5344CB8AC3E}">
        <p14:creationId xmlns:p14="http://schemas.microsoft.com/office/powerpoint/2010/main" val="33605467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6430" y="721805"/>
            <a:ext cx="8787130" cy="1446550"/>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rPr>
              <a:t>4. Given data sets with many attributes, it would be extremely computationally expensive to compute P(X|Ci). To reduce computation in evaluating P(X|Ci), the na</a:t>
            </a:r>
            <a:r>
              <a:rPr lang="en-US" sz="2200" dirty="0">
                <a:latin typeface="Calibri" panose="020F0502020204030204" pitchFamily="34" charset="0"/>
                <a:ea typeface="Times New Roman" panose="02020603050405020304" pitchFamily="18" charset="0"/>
              </a:rPr>
              <a:t>¨</a:t>
            </a:r>
            <a:r>
              <a:rPr lang="en-US" sz="2200" dirty="0" err="1">
                <a:latin typeface="Calibri" panose="020F0502020204030204" pitchFamily="34" charset="0"/>
                <a:ea typeface="Times New Roman" panose="02020603050405020304" pitchFamily="18" charset="0"/>
              </a:rPr>
              <a:t>ıve</a:t>
            </a:r>
            <a:r>
              <a:rPr lang="en-US" sz="2200" dirty="0">
                <a:latin typeface="Calibri" panose="020F0502020204030204" pitchFamily="34" charset="0"/>
                <a:ea typeface="Times New Roman" panose="02020603050405020304" pitchFamily="18" charset="0"/>
              </a:rPr>
              <a:t> assumption of class-conditional independence is made.</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021238" y="2408780"/>
            <a:ext cx="8037514" cy="1501596"/>
          </a:xfrm>
          <a:prstGeom prst="rect">
            <a:avLst/>
          </a:prstGeom>
          <a:noFill/>
          <a:ln>
            <a:noFill/>
          </a:ln>
        </p:spPr>
      </p:pic>
      <p:sp>
        <p:nvSpPr>
          <p:cNvPr id="6" name="Rectangle 5"/>
          <p:cNvSpPr/>
          <p:nvPr/>
        </p:nvSpPr>
        <p:spPr>
          <a:xfrm>
            <a:off x="646430" y="4391226"/>
            <a:ext cx="8787130" cy="1669688"/>
          </a:xfrm>
          <a:prstGeom prst="rect">
            <a:avLst/>
          </a:prstGeom>
        </p:spPr>
        <p:txBody>
          <a:bodyPr wrap="square">
            <a:spAutoFit/>
          </a:bodyPr>
          <a:lstStyle/>
          <a:p>
            <a:pPr>
              <a:lnSpc>
                <a:spcPct val="107000"/>
              </a:lnSpc>
              <a:spcAft>
                <a:spcPts val="1000"/>
              </a:spcAft>
            </a:pPr>
            <a:r>
              <a:rPr lang="en-US" sz="2200" dirty="0" smtClean="0">
                <a:latin typeface="Calibri" panose="020F0502020204030204" pitchFamily="34" charset="0"/>
                <a:ea typeface="Times New Roman" panose="02020603050405020304" pitchFamily="18" charset="0"/>
                <a:cs typeface="Calibri" panose="020F0502020204030204" pitchFamily="34" charset="0"/>
              </a:rPr>
              <a:t>To </a:t>
            </a:r>
            <a:r>
              <a:rPr lang="en-US" sz="2200" dirty="0">
                <a:latin typeface="Calibri" panose="020F0502020204030204" pitchFamily="34" charset="0"/>
                <a:ea typeface="Times New Roman" panose="02020603050405020304" pitchFamily="18" charset="0"/>
                <a:cs typeface="Calibri" panose="020F0502020204030204" pitchFamily="34" charset="0"/>
              </a:rPr>
              <a:t>compute P(X|C</a:t>
            </a:r>
            <a:r>
              <a:rPr lang="vi-VN" sz="2200" baseline="-25000" dirty="0">
                <a:latin typeface="Calibri" panose="020F0502020204030204" pitchFamily="34" charset="0"/>
                <a:ea typeface="Times New Roman" panose="02020603050405020304" pitchFamily="18" charset="0"/>
                <a:cs typeface="Calibri" panose="020F0502020204030204" pitchFamily="34" charset="0"/>
              </a:rPr>
              <a:t>i</a:t>
            </a:r>
            <a:r>
              <a:rPr lang="en-US" sz="2200" dirty="0">
                <a:latin typeface="Calibri" panose="020F0502020204030204" pitchFamily="34" charset="0"/>
                <a:ea typeface="Times New Roman" panose="02020603050405020304" pitchFamily="18" charset="0"/>
                <a:cs typeface="Calibri" panose="020F0502020204030204" pitchFamily="34" charset="0"/>
              </a:rPr>
              <a:t>), we consider the following: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en-US" sz="2200" dirty="0">
                <a:latin typeface="Calibri" panose="020F0502020204030204" pitchFamily="34" charset="0"/>
                <a:ea typeface="Times New Roman" panose="02020603050405020304" pitchFamily="18" charset="0"/>
                <a:cs typeface="Calibri" panose="020F0502020204030204" pitchFamily="34" charset="0"/>
              </a:rPr>
              <a:t>(a) If A</a:t>
            </a:r>
            <a:r>
              <a:rPr lang="vi-VN" sz="2200" baseline="-25000" dirty="0">
                <a:latin typeface="Calibri" panose="020F0502020204030204" pitchFamily="34" charset="0"/>
                <a:ea typeface="Times New Roman" panose="02020603050405020304" pitchFamily="18" charset="0"/>
                <a:cs typeface="Calibri" panose="020F0502020204030204" pitchFamily="34" charset="0"/>
              </a:rPr>
              <a:t>k</a:t>
            </a:r>
            <a:r>
              <a:rPr lang="en-US" sz="2200" dirty="0">
                <a:latin typeface="Calibri" panose="020F0502020204030204" pitchFamily="34" charset="0"/>
                <a:ea typeface="Times New Roman" panose="02020603050405020304" pitchFamily="18" charset="0"/>
                <a:cs typeface="Calibri" panose="020F0502020204030204" pitchFamily="34" charset="0"/>
              </a:rPr>
              <a:t> is categorical, then P(x</a:t>
            </a:r>
            <a:r>
              <a:rPr lang="vi-VN" sz="2200" baseline="-25000" dirty="0">
                <a:latin typeface="Calibri" panose="020F0502020204030204" pitchFamily="34" charset="0"/>
                <a:ea typeface="Times New Roman" panose="02020603050405020304" pitchFamily="18" charset="0"/>
                <a:cs typeface="Calibri" panose="020F0502020204030204" pitchFamily="34" charset="0"/>
              </a:rPr>
              <a:t>k</a:t>
            </a:r>
            <a:r>
              <a:rPr lang="en-US" sz="2200" dirty="0">
                <a:latin typeface="Calibri" panose="020F0502020204030204" pitchFamily="34" charset="0"/>
                <a:ea typeface="Times New Roman" panose="02020603050405020304" pitchFamily="18" charset="0"/>
                <a:cs typeface="Calibri" panose="020F0502020204030204" pitchFamily="34" charset="0"/>
              </a:rPr>
              <a:t>|C</a:t>
            </a:r>
            <a:r>
              <a:rPr lang="vi-VN" sz="2200" baseline="-25000" dirty="0">
                <a:latin typeface="Calibri" panose="020F0502020204030204" pitchFamily="34" charset="0"/>
                <a:ea typeface="Times New Roman" panose="02020603050405020304" pitchFamily="18" charset="0"/>
                <a:cs typeface="Calibri" panose="020F0502020204030204" pitchFamily="34" charset="0"/>
              </a:rPr>
              <a:t>i</a:t>
            </a:r>
            <a:r>
              <a:rPr lang="en-US" sz="2200" dirty="0">
                <a:latin typeface="Calibri" panose="020F0502020204030204" pitchFamily="34" charset="0"/>
                <a:ea typeface="Times New Roman" panose="02020603050405020304" pitchFamily="18" charset="0"/>
                <a:cs typeface="Calibri" panose="020F0502020204030204" pitchFamily="34" charset="0"/>
              </a:rPr>
              <a:t>) is the number of tuples of class C</a:t>
            </a:r>
            <a:r>
              <a:rPr lang="vi-VN" sz="2200" baseline="-25000" dirty="0">
                <a:latin typeface="Calibri" panose="020F0502020204030204" pitchFamily="34" charset="0"/>
                <a:ea typeface="Times New Roman" panose="02020603050405020304" pitchFamily="18" charset="0"/>
                <a:cs typeface="Calibri" panose="020F0502020204030204" pitchFamily="34" charset="0"/>
              </a:rPr>
              <a:t>i</a:t>
            </a:r>
            <a:r>
              <a:rPr lang="en-US" sz="2200" dirty="0">
                <a:latin typeface="Calibri" panose="020F0502020204030204" pitchFamily="34" charset="0"/>
                <a:ea typeface="Times New Roman" panose="02020603050405020304" pitchFamily="18" charset="0"/>
                <a:cs typeface="Calibri" panose="020F0502020204030204" pitchFamily="34" charset="0"/>
              </a:rPr>
              <a:t> in D having the value x</a:t>
            </a:r>
            <a:r>
              <a:rPr lang="vi-VN" sz="2200" baseline="-25000" dirty="0">
                <a:latin typeface="Calibri" panose="020F0502020204030204" pitchFamily="34" charset="0"/>
                <a:ea typeface="Times New Roman" panose="02020603050405020304" pitchFamily="18" charset="0"/>
                <a:cs typeface="Calibri" panose="020F0502020204030204" pitchFamily="34" charset="0"/>
              </a:rPr>
              <a:t>k</a:t>
            </a:r>
            <a:r>
              <a:rPr lang="en-US" sz="2200" dirty="0">
                <a:latin typeface="Calibri" panose="020F0502020204030204" pitchFamily="34" charset="0"/>
                <a:ea typeface="Times New Roman" panose="02020603050405020304" pitchFamily="18" charset="0"/>
                <a:cs typeface="Calibri" panose="020F0502020204030204" pitchFamily="34" charset="0"/>
              </a:rPr>
              <a:t> for A</a:t>
            </a:r>
            <a:r>
              <a:rPr lang="vi-VN" sz="2200" baseline="-25000" dirty="0">
                <a:latin typeface="Calibri" panose="020F0502020204030204" pitchFamily="34" charset="0"/>
                <a:ea typeface="Times New Roman" panose="02020603050405020304" pitchFamily="18" charset="0"/>
                <a:cs typeface="Calibri" panose="020F0502020204030204" pitchFamily="34" charset="0"/>
              </a:rPr>
              <a:t>k</a:t>
            </a:r>
            <a:r>
              <a:rPr lang="en-US" sz="2200" dirty="0">
                <a:latin typeface="Calibri" panose="020F0502020204030204" pitchFamily="34" charset="0"/>
                <a:ea typeface="Times New Roman" panose="02020603050405020304" pitchFamily="18" charset="0"/>
                <a:cs typeface="Calibri" panose="020F0502020204030204" pitchFamily="34" charset="0"/>
              </a:rPr>
              <a:t>, divided </a:t>
            </a:r>
            <a:r>
              <a:rPr lang="en-US" sz="2200" dirty="0" err="1">
                <a:latin typeface="Calibri" panose="020F0502020204030204" pitchFamily="34" charset="0"/>
                <a:ea typeface="Times New Roman" panose="02020603050405020304" pitchFamily="18" charset="0"/>
                <a:cs typeface="Calibri" panose="020F0502020204030204" pitchFamily="34" charset="0"/>
              </a:rPr>
              <a:t>by|C</a:t>
            </a:r>
            <a:r>
              <a:rPr lang="vi-VN" sz="2200" baseline="-25000" dirty="0">
                <a:latin typeface="Calibri" panose="020F0502020204030204" pitchFamily="34" charset="0"/>
                <a:ea typeface="Times New Roman" panose="02020603050405020304" pitchFamily="18" charset="0"/>
                <a:cs typeface="Calibri" panose="020F0502020204030204" pitchFamily="34" charset="0"/>
              </a:rPr>
              <a:t>i,D</a:t>
            </a:r>
            <a:r>
              <a:rPr lang="en-US" sz="2200" dirty="0">
                <a:latin typeface="Calibri" panose="020F0502020204030204" pitchFamily="34" charset="0"/>
                <a:ea typeface="Times New Roman" panose="02020603050405020304" pitchFamily="18" charset="0"/>
                <a:cs typeface="Calibri" panose="020F0502020204030204" pitchFamily="34" charset="0"/>
              </a:rPr>
              <a:t>|, the number of tuples of class C</a:t>
            </a:r>
            <a:r>
              <a:rPr lang="vi-VN" sz="2200" baseline="-25000" dirty="0">
                <a:latin typeface="Calibri" panose="020F0502020204030204" pitchFamily="34" charset="0"/>
                <a:ea typeface="Times New Roman" panose="02020603050405020304" pitchFamily="18" charset="0"/>
                <a:cs typeface="Calibri" panose="020F0502020204030204" pitchFamily="34" charset="0"/>
              </a:rPr>
              <a:t>i</a:t>
            </a:r>
            <a:r>
              <a:rPr lang="en-US" sz="2200" dirty="0">
                <a:latin typeface="Calibri" panose="020F0502020204030204" pitchFamily="34" charset="0"/>
                <a:ea typeface="Times New Roman" panose="02020603050405020304" pitchFamily="18" charset="0"/>
                <a:cs typeface="Calibri" panose="020F0502020204030204" pitchFamily="34" charset="0"/>
              </a:rPr>
              <a:t> in D.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229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07390" y="258684"/>
            <a:ext cx="8665210" cy="769441"/>
          </a:xfrm>
          <a:prstGeom prst="rect">
            <a:avLst/>
          </a:prstGeom>
        </p:spPr>
        <p:txBody>
          <a:bodyPr wrap="square">
            <a:spAutoFit/>
          </a:bodyPr>
          <a:lstStyle/>
          <a:p>
            <a:r>
              <a:rPr lang="en-US" sz="2200" dirty="0" smtClean="0">
                <a:latin typeface="Calibri" panose="020F0502020204030204" pitchFamily="34" charset="0"/>
                <a:ea typeface="Times New Roman" panose="02020603050405020304" pitchFamily="18" charset="0"/>
              </a:rPr>
              <a:t>(</a:t>
            </a:r>
            <a:r>
              <a:rPr lang="en-US" sz="2200" dirty="0">
                <a:latin typeface="Calibri" panose="020F0502020204030204" pitchFamily="34" charset="0"/>
                <a:ea typeface="Times New Roman" panose="02020603050405020304" pitchFamily="18" charset="0"/>
              </a:rPr>
              <a:t>b) If A</a:t>
            </a:r>
            <a:r>
              <a:rPr lang="vi-VN" sz="2200" baseline="-25000" dirty="0">
                <a:latin typeface="Calibri" panose="020F0502020204030204" pitchFamily="34" charset="0"/>
                <a:ea typeface="Times New Roman" panose="02020603050405020304" pitchFamily="18" charset="0"/>
              </a:rPr>
              <a:t>k</a:t>
            </a:r>
            <a:r>
              <a:rPr lang="en-US" sz="2200" dirty="0">
                <a:latin typeface="Calibri" panose="020F0502020204030204" pitchFamily="34" charset="0"/>
                <a:ea typeface="Times New Roman" panose="02020603050405020304" pitchFamily="18" charset="0"/>
              </a:rPr>
              <a:t> is continuous-valued, then </a:t>
            </a:r>
            <a:r>
              <a:rPr lang="vi-VN" sz="2200" dirty="0">
                <a:latin typeface="Calibri" panose="020F0502020204030204" pitchFamily="34" charset="0"/>
                <a:ea typeface="Times New Roman" panose="02020603050405020304" pitchFamily="18" charset="0"/>
              </a:rPr>
              <a:t>it </a:t>
            </a:r>
            <a:r>
              <a:rPr lang="en-US" sz="2200" dirty="0">
                <a:latin typeface="Calibri" panose="020F0502020204030204" pitchFamily="34" charset="0"/>
                <a:ea typeface="Times New Roman" panose="02020603050405020304" pitchFamily="18" charset="0"/>
              </a:rPr>
              <a:t>is typically assumed to have a Gaussian distribution with a mean </a:t>
            </a:r>
            <a:r>
              <a:rPr lang="el-GR" sz="2200" dirty="0">
                <a:latin typeface="Calibri" panose="020F0502020204030204" pitchFamily="34" charset="0"/>
                <a:ea typeface="Times New Roman" panose="02020603050405020304" pitchFamily="18" charset="0"/>
              </a:rPr>
              <a:t>μ and standard deviation σ, deﬁned by</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08366" y="1358582"/>
            <a:ext cx="8220394" cy="2009458"/>
          </a:xfrm>
          <a:prstGeom prst="rect">
            <a:avLst/>
          </a:prstGeom>
          <a:noFill/>
          <a:ln>
            <a:noFill/>
          </a:ln>
        </p:spPr>
      </p:pic>
      <p:sp>
        <p:nvSpPr>
          <p:cNvPr id="6" name="Rectangle 5"/>
          <p:cNvSpPr/>
          <p:nvPr/>
        </p:nvSpPr>
        <p:spPr>
          <a:xfrm>
            <a:off x="908366" y="4167595"/>
            <a:ext cx="8220394" cy="1446550"/>
          </a:xfrm>
          <a:prstGeom prst="rect">
            <a:avLst/>
          </a:prstGeom>
        </p:spPr>
        <p:txBody>
          <a:bodyPr wrap="square">
            <a:spAutoFit/>
          </a:bodyPr>
          <a:lstStyle/>
          <a:p>
            <a:r>
              <a:rPr lang="el-GR" sz="2200" dirty="0">
                <a:latin typeface="Calibri" panose="020F0502020204030204" pitchFamily="34" charset="0"/>
                <a:ea typeface="Times New Roman" panose="02020603050405020304" pitchFamily="18" charset="0"/>
              </a:rPr>
              <a:t>We need to compute μ</a:t>
            </a:r>
            <a:r>
              <a:rPr lang="vi-VN" sz="2200" baseline="-25000" dirty="0">
                <a:latin typeface="Calibri" panose="020F0502020204030204" pitchFamily="34" charset="0"/>
                <a:ea typeface="Times New Roman" panose="02020603050405020304" pitchFamily="18" charset="0"/>
              </a:rPr>
              <a:t>Ci</a:t>
            </a:r>
            <a:r>
              <a:rPr lang="el-GR" sz="2200" dirty="0">
                <a:latin typeface="Calibri" panose="020F0502020204030204" pitchFamily="34" charset="0"/>
                <a:ea typeface="Times New Roman" panose="02020603050405020304" pitchFamily="18" charset="0"/>
              </a:rPr>
              <a:t> and σ</a:t>
            </a:r>
            <a:r>
              <a:rPr lang="vi-VN" sz="2200" baseline="-25000" dirty="0">
                <a:latin typeface="Calibri" panose="020F0502020204030204" pitchFamily="34" charset="0"/>
                <a:ea typeface="Times New Roman" panose="02020603050405020304" pitchFamily="18" charset="0"/>
              </a:rPr>
              <a:t>Ci</a:t>
            </a:r>
            <a:r>
              <a:rPr lang="el-GR" sz="2200" dirty="0">
                <a:latin typeface="Calibri" panose="020F0502020204030204" pitchFamily="34" charset="0"/>
                <a:ea typeface="Times New Roman" panose="02020603050405020304" pitchFamily="18" charset="0"/>
              </a:rPr>
              <a:t>, which are the mean (i.e., average) and standard deviation, respectively, of the values of attribute A</a:t>
            </a:r>
            <a:r>
              <a:rPr lang="vi-VN" sz="2200" baseline="-25000" dirty="0">
                <a:latin typeface="Calibri" panose="020F0502020204030204" pitchFamily="34" charset="0"/>
                <a:ea typeface="Times New Roman" panose="02020603050405020304" pitchFamily="18" charset="0"/>
              </a:rPr>
              <a:t>k</a:t>
            </a:r>
            <a:r>
              <a:rPr lang="el-GR" sz="2200" dirty="0">
                <a:latin typeface="Calibri" panose="020F0502020204030204" pitchFamily="34" charset="0"/>
                <a:ea typeface="Times New Roman" panose="02020603050405020304" pitchFamily="18" charset="0"/>
              </a:rPr>
              <a:t> for training tuples of class C</a:t>
            </a:r>
            <a:r>
              <a:rPr lang="vi-VN" sz="2200" baseline="-25000" dirty="0">
                <a:latin typeface="Calibri" panose="020F0502020204030204" pitchFamily="34" charset="0"/>
                <a:ea typeface="Times New Roman" panose="02020603050405020304" pitchFamily="18" charset="0"/>
              </a:rPr>
              <a:t>i</a:t>
            </a:r>
            <a:r>
              <a:rPr lang="el-GR" sz="2200" dirty="0">
                <a:latin typeface="Calibri" panose="020F0502020204030204" pitchFamily="34" charset="0"/>
                <a:ea typeface="Times New Roman" panose="02020603050405020304" pitchFamily="18" charset="0"/>
              </a:rPr>
              <a:t>.We then plug these two quantities into Eq. (8.13), together with x</a:t>
            </a:r>
            <a:r>
              <a:rPr lang="vi-VN" sz="2200" baseline="-25000" dirty="0">
                <a:latin typeface="Calibri" panose="020F0502020204030204" pitchFamily="34" charset="0"/>
                <a:ea typeface="Times New Roman" panose="02020603050405020304" pitchFamily="18" charset="0"/>
              </a:rPr>
              <a:t>k</a:t>
            </a:r>
            <a:r>
              <a:rPr lang="el-GR" sz="2200" dirty="0">
                <a:latin typeface="Calibri" panose="020F0502020204030204" pitchFamily="34" charset="0"/>
                <a:ea typeface="Times New Roman" panose="02020603050405020304" pitchFamily="18" charset="0"/>
              </a:rPr>
              <a:t>, to estimate P(x</a:t>
            </a:r>
            <a:r>
              <a:rPr lang="vi-VN" sz="2200" baseline="-25000" dirty="0">
                <a:latin typeface="Calibri" panose="020F0502020204030204" pitchFamily="34" charset="0"/>
                <a:ea typeface="Times New Roman" panose="02020603050405020304" pitchFamily="18" charset="0"/>
              </a:rPr>
              <a:t>k</a:t>
            </a:r>
            <a:r>
              <a:rPr lang="el-GR" sz="2200" dirty="0">
                <a:latin typeface="Calibri" panose="020F0502020204030204" pitchFamily="34" charset="0"/>
                <a:ea typeface="Times New Roman" panose="02020603050405020304" pitchFamily="18" charset="0"/>
              </a:rPr>
              <a:t>|C</a:t>
            </a:r>
            <a:r>
              <a:rPr lang="vi-VN" sz="2200" baseline="-25000" dirty="0">
                <a:latin typeface="Calibri" panose="020F0502020204030204" pitchFamily="34" charset="0"/>
                <a:ea typeface="Times New Roman" panose="02020603050405020304" pitchFamily="18" charset="0"/>
              </a:rPr>
              <a:t>i</a:t>
            </a:r>
            <a:r>
              <a:rPr lang="el-GR" sz="2200" dirty="0">
                <a:latin typeface="Calibri" panose="020F0502020204030204" pitchFamily="34" charset="0"/>
                <a:ea typeface="Times New Roman" panose="02020603050405020304" pitchFamily="18" charset="0"/>
              </a:rPr>
              <a:t>).</a:t>
            </a:r>
            <a:endParaRPr lang="en-US" sz="2200" dirty="0"/>
          </a:p>
        </p:txBody>
      </p:sp>
    </p:spTree>
    <p:extLst>
      <p:ext uri="{BB962C8B-B14F-4D97-AF65-F5344CB8AC3E}">
        <p14:creationId xmlns:p14="http://schemas.microsoft.com/office/powerpoint/2010/main" val="5161020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98830" y="558394"/>
            <a:ext cx="8543290" cy="1107996"/>
          </a:xfrm>
          <a:prstGeom prst="rect">
            <a:avLst/>
          </a:prstGeom>
        </p:spPr>
        <p:txBody>
          <a:bodyPr wrap="square">
            <a:spAutoFit/>
          </a:bodyPr>
          <a:lstStyle/>
          <a:p>
            <a:r>
              <a:rPr lang="el-GR" sz="2200" dirty="0">
                <a:latin typeface="Calibri" panose="020F0502020204030204" pitchFamily="34" charset="0"/>
                <a:ea typeface="Times New Roman" panose="02020603050405020304" pitchFamily="18" charset="0"/>
              </a:rPr>
              <a:t>5. To predict the class label of X, P(X|C</a:t>
            </a:r>
            <a:r>
              <a:rPr lang="vi-VN" sz="2200" baseline="-25000" dirty="0">
                <a:latin typeface="Calibri" panose="020F0502020204030204" pitchFamily="34" charset="0"/>
                <a:ea typeface="Times New Roman" panose="02020603050405020304" pitchFamily="18" charset="0"/>
              </a:rPr>
              <a:t>i</a:t>
            </a:r>
            <a:r>
              <a:rPr lang="el-GR" sz="2200" dirty="0">
                <a:latin typeface="Calibri" panose="020F0502020204030204" pitchFamily="34" charset="0"/>
                <a:ea typeface="Times New Roman" panose="02020603050405020304" pitchFamily="18" charset="0"/>
              </a:rPr>
              <a:t>)P(C</a:t>
            </a:r>
            <a:r>
              <a:rPr lang="vi-VN" sz="2200" baseline="-25000" dirty="0">
                <a:latin typeface="Calibri" panose="020F0502020204030204" pitchFamily="34" charset="0"/>
                <a:ea typeface="Times New Roman" panose="02020603050405020304" pitchFamily="18" charset="0"/>
              </a:rPr>
              <a:t>i</a:t>
            </a:r>
            <a:r>
              <a:rPr lang="el-GR" sz="2200" dirty="0">
                <a:latin typeface="Calibri" panose="020F0502020204030204" pitchFamily="34" charset="0"/>
                <a:ea typeface="Times New Roman" panose="02020603050405020304" pitchFamily="18" charset="0"/>
              </a:rPr>
              <a:t>) is evaluated for each class C</a:t>
            </a:r>
            <a:r>
              <a:rPr lang="vi-VN" sz="2200" baseline="-25000" dirty="0">
                <a:latin typeface="Calibri" panose="020F0502020204030204" pitchFamily="34" charset="0"/>
                <a:ea typeface="Times New Roman" panose="02020603050405020304" pitchFamily="18" charset="0"/>
              </a:rPr>
              <a:t>i</a:t>
            </a:r>
            <a:r>
              <a:rPr lang="el-GR" sz="2200" dirty="0">
                <a:latin typeface="Calibri" panose="020F0502020204030204" pitchFamily="34" charset="0"/>
                <a:ea typeface="Times New Roman" panose="02020603050405020304" pitchFamily="18" charset="0"/>
              </a:rPr>
              <a:t>. The classiﬁer predicts that the class label of tuple X is the class C</a:t>
            </a:r>
            <a:r>
              <a:rPr lang="vi-VN" sz="2200" baseline="-25000" dirty="0">
                <a:latin typeface="Calibri" panose="020F0502020204030204" pitchFamily="34" charset="0"/>
                <a:ea typeface="Times New Roman" panose="02020603050405020304" pitchFamily="18" charset="0"/>
              </a:rPr>
              <a:t>i</a:t>
            </a:r>
            <a:r>
              <a:rPr lang="el-GR" sz="2200" dirty="0">
                <a:latin typeface="Calibri" panose="020F0502020204030204" pitchFamily="34" charset="0"/>
                <a:ea typeface="Times New Roman" panose="02020603050405020304" pitchFamily="18" charset="0"/>
              </a:rPr>
              <a:t> if and only if</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98378" y="2489350"/>
            <a:ext cx="8144193" cy="848210"/>
          </a:xfrm>
          <a:prstGeom prst="rect">
            <a:avLst/>
          </a:prstGeom>
          <a:noFill/>
          <a:ln>
            <a:noFill/>
          </a:ln>
        </p:spPr>
      </p:pic>
      <p:sp>
        <p:nvSpPr>
          <p:cNvPr id="6" name="Rectangle 5"/>
          <p:cNvSpPr/>
          <p:nvPr/>
        </p:nvSpPr>
        <p:spPr>
          <a:xfrm>
            <a:off x="798830" y="4472395"/>
            <a:ext cx="8543290" cy="1785104"/>
          </a:xfrm>
          <a:prstGeom prst="rect">
            <a:avLst/>
          </a:prstGeom>
        </p:spPr>
        <p:txBody>
          <a:bodyPr wrap="square">
            <a:spAutoFit/>
          </a:bodyPr>
          <a:lstStyle/>
          <a:p>
            <a:r>
              <a:rPr lang="vi-VN" sz="2200" dirty="0" smtClean="0">
                <a:latin typeface="Calibri" panose="020F0502020204030204" pitchFamily="34" charset="0"/>
                <a:ea typeface="Times New Roman" panose="02020603050405020304" pitchFamily="18" charset="0"/>
                <a:sym typeface="Wingdings" panose="05000000000000000000" pitchFamily="2" charset="2"/>
              </a:rPr>
              <a:t></a:t>
            </a:r>
            <a:r>
              <a:rPr lang="en-US" sz="2200" dirty="0" smtClean="0">
                <a:latin typeface="Calibri" panose="020F0502020204030204" pitchFamily="34" charset="0"/>
                <a:ea typeface="Times New Roman" panose="02020603050405020304" pitchFamily="18" charset="0"/>
                <a:sym typeface="Wingdings" panose="05000000000000000000" pitchFamily="2" charset="2"/>
              </a:rPr>
              <a:t> </a:t>
            </a:r>
            <a:r>
              <a:rPr lang="vi-VN" sz="2200" dirty="0" smtClean="0">
                <a:latin typeface="Calibri" panose="020F0502020204030204" pitchFamily="34" charset="0"/>
                <a:ea typeface="Times New Roman" panose="02020603050405020304" pitchFamily="18" charset="0"/>
              </a:rPr>
              <a:t>I</a:t>
            </a:r>
            <a:r>
              <a:rPr lang="el-GR" sz="2200" dirty="0">
                <a:latin typeface="Calibri" panose="020F0502020204030204" pitchFamily="34" charset="0"/>
                <a:ea typeface="Times New Roman" panose="02020603050405020304" pitchFamily="18" charset="0"/>
              </a:rPr>
              <a:t>n theory, Bayesian classiﬁers have the minimum error rate in comparison to all other classiﬁers. However, in practice this is not always the case, owing to inaccuracies in the assumptions made for its use, such as class-conditional independence, and the lack of available probability data.</a:t>
            </a:r>
            <a:endParaRPr lang="en-US" sz="2200" dirty="0"/>
          </a:p>
        </p:txBody>
      </p:sp>
    </p:spTree>
    <p:extLst>
      <p:ext uri="{BB962C8B-B14F-4D97-AF65-F5344CB8AC3E}">
        <p14:creationId xmlns:p14="http://schemas.microsoft.com/office/powerpoint/2010/main" val="2435191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53110" y="1204057"/>
            <a:ext cx="8924290" cy="4111125"/>
          </a:xfrm>
          <a:prstGeom prst="rect">
            <a:avLst/>
          </a:prstGeom>
        </p:spPr>
        <p:txBody>
          <a:bodyPr wrap="square">
            <a:spAutoFit/>
          </a:bodyPr>
          <a:lstStyle/>
          <a:p>
            <a:pPr>
              <a:lnSpc>
                <a:spcPct val="107000"/>
              </a:lnSpc>
              <a:spcAft>
                <a:spcPts val="1000"/>
              </a:spcAft>
            </a:pPr>
            <a:r>
              <a:rPr lang="vi-VN" sz="3200" dirty="0" smtClean="0">
                <a:latin typeface="Calibri" panose="020F0502020204030204" pitchFamily="34" charset="0"/>
                <a:ea typeface="Times New Roman" panose="02020603050405020304" pitchFamily="18" charset="0"/>
                <a:cs typeface="Calibri" panose="020F0502020204030204" pitchFamily="34" charset="0"/>
              </a:rPr>
              <a:t>Example</a:t>
            </a:r>
            <a:endParaRPr lang="en-US" sz="32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a:p>
            <a:r>
              <a:rPr lang="vi-VN" sz="2200" b="1" dirty="0">
                <a:latin typeface="Calibri" panose="020F0502020204030204" pitchFamily="34" charset="0"/>
                <a:ea typeface="Times New Roman" panose="02020603050405020304" pitchFamily="18" charset="0"/>
              </a:rPr>
              <a:t>Predicting a class label using na</a:t>
            </a:r>
            <a:r>
              <a:rPr lang="en-US" sz="2200" b="1" dirty="0">
                <a:latin typeface="Calibri" panose="020F0502020204030204" pitchFamily="34" charset="0"/>
                <a:ea typeface="Times New Roman" panose="02020603050405020304" pitchFamily="18" charset="0"/>
              </a:rPr>
              <a:t>¨</a:t>
            </a:r>
            <a:r>
              <a:rPr lang="en-US" sz="2200" b="1" dirty="0" err="1">
                <a:latin typeface="Calibri" panose="020F0502020204030204" pitchFamily="34" charset="0"/>
                <a:ea typeface="Times New Roman" panose="02020603050405020304" pitchFamily="18" charset="0"/>
              </a:rPr>
              <a:t>ıve</a:t>
            </a:r>
            <a:r>
              <a:rPr lang="en-US" sz="2200" b="1" dirty="0">
                <a:latin typeface="Calibri" panose="020F0502020204030204" pitchFamily="34" charset="0"/>
                <a:ea typeface="Times New Roman" panose="02020603050405020304" pitchFamily="18" charset="0"/>
              </a:rPr>
              <a:t> Bayesian classiﬁcation</a:t>
            </a:r>
            <a:r>
              <a:rPr lang="en-US" sz="2200" dirty="0">
                <a:latin typeface="Calibri" panose="020F0502020204030204" pitchFamily="34" charset="0"/>
                <a:ea typeface="Times New Roman" panose="02020603050405020304" pitchFamily="18" charset="0"/>
              </a:rPr>
              <a:t>. We wish to predict the class label of a tuple using </a:t>
            </a:r>
            <a:r>
              <a:rPr lang="en-US" sz="2200" dirty="0" err="1">
                <a:latin typeface="Calibri" panose="020F0502020204030204" pitchFamily="34" charset="0"/>
                <a:ea typeface="Times New Roman" panose="02020603050405020304" pitchFamily="18" charset="0"/>
              </a:rPr>
              <a:t>na¨ıve</a:t>
            </a:r>
            <a:r>
              <a:rPr lang="en-US" sz="2200" dirty="0">
                <a:latin typeface="Calibri" panose="020F0502020204030204" pitchFamily="34" charset="0"/>
                <a:ea typeface="Times New Roman" panose="02020603050405020304" pitchFamily="18" charset="0"/>
              </a:rPr>
              <a:t> Bayesian classiﬁcation, given the same training data as in Example 8.3 for decision tree induction. The training data were shown earlier in Table 8.1. The data tuples are described by the attributes age, income, student, and credit rating. The class label attribute, </a:t>
            </a:r>
            <a:r>
              <a:rPr lang="en-US" sz="2200" dirty="0" err="1" smtClean="0">
                <a:latin typeface="Calibri" panose="020F0502020204030204" pitchFamily="34" charset="0"/>
                <a:ea typeface="Times New Roman" panose="02020603050405020304" pitchFamily="18" charset="0"/>
              </a:rPr>
              <a:t>buys_computer</a:t>
            </a:r>
            <a:r>
              <a:rPr lang="en-US" sz="2200" dirty="0">
                <a:latin typeface="Calibri" panose="020F0502020204030204" pitchFamily="34" charset="0"/>
                <a:ea typeface="Times New Roman" panose="02020603050405020304" pitchFamily="18" charset="0"/>
              </a:rPr>
              <a:t>, has two distinct values (namely, {yes, no}). Let C1 correspond to the class </a:t>
            </a:r>
            <a:r>
              <a:rPr lang="en-US" sz="2200" dirty="0" err="1" smtClean="0">
                <a:latin typeface="Calibri" panose="020F0502020204030204" pitchFamily="34" charset="0"/>
                <a:ea typeface="Times New Roman" panose="02020603050405020304" pitchFamily="18" charset="0"/>
              </a:rPr>
              <a:t>buys_computer</a:t>
            </a:r>
            <a:r>
              <a:rPr lang="en-US" sz="2200" dirty="0" smtClean="0">
                <a:latin typeface="Calibri" panose="020F0502020204030204" pitchFamily="34" charset="0"/>
                <a:ea typeface="Times New Roman" panose="02020603050405020304" pitchFamily="18" charset="0"/>
              </a:rPr>
              <a:t> </a:t>
            </a:r>
            <a:r>
              <a:rPr lang="en-US" sz="2200" dirty="0">
                <a:latin typeface="Calibri" panose="020F0502020204030204" pitchFamily="34" charset="0"/>
                <a:ea typeface="Times New Roman" panose="02020603050405020304" pitchFamily="18" charset="0"/>
              </a:rPr>
              <a:t>= yes and C2 correspond to </a:t>
            </a:r>
            <a:r>
              <a:rPr lang="en-US" sz="2200" dirty="0" err="1" smtClean="0">
                <a:latin typeface="Calibri" panose="020F0502020204030204" pitchFamily="34" charset="0"/>
                <a:ea typeface="Times New Roman" panose="02020603050405020304" pitchFamily="18" charset="0"/>
              </a:rPr>
              <a:t>buys_computer</a:t>
            </a:r>
            <a:r>
              <a:rPr lang="en-US" sz="2200" dirty="0" smtClean="0">
                <a:latin typeface="Calibri" panose="020F0502020204030204" pitchFamily="34" charset="0"/>
                <a:ea typeface="Times New Roman" panose="02020603050405020304" pitchFamily="18" charset="0"/>
              </a:rPr>
              <a:t>=no</a:t>
            </a:r>
            <a:r>
              <a:rPr lang="en-US" sz="2200" dirty="0">
                <a:latin typeface="Calibri" panose="020F0502020204030204" pitchFamily="34" charset="0"/>
                <a:ea typeface="Times New Roman" panose="02020603050405020304" pitchFamily="18" charset="0"/>
              </a:rPr>
              <a:t>. </a:t>
            </a:r>
            <a:endParaRPr lang="en-US" sz="2200" dirty="0"/>
          </a:p>
        </p:txBody>
      </p:sp>
    </p:spTree>
    <p:extLst>
      <p:ext uri="{BB962C8B-B14F-4D97-AF65-F5344CB8AC3E}">
        <p14:creationId xmlns:p14="http://schemas.microsoft.com/office/powerpoint/2010/main" val="802771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8976" y="349052"/>
            <a:ext cx="4029565" cy="430887"/>
          </a:xfrm>
          <a:prstGeom prst="rect">
            <a:avLst/>
          </a:prstGeom>
        </p:spPr>
        <p:txBody>
          <a:bodyPr wrap="none">
            <a:spAutoFit/>
          </a:bodyPr>
          <a:lstStyle/>
          <a:p>
            <a:r>
              <a:rPr lang="en-US" sz="2200" dirty="0" smtClean="0">
                <a:latin typeface="Calibri" panose="020F0502020204030204" pitchFamily="34" charset="0"/>
                <a:ea typeface="Times New Roman" panose="02020603050405020304" pitchFamily="18" charset="0"/>
                <a:sym typeface="Wingdings" panose="05000000000000000000" pitchFamily="2" charset="2"/>
              </a:rPr>
              <a:t> </a:t>
            </a:r>
            <a:r>
              <a:rPr lang="en-US" sz="2200" dirty="0" smtClean="0">
                <a:latin typeface="Calibri" panose="020F0502020204030204" pitchFamily="34" charset="0"/>
                <a:ea typeface="Times New Roman" panose="02020603050405020304" pitchFamily="18" charset="0"/>
              </a:rPr>
              <a:t>The </a:t>
            </a:r>
            <a:r>
              <a:rPr lang="en-US" sz="2200" dirty="0">
                <a:latin typeface="Calibri" panose="020F0502020204030204" pitchFamily="34" charset="0"/>
                <a:ea typeface="Times New Roman" panose="02020603050405020304" pitchFamily="18" charset="0"/>
              </a:rPr>
              <a:t>tuple we wish to classify is</a:t>
            </a:r>
            <a:endParaRPr lang="en-US" sz="2200"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495332" y="779939"/>
            <a:ext cx="8541987" cy="3898741"/>
          </a:xfrm>
          <a:prstGeom prst="rect">
            <a:avLst/>
          </a:prstGeom>
          <a:noFill/>
          <a:ln>
            <a:noFill/>
          </a:ln>
        </p:spPr>
      </p:pic>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495332" y="4678680"/>
            <a:ext cx="6697948" cy="1402080"/>
          </a:xfrm>
          <a:prstGeom prst="rect">
            <a:avLst/>
          </a:prstGeom>
          <a:noFill/>
          <a:ln>
            <a:noFill/>
          </a:ln>
        </p:spPr>
      </p:pic>
    </p:spTree>
    <p:extLst>
      <p:ext uri="{BB962C8B-B14F-4D97-AF65-F5344CB8AC3E}">
        <p14:creationId xmlns:p14="http://schemas.microsoft.com/office/powerpoint/2010/main" val="1320651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99953" y="166172"/>
            <a:ext cx="4278222" cy="430887"/>
          </a:xfrm>
          <a:prstGeom prst="rect">
            <a:avLst/>
          </a:prstGeom>
        </p:spPr>
        <p:txBody>
          <a:bodyPr wrap="none">
            <a:spAutoFit/>
          </a:bodyPr>
          <a:lstStyle/>
          <a:p>
            <a:r>
              <a:rPr lang="en-US" sz="2200" dirty="0">
                <a:latin typeface="Calibri" panose="020F0502020204030204" pitchFamily="34" charset="0"/>
                <a:ea typeface="Times New Roman" panose="02020603050405020304" pitchFamily="18" charset="0"/>
              </a:rPr>
              <a:t>Using these probabilities, we obtain</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99954" y="758507"/>
            <a:ext cx="7978286" cy="2121854"/>
          </a:xfrm>
          <a:prstGeom prst="rect">
            <a:avLst/>
          </a:prstGeom>
          <a:noFill/>
          <a:ln>
            <a:noFill/>
          </a:ln>
        </p:spPr>
      </p:pic>
      <p:sp>
        <p:nvSpPr>
          <p:cNvPr id="6" name="Rectangle 5"/>
          <p:cNvSpPr/>
          <p:nvPr/>
        </p:nvSpPr>
        <p:spPr>
          <a:xfrm>
            <a:off x="799952" y="3041809"/>
            <a:ext cx="1208088" cy="430887"/>
          </a:xfrm>
          <a:prstGeom prst="rect">
            <a:avLst/>
          </a:prstGeom>
        </p:spPr>
        <p:txBody>
          <a:bodyPr wrap="none">
            <a:spAutoFit/>
          </a:bodyPr>
          <a:lstStyle/>
          <a:p>
            <a:r>
              <a:rPr lang="en-US" sz="2200" dirty="0">
                <a:latin typeface="Calibri" panose="020F0502020204030204" pitchFamily="34" charset="0"/>
                <a:ea typeface="Times New Roman" panose="02020603050405020304" pitchFamily="18" charset="0"/>
              </a:rPr>
              <a:t>Similarly,</a:t>
            </a:r>
            <a:endParaRPr lang="en-US" sz="2200" dirty="0"/>
          </a:p>
        </p:txBody>
      </p:sp>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799952" y="3634144"/>
            <a:ext cx="7978287" cy="2111340"/>
          </a:xfrm>
          <a:prstGeom prst="rect">
            <a:avLst/>
          </a:prstGeom>
          <a:noFill/>
          <a:ln>
            <a:noFill/>
          </a:ln>
        </p:spPr>
      </p:pic>
      <p:sp>
        <p:nvSpPr>
          <p:cNvPr id="9" name="Rectangle 8"/>
          <p:cNvSpPr/>
          <p:nvPr/>
        </p:nvSpPr>
        <p:spPr>
          <a:xfrm>
            <a:off x="799952" y="5930662"/>
            <a:ext cx="7978287" cy="769441"/>
          </a:xfrm>
          <a:prstGeom prst="rect">
            <a:avLst/>
          </a:prstGeom>
        </p:spPr>
        <p:txBody>
          <a:bodyPr wrap="square">
            <a:spAutoFit/>
          </a:bodyPr>
          <a:lstStyle/>
          <a:p>
            <a:r>
              <a:rPr lang="en-US" sz="2200" dirty="0" smtClean="0">
                <a:latin typeface="Calibri" panose="020F0502020204030204" pitchFamily="34" charset="0"/>
                <a:ea typeface="Times New Roman" panose="02020603050405020304" pitchFamily="18" charset="0"/>
                <a:sym typeface="Wingdings" panose="05000000000000000000" pitchFamily="2" charset="2"/>
              </a:rPr>
              <a:t> </a:t>
            </a:r>
            <a:r>
              <a:rPr lang="en-US" sz="2200" dirty="0" smtClean="0">
                <a:latin typeface="Calibri" panose="020F0502020204030204" pitchFamily="34" charset="0"/>
                <a:ea typeface="Times New Roman" panose="02020603050405020304" pitchFamily="18" charset="0"/>
              </a:rPr>
              <a:t>Therefore</a:t>
            </a:r>
            <a:r>
              <a:rPr lang="en-US" sz="2200" dirty="0">
                <a:latin typeface="Calibri" panose="020F0502020204030204" pitchFamily="34" charset="0"/>
                <a:ea typeface="Times New Roman" panose="02020603050405020304" pitchFamily="18" charset="0"/>
              </a:rPr>
              <a:t>, the </a:t>
            </a:r>
            <a:r>
              <a:rPr lang="en-US" sz="2200" dirty="0" err="1">
                <a:latin typeface="Calibri" panose="020F0502020204030204" pitchFamily="34" charset="0"/>
                <a:ea typeface="Times New Roman" panose="02020603050405020304" pitchFamily="18" charset="0"/>
              </a:rPr>
              <a:t>na¨ıve</a:t>
            </a:r>
            <a:r>
              <a:rPr lang="en-US" sz="2200" dirty="0">
                <a:latin typeface="Calibri" panose="020F0502020204030204" pitchFamily="34" charset="0"/>
                <a:ea typeface="Times New Roman" panose="02020603050405020304" pitchFamily="18" charset="0"/>
              </a:rPr>
              <a:t> Bayesian classiﬁer predicts buys</a:t>
            </a:r>
            <a:r>
              <a:rPr lang="vi-VN" sz="2200" dirty="0">
                <a:latin typeface="Calibri" panose="020F0502020204030204" pitchFamily="34" charset="0"/>
                <a:ea typeface="Times New Roman" panose="02020603050405020304" pitchFamily="18" charset="0"/>
              </a:rPr>
              <a:t>_</a:t>
            </a:r>
            <a:r>
              <a:rPr lang="en-US" sz="2200" dirty="0">
                <a:latin typeface="Calibri" panose="020F0502020204030204" pitchFamily="34" charset="0"/>
                <a:ea typeface="Times New Roman" panose="02020603050405020304" pitchFamily="18" charset="0"/>
              </a:rPr>
              <a:t>computer=yes for tuple X.</a:t>
            </a:r>
            <a:endParaRPr lang="en-US" sz="2200" dirty="0"/>
          </a:p>
        </p:txBody>
      </p:sp>
    </p:spTree>
    <p:extLst>
      <p:ext uri="{BB962C8B-B14F-4D97-AF65-F5344CB8AC3E}">
        <p14:creationId xmlns:p14="http://schemas.microsoft.com/office/powerpoint/2010/main" val="3368740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75030" y="2679152"/>
            <a:ext cx="8406130" cy="1683731"/>
          </a:xfrm>
          <a:prstGeom prst="rect">
            <a:avLst/>
          </a:prstGeom>
        </p:spPr>
        <p:txBody>
          <a:bodyPr wrap="square">
            <a:spAutoFit/>
          </a:bodyPr>
          <a:lstStyle/>
          <a:p>
            <a:pPr algn="ctr">
              <a:lnSpc>
                <a:spcPct val="107000"/>
              </a:lnSpc>
              <a:spcAft>
                <a:spcPts val="1000"/>
              </a:spcAft>
            </a:pPr>
            <a:r>
              <a:rPr lang="el-GR" sz="4400" dirty="0">
                <a:latin typeface="Calibri" panose="020F0502020204030204" pitchFamily="34" charset="0"/>
                <a:ea typeface="Times New Roman" panose="02020603050405020304" pitchFamily="18" charset="0"/>
                <a:cs typeface="Calibri" panose="020F0502020204030204" pitchFamily="34" charset="0"/>
              </a:rPr>
              <a:t>8.4 Rule-Based Classiﬁcation </a:t>
            </a:r>
            <a:endParaRPr lang="en-US" sz="4400" dirty="0">
              <a:latin typeface="Calibri" panose="020F0502020204030204" pitchFamily="34" charset="0"/>
              <a:ea typeface="Times New Roman" panose="02020603050405020304" pitchFamily="18" charset="0"/>
              <a:cs typeface="Times New Roman" panose="02020603050405020304" pitchFamily="18" charset="0"/>
            </a:endParaRPr>
          </a:p>
          <a:p>
            <a:r>
              <a:rPr lang="el-GR" sz="2400" dirty="0">
                <a:latin typeface="Calibri" panose="020F0502020204030204" pitchFamily="34" charset="0"/>
                <a:ea typeface="Times New Roman" panose="02020603050405020304" pitchFamily="18" charset="0"/>
              </a:rPr>
              <a:t>In this section, we look at rule-based classiﬁers, where the learned model is represented as a set of IF-THEN rules.</a:t>
            </a:r>
            <a:endParaRPr lang="en-US" sz="2400" dirty="0"/>
          </a:p>
        </p:txBody>
      </p:sp>
    </p:spTree>
    <p:extLst>
      <p:ext uri="{BB962C8B-B14F-4D97-AF65-F5344CB8AC3E}">
        <p14:creationId xmlns:p14="http://schemas.microsoft.com/office/powerpoint/2010/main" val="34070077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5950" y="408392"/>
            <a:ext cx="8558530" cy="1424621"/>
          </a:xfrm>
          <a:prstGeom prst="rect">
            <a:avLst/>
          </a:prstGeom>
        </p:spPr>
        <p:txBody>
          <a:bodyPr wrap="square">
            <a:spAutoFit/>
          </a:bodyPr>
          <a:lstStyle/>
          <a:p>
            <a:pPr>
              <a:lnSpc>
                <a:spcPct val="107000"/>
              </a:lnSpc>
              <a:spcAft>
                <a:spcPts val="1000"/>
              </a:spcAft>
            </a:pPr>
            <a:r>
              <a:rPr lang="el-GR" sz="3200" dirty="0">
                <a:latin typeface="Calibri" panose="020F0502020204030204" pitchFamily="34" charset="0"/>
                <a:ea typeface="Times New Roman" panose="02020603050405020304" pitchFamily="18" charset="0"/>
                <a:cs typeface="Calibri" panose="020F0502020204030204" pitchFamily="34" charset="0"/>
              </a:rPr>
              <a:t>8.4.1 Using IF-THEN Rules for Classiﬁcation</a:t>
            </a:r>
            <a:r>
              <a:rPr lang="el-GR" sz="2200" dirty="0">
                <a:latin typeface="Calibri" panose="020F0502020204030204" pitchFamily="34" charset="0"/>
                <a:ea typeface="Times New Roman" panose="02020603050405020304" pitchFamily="18" charset="0"/>
                <a:cs typeface="Calibri" panose="020F0502020204030204" pitchFamily="34" charset="0"/>
              </a:rPr>
              <a:t>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r>
              <a:rPr lang="el-GR" sz="2200" dirty="0" smtClean="0">
                <a:latin typeface="Calibri" panose="020F0502020204030204" pitchFamily="34" charset="0"/>
                <a:ea typeface="Times New Roman" panose="02020603050405020304" pitchFamily="18" charset="0"/>
                <a:sym typeface="Wingdings" panose="05000000000000000000" pitchFamily="2" charset="2"/>
              </a:rPr>
              <a:t></a:t>
            </a:r>
            <a:r>
              <a:rPr lang="en-US" sz="2200" dirty="0" smtClean="0">
                <a:latin typeface="Calibri" panose="020F0502020204030204" pitchFamily="34" charset="0"/>
                <a:ea typeface="Times New Roman" panose="02020603050405020304" pitchFamily="18" charset="0"/>
                <a:sym typeface="Wingdings" panose="05000000000000000000" pitchFamily="2" charset="2"/>
              </a:rPr>
              <a:t> </a:t>
            </a:r>
            <a:r>
              <a:rPr lang="el-GR" sz="2200" dirty="0" smtClean="0">
                <a:latin typeface="Calibri" panose="020F0502020204030204" pitchFamily="34" charset="0"/>
                <a:ea typeface="Times New Roman" panose="02020603050405020304" pitchFamily="18" charset="0"/>
              </a:rPr>
              <a:t>A </a:t>
            </a:r>
            <a:r>
              <a:rPr lang="el-GR" sz="2200" b="1" dirty="0">
                <a:latin typeface="Calibri" panose="020F0502020204030204" pitchFamily="34" charset="0"/>
                <a:ea typeface="Times New Roman" panose="02020603050405020304" pitchFamily="18" charset="0"/>
              </a:rPr>
              <a:t>rule-based classiﬁer </a:t>
            </a:r>
            <a:r>
              <a:rPr lang="el-GR" sz="2200" dirty="0">
                <a:latin typeface="Calibri" panose="020F0502020204030204" pitchFamily="34" charset="0"/>
                <a:ea typeface="Times New Roman" panose="02020603050405020304" pitchFamily="18" charset="0"/>
              </a:rPr>
              <a:t>uses a set of IF-THEN rules for classiﬁcation. An </a:t>
            </a:r>
            <a:r>
              <a:rPr lang="el-GR" sz="2200" b="1" dirty="0">
                <a:latin typeface="Calibri" panose="020F0502020204030204" pitchFamily="34" charset="0"/>
                <a:ea typeface="Times New Roman" panose="02020603050405020304" pitchFamily="18" charset="0"/>
              </a:rPr>
              <a:t>IF-THEN </a:t>
            </a:r>
            <a:r>
              <a:rPr lang="el-GR" sz="2200" dirty="0">
                <a:latin typeface="Calibri" panose="020F0502020204030204" pitchFamily="34" charset="0"/>
                <a:ea typeface="Times New Roman" panose="02020603050405020304" pitchFamily="18" charset="0"/>
              </a:rPr>
              <a:t>rule is an expression of the form</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196022" y="1983422"/>
            <a:ext cx="4488498" cy="805498"/>
          </a:xfrm>
          <a:prstGeom prst="rect">
            <a:avLst/>
          </a:prstGeom>
          <a:noFill/>
          <a:ln>
            <a:noFill/>
          </a:ln>
        </p:spPr>
      </p:pic>
      <p:sp>
        <p:nvSpPr>
          <p:cNvPr id="6" name="Rectangle 5"/>
          <p:cNvSpPr/>
          <p:nvPr/>
        </p:nvSpPr>
        <p:spPr>
          <a:xfrm>
            <a:off x="615950" y="2788920"/>
            <a:ext cx="2711255" cy="430887"/>
          </a:xfrm>
          <a:prstGeom prst="rect">
            <a:avLst/>
          </a:prstGeom>
        </p:spPr>
        <p:txBody>
          <a:bodyPr wrap="none">
            <a:spAutoFit/>
          </a:bodyPr>
          <a:lstStyle/>
          <a:p>
            <a:r>
              <a:rPr lang="en-US" sz="2200" dirty="0">
                <a:latin typeface="Calibri" panose="020F0502020204030204" pitchFamily="34" charset="0"/>
                <a:ea typeface="Times New Roman" panose="02020603050405020304" pitchFamily="18" charset="0"/>
              </a:rPr>
              <a:t>An example is rule </a:t>
            </a:r>
            <a:r>
              <a:rPr lang="en-US" sz="2200" dirty="0" smtClean="0">
                <a:latin typeface="Calibri" panose="020F0502020204030204" pitchFamily="34" charset="0"/>
                <a:ea typeface="Times New Roman" panose="02020603050405020304" pitchFamily="18" charset="0"/>
              </a:rPr>
              <a:t>R1</a:t>
            </a:r>
            <a:endParaRPr lang="en-US" sz="2200" dirty="0"/>
          </a:p>
        </p:txBody>
      </p:sp>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914400" y="3372221"/>
            <a:ext cx="7772400" cy="653084"/>
          </a:xfrm>
          <a:prstGeom prst="rect">
            <a:avLst/>
          </a:prstGeom>
          <a:noFill/>
          <a:ln>
            <a:noFill/>
          </a:ln>
        </p:spPr>
      </p:pic>
      <p:sp>
        <p:nvSpPr>
          <p:cNvPr id="9" name="Rectangle 8"/>
          <p:cNvSpPr/>
          <p:nvPr/>
        </p:nvSpPr>
        <p:spPr>
          <a:xfrm>
            <a:off x="645795" y="4025305"/>
            <a:ext cx="8528685" cy="769441"/>
          </a:xfrm>
          <a:prstGeom prst="rect">
            <a:avLst/>
          </a:prstGeom>
        </p:spPr>
        <p:txBody>
          <a:bodyPr wrap="square">
            <a:spAutoFit/>
          </a:bodyPr>
          <a:lstStyle/>
          <a:p>
            <a:r>
              <a:rPr lang="en-US" sz="2200" dirty="0">
                <a:latin typeface="Calibri" panose="020F0502020204030204" pitchFamily="34" charset="0"/>
                <a:ea typeface="Times New Roman" panose="02020603050405020304" pitchFamily="18" charset="0"/>
              </a:rPr>
              <a:t>The “IF” part (or left side) of a rule is known as the </a:t>
            </a:r>
            <a:r>
              <a:rPr lang="en-US" sz="2200" b="1" dirty="0">
                <a:solidFill>
                  <a:srgbClr val="0070C0"/>
                </a:solidFill>
                <a:latin typeface="Calibri" panose="020F0502020204030204" pitchFamily="34" charset="0"/>
                <a:ea typeface="Times New Roman" panose="02020603050405020304" pitchFamily="18" charset="0"/>
              </a:rPr>
              <a:t>rule antecedent</a:t>
            </a:r>
            <a:r>
              <a:rPr lang="en-US" sz="2200" b="1" dirty="0">
                <a:latin typeface="Calibri" panose="020F0502020204030204" pitchFamily="34" charset="0"/>
                <a:ea typeface="Times New Roman" panose="02020603050405020304" pitchFamily="18" charset="0"/>
              </a:rPr>
              <a:t> </a:t>
            </a:r>
            <a:r>
              <a:rPr lang="en-US" sz="2200" dirty="0">
                <a:latin typeface="Calibri" panose="020F0502020204030204" pitchFamily="34" charset="0"/>
                <a:ea typeface="Times New Roman" panose="02020603050405020304" pitchFamily="18" charset="0"/>
              </a:rPr>
              <a:t>or </a:t>
            </a:r>
            <a:r>
              <a:rPr lang="en-US" sz="2200" b="1" dirty="0">
                <a:solidFill>
                  <a:srgbClr val="0070C0"/>
                </a:solidFill>
                <a:latin typeface="Calibri" panose="020F0502020204030204" pitchFamily="34" charset="0"/>
                <a:ea typeface="Times New Roman" panose="02020603050405020304" pitchFamily="18" charset="0"/>
              </a:rPr>
              <a:t>precondition</a:t>
            </a:r>
            <a:r>
              <a:rPr lang="en-US" sz="2200" dirty="0">
                <a:latin typeface="Calibri" panose="020F0502020204030204" pitchFamily="34" charset="0"/>
                <a:ea typeface="Times New Roman" panose="02020603050405020304" pitchFamily="18" charset="0"/>
              </a:rPr>
              <a:t>. The “THEN” part (or right side) is the </a:t>
            </a:r>
            <a:r>
              <a:rPr lang="en-US" sz="2200" b="1" dirty="0">
                <a:solidFill>
                  <a:srgbClr val="0070C0"/>
                </a:solidFill>
                <a:latin typeface="Calibri" panose="020F0502020204030204" pitchFamily="34" charset="0"/>
                <a:ea typeface="Times New Roman" panose="02020603050405020304" pitchFamily="18" charset="0"/>
              </a:rPr>
              <a:t>rule consequent</a:t>
            </a:r>
            <a:r>
              <a:rPr lang="en-US" sz="2200" dirty="0">
                <a:latin typeface="Calibri" panose="020F0502020204030204" pitchFamily="34" charset="0"/>
                <a:ea typeface="Times New Roman" panose="02020603050405020304" pitchFamily="18" charset="0"/>
              </a:rPr>
              <a:t>.</a:t>
            </a:r>
            <a:endParaRPr lang="en-US" sz="2200" dirty="0"/>
          </a:p>
        </p:txBody>
      </p:sp>
      <p:sp>
        <p:nvSpPr>
          <p:cNvPr id="11" name="Rectangle 10"/>
          <p:cNvSpPr/>
          <p:nvPr/>
        </p:nvSpPr>
        <p:spPr>
          <a:xfrm>
            <a:off x="645795" y="4893708"/>
            <a:ext cx="3027047" cy="430887"/>
          </a:xfrm>
          <a:prstGeom prst="rect">
            <a:avLst/>
          </a:prstGeom>
        </p:spPr>
        <p:txBody>
          <a:bodyPr wrap="none">
            <a:spAutoFit/>
          </a:bodyPr>
          <a:lstStyle/>
          <a:p>
            <a:r>
              <a:rPr lang="vi-VN" sz="2200" dirty="0">
                <a:latin typeface="Calibri" panose="020F0502020204030204" pitchFamily="34" charset="0"/>
                <a:ea typeface="Times New Roman" panose="02020603050405020304" pitchFamily="18" charset="0"/>
              </a:rPr>
              <a:t>R1 can also be written as</a:t>
            </a:r>
            <a:endParaRPr lang="en-US" sz="2200" dirty="0"/>
          </a:p>
        </p:txBody>
      </p:sp>
      <p:pic>
        <p:nvPicPr>
          <p:cNvPr id="12" name="Picture 11"/>
          <p:cNvPicPr/>
          <p:nvPr/>
        </p:nvPicPr>
        <p:blipFill>
          <a:blip r:embed="rId4">
            <a:extLst>
              <a:ext uri="{28A0092B-C50C-407E-A947-70E740481C1C}">
                <a14:useLocalDpi xmlns:a14="http://schemas.microsoft.com/office/drawing/2010/main" val="0"/>
              </a:ext>
            </a:extLst>
          </a:blip>
          <a:srcRect/>
          <a:stretch>
            <a:fillRect/>
          </a:stretch>
        </p:blipFill>
        <p:spPr bwMode="auto">
          <a:xfrm>
            <a:off x="688780" y="5412100"/>
            <a:ext cx="7723700" cy="805498"/>
          </a:xfrm>
          <a:prstGeom prst="rect">
            <a:avLst/>
          </a:prstGeom>
          <a:noFill/>
          <a:ln>
            <a:noFill/>
          </a:ln>
        </p:spPr>
      </p:pic>
    </p:spTree>
    <p:extLst>
      <p:ext uri="{BB962C8B-B14F-4D97-AF65-F5344CB8AC3E}">
        <p14:creationId xmlns:p14="http://schemas.microsoft.com/office/powerpoint/2010/main" val="3808186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5950" y="301916"/>
            <a:ext cx="8802370" cy="2883482"/>
          </a:xfrm>
          <a:prstGeom prst="rect">
            <a:avLst/>
          </a:prstGeom>
        </p:spPr>
        <p:txBody>
          <a:bodyPr wrap="square">
            <a:spAutoFit/>
          </a:bodyPr>
          <a:lstStyle/>
          <a:p>
            <a:pPr marL="342900" indent="-342900">
              <a:lnSpc>
                <a:spcPct val="107000"/>
              </a:lnSpc>
              <a:spcAft>
                <a:spcPts val="1000"/>
              </a:spcAft>
              <a:buFont typeface="Arial" panose="020B0604020202020204" pitchFamily="34" charset="0"/>
              <a:buChar char="•"/>
            </a:pPr>
            <a:r>
              <a:rPr lang="en-US" sz="2200" dirty="0">
                <a:latin typeface="Calibri" panose="020F0502020204030204" pitchFamily="34" charset="0"/>
                <a:ea typeface="Times New Roman" panose="02020603050405020304" pitchFamily="18" charset="0"/>
                <a:cs typeface="Calibri" panose="020F0502020204030204" pitchFamily="34" charset="0"/>
              </a:rPr>
              <a:t>A rule R can be assessed by its coverage and accuracy.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en-US" sz="2200" dirty="0">
                <a:latin typeface="Calibri" panose="020F0502020204030204" pitchFamily="34" charset="0"/>
                <a:ea typeface="Times New Roman" panose="02020603050405020304" pitchFamily="18" charset="0"/>
                <a:cs typeface="Calibri" panose="020F0502020204030204" pitchFamily="34" charset="0"/>
              </a:rPr>
              <a:t>Given a tuple, X, from a class labeled dataset, D</a:t>
            </a:r>
            <a:r>
              <a:rPr lang="vi-VN" sz="2200" dirty="0">
                <a:latin typeface="Calibri" panose="020F0502020204030204" pitchFamily="34" charset="0"/>
                <a:ea typeface="Times New Roman" panose="02020603050405020304" pitchFamily="18" charset="0"/>
                <a:cs typeface="Calibri" panose="020F0502020204030204" pitchFamily="34"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200" dirty="0">
                <a:latin typeface="Calibri" panose="020F0502020204030204" pitchFamily="34" charset="0"/>
                <a:ea typeface="Times New Roman" panose="02020603050405020304" pitchFamily="18" charset="0"/>
                <a:cs typeface="Calibri" panose="020F0502020204030204" pitchFamily="34" charset="0"/>
              </a:rPr>
              <a:t>L</a:t>
            </a:r>
            <a:r>
              <a:rPr lang="en-US" sz="2200" dirty="0">
                <a:latin typeface="Calibri" panose="020F0502020204030204" pitchFamily="34" charset="0"/>
                <a:ea typeface="Times New Roman" panose="02020603050405020304" pitchFamily="18" charset="0"/>
                <a:cs typeface="Calibri" panose="020F0502020204030204" pitchFamily="34" charset="0"/>
              </a:rPr>
              <a:t>et n</a:t>
            </a:r>
            <a:r>
              <a:rPr lang="vi-VN" sz="2200" baseline="-25000" dirty="0">
                <a:latin typeface="Calibri" panose="020F0502020204030204" pitchFamily="34" charset="0"/>
                <a:ea typeface="Times New Roman" panose="02020603050405020304" pitchFamily="18" charset="0"/>
                <a:cs typeface="Calibri" panose="020F0502020204030204" pitchFamily="34" charset="0"/>
              </a:rPr>
              <a:t>covers</a:t>
            </a:r>
            <a:r>
              <a:rPr lang="en-US" sz="2200" dirty="0">
                <a:latin typeface="Calibri" panose="020F0502020204030204" pitchFamily="34" charset="0"/>
                <a:ea typeface="Times New Roman" panose="02020603050405020304" pitchFamily="18" charset="0"/>
                <a:cs typeface="Calibri" panose="020F0502020204030204" pitchFamily="34" charset="0"/>
              </a:rPr>
              <a:t> be the number of tuples covered </a:t>
            </a:r>
            <a:r>
              <a:rPr lang="en-US" sz="2200" dirty="0" err="1">
                <a:latin typeface="Calibri" panose="020F0502020204030204" pitchFamily="34" charset="0"/>
                <a:ea typeface="Times New Roman" panose="02020603050405020304" pitchFamily="18" charset="0"/>
                <a:cs typeface="Calibri" panose="020F0502020204030204" pitchFamily="34" charset="0"/>
              </a:rPr>
              <a:t>byR</a:t>
            </a:r>
            <a:r>
              <a:rPr lang="en-US" sz="2200" dirty="0">
                <a:latin typeface="Calibri" panose="020F0502020204030204" pitchFamily="34" charset="0"/>
                <a:ea typeface="Times New Roman" panose="02020603050405020304" pitchFamily="18" charset="0"/>
                <a:cs typeface="Calibri" panose="020F0502020204030204" pitchFamily="34"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en-US" sz="2200" dirty="0">
                <a:latin typeface="Calibri" panose="020F0502020204030204" pitchFamily="34" charset="0"/>
                <a:ea typeface="Times New Roman" panose="02020603050405020304" pitchFamily="18" charset="0"/>
                <a:cs typeface="Calibri" panose="020F0502020204030204" pitchFamily="34" charset="0"/>
              </a:rPr>
              <a:t>n</a:t>
            </a:r>
            <a:r>
              <a:rPr lang="vi-VN" sz="2200" baseline="-25000" dirty="0">
                <a:latin typeface="Calibri" panose="020F0502020204030204" pitchFamily="34" charset="0"/>
                <a:ea typeface="Times New Roman" panose="02020603050405020304" pitchFamily="18" charset="0"/>
                <a:cs typeface="Calibri" panose="020F0502020204030204" pitchFamily="34" charset="0"/>
              </a:rPr>
              <a:t>correct</a:t>
            </a:r>
            <a:r>
              <a:rPr lang="en-US" sz="2200" dirty="0">
                <a:latin typeface="Calibri" panose="020F0502020204030204" pitchFamily="34" charset="0"/>
                <a:ea typeface="Times New Roman" panose="02020603050405020304" pitchFamily="18" charset="0"/>
                <a:cs typeface="Calibri" panose="020F0502020204030204" pitchFamily="34" charset="0"/>
              </a:rPr>
              <a:t> be the number of tuples correctly classiﬁed by R;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en-US" sz="2200" dirty="0" smtClean="0">
                <a:latin typeface="Calibri" panose="020F0502020204030204" pitchFamily="34" charset="0"/>
                <a:ea typeface="Times New Roman" panose="02020603050405020304" pitchFamily="18" charset="0"/>
                <a:cs typeface="Calibri" panose="020F0502020204030204" pitchFamily="34" charset="0"/>
              </a:rPr>
              <a:t>And |</a:t>
            </a:r>
            <a:r>
              <a:rPr lang="en-US" sz="2200" dirty="0" err="1">
                <a:latin typeface="Calibri" panose="020F0502020204030204" pitchFamily="34" charset="0"/>
                <a:ea typeface="Times New Roman" panose="02020603050405020304" pitchFamily="18" charset="0"/>
                <a:cs typeface="Calibri" panose="020F0502020204030204" pitchFamily="34" charset="0"/>
              </a:rPr>
              <a:t>D|be</a:t>
            </a:r>
            <a:r>
              <a:rPr lang="en-US" sz="2200" dirty="0">
                <a:latin typeface="Calibri" panose="020F0502020204030204" pitchFamily="34" charset="0"/>
                <a:ea typeface="Times New Roman" panose="02020603050405020304" pitchFamily="18" charset="0"/>
                <a:cs typeface="Calibri" panose="020F0502020204030204" pitchFamily="34" charset="0"/>
              </a:rPr>
              <a:t> the number of tuples in D.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r>
              <a:rPr lang="en-US" sz="2200" dirty="0">
                <a:latin typeface="Calibri" panose="020F0502020204030204" pitchFamily="34" charset="0"/>
                <a:ea typeface="Times New Roman" panose="02020603050405020304" pitchFamily="18" charset="0"/>
              </a:rPr>
              <a:t>We can deﬁne the </a:t>
            </a:r>
            <a:r>
              <a:rPr lang="en-US" sz="2200" b="1" dirty="0">
                <a:latin typeface="Calibri" panose="020F0502020204030204" pitchFamily="34" charset="0"/>
                <a:ea typeface="Times New Roman" panose="02020603050405020304" pitchFamily="18" charset="0"/>
              </a:rPr>
              <a:t>coverage </a:t>
            </a:r>
            <a:r>
              <a:rPr lang="en-US" sz="2200" dirty="0">
                <a:latin typeface="Calibri" panose="020F0502020204030204" pitchFamily="34" charset="0"/>
                <a:ea typeface="Times New Roman" panose="02020603050405020304" pitchFamily="18" charset="0"/>
              </a:rPr>
              <a:t>and </a:t>
            </a:r>
            <a:r>
              <a:rPr lang="en-US" sz="2200" b="1" dirty="0">
                <a:latin typeface="Calibri" panose="020F0502020204030204" pitchFamily="34" charset="0"/>
                <a:ea typeface="Times New Roman" panose="02020603050405020304" pitchFamily="18" charset="0"/>
              </a:rPr>
              <a:t>accuracy </a:t>
            </a:r>
            <a:r>
              <a:rPr lang="en-US" sz="2200" dirty="0">
                <a:latin typeface="Calibri" panose="020F0502020204030204" pitchFamily="34" charset="0"/>
                <a:ea typeface="Times New Roman" panose="02020603050405020304" pitchFamily="18" charset="0"/>
              </a:rPr>
              <a:t>of R as</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78827" y="3264482"/>
            <a:ext cx="8150860" cy="1896110"/>
          </a:xfrm>
          <a:prstGeom prst="rect">
            <a:avLst/>
          </a:prstGeom>
          <a:noFill/>
          <a:ln>
            <a:noFill/>
          </a:ln>
        </p:spPr>
      </p:pic>
      <p:sp>
        <p:nvSpPr>
          <p:cNvPr id="6" name="Rectangle 5"/>
          <p:cNvSpPr/>
          <p:nvPr/>
        </p:nvSpPr>
        <p:spPr>
          <a:xfrm>
            <a:off x="615950" y="5160592"/>
            <a:ext cx="8476615" cy="1446550"/>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rPr>
              <a:t>A </a:t>
            </a:r>
            <a:r>
              <a:rPr lang="en-US" sz="2200" dirty="0">
                <a:latin typeface="Calibri" panose="020F0502020204030204" pitchFamily="34" charset="0"/>
                <a:ea typeface="Times New Roman" panose="02020603050405020304" pitchFamily="18" charset="0"/>
              </a:rPr>
              <a:t>rule’ s coverage is the percentage of tuples that are covered by the rule (i.e., their attribute values hold true for the rule’s antecedent). For a rule’s accuracy, we look at the tuples that it covers and see what percentage of them the rule can correctly classify.</a:t>
            </a:r>
            <a:endParaRPr lang="en-US" sz="2200" dirty="0"/>
          </a:p>
        </p:txBody>
      </p:sp>
    </p:spTree>
    <p:extLst>
      <p:ext uri="{BB962C8B-B14F-4D97-AF65-F5344CB8AC3E}">
        <p14:creationId xmlns:p14="http://schemas.microsoft.com/office/powerpoint/2010/main" val="28140646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720" y="410147"/>
            <a:ext cx="9037320" cy="6248505"/>
          </a:xfrm>
          <a:prstGeom prst="rect">
            <a:avLst/>
          </a:prstGeom>
        </p:spPr>
        <p:txBody>
          <a:bodyPr wrap="square">
            <a:spAutoFit/>
          </a:bodyPr>
          <a:lstStyle/>
          <a:p>
            <a:pPr>
              <a:lnSpc>
                <a:spcPct val="107000"/>
              </a:lnSpc>
              <a:spcAft>
                <a:spcPts val="1000"/>
              </a:spcAft>
            </a:pPr>
            <a:r>
              <a:rPr lang="en-US" sz="2200" i="1" dirty="0" smtClean="0">
                <a:latin typeface="Calibri" panose="020F0502020204030204" pitchFamily="34" charset="0"/>
                <a:ea typeface="Times New Roman" panose="02020603050405020304" pitchFamily="18" charset="0"/>
                <a:cs typeface="Calibri" panose="020F0502020204030204" pitchFamily="34" charset="0"/>
              </a:rPr>
              <a:t>“</a:t>
            </a:r>
            <a:r>
              <a:rPr lang="vi-VN" sz="2200" i="1" dirty="0" smtClean="0">
                <a:latin typeface="Calibri" panose="020F0502020204030204" pitchFamily="34" charset="0"/>
                <a:ea typeface="Times New Roman" panose="02020603050405020304" pitchFamily="18" charset="0"/>
                <a:cs typeface="Calibri" panose="020F0502020204030204" pitchFamily="34" charset="0"/>
              </a:rPr>
              <a:t>H</a:t>
            </a:r>
            <a:r>
              <a:rPr lang="en-US" sz="2200" i="1" dirty="0">
                <a:latin typeface="Calibri" panose="020F0502020204030204" pitchFamily="34" charset="0"/>
                <a:ea typeface="Times New Roman" panose="02020603050405020304" pitchFamily="18" charset="0"/>
                <a:cs typeface="Calibri" panose="020F0502020204030204" pitchFamily="34" charset="0"/>
              </a:rPr>
              <a:t>ow </a:t>
            </a:r>
            <a:r>
              <a:rPr lang="vi-VN" sz="2200" i="1" dirty="0">
                <a:latin typeface="Calibri" panose="020F0502020204030204" pitchFamily="34" charset="0"/>
                <a:ea typeface="Times New Roman" panose="02020603050405020304" pitchFamily="18" charset="0"/>
                <a:cs typeface="Calibri" panose="020F0502020204030204" pitchFamily="34" charset="0"/>
              </a:rPr>
              <a:t>to </a:t>
            </a:r>
            <a:r>
              <a:rPr lang="en-US" sz="2200" i="1" dirty="0">
                <a:latin typeface="Calibri" panose="020F0502020204030204" pitchFamily="34" charset="0"/>
                <a:ea typeface="Times New Roman" panose="02020603050405020304" pitchFamily="18" charset="0"/>
                <a:cs typeface="Calibri" panose="020F0502020204030204" pitchFamily="34" charset="0"/>
              </a:rPr>
              <a:t>use rule-based classiﬁcation to predict the class label of a given tuple, X</a:t>
            </a:r>
            <a:r>
              <a:rPr lang="vi-VN" sz="2200" i="1" dirty="0" smtClean="0">
                <a:latin typeface="Calibri" panose="020F0502020204030204" pitchFamily="34" charset="0"/>
                <a:ea typeface="Times New Roman" panose="02020603050405020304" pitchFamily="18" charset="0"/>
                <a:cs typeface="Calibri" panose="020F0502020204030204" pitchFamily="34" charset="0"/>
              </a:rPr>
              <a:t>?</a:t>
            </a:r>
            <a:r>
              <a:rPr lang="en-US" sz="2200" i="1" dirty="0" smtClean="0">
                <a:latin typeface="Calibri" panose="020F0502020204030204" pitchFamily="34" charset="0"/>
                <a:ea typeface="Times New Roman" panose="02020603050405020304" pitchFamily="18" charset="0"/>
                <a:cs typeface="Calibri" panose="020F0502020204030204" pitchFamily="34" charset="0"/>
              </a:rPr>
              <a:t>”</a:t>
            </a:r>
            <a:endParaRPr lang="en-US" sz="2200" i="1"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Wingdings" panose="05000000000000000000" pitchFamily="2" charset="2"/>
              <a:buChar char="Ø"/>
            </a:pPr>
            <a:r>
              <a:rPr lang="vi-VN" sz="2200" dirty="0">
                <a:latin typeface="Calibri" panose="020F0502020204030204" pitchFamily="34" charset="0"/>
                <a:ea typeface="Times New Roman" panose="02020603050405020304" pitchFamily="18" charset="0"/>
                <a:cs typeface="Calibri" panose="020F0502020204030204" pitchFamily="34" charset="0"/>
              </a:rPr>
              <a:t>If a rule is satisﬁed by X, the rule is said to be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triggered</a:t>
            </a:r>
            <a:r>
              <a:rPr lang="vi-VN" sz="2200" dirty="0">
                <a:latin typeface="Calibri" panose="020F0502020204030204" pitchFamily="34" charset="0"/>
                <a:ea typeface="Times New Roman" panose="02020603050405020304" pitchFamily="18" charset="0"/>
                <a:cs typeface="Calibri" panose="020F0502020204030204" pitchFamily="34"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Wingdings" panose="05000000000000000000" pitchFamily="2" charset="2"/>
              <a:buChar char="Ø"/>
            </a:pPr>
            <a:r>
              <a:rPr lang="vi-VN" sz="2200" dirty="0">
                <a:latin typeface="Calibri" panose="020F0502020204030204" pitchFamily="34" charset="0"/>
                <a:ea typeface="Times New Roman" panose="02020603050405020304" pitchFamily="18" charset="0"/>
                <a:cs typeface="Calibri" panose="020F0502020204030204" pitchFamily="34" charset="0"/>
              </a:rPr>
              <a:t>If R1 is the only rule satisﬁed, then the rule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ﬁres</a:t>
            </a:r>
            <a:r>
              <a:rPr lang="vi-VN" sz="2200" dirty="0">
                <a:latin typeface="Calibri" panose="020F0502020204030204" pitchFamily="34" charset="0"/>
                <a:ea typeface="Times New Roman" panose="02020603050405020304" pitchFamily="18" charset="0"/>
                <a:cs typeface="Calibri" panose="020F0502020204030204" pitchFamily="34" charset="0"/>
              </a:rPr>
              <a:t> by returning the class prediction for X.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Wingdings" panose="05000000000000000000" pitchFamily="2" charset="2"/>
              <a:buChar char="Ø"/>
            </a:pPr>
            <a:r>
              <a:rPr lang="vi-VN" sz="2200" dirty="0">
                <a:latin typeface="Calibri" panose="020F0502020204030204" pitchFamily="34" charset="0"/>
                <a:ea typeface="Times New Roman" panose="02020603050405020304" pitchFamily="18" charset="0"/>
                <a:cs typeface="Calibri" panose="020F0502020204030204" pitchFamily="34" charset="0"/>
              </a:rPr>
              <a:t>If more than one rule is triggered, we need a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conﬂict resolution strategy</a:t>
            </a:r>
            <a:r>
              <a:rPr lang="vi-VN" sz="2200" b="1" dirty="0">
                <a:latin typeface="Calibri" panose="020F0502020204030204" pitchFamily="34" charset="0"/>
                <a:ea typeface="Times New Roman" panose="02020603050405020304" pitchFamily="18" charset="0"/>
                <a:cs typeface="Calibri" panose="020F0502020204030204" pitchFamily="34" charset="0"/>
              </a:rPr>
              <a:t> </a:t>
            </a:r>
            <a:r>
              <a:rPr lang="vi-VN" sz="2200" dirty="0">
                <a:latin typeface="Calibri" panose="020F0502020204030204" pitchFamily="34" charset="0"/>
                <a:ea typeface="Times New Roman" panose="02020603050405020304" pitchFamily="18" charset="0"/>
                <a:cs typeface="Calibri" panose="020F0502020204030204" pitchFamily="34" charset="0"/>
              </a:rPr>
              <a:t>to ﬁgure out which rule gets to ﬁre and assign its class prediction to X.</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vi-VN" sz="2200" dirty="0">
                <a:latin typeface="Calibri" panose="020F0502020204030204" pitchFamily="34" charset="0"/>
                <a:ea typeface="Times New Roman" panose="02020603050405020304" pitchFamily="18" charset="0"/>
                <a:cs typeface="Calibri" panose="020F0502020204030204" pitchFamily="34" charset="0"/>
              </a:rPr>
              <a:t>There are many possible strategies. We look at two, namely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size ordering</a:t>
            </a:r>
            <a:r>
              <a:rPr lang="vi-VN" sz="2200" b="1" dirty="0">
                <a:latin typeface="Calibri" panose="020F0502020204030204" pitchFamily="34" charset="0"/>
                <a:ea typeface="Times New Roman" panose="02020603050405020304" pitchFamily="18" charset="0"/>
                <a:cs typeface="Calibri" panose="020F0502020204030204" pitchFamily="34" charset="0"/>
              </a:rPr>
              <a:t> </a:t>
            </a:r>
            <a:r>
              <a:rPr lang="vi-VN" sz="2200" dirty="0">
                <a:latin typeface="Calibri" panose="020F0502020204030204" pitchFamily="34" charset="0"/>
                <a:ea typeface="Times New Roman" panose="02020603050405020304" pitchFamily="18" charset="0"/>
                <a:cs typeface="Calibri" panose="020F0502020204030204" pitchFamily="34" charset="0"/>
              </a:rPr>
              <a:t>and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rule ordering</a:t>
            </a:r>
            <a:r>
              <a:rPr lang="vi-VN" sz="2200" dirty="0">
                <a:latin typeface="Calibri" panose="020F0502020204030204" pitchFamily="34" charset="0"/>
                <a:ea typeface="Times New Roman" panose="02020603050405020304" pitchFamily="18" charset="0"/>
                <a:cs typeface="Calibri" panose="020F0502020204030204" pitchFamily="34"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en-US" sz="2200" dirty="0">
                <a:latin typeface="Calibri" panose="020F0502020204030204" pitchFamily="34" charset="0"/>
                <a:ea typeface="Times New Roman" panose="02020603050405020304" pitchFamily="18" charset="0"/>
                <a:cs typeface="Calibri" panose="020F0502020204030204" pitchFamily="34" charset="0"/>
              </a:rPr>
              <a:t>The </a:t>
            </a:r>
            <a:r>
              <a:rPr lang="en-US"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size ordering</a:t>
            </a:r>
            <a:r>
              <a:rPr lang="en-US" sz="2200" b="1" dirty="0">
                <a:latin typeface="Calibri" panose="020F0502020204030204" pitchFamily="34" charset="0"/>
                <a:ea typeface="Times New Roman" panose="02020603050405020304" pitchFamily="18" charset="0"/>
                <a:cs typeface="Calibri" panose="020F0502020204030204" pitchFamily="34"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scheme assigns the highest priority to the triggering rule that has the “toughest” requirements, where toughness is measured by the rule antecedent size. That is, the triggering rule with the most attribute tests is ﬁred.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Calibri" panose="020F0502020204030204" pitchFamily="34" charset="0"/>
                <a:ea typeface="Times New Roman" panose="02020603050405020304" pitchFamily="18" charset="0"/>
              </a:rPr>
              <a:t>The </a:t>
            </a:r>
            <a:r>
              <a:rPr lang="en-US" sz="2200" b="1" dirty="0">
                <a:solidFill>
                  <a:srgbClr val="0070C0"/>
                </a:solidFill>
                <a:latin typeface="Calibri" panose="020F0502020204030204" pitchFamily="34" charset="0"/>
                <a:ea typeface="Times New Roman" panose="02020603050405020304" pitchFamily="18" charset="0"/>
              </a:rPr>
              <a:t>rule ordering</a:t>
            </a:r>
            <a:r>
              <a:rPr lang="en-US" sz="2200" b="1" dirty="0">
                <a:latin typeface="Calibri" panose="020F0502020204030204" pitchFamily="34" charset="0"/>
                <a:ea typeface="Times New Roman" panose="02020603050405020304" pitchFamily="18" charset="0"/>
              </a:rPr>
              <a:t> </a:t>
            </a:r>
            <a:r>
              <a:rPr lang="en-US" sz="2200" dirty="0">
                <a:latin typeface="Calibri" panose="020F0502020204030204" pitchFamily="34" charset="0"/>
                <a:ea typeface="Times New Roman" panose="02020603050405020304" pitchFamily="18" charset="0"/>
              </a:rPr>
              <a:t>scheme prioritizes the rules beforehand. The ordering may be </a:t>
            </a:r>
            <a:r>
              <a:rPr lang="en-US" sz="2200" b="1" dirty="0">
                <a:solidFill>
                  <a:srgbClr val="0070C0"/>
                </a:solidFill>
                <a:latin typeface="Calibri" panose="020F0502020204030204" pitchFamily="34" charset="0"/>
                <a:ea typeface="Times New Roman" panose="02020603050405020304" pitchFamily="18" charset="0"/>
              </a:rPr>
              <a:t>class-based</a:t>
            </a:r>
            <a:r>
              <a:rPr lang="en-US" sz="2200" dirty="0">
                <a:latin typeface="Calibri" panose="020F0502020204030204" pitchFamily="34" charset="0"/>
                <a:ea typeface="Times New Roman" panose="02020603050405020304" pitchFamily="18" charset="0"/>
              </a:rPr>
              <a:t> or </a:t>
            </a:r>
            <a:r>
              <a:rPr lang="en-US" sz="2200" b="1" dirty="0">
                <a:solidFill>
                  <a:srgbClr val="0070C0"/>
                </a:solidFill>
                <a:latin typeface="Calibri" panose="020F0502020204030204" pitchFamily="34" charset="0"/>
                <a:ea typeface="Times New Roman" panose="02020603050405020304" pitchFamily="18" charset="0"/>
              </a:rPr>
              <a:t>rule-based</a:t>
            </a:r>
            <a:r>
              <a:rPr lang="en-US" sz="2200" dirty="0">
                <a:latin typeface="Calibri" panose="020F0502020204030204" pitchFamily="34" charset="0"/>
                <a:ea typeface="Times New Roman" panose="02020603050405020304" pitchFamily="18" charset="0"/>
              </a:rPr>
              <a:t>.</a:t>
            </a:r>
            <a:endParaRPr lang="en-US" sz="2200" dirty="0"/>
          </a:p>
        </p:txBody>
      </p:sp>
    </p:spTree>
    <p:extLst>
      <p:ext uri="{BB962C8B-B14F-4D97-AF65-F5344CB8AC3E}">
        <p14:creationId xmlns:p14="http://schemas.microsoft.com/office/powerpoint/2010/main" val="1964471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8160" y="1004598"/>
            <a:ext cx="9037320" cy="5278368"/>
          </a:xfrm>
          <a:prstGeom prst="rect">
            <a:avLst/>
          </a:prstGeom>
        </p:spPr>
        <p:txBody>
          <a:bodyPr wrap="square">
            <a:spAutoFit/>
          </a:bodyPr>
          <a:lstStyle/>
          <a:p>
            <a:pPr marL="342900" indent="-342900">
              <a:lnSpc>
                <a:spcPct val="107000"/>
              </a:lnSpc>
              <a:spcAft>
                <a:spcPts val="1000"/>
              </a:spcAft>
              <a:buFont typeface="Wingdings" panose="05000000000000000000" pitchFamily="2" charset="2"/>
              <a:buChar char="Ø"/>
            </a:pPr>
            <a:r>
              <a:rPr lang="en-US" sz="2200" dirty="0">
                <a:latin typeface="Calibri" panose="020F0502020204030204" pitchFamily="34" charset="0"/>
                <a:ea typeface="Times New Roman" panose="02020603050405020304" pitchFamily="18" charset="0"/>
                <a:cs typeface="Calibri" panose="020F0502020204030204" pitchFamily="34" charset="0"/>
              </a:rPr>
              <a:t>With </a:t>
            </a:r>
            <a:r>
              <a:rPr lang="en-US"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class-based ordering</a:t>
            </a:r>
            <a:r>
              <a:rPr lang="en-US" sz="2200" dirty="0">
                <a:latin typeface="Calibri" panose="020F0502020204030204" pitchFamily="34" charset="0"/>
                <a:ea typeface="Times New Roman" panose="02020603050405020304" pitchFamily="18" charset="0"/>
                <a:cs typeface="Calibri" panose="020F0502020204030204" pitchFamily="34" charset="0"/>
              </a:rPr>
              <a:t>, the classes are sorted in order of decreasing “importance” such as by decreasing order of prevalence</a:t>
            </a:r>
            <a:r>
              <a:rPr lang="vi-VN" sz="2200" dirty="0">
                <a:latin typeface="Calibri" panose="020F0502020204030204" pitchFamily="34" charset="0"/>
                <a:ea typeface="Times New Roman" panose="02020603050405020304" pitchFamily="18" charset="0"/>
                <a:cs typeface="Calibri" panose="020F0502020204030204" pitchFamily="34" charset="0"/>
              </a:rPr>
              <a:t> (or frequency).</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Wingdings" panose="05000000000000000000" pitchFamily="2" charset="2"/>
              <a:buChar char="Ø"/>
            </a:pPr>
            <a:r>
              <a:rPr lang="vi-VN" sz="2200" dirty="0">
                <a:latin typeface="Calibri" panose="020F0502020204030204" pitchFamily="34" charset="0"/>
                <a:ea typeface="Times New Roman" panose="02020603050405020304" pitchFamily="18" charset="0"/>
                <a:cs typeface="Calibri" panose="020F0502020204030204" pitchFamily="34" charset="0"/>
              </a:rPr>
              <a:t>With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rule-basedordering</a:t>
            </a:r>
            <a:r>
              <a:rPr lang="vi-VN" sz="2200" dirty="0">
                <a:latin typeface="Calibri" panose="020F0502020204030204" pitchFamily="34" charset="0"/>
                <a:ea typeface="Times New Roman" panose="02020603050405020304" pitchFamily="18" charset="0"/>
                <a:cs typeface="Calibri" panose="020F0502020204030204" pitchFamily="34" charset="0"/>
              </a:rPr>
              <a:t>, the rules are organized into one long priority list, according to some measure of rule quality, such as accuracy, coverage, or size,  or based on advice from domain experts. When rule ordering is used, the rule set is known as a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decision list</a:t>
            </a:r>
            <a:r>
              <a:rPr lang="vi-VN" sz="2200" dirty="0">
                <a:latin typeface="Calibri" panose="020F0502020204030204" pitchFamily="34" charset="0"/>
                <a:ea typeface="Times New Roman" panose="02020603050405020304" pitchFamily="18" charset="0"/>
                <a:cs typeface="Calibri" panose="020F0502020204030204" pitchFamily="34" charset="0"/>
              </a:rPr>
              <a:t>. With rule ordering, the triggering rule that appears earliest in the list has the highest priority, and so it gets to ﬁre its class prediction.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vi-VN" sz="2200" dirty="0">
                <a:latin typeface="Calibri" panose="020F0502020204030204" pitchFamily="34" charset="0"/>
                <a:ea typeface="Times New Roman" panose="02020603050405020304" pitchFamily="18" charset="0"/>
              </a:rPr>
              <a:t> When there is no rule satisﬁed by X, a </a:t>
            </a:r>
            <a:r>
              <a:rPr lang="vi-VN" sz="2200" b="1" dirty="0">
                <a:solidFill>
                  <a:srgbClr val="0070C0"/>
                </a:solidFill>
                <a:latin typeface="Calibri" panose="020F0502020204030204" pitchFamily="34" charset="0"/>
                <a:ea typeface="Times New Roman" panose="02020603050405020304" pitchFamily="18" charset="0"/>
              </a:rPr>
              <a:t>default rule</a:t>
            </a:r>
            <a:r>
              <a:rPr lang="vi-VN" sz="2200" b="1" dirty="0">
                <a:latin typeface="Calibri" panose="020F0502020204030204" pitchFamily="34" charset="0"/>
                <a:ea typeface="Times New Roman" panose="02020603050405020304" pitchFamily="18" charset="0"/>
              </a:rPr>
              <a:t> </a:t>
            </a:r>
            <a:r>
              <a:rPr lang="vi-VN" sz="2200" dirty="0">
                <a:latin typeface="Calibri" panose="020F0502020204030204" pitchFamily="34" charset="0"/>
                <a:ea typeface="Times New Roman" panose="02020603050405020304" pitchFamily="18" charset="0"/>
              </a:rPr>
              <a:t>can be set up to specify a default class, based on a training set.This may be the class in majority or the majority class of the tuples that were not covered by any rule. The default rule is evaluated at the end, if and only if no other rule covers X. The condition in the default rule is empty. In this way, the rule ﬁres when no other rule is satisﬁed.</a:t>
            </a:r>
            <a:endParaRPr lang="en-US" sz="2200" dirty="0"/>
          </a:p>
        </p:txBody>
      </p:sp>
    </p:spTree>
    <p:extLst>
      <p:ext uri="{BB962C8B-B14F-4D97-AF65-F5344CB8AC3E}">
        <p14:creationId xmlns:p14="http://schemas.microsoft.com/office/powerpoint/2010/main" val="3933045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1433703"/>
            <a:ext cx="8976360" cy="3668184"/>
          </a:xfrm>
          <a:prstGeom prst="rect">
            <a:avLst/>
          </a:prstGeom>
        </p:spPr>
        <p:txBody>
          <a:bodyPr wrap="square">
            <a:spAutoFit/>
          </a:bodyPr>
          <a:lstStyle/>
          <a:p>
            <a:pPr algn="ctr">
              <a:lnSpc>
                <a:spcPct val="107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8.4.2 Rule Extraction from a Decision Tree</a:t>
            </a:r>
            <a:r>
              <a:rPr lang="vi-VN" sz="2200" dirty="0">
                <a:latin typeface="Calibri" panose="020F0502020204030204" pitchFamily="34" charset="0"/>
                <a:ea typeface="Times New Roman" panose="02020603050405020304" pitchFamily="18" charset="0"/>
                <a:cs typeface="Calibri" panose="020F0502020204030204" pitchFamily="34" charset="0"/>
              </a:rPr>
              <a:t> </a:t>
            </a: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200" dirty="0">
                <a:latin typeface="Calibri" panose="020F0502020204030204" pitchFamily="34" charset="0"/>
                <a:ea typeface="Times New Roman" panose="02020603050405020304" pitchFamily="18" charset="0"/>
                <a:cs typeface="Calibri" panose="020F0502020204030204" pitchFamily="34" charset="0"/>
              </a:rPr>
              <a:t>To extract rules from a decision tree, one rule is created for each path from the root to a leaf node. </a:t>
            </a: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07000"/>
              </a:lnSpc>
              <a:spcAft>
                <a:spcPts val="1000"/>
              </a:spcAft>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cs typeface="Calibri" panose="020F0502020204030204" pitchFamily="34" charset="0"/>
              </a:rPr>
              <a:t>Each </a:t>
            </a:r>
            <a:r>
              <a:rPr lang="vi-VN" sz="2200" dirty="0">
                <a:latin typeface="Calibri" panose="020F0502020204030204" pitchFamily="34" charset="0"/>
                <a:ea typeface="Times New Roman" panose="02020603050405020304" pitchFamily="18" charset="0"/>
                <a:cs typeface="Calibri" panose="020F0502020204030204" pitchFamily="34" charset="0"/>
              </a:rPr>
              <a:t>splitting criterion along a given path is logically ANDed to form the rule antecedent (“IF” part). </a:t>
            </a: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07000"/>
              </a:lnSpc>
              <a:spcAft>
                <a:spcPts val="1000"/>
              </a:spcAft>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cs typeface="Calibri" panose="020F0502020204030204" pitchFamily="34" charset="0"/>
              </a:rPr>
              <a:t>The </a:t>
            </a:r>
            <a:r>
              <a:rPr lang="vi-VN" sz="2200" dirty="0">
                <a:latin typeface="Calibri" panose="020F0502020204030204" pitchFamily="34" charset="0"/>
                <a:ea typeface="Times New Roman" panose="02020603050405020304" pitchFamily="18" charset="0"/>
                <a:cs typeface="Calibri" panose="020F0502020204030204" pitchFamily="34" charset="0"/>
              </a:rPr>
              <a:t>leaf node holds the class prediction, forming the rule consequent (“THEN” part</a:t>
            </a:r>
            <a:r>
              <a:rPr lang="vi-VN" sz="2200" dirty="0" smtClean="0">
                <a:latin typeface="Calibri" panose="020F0502020204030204" pitchFamily="34" charset="0"/>
                <a:ea typeface="Times New Roman" panose="02020603050405020304" pitchFamily="18" charset="0"/>
                <a:cs typeface="Calibri" panose="020F0502020204030204" pitchFamily="34"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17371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1190" y="221774"/>
            <a:ext cx="8848090" cy="1107996"/>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rPr>
              <a:t>Example: The decision tree of Figure 8.2 can be converted to classiﬁcation IF-THEN rules by tracing the path from the root node to each leaf node in the tree. The rules extracted from Figure 8.2 are as follows:</a:t>
            </a:r>
            <a:endParaRPr lang="en-US" sz="2200"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631190" y="1423962"/>
            <a:ext cx="8580120" cy="2154289"/>
          </a:xfrm>
          <a:prstGeom prst="rect">
            <a:avLst/>
          </a:prstGeom>
          <a:noFill/>
          <a:ln>
            <a:noFill/>
          </a:ln>
        </p:spPr>
      </p:pic>
      <p:sp>
        <p:nvSpPr>
          <p:cNvPr id="5" name="Rectangle 4"/>
          <p:cNvSpPr/>
          <p:nvPr/>
        </p:nvSpPr>
        <p:spPr>
          <a:xfrm>
            <a:off x="631190" y="3672444"/>
            <a:ext cx="8580120" cy="2475037"/>
          </a:xfrm>
          <a:prstGeom prst="rect">
            <a:avLst/>
          </a:prstGeom>
        </p:spPr>
        <p:txBody>
          <a:bodyPr wrap="square">
            <a:spAutoFit/>
          </a:bodyPr>
          <a:lstStyle/>
          <a:p>
            <a:pPr>
              <a:lnSpc>
                <a:spcPct val="107000"/>
              </a:lnSpc>
              <a:spcAft>
                <a:spcPts val="1000"/>
              </a:spcAft>
            </a:pPr>
            <a:r>
              <a:rPr lang="en-US" sz="2200" dirty="0">
                <a:latin typeface="Calibri" panose="020F0502020204030204" pitchFamily="34" charset="0"/>
                <a:ea typeface="Times New Roman" panose="02020603050405020304" pitchFamily="18" charset="0"/>
                <a:cs typeface="Calibri" panose="020F0502020204030204" pitchFamily="34" charset="0"/>
              </a:rPr>
              <a:t>A disjunction (logical OR) is implied between each of the extracted rules</a:t>
            </a:r>
            <a:r>
              <a:rPr lang="vi-VN" sz="2200" dirty="0">
                <a:latin typeface="Calibri" panose="020F0502020204030204" pitchFamily="34" charset="0"/>
                <a:ea typeface="Times New Roman" panose="02020603050405020304" pitchFamily="18" charset="0"/>
                <a:cs typeface="Calibri" panose="020F0502020204030204" pitchFamily="34" charset="0"/>
              </a:rPr>
              <a:t>. All extracted rules are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mutually exclusive</a:t>
            </a:r>
            <a:r>
              <a:rPr lang="vi-VN" sz="2200" b="1" dirty="0">
                <a:latin typeface="Calibri" panose="020F0502020204030204" pitchFamily="34" charset="0"/>
                <a:ea typeface="Times New Roman" panose="02020603050405020304" pitchFamily="18" charset="0"/>
                <a:cs typeface="Calibri" panose="020F0502020204030204" pitchFamily="34" charset="0"/>
              </a:rPr>
              <a:t> </a:t>
            </a:r>
            <a:r>
              <a:rPr lang="vi-VN" sz="2200" dirty="0">
                <a:latin typeface="Calibri" panose="020F0502020204030204" pitchFamily="34" charset="0"/>
                <a:ea typeface="Times New Roman" panose="02020603050405020304" pitchFamily="18" charset="0"/>
                <a:cs typeface="Calibri" panose="020F0502020204030204" pitchFamily="34" charset="0"/>
              </a:rPr>
              <a:t>and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exhaustive</a:t>
            </a:r>
            <a:r>
              <a:rPr lang="vi-VN" sz="2200" dirty="0">
                <a:latin typeface="Calibri" panose="020F0502020204030204" pitchFamily="34" charset="0"/>
                <a:ea typeface="Times New Roman" panose="02020603050405020304" pitchFamily="18" charset="0"/>
                <a:cs typeface="Calibri" panose="020F0502020204030204" pitchFamily="34"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200" dirty="0">
                <a:latin typeface="Calibri" panose="020F0502020204030204" pitchFamily="34" charset="0"/>
                <a:ea typeface="Times New Roman" panose="02020603050405020304" pitchFamily="18" charset="0"/>
                <a:cs typeface="Calibri" panose="020F0502020204030204" pitchFamily="34" charset="0"/>
              </a:rPr>
              <a:t>Mutually exclusive means that we cannot have rule conﬂicts here because no two rules will be triggered for the same tuple.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200" dirty="0">
                <a:latin typeface="Calibri" panose="020F0502020204030204" pitchFamily="34" charset="0"/>
                <a:ea typeface="Times New Roman" panose="02020603050405020304" pitchFamily="18" charset="0"/>
              </a:rPr>
              <a:t>Exhaustive means there is one rule for each possible attribute–value combination, so that this set of rules does not require a default rule.</a:t>
            </a:r>
            <a:endParaRPr lang="en-US" sz="2200" dirty="0"/>
          </a:p>
        </p:txBody>
      </p:sp>
    </p:spTree>
    <p:extLst>
      <p:ext uri="{BB962C8B-B14F-4D97-AF65-F5344CB8AC3E}">
        <p14:creationId xmlns:p14="http://schemas.microsoft.com/office/powerpoint/2010/main" val="3181378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5950" y="1225901"/>
            <a:ext cx="8817610" cy="4696542"/>
          </a:xfrm>
          <a:prstGeom prst="rect">
            <a:avLst/>
          </a:prstGeom>
        </p:spPr>
        <p:txBody>
          <a:bodyPr wrap="square">
            <a:spAutoFit/>
          </a:bodyPr>
          <a:lstStyle/>
          <a:p>
            <a:pPr algn="ctr">
              <a:lnSpc>
                <a:spcPct val="107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8.4.3 Rule Induction Using a Sequential Covering Algorithm</a:t>
            </a:r>
            <a:r>
              <a:rPr lang="vi-VN" sz="2200" dirty="0">
                <a:latin typeface="Calibri" panose="020F0502020204030204" pitchFamily="34" charset="0"/>
                <a:ea typeface="Times New Roman" panose="02020603050405020304" pitchFamily="18" charset="0"/>
                <a:cs typeface="Calibri" panose="020F0502020204030204" pitchFamily="34" charset="0"/>
              </a:rPr>
              <a:t>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vi-VN" sz="2200" dirty="0">
                <a:latin typeface="Calibri" panose="020F0502020204030204" pitchFamily="34" charset="0"/>
                <a:ea typeface="Times New Roman" panose="02020603050405020304" pitchFamily="18" charset="0"/>
                <a:cs typeface="Calibri" panose="020F0502020204030204" pitchFamily="34" charset="0"/>
              </a:rPr>
              <a:t>IF-THEN rules can be extracted directly from the training data (i.e., without having to generate a decision tree ﬁrst) using a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sequential covering algorithm</a:t>
            </a:r>
            <a:r>
              <a:rPr lang="vi-VN" sz="2200" dirty="0">
                <a:latin typeface="Calibri" panose="020F0502020204030204" pitchFamily="34" charset="0"/>
                <a:ea typeface="Times New Roman" panose="02020603050405020304" pitchFamily="18" charset="0"/>
                <a:cs typeface="Calibri" panose="020F0502020204030204" pitchFamily="34" charset="0"/>
              </a:rPr>
              <a:t>. </a:t>
            </a: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r>
              <a:rPr lang="vi-VN" sz="2200" dirty="0" smtClean="0">
                <a:latin typeface="Calibri" panose="020F0502020204030204" pitchFamily="34" charset="0"/>
                <a:ea typeface="Times New Roman" panose="02020603050405020304" pitchFamily="18" charset="0"/>
                <a:cs typeface="Calibri" panose="020F0502020204030204" pitchFamily="34" charset="0"/>
              </a:rPr>
              <a:t>There </a:t>
            </a:r>
            <a:r>
              <a:rPr lang="vi-VN" sz="2200" dirty="0">
                <a:latin typeface="Calibri" panose="020F0502020204030204" pitchFamily="34" charset="0"/>
                <a:ea typeface="Times New Roman" panose="02020603050405020304" pitchFamily="18" charset="0"/>
                <a:cs typeface="Calibri" panose="020F0502020204030204" pitchFamily="34" charset="0"/>
              </a:rPr>
              <a:t>are many sequential covering algorithms. Popular variations include AQ, CN2, and the more recent RIPPER.</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r>
              <a:rPr lang="vi-VN" sz="2200" dirty="0">
                <a:latin typeface="Calibri" panose="020F0502020204030204" pitchFamily="34" charset="0"/>
                <a:ea typeface="Times New Roman" panose="02020603050405020304" pitchFamily="18" charset="0"/>
              </a:rPr>
              <a:t> The general strategy is as </a:t>
            </a:r>
            <a:r>
              <a:rPr lang="vi-VN" sz="2200" dirty="0" smtClean="0">
                <a:latin typeface="Calibri" panose="020F0502020204030204" pitchFamily="34" charset="0"/>
                <a:ea typeface="Times New Roman" panose="02020603050405020304" pitchFamily="18" charset="0"/>
              </a:rPr>
              <a:t>follows</a:t>
            </a:r>
            <a:r>
              <a:rPr lang="en-US" sz="2200" dirty="0" smtClean="0">
                <a:latin typeface="Calibri" panose="020F0502020204030204" pitchFamily="34" charset="0"/>
                <a:ea typeface="Times New Roman" panose="02020603050405020304" pitchFamily="18" charset="0"/>
              </a:rPr>
              <a:t>:</a:t>
            </a:r>
            <a:r>
              <a:rPr lang="vi-VN" sz="2200" dirty="0" smtClean="0">
                <a:latin typeface="Calibri" panose="020F0502020204030204" pitchFamily="34" charset="0"/>
                <a:ea typeface="Times New Roman" panose="02020603050405020304" pitchFamily="18" charset="0"/>
              </a:rPr>
              <a:t> </a:t>
            </a:r>
            <a:endParaRPr lang="en-US" sz="22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r>
              <a:rPr lang="vi-VN" sz="2200" dirty="0" smtClean="0">
                <a:latin typeface="Calibri" panose="020F0502020204030204" pitchFamily="34" charset="0"/>
                <a:ea typeface="Times New Roman" panose="02020603050405020304" pitchFamily="18" charset="0"/>
              </a:rPr>
              <a:t>Rules </a:t>
            </a:r>
            <a:r>
              <a:rPr lang="vi-VN" sz="2200" dirty="0">
                <a:latin typeface="Calibri" panose="020F0502020204030204" pitchFamily="34" charset="0"/>
                <a:ea typeface="Times New Roman" panose="02020603050405020304" pitchFamily="18" charset="0"/>
              </a:rPr>
              <a:t>are learned one at a time. </a:t>
            </a:r>
            <a:endParaRPr lang="en-US" sz="22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r>
              <a:rPr lang="vi-VN" sz="2200" dirty="0" smtClean="0">
                <a:latin typeface="Calibri" panose="020F0502020204030204" pitchFamily="34" charset="0"/>
                <a:ea typeface="Times New Roman" panose="02020603050405020304" pitchFamily="18" charset="0"/>
              </a:rPr>
              <a:t>Each </a:t>
            </a:r>
            <a:r>
              <a:rPr lang="vi-VN" sz="2200" dirty="0">
                <a:latin typeface="Calibri" panose="020F0502020204030204" pitchFamily="34" charset="0"/>
                <a:ea typeface="Times New Roman" panose="02020603050405020304" pitchFamily="18" charset="0"/>
              </a:rPr>
              <a:t>time a rule is learned, the tuples covered by the rule are removed, and the process repeats on the remaining tuples.</a:t>
            </a:r>
            <a:endParaRPr lang="en-US" sz="2200" dirty="0"/>
          </a:p>
        </p:txBody>
      </p:sp>
    </p:spTree>
    <p:extLst>
      <p:ext uri="{BB962C8B-B14F-4D97-AF65-F5344CB8AC3E}">
        <p14:creationId xmlns:p14="http://schemas.microsoft.com/office/powerpoint/2010/main" val="189930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487680" y="571816"/>
            <a:ext cx="8641079" cy="6133783"/>
          </a:xfrm>
          <a:prstGeom prst="rect">
            <a:avLst/>
          </a:prstGeom>
          <a:noFill/>
          <a:ln>
            <a:noFill/>
          </a:ln>
        </p:spPr>
      </p:pic>
    </p:spTree>
    <p:extLst>
      <p:ext uri="{BB962C8B-B14F-4D97-AF65-F5344CB8AC3E}">
        <p14:creationId xmlns:p14="http://schemas.microsoft.com/office/powerpoint/2010/main" val="18789114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2150" y="538765"/>
            <a:ext cx="8832850" cy="2614177"/>
          </a:xfrm>
          <a:prstGeom prst="rect">
            <a:avLst/>
          </a:prstGeom>
        </p:spPr>
        <p:txBody>
          <a:bodyPr wrap="square">
            <a:spAutoFit/>
          </a:bodyPr>
          <a:lstStyle/>
          <a:p>
            <a:pPr>
              <a:lnSpc>
                <a:spcPct val="107000"/>
              </a:lnSpc>
              <a:spcAft>
                <a:spcPts val="1000"/>
              </a:spcAft>
            </a:pPr>
            <a:r>
              <a:rPr lang="vi-VN" sz="2200" dirty="0">
                <a:latin typeface="Calibri" panose="020F0502020204030204" pitchFamily="34" charset="0"/>
                <a:ea typeface="Times New Roman" panose="02020603050405020304" pitchFamily="18" charset="0"/>
                <a:cs typeface="Calibri" panose="020F0502020204030204" pitchFamily="34" charset="0"/>
              </a:rPr>
              <a:t>“How are rules learned?”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r>
              <a:rPr lang="vi-VN" sz="2200" dirty="0">
                <a:latin typeface="Calibri" panose="020F0502020204030204" pitchFamily="34" charset="0"/>
                <a:ea typeface="Times New Roman" panose="02020603050405020304" pitchFamily="18" charset="0"/>
              </a:rPr>
              <a:t>Suppose our training set, D, consists of loan application data. Attributes </a:t>
            </a:r>
            <a:r>
              <a:rPr lang="vi-VN" sz="2200" dirty="0" smtClean="0">
                <a:latin typeface="Calibri" panose="020F0502020204030204" pitchFamily="34" charset="0"/>
                <a:ea typeface="Times New Roman" panose="02020603050405020304" pitchFamily="18" charset="0"/>
              </a:rPr>
              <a:t>include </a:t>
            </a:r>
            <a:r>
              <a:rPr lang="vi-VN" sz="2200" i="1" dirty="0">
                <a:latin typeface="Calibri" panose="020F0502020204030204" pitchFamily="34" charset="0"/>
                <a:ea typeface="Times New Roman" panose="02020603050405020304" pitchFamily="18" charset="0"/>
              </a:rPr>
              <a:t>age, income, education level, residence, credit rating, </a:t>
            </a:r>
            <a:r>
              <a:rPr lang="vi-VN" sz="2200" dirty="0">
                <a:latin typeface="Calibri" panose="020F0502020204030204" pitchFamily="34" charset="0"/>
                <a:ea typeface="Times New Roman" panose="02020603050405020304" pitchFamily="18" charset="0"/>
              </a:rPr>
              <a:t>and</a:t>
            </a:r>
            <a:r>
              <a:rPr lang="vi-VN" sz="2200" i="1" dirty="0">
                <a:latin typeface="Calibri" panose="020F0502020204030204" pitchFamily="34" charset="0"/>
                <a:ea typeface="Times New Roman" panose="02020603050405020304" pitchFamily="18" charset="0"/>
              </a:rPr>
              <a:t> the term of the loan</a:t>
            </a:r>
            <a:r>
              <a:rPr lang="vi-VN" sz="2200" dirty="0">
                <a:latin typeface="Calibri" panose="020F0502020204030204" pitchFamily="34" charset="0"/>
                <a:ea typeface="Times New Roman" panose="02020603050405020304" pitchFamily="18" charset="0"/>
              </a:rPr>
              <a:t>. The classifying attribute is </a:t>
            </a:r>
            <a:r>
              <a:rPr lang="vi-VN" sz="2200" i="1" dirty="0">
                <a:latin typeface="Calibri" panose="020F0502020204030204" pitchFamily="34" charset="0"/>
                <a:ea typeface="Times New Roman" panose="02020603050405020304" pitchFamily="18" charset="0"/>
              </a:rPr>
              <a:t>loan decision</a:t>
            </a:r>
            <a:r>
              <a:rPr lang="vi-VN" sz="2200" dirty="0">
                <a:latin typeface="Calibri" panose="020F0502020204030204" pitchFamily="34" charset="0"/>
                <a:ea typeface="Times New Roman" panose="02020603050405020304" pitchFamily="18" charset="0"/>
              </a:rPr>
              <a:t>, which indicates whether a loan is accepted (considered safe) or rejected (considered risky). To learn a rule for the class “accept,” we start off with the most general rule possible, that is, the condition of the rule antecedent is empty. The rule is</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218055" y="3323172"/>
            <a:ext cx="5280025" cy="801688"/>
          </a:xfrm>
          <a:prstGeom prst="rect">
            <a:avLst/>
          </a:prstGeom>
          <a:noFill/>
          <a:ln>
            <a:noFill/>
          </a:ln>
        </p:spPr>
      </p:pic>
      <p:sp>
        <p:nvSpPr>
          <p:cNvPr id="6" name="Rectangle 5"/>
          <p:cNvSpPr/>
          <p:nvPr/>
        </p:nvSpPr>
        <p:spPr>
          <a:xfrm>
            <a:off x="692150" y="4465320"/>
            <a:ext cx="8619490" cy="1785104"/>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rPr>
              <a:t>We then consider each possible attribute test that may be added to the rule. These can be derived from the parameter Att vals, which contains a list of attributes with their associated values. For example, for an attribute–value pair (att, val), we can consider attribute tests such as </a:t>
            </a:r>
            <a:r>
              <a:rPr lang="vi-VN" sz="2200" dirty="0" smtClean="0">
                <a:latin typeface="Calibri" panose="020F0502020204030204" pitchFamily="34" charset="0"/>
                <a:ea typeface="Times New Roman" panose="02020603050405020304" pitchFamily="18" charset="0"/>
              </a:rPr>
              <a:t>att=val</a:t>
            </a:r>
            <a:r>
              <a:rPr lang="vi-VN" sz="2200" dirty="0">
                <a:latin typeface="Calibri" panose="020F0502020204030204" pitchFamily="34" charset="0"/>
                <a:ea typeface="Times New Roman" panose="02020603050405020304" pitchFamily="18" charset="0"/>
              </a:rPr>
              <a:t>, att </a:t>
            </a:r>
            <a:r>
              <a:rPr lang="vi-VN" sz="2200" dirty="0">
                <a:latin typeface="Cambria Math" panose="02040503050406030204" pitchFamily="18" charset="0"/>
                <a:ea typeface="Times New Roman" panose="02020603050405020304" pitchFamily="18" charset="0"/>
                <a:cs typeface="Cambria Math" panose="02040503050406030204" pitchFamily="18" charset="0"/>
              </a:rPr>
              <a:t>≤</a:t>
            </a:r>
            <a:r>
              <a:rPr lang="vi-VN" sz="2200" dirty="0">
                <a:latin typeface="Calibri" panose="020F0502020204030204" pitchFamily="34" charset="0"/>
                <a:ea typeface="Times New Roman" panose="02020603050405020304" pitchFamily="18" charset="0"/>
              </a:rPr>
              <a:t>val, att &gt; val, and so on.</a:t>
            </a:r>
            <a:endParaRPr lang="en-US" sz="2200" dirty="0"/>
          </a:p>
        </p:txBody>
      </p:sp>
    </p:spTree>
    <p:extLst>
      <p:ext uri="{BB962C8B-B14F-4D97-AF65-F5344CB8AC3E}">
        <p14:creationId xmlns:p14="http://schemas.microsoft.com/office/powerpoint/2010/main" val="23114239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512126" y="792796"/>
            <a:ext cx="9134794" cy="5882323"/>
          </a:xfrm>
          <a:prstGeom prst="rect">
            <a:avLst/>
          </a:prstGeom>
          <a:noFill/>
          <a:ln>
            <a:noFill/>
          </a:ln>
        </p:spPr>
      </p:pic>
    </p:spTree>
    <p:extLst>
      <p:ext uri="{BB962C8B-B14F-4D97-AF65-F5344CB8AC3E}">
        <p14:creationId xmlns:p14="http://schemas.microsoft.com/office/powerpoint/2010/main" val="16399250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39828" y="333812"/>
            <a:ext cx="4033668" cy="584775"/>
          </a:xfrm>
          <a:prstGeom prst="rect">
            <a:avLst/>
          </a:prstGeom>
        </p:spPr>
        <p:txBody>
          <a:bodyPr wrap="none">
            <a:spAutoFit/>
          </a:bodyPr>
          <a:lstStyle/>
          <a:p>
            <a:r>
              <a:rPr lang="vi-VN" sz="3200" b="1" dirty="0">
                <a:latin typeface="Calibri" panose="020F0502020204030204" pitchFamily="34" charset="0"/>
                <a:ea typeface="Times New Roman" panose="02020603050405020304" pitchFamily="18" charset="0"/>
              </a:rPr>
              <a:t>Rule Quality Measures</a:t>
            </a:r>
            <a:endParaRPr lang="en-US" sz="3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076005" y="1336228"/>
            <a:ext cx="7961313" cy="3351530"/>
          </a:xfrm>
          <a:prstGeom prst="rect">
            <a:avLst/>
          </a:prstGeom>
          <a:noFill/>
          <a:ln>
            <a:noFill/>
          </a:ln>
        </p:spPr>
      </p:pic>
      <p:sp>
        <p:nvSpPr>
          <p:cNvPr id="6" name="Rectangle 5"/>
          <p:cNvSpPr/>
          <p:nvPr/>
        </p:nvSpPr>
        <p:spPr>
          <a:xfrm>
            <a:off x="1076005" y="4748717"/>
            <a:ext cx="8403274" cy="2196499"/>
          </a:xfrm>
          <a:prstGeom prst="rect">
            <a:avLst/>
          </a:prstGeom>
        </p:spPr>
        <p:txBody>
          <a:bodyPr wrap="square">
            <a:spAutoFit/>
          </a:bodyPr>
          <a:lstStyle/>
          <a:p>
            <a:pPr>
              <a:lnSpc>
                <a:spcPct val="107000"/>
              </a:lnSpc>
              <a:spcAft>
                <a:spcPts val="1000"/>
              </a:spcAft>
            </a:pPr>
            <a:r>
              <a:rPr lang="vi-VN" sz="2000" dirty="0">
                <a:latin typeface="Calibri" panose="020F0502020204030204" pitchFamily="34" charset="0"/>
                <a:ea typeface="Times New Roman" panose="02020603050405020304" pitchFamily="18" charset="0"/>
                <a:cs typeface="Calibri" panose="020F0502020204030204" pitchFamily="34" charset="0"/>
              </a:rPr>
              <a:t>Rule R1 correctly classiﬁes 38 of the 40 tuples it covers. Rule R2 covers only two tuples, which it correctly classiﬁes. Their respective accuracies are 95% and 100%. Thus, R2 has greater accuracy than R1, but it is not the better rule because of its small coverage.</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1000"/>
              </a:spcAft>
            </a:pPr>
            <a:r>
              <a:rPr lang="vi-VN" sz="2000" dirty="0">
                <a:latin typeface="Calibri" panose="020F0502020204030204" pitchFamily="34" charset="0"/>
                <a:ea typeface="Times New Roman" panose="02020603050405020304" pitchFamily="18" charset="0"/>
                <a:cs typeface="Calibri" panose="020F0502020204030204" pitchFamily="34" charset="0"/>
              </a:rPr>
              <a:t>From that example, accuracy on its own is not a reliable estimate of rule quality. Coverage on its own is not useful either.</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57481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90600" y="1875663"/>
            <a:ext cx="8382000" cy="4004943"/>
          </a:xfrm>
          <a:prstGeom prst="rect">
            <a:avLst/>
          </a:prstGeom>
        </p:spPr>
        <p:txBody>
          <a:bodyPr wrap="square">
            <a:spAutoFit/>
          </a:bodyPr>
          <a:lstStyle/>
          <a:p>
            <a:pPr>
              <a:lnSpc>
                <a:spcPct val="107000"/>
              </a:lnSpc>
              <a:spcAft>
                <a:spcPts val="1000"/>
              </a:spcAft>
            </a:pPr>
            <a:r>
              <a:rPr lang="vi-VN" sz="2200" dirty="0">
                <a:latin typeface="Calibri" panose="020F0502020204030204" pitchFamily="34" charset="0"/>
                <a:ea typeface="Times New Roman" panose="02020603050405020304" pitchFamily="18" charset="0"/>
                <a:cs typeface="Calibri" panose="020F0502020204030204" pitchFamily="34" charset="0"/>
              </a:rPr>
              <a:t>So now we will look at a few, namely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entropy</a:t>
            </a:r>
            <a:r>
              <a:rPr lang="vi-VN" sz="2200" dirty="0">
                <a:latin typeface="Calibri" panose="020F0502020204030204" pitchFamily="34" charset="0"/>
                <a:ea typeface="Times New Roman" panose="02020603050405020304" pitchFamily="18" charset="0"/>
                <a:cs typeface="Calibri" panose="020F0502020204030204" pitchFamily="34" charset="0"/>
              </a:rPr>
              <a:t>, another based on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information gain</a:t>
            </a:r>
            <a:r>
              <a:rPr lang="vi-VN" sz="2200" dirty="0">
                <a:latin typeface="Calibri" panose="020F0502020204030204" pitchFamily="34" charset="0"/>
                <a:ea typeface="Times New Roman" panose="02020603050405020304" pitchFamily="18" charset="0"/>
                <a:cs typeface="Calibri" panose="020F0502020204030204" pitchFamily="34" charset="0"/>
              </a:rPr>
              <a:t>, and a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statistical test</a:t>
            </a:r>
            <a:r>
              <a:rPr lang="vi-VN" sz="2200" b="1" dirty="0">
                <a:latin typeface="Calibri" panose="020F0502020204030204" pitchFamily="34" charset="0"/>
                <a:ea typeface="Times New Roman" panose="02020603050405020304" pitchFamily="18" charset="0"/>
                <a:cs typeface="Calibri" panose="020F0502020204030204" pitchFamily="34" charset="0"/>
              </a:rPr>
              <a:t> </a:t>
            </a:r>
            <a:r>
              <a:rPr lang="vi-VN" sz="2200" dirty="0">
                <a:latin typeface="Calibri" panose="020F0502020204030204" pitchFamily="34" charset="0"/>
                <a:ea typeface="Times New Roman" panose="02020603050405020304" pitchFamily="18" charset="0"/>
                <a:cs typeface="Calibri" panose="020F0502020204030204" pitchFamily="34" charset="0"/>
              </a:rPr>
              <a:t>that considers coverage.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Wingdings" panose="05000000000000000000" pitchFamily="2" charset="2"/>
              <a:buChar char="Ø"/>
            </a:pPr>
            <a:r>
              <a:rPr lang="vi-VN" sz="2200" dirty="0">
                <a:latin typeface="Calibri" panose="020F0502020204030204" pitchFamily="34" charset="0"/>
                <a:ea typeface="Times New Roman" panose="02020603050405020304" pitchFamily="18" charset="0"/>
                <a:cs typeface="Calibri" panose="020F0502020204030204" pitchFamily="34" charset="0"/>
              </a:rPr>
              <a:t>Our current rule is R: IF </a:t>
            </a:r>
            <a:r>
              <a:rPr lang="vi-VN" sz="2200" i="1" dirty="0">
                <a:latin typeface="Calibri" panose="020F0502020204030204" pitchFamily="34" charset="0"/>
                <a:ea typeface="Times New Roman" panose="02020603050405020304" pitchFamily="18" charset="0"/>
                <a:cs typeface="Calibri" panose="020F0502020204030204" pitchFamily="34" charset="0"/>
              </a:rPr>
              <a:t>condition</a:t>
            </a:r>
            <a:r>
              <a:rPr lang="vi-VN" sz="2200" dirty="0">
                <a:latin typeface="Calibri" panose="020F0502020204030204" pitchFamily="34" charset="0"/>
                <a:ea typeface="Times New Roman" panose="02020603050405020304" pitchFamily="18" charset="0"/>
                <a:cs typeface="Calibri" panose="020F0502020204030204" pitchFamily="34" charset="0"/>
              </a:rPr>
              <a:t> THEN </a:t>
            </a:r>
            <a:r>
              <a:rPr lang="vi-VN" sz="2200" i="1" dirty="0">
                <a:latin typeface="Calibri" panose="020F0502020204030204" pitchFamily="34" charset="0"/>
                <a:ea typeface="Times New Roman" panose="02020603050405020304" pitchFamily="18" charset="0"/>
                <a:cs typeface="Calibri" panose="020F0502020204030204" pitchFamily="34" charset="0"/>
              </a:rPr>
              <a:t>class=c</a:t>
            </a:r>
            <a:r>
              <a:rPr lang="vi-VN" sz="2200" dirty="0">
                <a:latin typeface="Calibri" panose="020F0502020204030204" pitchFamily="34" charset="0"/>
                <a:ea typeface="Times New Roman" panose="02020603050405020304" pitchFamily="18" charset="0"/>
                <a:cs typeface="Calibri" panose="020F0502020204030204" pitchFamily="34" charset="0"/>
              </a:rPr>
              <a:t>. </a:t>
            </a:r>
            <a:endParaRPr lang="en-US" sz="22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07000"/>
              </a:lnSpc>
              <a:spcAft>
                <a:spcPts val="1000"/>
              </a:spcAft>
              <a:buFont typeface="Wingdings" panose="05000000000000000000" pitchFamily="2" charset="2"/>
              <a:buChar char="Ø"/>
            </a:pPr>
            <a:r>
              <a:rPr lang="vi-VN" sz="2200" dirty="0" smtClean="0">
                <a:latin typeface="Calibri" panose="020F0502020204030204" pitchFamily="34" charset="0"/>
                <a:ea typeface="Times New Roman" panose="02020603050405020304" pitchFamily="18" charset="0"/>
                <a:cs typeface="Calibri" panose="020F0502020204030204" pitchFamily="34" charset="0"/>
              </a:rPr>
              <a:t>We </a:t>
            </a:r>
            <a:r>
              <a:rPr lang="vi-VN" sz="2200" dirty="0">
                <a:latin typeface="Calibri" panose="020F0502020204030204" pitchFamily="34" charset="0"/>
                <a:ea typeface="Times New Roman" panose="02020603050405020304" pitchFamily="18" charset="0"/>
                <a:cs typeface="Calibri" panose="020F0502020204030204" pitchFamily="34" charset="0"/>
              </a:rPr>
              <a:t>call the new condition, </a:t>
            </a:r>
            <a:r>
              <a:rPr lang="vi-VN" sz="2200" i="1" dirty="0">
                <a:latin typeface="Calibri" panose="020F0502020204030204" pitchFamily="34" charset="0"/>
                <a:ea typeface="Times New Roman" panose="02020603050405020304" pitchFamily="18" charset="0"/>
                <a:cs typeface="Calibri" panose="020F0502020204030204" pitchFamily="34" charset="0"/>
              </a:rPr>
              <a:t>condition'</a:t>
            </a:r>
            <a:r>
              <a:rPr lang="vi-VN" sz="2200" dirty="0">
                <a:latin typeface="Calibri" panose="020F0502020204030204" pitchFamily="34" charset="0"/>
                <a:ea typeface="Times New Roman" panose="02020603050405020304" pitchFamily="18" charset="0"/>
                <a:cs typeface="Calibri" panose="020F0502020204030204" pitchFamily="34" charset="0"/>
              </a:rPr>
              <a:t>, where R': IF </a:t>
            </a:r>
            <a:r>
              <a:rPr lang="vi-VN" sz="2200" i="1" dirty="0">
                <a:latin typeface="Calibri" panose="020F0502020204030204" pitchFamily="34" charset="0"/>
                <a:ea typeface="Times New Roman" panose="02020603050405020304" pitchFamily="18" charset="0"/>
                <a:cs typeface="Calibri" panose="020F0502020204030204" pitchFamily="34" charset="0"/>
              </a:rPr>
              <a:t>condition'</a:t>
            </a:r>
            <a:r>
              <a:rPr lang="vi-VN" sz="2200" dirty="0">
                <a:latin typeface="Calibri" panose="020F0502020204030204" pitchFamily="34" charset="0"/>
                <a:ea typeface="Times New Roman" panose="02020603050405020304" pitchFamily="18" charset="0"/>
                <a:cs typeface="Calibri" panose="020F0502020204030204" pitchFamily="34" charset="0"/>
              </a:rPr>
              <a:t> THEN </a:t>
            </a:r>
            <a:r>
              <a:rPr lang="vi-VN" sz="2200" i="1" dirty="0">
                <a:latin typeface="Calibri" panose="020F0502020204030204" pitchFamily="34" charset="0"/>
                <a:ea typeface="Times New Roman" panose="02020603050405020304" pitchFamily="18" charset="0"/>
                <a:cs typeface="Calibri" panose="020F0502020204030204" pitchFamily="34" charset="0"/>
              </a:rPr>
              <a:t>class=c</a:t>
            </a:r>
            <a:r>
              <a:rPr lang="vi-VN" sz="2200" dirty="0">
                <a:latin typeface="Calibri" panose="020F0502020204030204" pitchFamily="34" charset="0"/>
                <a:ea typeface="Times New Roman" panose="02020603050405020304" pitchFamily="18" charset="0"/>
                <a:cs typeface="Calibri" panose="020F0502020204030204" pitchFamily="34" charset="0"/>
              </a:rPr>
              <a:t> is our potential new rule. </a:t>
            </a:r>
            <a:r>
              <a:rPr lang="en-US" sz="2200" dirty="0">
                <a:latin typeface="Calibri" panose="020F0502020204030204" pitchFamily="34" charset="0"/>
                <a:ea typeface="Times New Roman" panose="02020603050405020304" pitchFamily="18" charset="0"/>
                <a:cs typeface="Calibri" panose="020F0502020204030204" pitchFamily="34" charset="0"/>
              </a:rPr>
              <a:t>W</a:t>
            </a:r>
            <a:r>
              <a:rPr lang="vi-VN" sz="2200" dirty="0">
                <a:latin typeface="Calibri" panose="020F0502020204030204" pitchFamily="34" charset="0"/>
                <a:ea typeface="Times New Roman" panose="02020603050405020304" pitchFamily="18" charset="0"/>
                <a:cs typeface="Calibri" panose="020F0502020204030204" pitchFamily="34" charset="0"/>
              </a:rPr>
              <a:t>e want to see if R' is any better than R.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r>
              <a:rPr lang="vi-VN" sz="2200" b="1" dirty="0">
                <a:solidFill>
                  <a:srgbClr val="0070C0"/>
                </a:solidFill>
                <a:latin typeface="Calibri" panose="020F0502020204030204" pitchFamily="34" charset="0"/>
                <a:ea typeface="Times New Roman" panose="02020603050405020304" pitchFamily="18" charset="0"/>
              </a:rPr>
              <a:t>Entropy</a:t>
            </a:r>
            <a:r>
              <a:rPr lang="vi-VN" sz="2200" dirty="0">
                <a:latin typeface="Calibri" panose="020F0502020204030204" pitchFamily="34" charset="0"/>
                <a:ea typeface="Times New Roman" panose="02020603050405020304" pitchFamily="18" charset="0"/>
              </a:rPr>
              <a:t> is also known as the expected information needed to classify a tuple in data set, D. Here,D is the set of tuples covered by </a:t>
            </a:r>
            <a:r>
              <a:rPr lang="vi-VN" sz="2200" i="1" dirty="0">
                <a:latin typeface="Calibri" panose="020F0502020204030204" pitchFamily="34" charset="0"/>
                <a:ea typeface="Times New Roman" panose="02020603050405020304" pitchFamily="18" charset="0"/>
              </a:rPr>
              <a:t>condition'</a:t>
            </a:r>
            <a:r>
              <a:rPr lang="vi-VN" sz="2200" dirty="0">
                <a:latin typeface="Calibri" panose="020F0502020204030204" pitchFamily="34" charset="0"/>
                <a:ea typeface="Times New Roman" panose="02020603050405020304" pitchFamily="18" charset="0"/>
              </a:rPr>
              <a:t> and p</a:t>
            </a:r>
            <a:r>
              <a:rPr lang="vi-VN" sz="2200" baseline="-25000"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is the probability of class C</a:t>
            </a:r>
            <a:r>
              <a:rPr lang="vi-VN" sz="2200" baseline="-25000"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in D. The lower the entropy, the better condition' is.</a:t>
            </a:r>
            <a:endParaRPr lang="en-US" sz="2200" dirty="0"/>
          </a:p>
        </p:txBody>
      </p:sp>
    </p:spTree>
    <p:extLst>
      <p:ext uri="{BB962C8B-B14F-4D97-AF65-F5344CB8AC3E}">
        <p14:creationId xmlns:p14="http://schemas.microsoft.com/office/powerpoint/2010/main" val="39018318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977077"/>
            <a:ext cx="8595360" cy="3477875"/>
          </a:xfrm>
          <a:prstGeom prst="rect">
            <a:avLst/>
          </a:prstGeom>
        </p:spPr>
        <p:txBody>
          <a:bodyPr wrap="square">
            <a:spAutoFit/>
          </a:bodyPr>
          <a:lstStyle/>
          <a:p>
            <a:pPr marL="342900" indent="-342900">
              <a:buFont typeface="Wingdings" panose="05000000000000000000" pitchFamily="2" charset="2"/>
              <a:buChar char="Ø"/>
            </a:pPr>
            <a:r>
              <a:rPr lang="vi-VN" sz="2200" dirty="0">
                <a:latin typeface="Calibri" panose="020F0502020204030204" pitchFamily="34" charset="0"/>
                <a:ea typeface="Times New Roman" panose="02020603050405020304" pitchFamily="18" charset="0"/>
              </a:rPr>
              <a:t>Another measure is based on </a:t>
            </a:r>
            <a:r>
              <a:rPr lang="vi-VN" sz="2200" b="1" dirty="0">
                <a:solidFill>
                  <a:srgbClr val="0070C0"/>
                </a:solidFill>
                <a:latin typeface="Calibri" panose="020F0502020204030204" pitchFamily="34" charset="0"/>
                <a:ea typeface="Times New Roman" panose="02020603050405020304" pitchFamily="18" charset="0"/>
              </a:rPr>
              <a:t>information gain</a:t>
            </a:r>
            <a:r>
              <a:rPr lang="vi-VN" sz="2200" dirty="0">
                <a:latin typeface="Calibri" panose="020F0502020204030204" pitchFamily="34" charset="0"/>
                <a:ea typeface="Times New Roman" panose="02020603050405020304" pitchFamily="18" charset="0"/>
              </a:rPr>
              <a:t> and was proposed in </a:t>
            </a:r>
            <a:r>
              <a:rPr lang="vi-VN" sz="2200" b="1" dirty="0">
                <a:solidFill>
                  <a:srgbClr val="0070C0"/>
                </a:solidFill>
                <a:latin typeface="Calibri" panose="020F0502020204030204" pitchFamily="34" charset="0"/>
                <a:ea typeface="Times New Roman" panose="02020603050405020304" pitchFamily="18" charset="0"/>
              </a:rPr>
              <a:t>FOIL (First Order Inductive Learner)</a:t>
            </a:r>
            <a:r>
              <a:rPr lang="vi-VN" sz="2200" dirty="0">
                <a:latin typeface="Calibri" panose="020F0502020204030204" pitchFamily="34" charset="0"/>
                <a:ea typeface="Times New Roman" panose="02020603050405020304" pitchFamily="18" charset="0"/>
              </a:rPr>
              <a:t>.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In </a:t>
            </a:r>
            <a:r>
              <a:rPr lang="vi-VN" sz="2200" dirty="0">
                <a:latin typeface="Calibri" panose="020F0502020204030204" pitchFamily="34" charset="0"/>
                <a:ea typeface="Times New Roman" panose="02020603050405020304" pitchFamily="18" charset="0"/>
              </a:rPr>
              <a:t>machine learning, the tuples of the class for which we are learning rules are called positive tuples, while the remaining tuples are negative.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Let </a:t>
            </a:r>
            <a:r>
              <a:rPr lang="vi-VN" sz="2200" dirty="0">
                <a:latin typeface="Calibri" panose="020F0502020204030204" pitchFamily="34" charset="0"/>
                <a:ea typeface="Times New Roman" panose="02020603050405020304" pitchFamily="18" charset="0"/>
              </a:rPr>
              <a:t>pos (neg) be the number of positive (negative) tuples covered by R.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Let </a:t>
            </a:r>
            <a:r>
              <a:rPr lang="vi-VN" sz="2200" dirty="0">
                <a:latin typeface="Calibri" panose="020F0502020204030204" pitchFamily="34" charset="0"/>
                <a:ea typeface="Times New Roman" panose="02020603050405020304" pitchFamily="18" charset="0"/>
              </a:rPr>
              <a:t>pos' (neg') be the number of positive (negative) tuples covered by R'. </a:t>
            </a:r>
            <a:endParaRPr lang="en-US" sz="2200" dirty="0" smtClean="0">
              <a:latin typeface="Calibri" panose="020F0502020204030204" pitchFamily="34" charset="0"/>
              <a:ea typeface="Times New Roman" panose="02020603050405020304" pitchFamily="18" charset="0"/>
            </a:endParaRPr>
          </a:p>
          <a:p>
            <a:endParaRPr lang="en-US" sz="2200" dirty="0" smtClean="0">
              <a:latin typeface="Calibri" panose="020F0502020204030204" pitchFamily="34" charset="0"/>
              <a:ea typeface="Times New Roman" panose="02020603050405020304" pitchFamily="18" charset="0"/>
            </a:endParaRPr>
          </a:p>
          <a:p>
            <a:r>
              <a:rPr lang="vi-VN" sz="2200" dirty="0" smtClean="0">
                <a:latin typeface="Calibri" panose="020F0502020204030204" pitchFamily="34" charset="0"/>
                <a:ea typeface="Times New Roman" panose="02020603050405020304" pitchFamily="18" charset="0"/>
              </a:rPr>
              <a:t>FOIL </a:t>
            </a:r>
            <a:r>
              <a:rPr lang="vi-VN" sz="2200" dirty="0">
                <a:latin typeface="Calibri" panose="020F0502020204030204" pitchFamily="34" charset="0"/>
                <a:ea typeface="Times New Roman" panose="02020603050405020304" pitchFamily="18" charset="0"/>
              </a:rPr>
              <a:t>assesses the information gained by extending condition' as</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135380" y="4827586"/>
            <a:ext cx="7696200" cy="1161733"/>
          </a:xfrm>
          <a:prstGeom prst="rect">
            <a:avLst/>
          </a:prstGeom>
          <a:noFill/>
          <a:ln>
            <a:noFill/>
          </a:ln>
        </p:spPr>
      </p:pic>
    </p:spTree>
    <p:extLst>
      <p:ext uri="{BB962C8B-B14F-4D97-AF65-F5344CB8AC3E}">
        <p14:creationId xmlns:p14="http://schemas.microsoft.com/office/powerpoint/2010/main" val="23508788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2630" y="338337"/>
            <a:ext cx="8756650" cy="2462213"/>
          </a:xfrm>
          <a:prstGeom prst="rect">
            <a:avLst/>
          </a:prstGeom>
        </p:spPr>
        <p:txBody>
          <a:bodyPr wrap="square">
            <a:spAutoFit/>
          </a:bodyPr>
          <a:lstStyle/>
          <a:p>
            <a:pPr marL="342900" indent="-342900">
              <a:buFont typeface="Wingdings" panose="05000000000000000000" pitchFamily="2" charset="2"/>
              <a:buChar char="Ø"/>
            </a:pPr>
            <a:r>
              <a:rPr lang="vi-VN" sz="2200" dirty="0">
                <a:latin typeface="Calibri" panose="020F0502020204030204" pitchFamily="34" charset="0"/>
                <a:ea typeface="Times New Roman" panose="02020603050405020304" pitchFamily="18" charset="0"/>
              </a:rPr>
              <a:t>We can also use a </a:t>
            </a:r>
            <a:r>
              <a:rPr lang="vi-VN" sz="2200" b="1" dirty="0">
                <a:solidFill>
                  <a:srgbClr val="0070C0"/>
                </a:solidFill>
                <a:latin typeface="Calibri" panose="020F0502020204030204" pitchFamily="34" charset="0"/>
                <a:ea typeface="Times New Roman" panose="02020603050405020304" pitchFamily="18" charset="0"/>
              </a:rPr>
              <a:t>statistical test</a:t>
            </a:r>
            <a:r>
              <a:rPr lang="vi-VN" sz="2200" dirty="0">
                <a:latin typeface="Calibri" panose="020F0502020204030204" pitchFamily="34" charset="0"/>
                <a:ea typeface="Times New Roman" panose="02020603050405020304" pitchFamily="18" charset="0"/>
              </a:rPr>
              <a:t> </a:t>
            </a:r>
            <a:r>
              <a:rPr lang="vi-VN" sz="2200" b="1" dirty="0">
                <a:solidFill>
                  <a:srgbClr val="0070C0"/>
                </a:solidFill>
                <a:latin typeface="Calibri" panose="020F0502020204030204" pitchFamily="34" charset="0"/>
                <a:ea typeface="Times New Roman" panose="02020603050405020304" pitchFamily="18" charset="0"/>
              </a:rPr>
              <a:t>of signiﬁcance</a:t>
            </a:r>
            <a:r>
              <a:rPr lang="vi-VN" sz="2200" dirty="0">
                <a:latin typeface="Calibri" panose="020F0502020204030204" pitchFamily="34" charset="0"/>
                <a:ea typeface="Times New Roman" panose="02020603050405020304" pitchFamily="18" charset="0"/>
              </a:rPr>
              <a:t> to determine if the apparent effect of a rule is not attributed to chance but instead indicates a genuine correlation between attribute values and classes</a:t>
            </a:r>
            <a:r>
              <a:rPr lang="vi-VN" sz="2200" dirty="0" smtClean="0">
                <a:latin typeface="Calibri" panose="020F0502020204030204" pitchFamily="34" charset="0"/>
                <a:ea typeface="Times New Roman" panose="02020603050405020304" pitchFamily="18" charset="0"/>
              </a:rPr>
              <a:t>.</a:t>
            </a:r>
            <a:r>
              <a:rPr lang="en-US" sz="2200" dirty="0" smtClean="0">
                <a:latin typeface="Calibri" panose="020F0502020204030204" pitchFamily="34" charset="0"/>
                <a:ea typeface="Times New Roman" panose="02020603050405020304" pitchFamily="18" charset="0"/>
              </a:rPr>
              <a:t> </a:t>
            </a: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The </a:t>
            </a:r>
            <a:r>
              <a:rPr lang="vi-VN" sz="2200" dirty="0">
                <a:latin typeface="Calibri" panose="020F0502020204030204" pitchFamily="34" charset="0"/>
                <a:ea typeface="Times New Roman" panose="02020603050405020304" pitchFamily="18" charset="0"/>
              </a:rPr>
              <a:t>test compares the observed distribution among classes of tuples covered by a rule with the expected distribution that would result if the rule made predictions at random.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We </a:t>
            </a:r>
            <a:r>
              <a:rPr lang="vi-VN" sz="2200" dirty="0">
                <a:latin typeface="Calibri" panose="020F0502020204030204" pitchFamily="34" charset="0"/>
                <a:ea typeface="Times New Roman" panose="02020603050405020304" pitchFamily="18" charset="0"/>
              </a:rPr>
              <a:t>can use the </a:t>
            </a:r>
            <a:r>
              <a:rPr lang="vi-VN" sz="2200" b="1" dirty="0">
                <a:solidFill>
                  <a:srgbClr val="0070C0"/>
                </a:solidFill>
                <a:latin typeface="Calibri" panose="020F0502020204030204" pitchFamily="34" charset="0"/>
                <a:ea typeface="Times New Roman" panose="02020603050405020304" pitchFamily="18" charset="0"/>
              </a:rPr>
              <a:t>likelihood ratiostatistic</a:t>
            </a:r>
            <a:r>
              <a:rPr lang="vi-VN" sz="2200" dirty="0">
                <a:latin typeface="Calibri" panose="020F0502020204030204" pitchFamily="34" charset="0"/>
                <a:ea typeface="Times New Roman" panose="02020603050405020304" pitchFamily="18" charset="0"/>
              </a:rPr>
              <a:t>,</a:t>
            </a:r>
            <a:endParaRPr lang="en-US" sz="2200"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1210310" y="2961640"/>
            <a:ext cx="7308850" cy="1275080"/>
          </a:xfrm>
          <a:prstGeom prst="rect">
            <a:avLst/>
          </a:prstGeom>
          <a:noFill/>
          <a:ln>
            <a:noFill/>
          </a:ln>
        </p:spPr>
      </p:pic>
      <p:sp>
        <p:nvSpPr>
          <p:cNvPr id="5" name="Rectangle 4"/>
          <p:cNvSpPr/>
          <p:nvPr/>
        </p:nvSpPr>
        <p:spPr>
          <a:xfrm>
            <a:off x="935990" y="4846320"/>
            <a:ext cx="8329930" cy="1785104"/>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rPr>
              <a:t>where m is the number of classes. </a:t>
            </a:r>
            <a:endParaRPr lang="en-US" sz="2200" dirty="0" smtClean="0">
              <a:latin typeface="Calibri" panose="020F0502020204030204" pitchFamily="34" charset="0"/>
              <a:ea typeface="Times New Roman" panose="02020603050405020304" pitchFamily="18" charset="0"/>
            </a:endParaRPr>
          </a:p>
          <a:p>
            <a:endParaRPr lang="en-US" sz="2200" dirty="0">
              <a:latin typeface="Calibri" panose="020F0502020204030204" pitchFamily="34" charset="0"/>
              <a:ea typeface="Times New Roman" panose="02020603050405020304" pitchFamily="18" charset="0"/>
            </a:endParaRPr>
          </a:p>
          <a:p>
            <a:r>
              <a:rPr lang="vi-VN" sz="2200" dirty="0" smtClean="0">
                <a:latin typeface="Calibri" panose="020F0502020204030204" pitchFamily="34" charset="0"/>
                <a:ea typeface="Times New Roman" panose="02020603050405020304" pitchFamily="18" charset="0"/>
              </a:rPr>
              <a:t>For </a:t>
            </a:r>
            <a:r>
              <a:rPr lang="vi-VN" sz="2200" dirty="0">
                <a:latin typeface="Calibri" panose="020F0502020204030204" pitchFamily="34" charset="0"/>
                <a:ea typeface="Times New Roman" panose="02020603050405020304" pitchFamily="18" charset="0"/>
              </a:rPr>
              <a:t>tuples satisfying the rule, f</a:t>
            </a:r>
            <a:r>
              <a:rPr lang="vi-VN" sz="2200" baseline="-25000"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is the observed frequency of each class </a:t>
            </a:r>
            <a:r>
              <a:rPr lang="vi-VN" sz="2200" i="1"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among the tuples. e</a:t>
            </a:r>
            <a:r>
              <a:rPr lang="vi-VN" sz="2200" baseline="-25000"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is what we would expect the frequency of each class </a:t>
            </a:r>
            <a:r>
              <a:rPr lang="vi-VN" sz="2200" i="1"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to be if the rule made random predictions.</a:t>
            </a:r>
            <a:endParaRPr lang="en-US" sz="2200" dirty="0"/>
          </a:p>
        </p:txBody>
      </p:sp>
    </p:spTree>
    <p:extLst>
      <p:ext uri="{BB962C8B-B14F-4D97-AF65-F5344CB8AC3E}">
        <p14:creationId xmlns:p14="http://schemas.microsoft.com/office/powerpoint/2010/main" val="13115742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44478" y="333812"/>
            <a:ext cx="2353529" cy="584775"/>
          </a:xfrm>
          <a:prstGeom prst="rect">
            <a:avLst/>
          </a:prstGeom>
        </p:spPr>
        <p:txBody>
          <a:bodyPr wrap="none">
            <a:spAutoFit/>
          </a:bodyPr>
          <a:lstStyle/>
          <a:p>
            <a:r>
              <a:rPr lang="vi-VN" sz="3200" b="1" dirty="0">
                <a:latin typeface="Calibri" panose="020F0502020204030204" pitchFamily="34" charset="0"/>
                <a:ea typeface="Times New Roman" panose="02020603050405020304" pitchFamily="18" charset="0"/>
              </a:rPr>
              <a:t>Rule Pruning</a:t>
            </a:r>
            <a:endParaRPr lang="en-US" sz="3200" dirty="0"/>
          </a:p>
        </p:txBody>
      </p:sp>
      <p:sp>
        <p:nvSpPr>
          <p:cNvPr id="5" name="Rectangle 4"/>
          <p:cNvSpPr/>
          <p:nvPr/>
        </p:nvSpPr>
        <p:spPr>
          <a:xfrm>
            <a:off x="600710" y="918587"/>
            <a:ext cx="8741410" cy="2462213"/>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rPr>
              <a:t>Because the rules will likely overﬁt the data, they may perform well on the training data, but less well on subsequent data. </a:t>
            </a:r>
            <a:endParaRPr lang="en-US" sz="22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à"/>
            </a:pPr>
            <a:r>
              <a:rPr lang="vi-VN" sz="2200" dirty="0" smtClean="0">
                <a:latin typeface="Calibri" panose="020F0502020204030204" pitchFamily="34" charset="0"/>
                <a:ea typeface="Times New Roman" panose="02020603050405020304" pitchFamily="18" charset="0"/>
              </a:rPr>
              <a:t>To </a:t>
            </a:r>
            <a:r>
              <a:rPr lang="vi-VN" sz="2200" dirty="0">
                <a:latin typeface="Calibri" panose="020F0502020204030204" pitchFamily="34" charset="0"/>
                <a:ea typeface="Times New Roman" panose="02020603050405020304" pitchFamily="18" charset="0"/>
              </a:rPr>
              <a:t>compensate for this, we can prune the rules.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A </a:t>
            </a:r>
            <a:r>
              <a:rPr lang="vi-VN" sz="2200" dirty="0">
                <a:latin typeface="Calibri" panose="020F0502020204030204" pitchFamily="34" charset="0"/>
                <a:ea typeface="Times New Roman" panose="02020603050405020304" pitchFamily="18" charset="0"/>
              </a:rPr>
              <a:t>rule is pruned by removing a conjunct (attribute test).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We </a:t>
            </a:r>
            <a:r>
              <a:rPr lang="vi-VN" sz="2200" dirty="0">
                <a:latin typeface="Calibri" panose="020F0502020204030204" pitchFamily="34" charset="0"/>
                <a:ea typeface="Times New Roman" panose="02020603050405020304" pitchFamily="18" charset="0"/>
              </a:rPr>
              <a:t>choose to prune a rule, R, if the pruned version of R has greater quality. </a:t>
            </a:r>
            <a:endParaRPr lang="en-US" sz="22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à"/>
            </a:pPr>
            <a:r>
              <a:rPr lang="vi-VN" sz="2200" dirty="0" smtClean="0">
                <a:latin typeface="Calibri" panose="020F0502020204030204" pitchFamily="34" charset="0"/>
                <a:ea typeface="Times New Roman" panose="02020603050405020304" pitchFamily="18" charset="0"/>
              </a:rPr>
              <a:t>FOIL </a:t>
            </a:r>
            <a:r>
              <a:rPr lang="vi-VN" sz="2200" dirty="0">
                <a:latin typeface="Calibri" panose="020F0502020204030204" pitchFamily="34" charset="0"/>
                <a:ea typeface="Times New Roman" panose="02020603050405020304" pitchFamily="18" charset="0"/>
              </a:rPr>
              <a:t>uses a simple yet effective method. Given a rule, R,</a:t>
            </a:r>
            <a:endParaRPr lang="en-US" sz="2200"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281746" y="3584574"/>
            <a:ext cx="7267893" cy="1231265"/>
          </a:xfrm>
          <a:prstGeom prst="rect">
            <a:avLst/>
          </a:prstGeom>
          <a:noFill/>
          <a:ln>
            <a:noFill/>
          </a:ln>
        </p:spPr>
      </p:pic>
      <p:sp>
        <p:nvSpPr>
          <p:cNvPr id="8" name="Rectangle 7"/>
          <p:cNvSpPr/>
          <p:nvPr/>
        </p:nvSpPr>
        <p:spPr>
          <a:xfrm>
            <a:off x="600710" y="5114227"/>
            <a:ext cx="8634730" cy="769441"/>
          </a:xfrm>
          <a:prstGeom prst="rect">
            <a:avLst/>
          </a:prstGeom>
        </p:spPr>
        <p:txBody>
          <a:bodyPr wrap="square">
            <a:spAutoFit/>
          </a:bodyPr>
          <a:lstStyle/>
          <a:p>
            <a:r>
              <a:rPr lang="vi-VN" sz="2200" dirty="0">
                <a:latin typeface="Calibri" panose="020F0502020204030204" pitchFamily="34" charset="0"/>
                <a:ea typeface="Times New Roman" panose="02020603050405020304" pitchFamily="18" charset="0"/>
              </a:rPr>
              <a:t>where </a:t>
            </a:r>
            <a:r>
              <a:rPr lang="vi-VN" sz="2200" i="1" dirty="0">
                <a:latin typeface="Calibri" panose="020F0502020204030204" pitchFamily="34" charset="0"/>
                <a:ea typeface="Times New Roman" panose="02020603050405020304" pitchFamily="18" charset="0"/>
              </a:rPr>
              <a:t>pos</a:t>
            </a:r>
            <a:r>
              <a:rPr lang="vi-VN" sz="2200" dirty="0">
                <a:latin typeface="Calibri" panose="020F0502020204030204" pitchFamily="34" charset="0"/>
                <a:ea typeface="Times New Roman" panose="02020603050405020304" pitchFamily="18" charset="0"/>
              </a:rPr>
              <a:t> and </a:t>
            </a:r>
            <a:r>
              <a:rPr lang="vi-VN" sz="2200" i="1" dirty="0">
                <a:latin typeface="Calibri" panose="020F0502020204030204" pitchFamily="34" charset="0"/>
                <a:ea typeface="Times New Roman" panose="02020603050405020304" pitchFamily="18" charset="0"/>
              </a:rPr>
              <a:t>neg</a:t>
            </a:r>
            <a:r>
              <a:rPr lang="vi-VN" sz="2200" dirty="0">
                <a:latin typeface="Calibri" panose="020F0502020204030204" pitchFamily="34" charset="0"/>
                <a:ea typeface="Times New Roman" panose="02020603050405020304" pitchFamily="18" charset="0"/>
              </a:rPr>
              <a:t> are the number of positive and negative tuples covered by R, respectively.</a:t>
            </a:r>
            <a:endParaRPr lang="en-US" sz="2200" dirty="0"/>
          </a:p>
        </p:txBody>
      </p:sp>
    </p:spTree>
    <p:extLst>
      <p:ext uri="{BB962C8B-B14F-4D97-AF65-F5344CB8AC3E}">
        <p14:creationId xmlns:p14="http://schemas.microsoft.com/office/powerpoint/2010/main" val="2202187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12134" y="668457"/>
            <a:ext cx="6056273" cy="584775"/>
          </a:xfrm>
          <a:prstGeom prst="rect">
            <a:avLst/>
          </a:prstGeom>
        </p:spPr>
        <p:txBody>
          <a:bodyPr wrap="none">
            <a:spAutoFit/>
          </a:bodyPr>
          <a:lstStyle/>
          <a:p>
            <a:r>
              <a:rPr lang="vi-VN" sz="3200" dirty="0">
                <a:latin typeface="Calibri" panose="020F0502020204030204" pitchFamily="34" charset="0"/>
                <a:ea typeface="Times New Roman" panose="02020603050405020304" pitchFamily="18" charset="0"/>
              </a:rPr>
              <a:t>8.5 Model Evaluation and Selection</a:t>
            </a:r>
            <a:endParaRPr lang="en-US" sz="3200" dirty="0"/>
          </a:p>
        </p:txBody>
      </p:sp>
      <p:sp>
        <p:nvSpPr>
          <p:cNvPr id="6" name="Rectangle 5"/>
          <p:cNvSpPr/>
          <p:nvPr/>
        </p:nvSpPr>
        <p:spPr>
          <a:xfrm>
            <a:off x="783590" y="2598933"/>
            <a:ext cx="8208010" cy="3104632"/>
          </a:xfrm>
          <a:prstGeom prst="rect">
            <a:avLst/>
          </a:prstGeom>
        </p:spPr>
        <p:txBody>
          <a:bodyPr wrap="square">
            <a:spAutoFit/>
          </a:bodyPr>
          <a:lstStyle/>
          <a:p>
            <a:pPr>
              <a:lnSpc>
                <a:spcPct val="107000"/>
              </a:lnSpc>
              <a:spcAft>
                <a:spcPts val="1000"/>
              </a:spcAft>
            </a:pPr>
            <a:r>
              <a:rPr lang="vi-VN" sz="2600" dirty="0">
                <a:latin typeface="Calibri" panose="020F0502020204030204" pitchFamily="34" charset="0"/>
                <a:ea typeface="Times New Roman" panose="02020603050405020304" pitchFamily="18" charset="0"/>
                <a:cs typeface="Calibri" panose="020F0502020204030204" pitchFamily="34" charset="0"/>
              </a:rPr>
              <a:t>8.5.1 Metrics for Evaluating Classiﬁer Performance</a:t>
            </a:r>
            <a:r>
              <a:rPr lang="vi-VN" dirty="0">
                <a:latin typeface="Calibri" panose="020F0502020204030204" pitchFamily="34" charset="0"/>
                <a:ea typeface="Times New Roman" panose="02020603050405020304" pitchFamily="18" charset="0"/>
                <a:cs typeface="Calibri" panose="020F0502020204030204" pitchFamily="34" charset="0"/>
              </a:rPr>
              <a:t> </a:t>
            </a:r>
            <a:endParaRPr lang="en-US"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200" dirty="0">
                <a:latin typeface="Calibri" panose="020F0502020204030204" pitchFamily="34" charset="0"/>
                <a:ea typeface="Times New Roman" panose="02020603050405020304" pitchFamily="18" charset="0"/>
              </a:rPr>
              <a:t>This section presents measures for assessing how good or how “accurate” your classiﬁer is at predicting the class label of tuples.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The </a:t>
            </a:r>
            <a:r>
              <a:rPr lang="vi-VN" sz="2200" dirty="0">
                <a:latin typeface="Calibri" panose="020F0502020204030204" pitchFamily="34" charset="0"/>
                <a:ea typeface="Times New Roman" panose="02020603050405020304" pitchFamily="18" charset="0"/>
              </a:rPr>
              <a:t>classiﬁer evaluation measures  include accuracy (also known as recognition rate), sensitivity (or recall), speciﬁcity, precision, F</a:t>
            </a:r>
            <a:r>
              <a:rPr lang="vi-VN" sz="2200" baseline="-25000" dirty="0">
                <a:latin typeface="Calibri" panose="020F0502020204030204" pitchFamily="34" charset="0"/>
                <a:ea typeface="Times New Roman" panose="02020603050405020304" pitchFamily="18" charset="0"/>
              </a:rPr>
              <a:t>1</a:t>
            </a:r>
            <a:r>
              <a:rPr lang="vi-VN" sz="2200" dirty="0">
                <a:latin typeface="Calibri" panose="020F0502020204030204" pitchFamily="34" charset="0"/>
                <a:ea typeface="Times New Roman" panose="02020603050405020304" pitchFamily="18" charset="0"/>
              </a:rPr>
              <a:t>, and </a:t>
            </a:r>
            <a:r>
              <a:rPr lang="vi-VN" sz="2200" dirty="0" smtClean="0">
                <a:latin typeface="Calibri" panose="020F0502020204030204" pitchFamily="34" charset="0"/>
                <a:ea typeface="Times New Roman" panose="02020603050405020304" pitchFamily="18" charset="0"/>
              </a:rPr>
              <a:t>F</a:t>
            </a:r>
            <a:r>
              <a:rPr lang="el-GR" sz="2200" dirty="0" smtClean="0">
                <a:latin typeface="Calibri" panose="020F0502020204030204" pitchFamily="34" charset="0"/>
                <a:ea typeface="Times New Roman" panose="02020603050405020304" pitchFamily="18" charset="0"/>
              </a:rPr>
              <a:t>β.</a:t>
            </a:r>
            <a:endParaRPr lang="en-US" sz="2200" dirty="0"/>
          </a:p>
        </p:txBody>
      </p:sp>
    </p:spTree>
    <p:extLst>
      <p:ext uri="{BB962C8B-B14F-4D97-AF65-F5344CB8AC3E}">
        <p14:creationId xmlns:p14="http://schemas.microsoft.com/office/powerpoint/2010/main" val="15774440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649286" y="294640"/>
            <a:ext cx="8997634" cy="6380480"/>
          </a:xfrm>
          <a:prstGeom prst="rect">
            <a:avLst/>
          </a:prstGeom>
          <a:noFill/>
          <a:ln>
            <a:noFill/>
          </a:ln>
        </p:spPr>
      </p:pic>
    </p:spTree>
    <p:extLst>
      <p:ext uri="{BB962C8B-B14F-4D97-AF65-F5344CB8AC3E}">
        <p14:creationId xmlns:p14="http://schemas.microsoft.com/office/powerpoint/2010/main" val="12793780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466407" y="888047"/>
            <a:ext cx="9073834" cy="5604194"/>
          </a:xfrm>
          <a:prstGeom prst="rect">
            <a:avLst/>
          </a:prstGeom>
          <a:noFill/>
          <a:ln>
            <a:noFill/>
          </a:ln>
        </p:spPr>
      </p:pic>
    </p:spTree>
    <p:extLst>
      <p:ext uri="{BB962C8B-B14F-4D97-AF65-F5344CB8AC3E}">
        <p14:creationId xmlns:p14="http://schemas.microsoft.com/office/powerpoint/2010/main" val="13945121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0709" y="692875"/>
            <a:ext cx="8878570" cy="1446550"/>
          </a:xfrm>
          <a:prstGeom prst="rect">
            <a:avLst/>
          </a:prstGeom>
        </p:spPr>
        <p:txBody>
          <a:bodyPr wrap="square">
            <a:spAutoFit/>
          </a:bodyPr>
          <a:lstStyle/>
          <a:p>
            <a:pPr marL="342900" indent="-342900">
              <a:buFont typeface="Wingdings" panose="05000000000000000000" pitchFamily="2" charset="2"/>
              <a:buChar char="Ø"/>
            </a:pPr>
            <a:r>
              <a:rPr lang="el-GR" sz="2200" dirty="0">
                <a:latin typeface="Calibri" panose="020F0502020204030204" pitchFamily="34" charset="0"/>
                <a:ea typeface="Times New Roman" panose="02020603050405020304" pitchFamily="18" charset="0"/>
              </a:rPr>
              <a:t>The </a:t>
            </a:r>
            <a:r>
              <a:rPr lang="el-GR" sz="2200" b="1" dirty="0">
                <a:solidFill>
                  <a:srgbClr val="0070C0"/>
                </a:solidFill>
                <a:latin typeface="Calibri" panose="020F0502020204030204" pitchFamily="34" charset="0"/>
                <a:ea typeface="Times New Roman" panose="02020603050405020304" pitchFamily="18" charset="0"/>
              </a:rPr>
              <a:t>confusion matrix</a:t>
            </a:r>
            <a:r>
              <a:rPr lang="el-GR" sz="2200" b="1" dirty="0">
                <a:latin typeface="Calibri" panose="020F0502020204030204" pitchFamily="34" charset="0"/>
                <a:ea typeface="Times New Roman" panose="02020603050405020304" pitchFamily="18" charset="0"/>
              </a:rPr>
              <a:t> </a:t>
            </a:r>
            <a:r>
              <a:rPr lang="el-GR" sz="2200" dirty="0">
                <a:latin typeface="Calibri" panose="020F0502020204030204" pitchFamily="34" charset="0"/>
                <a:ea typeface="Times New Roman" panose="02020603050405020304" pitchFamily="18" charset="0"/>
              </a:rPr>
              <a:t>is a useful tool for analyzing how well your classiﬁer can recognize tuples of different classes. TP and TN tell us when the classiﬁer is getting things right, while FP and FN tell us when the classiﬁer is getting things wrong (i.e.,mislabeling).</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85018" y="2753042"/>
            <a:ext cx="8509953" cy="3144838"/>
          </a:xfrm>
          <a:prstGeom prst="rect">
            <a:avLst/>
          </a:prstGeom>
          <a:noFill/>
          <a:ln>
            <a:noFill/>
          </a:ln>
        </p:spPr>
      </p:pic>
    </p:spTree>
    <p:extLst>
      <p:ext uri="{BB962C8B-B14F-4D97-AF65-F5344CB8AC3E}">
        <p14:creationId xmlns:p14="http://schemas.microsoft.com/office/powerpoint/2010/main" val="4094785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396240" y="1551940"/>
            <a:ext cx="9128760" cy="4665980"/>
          </a:xfrm>
          <a:prstGeom prst="rect">
            <a:avLst/>
          </a:prstGeom>
          <a:noFill/>
          <a:ln>
            <a:noFill/>
          </a:ln>
        </p:spPr>
      </p:pic>
    </p:spTree>
    <p:extLst>
      <p:ext uri="{BB962C8B-B14F-4D97-AF65-F5344CB8AC3E}">
        <p14:creationId xmlns:p14="http://schemas.microsoft.com/office/powerpoint/2010/main" val="1251766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90270" y="696893"/>
            <a:ext cx="8390890" cy="1107996"/>
          </a:xfrm>
          <a:prstGeom prst="rect">
            <a:avLst/>
          </a:prstGeom>
        </p:spPr>
        <p:txBody>
          <a:bodyPr wrap="square">
            <a:spAutoFit/>
          </a:bodyPr>
          <a:lstStyle/>
          <a:p>
            <a:pPr marL="342900" indent="-342900">
              <a:buFont typeface="Arial" panose="020B0604020202020204" pitchFamily="34" charset="0"/>
              <a:buChar char="•"/>
            </a:pPr>
            <a:r>
              <a:rPr lang="el-GR" sz="2200" dirty="0">
                <a:latin typeface="Calibri" panose="020F0502020204030204" pitchFamily="34" charset="0"/>
                <a:ea typeface="Times New Roman" panose="02020603050405020304" pitchFamily="18" charset="0"/>
              </a:rPr>
              <a:t>The </a:t>
            </a:r>
            <a:r>
              <a:rPr lang="el-GR" sz="2200" b="1" dirty="0">
                <a:solidFill>
                  <a:srgbClr val="0070C0"/>
                </a:solidFill>
                <a:latin typeface="Calibri" panose="020F0502020204030204" pitchFamily="34" charset="0"/>
                <a:ea typeface="Times New Roman" panose="02020603050405020304" pitchFamily="18" charset="0"/>
              </a:rPr>
              <a:t>accuracy</a:t>
            </a:r>
            <a:r>
              <a:rPr lang="el-GR" sz="2200" b="1" dirty="0">
                <a:latin typeface="Calibri" panose="020F0502020204030204" pitchFamily="34" charset="0"/>
                <a:ea typeface="Times New Roman" panose="02020603050405020304" pitchFamily="18" charset="0"/>
              </a:rPr>
              <a:t> </a:t>
            </a:r>
            <a:r>
              <a:rPr lang="vi-VN" sz="2200" dirty="0">
                <a:latin typeface="Calibri" panose="020F0502020204030204" pitchFamily="34" charset="0"/>
                <a:ea typeface="Times New Roman" panose="02020603050405020304" pitchFamily="18" charset="0"/>
              </a:rPr>
              <a:t>( or </a:t>
            </a:r>
            <a:r>
              <a:rPr lang="vi-VN" sz="2200" b="1" dirty="0">
                <a:solidFill>
                  <a:srgbClr val="0070C0"/>
                </a:solidFill>
                <a:latin typeface="Calibri" panose="020F0502020204030204" pitchFamily="34" charset="0"/>
                <a:ea typeface="Times New Roman" panose="02020603050405020304" pitchFamily="18" charset="0"/>
              </a:rPr>
              <a:t>Recognition rate</a:t>
            </a:r>
            <a:r>
              <a:rPr lang="vi-VN" sz="2200" dirty="0">
                <a:latin typeface="Calibri" panose="020F0502020204030204" pitchFamily="34" charset="0"/>
                <a:ea typeface="Times New Roman" panose="02020603050405020304" pitchFamily="18" charset="0"/>
              </a:rPr>
              <a:t>) </a:t>
            </a:r>
            <a:r>
              <a:rPr lang="el-GR" sz="2200" dirty="0">
                <a:latin typeface="Calibri" panose="020F0502020204030204" pitchFamily="34" charset="0"/>
                <a:ea typeface="Times New Roman" panose="02020603050405020304" pitchFamily="18" charset="0"/>
              </a:rPr>
              <a:t>of a classiﬁer on a given test set is the percentage of test set tuples that are correctly classiﬁed by the classiﬁer. That is,</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787525" y="2011045"/>
            <a:ext cx="6548755" cy="1219835"/>
          </a:xfrm>
          <a:prstGeom prst="rect">
            <a:avLst/>
          </a:prstGeom>
          <a:noFill/>
          <a:ln>
            <a:noFill/>
          </a:ln>
        </p:spPr>
      </p:pic>
      <p:sp>
        <p:nvSpPr>
          <p:cNvPr id="6" name="Rectangle 5"/>
          <p:cNvSpPr/>
          <p:nvPr/>
        </p:nvSpPr>
        <p:spPr>
          <a:xfrm>
            <a:off x="890270" y="3628625"/>
            <a:ext cx="8390890" cy="1179169"/>
          </a:xfrm>
          <a:prstGeom prst="rect">
            <a:avLst/>
          </a:prstGeom>
        </p:spPr>
        <p:txBody>
          <a:bodyPr wrap="square">
            <a:spAutoFit/>
          </a:bodyPr>
          <a:lstStyle/>
          <a:p>
            <a:pPr marL="342900" indent="-342900">
              <a:lnSpc>
                <a:spcPct val="107000"/>
              </a:lnSpc>
              <a:spcAft>
                <a:spcPts val="1000"/>
              </a:spcAft>
              <a:buFont typeface="Arial" panose="020B0604020202020204" pitchFamily="34" charset="0"/>
              <a:buChar char="•"/>
            </a:pPr>
            <a:r>
              <a:rPr lang="el-GR" sz="2200" dirty="0">
                <a:latin typeface="Calibri" panose="020F0502020204030204" pitchFamily="34" charset="0"/>
                <a:ea typeface="Times New Roman" panose="02020603050405020304" pitchFamily="18" charset="0"/>
                <a:cs typeface="Calibri" panose="020F0502020204030204" pitchFamily="34" charset="0"/>
              </a:rPr>
              <a:t>We can also speak of the </a:t>
            </a:r>
            <a:r>
              <a:rPr lang="el-GR" sz="2200"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error</a:t>
            </a:r>
            <a:r>
              <a:rPr lang="en-US" sz="2200"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 </a:t>
            </a:r>
            <a:r>
              <a:rPr lang="el-GR" sz="2200"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rate</a:t>
            </a:r>
            <a:r>
              <a:rPr lang="el-GR" sz="2200" dirty="0" smtClean="0">
                <a:latin typeface="Calibri" panose="020F0502020204030204" pitchFamily="34" charset="0"/>
                <a:ea typeface="Times New Roman" panose="02020603050405020304" pitchFamily="18" charset="0"/>
                <a:cs typeface="Calibri" panose="020F0502020204030204" pitchFamily="34" charset="0"/>
              </a:rPr>
              <a:t> </a:t>
            </a:r>
            <a:r>
              <a:rPr lang="el-GR" sz="2200" dirty="0">
                <a:latin typeface="Calibri" panose="020F0502020204030204" pitchFamily="34" charset="0"/>
                <a:ea typeface="Times New Roman" panose="02020603050405020304" pitchFamily="18" charset="0"/>
                <a:cs typeface="Calibri" panose="020F0502020204030204" pitchFamily="34" charset="0"/>
              </a:rPr>
              <a:t>or </a:t>
            </a:r>
            <a:r>
              <a:rPr lang="el-GR" sz="2200"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misclassiﬁcation</a:t>
            </a:r>
            <a:r>
              <a:rPr lang="en-US" sz="2200"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 </a:t>
            </a:r>
            <a:r>
              <a:rPr lang="el-GR" sz="2200"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rate</a:t>
            </a:r>
            <a:r>
              <a:rPr lang="el-GR" sz="2200" dirty="0" smtClean="0">
                <a:latin typeface="Calibri" panose="020F0502020204030204" pitchFamily="34" charset="0"/>
                <a:ea typeface="Times New Roman" panose="02020603050405020304" pitchFamily="18" charset="0"/>
                <a:cs typeface="Calibri" panose="020F0502020204030204" pitchFamily="34" charset="0"/>
              </a:rPr>
              <a:t> </a:t>
            </a:r>
            <a:r>
              <a:rPr lang="el-GR" sz="2200" dirty="0">
                <a:latin typeface="Calibri" panose="020F0502020204030204" pitchFamily="34" charset="0"/>
                <a:ea typeface="Times New Roman" panose="02020603050405020304" pitchFamily="18" charset="0"/>
                <a:cs typeface="Calibri" panose="020F0502020204030204" pitchFamily="34" charset="0"/>
              </a:rPr>
              <a:t>of a classiﬁer, M, which is simply 1</a:t>
            </a:r>
            <a:r>
              <a:rPr lang="el-GR" sz="2200" dirty="0">
                <a:latin typeface="Cambria Math" panose="02040503050406030204" pitchFamily="18" charset="0"/>
                <a:ea typeface="Times New Roman" panose="02020603050405020304" pitchFamily="18" charset="0"/>
                <a:cs typeface="Cambria Math" panose="02040503050406030204" pitchFamily="18" charset="0"/>
              </a:rPr>
              <a:t>−</a:t>
            </a:r>
            <a:r>
              <a:rPr lang="el-GR" sz="2200" dirty="0">
                <a:latin typeface="Calibri" panose="020F0502020204030204" pitchFamily="34" charset="0"/>
                <a:ea typeface="Times New Roman" panose="02020603050405020304" pitchFamily="18" charset="0"/>
                <a:cs typeface="Calibri" panose="020F0502020204030204" pitchFamily="34" charset="0"/>
              </a:rPr>
              <a:t>accuracy(M), </a:t>
            </a:r>
            <a:r>
              <a:rPr lang="el-GR" sz="2200" dirty="0" smtClean="0">
                <a:latin typeface="Calibri" panose="020F0502020204030204" pitchFamily="34" charset="0"/>
                <a:ea typeface="Times New Roman" panose="02020603050405020304" pitchFamily="18" charset="0"/>
                <a:cs typeface="Calibri" panose="020F0502020204030204" pitchFamily="34" charset="0"/>
              </a:rPr>
              <a:t>where</a:t>
            </a:r>
            <a:r>
              <a:rPr lang="en-US" sz="2200" dirty="0" smtClean="0">
                <a:latin typeface="Calibri" panose="020F0502020204030204" pitchFamily="34" charset="0"/>
                <a:ea typeface="Times New Roman" panose="02020603050405020304" pitchFamily="18" charset="0"/>
                <a:cs typeface="Calibri" panose="020F0502020204030204" pitchFamily="34" charset="0"/>
              </a:rPr>
              <a:t> </a:t>
            </a:r>
            <a:r>
              <a:rPr lang="el-GR" sz="2200" dirty="0" smtClean="0">
                <a:latin typeface="Calibri" panose="020F0502020204030204" pitchFamily="34" charset="0"/>
                <a:ea typeface="Times New Roman" panose="02020603050405020304" pitchFamily="18" charset="0"/>
                <a:cs typeface="Calibri" panose="020F0502020204030204" pitchFamily="34" charset="0"/>
              </a:rPr>
              <a:t>accuracy(M</a:t>
            </a:r>
            <a:r>
              <a:rPr lang="el-GR" sz="2200" dirty="0">
                <a:latin typeface="Calibri" panose="020F0502020204030204" pitchFamily="34" charset="0"/>
                <a:ea typeface="Times New Roman" panose="02020603050405020304" pitchFamily="18" charset="0"/>
                <a:cs typeface="Calibri" panose="020F0502020204030204" pitchFamily="34" charset="0"/>
              </a:rPr>
              <a:t>) is the accuracy of M. This also can be computed as</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1558925" y="5205539"/>
            <a:ext cx="6929755" cy="1042861"/>
          </a:xfrm>
          <a:prstGeom prst="rect">
            <a:avLst/>
          </a:prstGeom>
          <a:noFill/>
          <a:ln>
            <a:noFill/>
          </a:ln>
        </p:spPr>
      </p:pic>
    </p:spTree>
    <p:extLst>
      <p:ext uri="{BB962C8B-B14F-4D97-AF65-F5344CB8AC3E}">
        <p14:creationId xmlns:p14="http://schemas.microsoft.com/office/powerpoint/2010/main" val="684191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9790" y="558394"/>
            <a:ext cx="8589010" cy="1107996"/>
          </a:xfrm>
          <a:prstGeom prst="rect">
            <a:avLst/>
          </a:prstGeom>
        </p:spPr>
        <p:txBody>
          <a:bodyPr wrap="square">
            <a:spAutoFit/>
          </a:bodyPr>
          <a:lstStyle/>
          <a:p>
            <a:r>
              <a:rPr lang="el-GR" sz="2200" dirty="0">
                <a:latin typeface="Calibri" panose="020F0502020204030204" pitchFamily="34" charset="0"/>
                <a:ea typeface="Times New Roman" panose="02020603050405020304" pitchFamily="18" charset="0"/>
              </a:rPr>
              <a:t>We</a:t>
            </a:r>
            <a:r>
              <a:rPr lang="el-GR" sz="2200" dirty="0">
                <a:latin typeface="Cambria Math" panose="02040503050406030204" pitchFamily="18" charset="0"/>
                <a:ea typeface="Times New Roman" panose="02020603050405020304" pitchFamily="18" charset="0"/>
                <a:cs typeface="Cambria Math" panose="02040503050406030204" pitchFamily="18" charset="0"/>
              </a:rPr>
              <a:t> </a:t>
            </a:r>
            <a:r>
              <a:rPr lang="el-GR" sz="2200" dirty="0">
                <a:latin typeface="Calibri" panose="020F0502020204030204" pitchFamily="34" charset="0"/>
                <a:ea typeface="Times New Roman" panose="02020603050405020304" pitchFamily="18" charset="0"/>
              </a:rPr>
              <a:t>now</a:t>
            </a:r>
            <a:r>
              <a:rPr lang="el-GR" sz="2200" dirty="0">
                <a:latin typeface="Cambria Math" panose="02040503050406030204" pitchFamily="18" charset="0"/>
                <a:ea typeface="Times New Roman" panose="02020603050405020304" pitchFamily="18" charset="0"/>
                <a:cs typeface="Cambria Math" panose="02040503050406030204" pitchFamily="18" charset="0"/>
              </a:rPr>
              <a:t> </a:t>
            </a:r>
            <a:r>
              <a:rPr lang="el-GR" sz="2200" dirty="0">
                <a:latin typeface="Calibri" panose="020F0502020204030204" pitchFamily="34" charset="0"/>
                <a:ea typeface="Times New Roman" panose="02020603050405020304" pitchFamily="18" charset="0"/>
              </a:rPr>
              <a:t>consider</a:t>
            </a:r>
            <a:r>
              <a:rPr lang="el-GR" sz="2200" dirty="0">
                <a:latin typeface="Cambria Math" panose="02040503050406030204" pitchFamily="18" charset="0"/>
                <a:ea typeface="Times New Roman" panose="02020603050405020304" pitchFamily="18" charset="0"/>
                <a:cs typeface="Cambria Math" panose="02040503050406030204" pitchFamily="18" charset="0"/>
              </a:rPr>
              <a:t> </a:t>
            </a:r>
            <a:r>
              <a:rPr lang="el-GR" sz="2200" dirty="0">
                <a:latin typeface="Calibri" panose="020F0502020204030204" pitchFamily="34" charset="0"/>
                <a:ea typeface="Times New Roman" panose="02020603050405020304" pitchFamily="18" charset="0"/>
              </a:rPr>
              <a:t>the</a:t>
            </a:r>
            <a:r>
              <a:rPr lang="el-GR" sz="2200" dirty="0">
                <a:latin typeface="Cambria Math" panose="02040503050406030204" pitchFamily="18" charset="0"/>
                <a:ea typeface="Times New Roman" panose="02020603050405020304" pitchFamily="18" charset="0"/>
                <a:cs typeface="Cambria Math" panose="02040503050406030204" pitchFamily="18" charset="0"/>
              </a:rPr>
              <a:t> </a:t>
            </a:r>
            <a:r>
              <a:rPr lang="el-GR" sz="2200" b="1" dirty="0">
                <a:solidFill>
                  <a:srgbClr val="0070C0"/>
                </a:solidFill>
                <a:latin typeface="Calibri" panose="020F0502020204030204" pitchFamily="34" charset="0"/>
                <a:ea typeface="Times New Roman" panose="02020603050405020304" pitchFamily="18" charset="0"/>
              </a:rPr>
              <a:t>class</a:t>
            </a:r>
            <a:r>
              <a:rPr lang="el-GR" sz="2200" b="1" dirty="0">
                <a:solidFill>
                  <a:srgbClr val="0070C0"/>
                </a:solidFill>
                <a:latin typeface="Cambria Math" panose="02040503050406030204" pitchFamily="18" charset="0"/>
                <a:ea typeface="Times New Roman" panose="02020603050405020304" pitchFamily="18" charset="0"/>
                <a:cs typeface="Cambria Math" panose="02040503050406030204" pitchFamily="18" charset="0"/>
              </a:rPr>
              <a:t> </a:t>
            </a:r>
            <a:r>
              <a:rPr lang="el-GR" sz="2200" b="1" dirty="0">
                <a:solidFill>
                  <a:srgbClr val="0070C0"/>
                </a:solidFill>
                <a:latin typeface="Calibri" panose="020F0502020204030204" pitchFamily="34" charset="0"/>
                <a:ea typeface="Times New Roman" panose="02020603050405020304" pitchFamily="18" charset="0"/>
              </a:rPr>
              <a:t>imbalance</a:t>
            </a:r>
            <a:r>
              <a:rPr lang="el-GR" sz="2200" b="1" dirty="0">
                <a:solidFill>
                  <a:srgbClr val="0070C0"/>
                </a:solidFill>
                <a:latin typeface="Cambria Math" panose="02040503050406030204" pitchFamily="18" charset="0"/>
                <a:ea typeface="Times New Roman" panose="02020603050405020304" pitchFamily="18" charset="0"/>
                <a:cs typeface="Cambria Math" panose="02040503050406030204" pitchFamily="18" charset="0"/>
              </a:rPr>
              <a:t> </a:t>
            </a:r>
            <a:r>
              <a:rPr lang="el-GR" sz="2200" b="1" dirty="0">
                <a:solidFill>
                  <a:srgbClr val="0070C0"/>
                </a:solidFill>
                <a:latin typeface="Calibri" panose="020F0502020204030204" pitchFamily="34" charset="0"/>
                <a:ea typeface="Times New Roman" panose="02020603050405020304" pitchFamily="18" charset="0"/>
              </a:rPr>
              <a:t>problem</a:t>
            </a:r>
            <a:r>
              <a:rPr lang="vi-VN" sz="2200" dirty="0">
                <a:latin typeface="Cambria Math" panose="02040503050406030204" pitchFamily="18" charset="0"/>
                <a:ea typeface="Times New Roman" panose="02020603050405020304" pitchFamily="18" charset="0"/>
                <a:cs typeface="Cambria Math" panose="02040503050406030204" pitchFamily="18" charset="0"/>
              </a:rPr>
              <a:t>, where the data set distribution reﬂects a signiﬁcant majority of the negative class and a minority positive class.</a:t>
            </a:r>
            <a:endParaRPr lang="en-US" sz="2200" dirty="0"/>
          </a:p>
        </p:txBody>
      </p:sp>
      <p:sp>
        <p:nvSpPr>
          <p:cNvPr id="4" name="Rectangle 3"/>
          <p:cNvSpPr/>
          <p:nvPr/>
        </p:nvSpPr>
        <p:spPr>
          <a:xfrm>
            <a:off x="859790" y="1970356"/>
            <a:ext cx="8482330" cy="2462213"/>
          </a:xfrm>
          <a:prstGeom prst="rect">
            <a:avLst/>
          </a:prstGeom>
        </p:spPr>
        <p:txBody>
          <a:bodyPr wrap="square">
            <a:spAutoFit/>
          </a:bodyPr>
          <a:lstStyle/>
          <a:p>
            <a:r>
              <a:rPr lang="vi-VN" sz="2200" dirty="0" smtClean="0">
                <a:latin typeface="Cambria Math" panose="02040503050406030204" pitchFamily="18" charset="0"/>
                <a:ea typeface="Times New Roman" panose="02020603050405020304" pitchFamily="18" charset="0"/>
                <a:cs typeface="Cambria Math" panose="02040503050406030204" pitchFamily="18" charset="0"/>
                <a:sym typeface="Wingdings" panose="05000000000000000000" pitchFamily="2" charset="2"/>
              </a:rPr>
              <a:t></a:t>
            </a:r>
            <a:r>
              <a:rPr lang="vi-VN" sz="2200" dirty="0" smtClean="0">
                <a:latin typeface="Cambria Math" panose="02040503050406030204" pitchFamily="18" charset="0"/>
                <a:ea typeface="Times New Roman" panose="02020603050405020304" pitchFamily="18" charset="0"/>
                <a:cs typeface="Cambria Math" panose="02040503050406030204" pitchFamily="18" charset="0"/>
              </a:rPr>
              <a:t>The </a:t>
            </a:r>
            <a:r>
              <a:rPr lang="vi-VN" sz="2200" dirty="0">
                <a:latin typeface="Cambria Math" panose="02040503050406030204" pitchFamily="18" charset="0"/>
                <a:ea typeface="Times New Roman" panose="02020603050405020304" pitchFamily="18" charset="0"/>
                <a:cs typeface="Cambria Math" panose="02040503050406030204" pitchFamily="18" charset="0"/>
              </a:rPr>
              <a:t>sensitivity and speciﬁcity measures can be used, respectively, for this purpose. </a:t>
            </a:r>
            <a:endParaRPr lang="en-US" sz="2200" dirty="0" smtClean="0">
              <a:latin typeface="Cambria Math" panose="02040503050406030204" pitchFamily="18" charset="0"/>
              <a:ea typeface="Times New Roman" panose="02020603050405020304" pitchFamily="18" charset="0"/>
              <a:cs typeface="Cambria Math" panose="02040503050406030204" pitchFamily="18" charset="0"/>
            </a:endParaRPr>
          </a:p>
          <a:p>
            <a:pPr marL="342900" indent="-342900">
              <a:buFont typeface="Arial" panose="020B0604020202020204" pitchFamily="34" charset="0"/>
              <a:buChar char="•"/>
            </a:pPr>
            <a:r>
              <a:rPr lang="vi-VN" sz="2200" b="1" dirty="0" smtClean="0">
                <a:solidFill>
                  <a:srgbClr val="0070C0"/>
                </a:solidFill>
                <a:latin typeface="Cambria Math" panose="02040503050406030204" pitchFamily="18" charset="0"/>
                <a:ea typeface="Times New Roman" panose="02020603050405020304" pitchFamily="18" charset="0"/>
                <a:cs typeface="Cambria Math" panose="02040503050406030204" pitchFamily="18" charset="0"/>
              </a:rPr>
              <a:t>Sensitivity</a:t>
            </a:r>
            <a:r>
              <a:rPr lang="vi-VN" sz="2200" dirty="0" smtClean="0">
                <a:latin typeface="Cambria Math" panose="02040503050406030204" pitchFamily="18" charset="0"/>
                <a:ea typeface="Times New Roman" panose="02020603050405020304" pitchFamily="18" charset="0"/>
                <a:cs typeface="Cambria Math" panose="02040503050406030204" pitchFamily="18" charset="0"/>
              </a:rPr>
              <a:t> </a:t>
            </a:r>
            <a:r>
              <a:rPr lang="vi-VN" sz="2200" dirty="0">
                <a:latin typeface="Cambria Math" panose="02040503050406030204" pitchFamily="18" charset="0"/>
                <a:ea typeface="Times New Roman" panose="02020603050405020304" pitchFamily="18" charset="0"/>
                <a:cs typeface="Cambria Math" panose="02040503050406030204" pitchFamily="18" charset="0"/>
              </a:rPr>
              <a:t>is also referred to as the true positive (recognition) rate (i.e., the proportion of positive tuples that are correctly </a:t>
            </a:r>
            <a:r>
              <a:rPr lang="vi-VN" sz="2200" dirty="0" smtClean="0">
                <a:latin typeface="Cambria Math" panose="02040503050406030204" pitchFamily="18" charset="0"/>
                <a:ea typeface="Times New Roman" panose="02020603050405020304" pitchFamily="18" charset="0"/>
                <a:cs typeface="Cambria Math" panose="02040503050406030204" pitchFamily="18" charset="0"/>
              </a:rPr>
              <a:t>identiﬁed)</a:t>
            </a:r>
            <a:r>
              <a:rPr lang="en-US" sz="2200" dirty="0" smtClean="0">
                <a:latin typeface="Cambria Math" panose="02040503050406030204" pitchFamily="18" charset="0"/>
                <a:ea typeface="Times New Roman" panose="02020603050405020304" pitchFamily="18" charset="0"/>
                <a:cs typeface="Cambria Math" panose="02040503050406030204" pitchFamily="18" charset="0"/>
              </a:rPr>
              <a:t>.</a:t>
            </a:r>
          </a:p>
          <a:p>
            <a:pPr marL="342900" indent="-342900">
              <a:buFont typeface="Arial" panose="020B0604020202020204" pitchFamily="34" charset="0"/>
              <a:buChar char="•"/>
            </a:pPr>
            <a:r>
              <a:rPr lang="en-US" sz="2200" b="1" dirty="0" smtClean="0">
                <a:solidFill>
                  <a:srgbClr val="0070C0"/>
                </a:solidFill>
                <a:latin typeface="Cambria Math" panose="02040503050406030204" pitchFamily="18" charset="0"/>
                <a:ea typeface="Times New Roman" panose="02020603050405020304" pitchFamily="18" charset="0"/>
                <a:cs typeface="Cambria Math" panose="02040503050406030204" pitchFamily="18" charset="0"/>
              </a:rPr>
              <a:t>S</a:t>
            </a:r>
            <a:r>
              <a:rPr lang="vi-VN" sz="2200" b="1" dirty="0" smtClean="0">
                <a:solidFill>
                  <a:srgbClr val="0070C0"/>
                </a:solidFill>
                <a:latin typeface="Cambria Math" panose="02040503050406030204" pitchFamily="18" charset="0"/>
                <a:ea typeface="Times New Roman" panose="02020603050405020304" pitchFamily="18" charset="0"/>
                <a:cs typeface="Cambria Math" panose="02040503050406030204" pitchFamily="18" charset="0"/>
              </a:rPr>
              <a:t>peciﬁcity</a:t>
            </a:r>
            <a:r>
              <a:rPr lang="vi-VN" sz="2200" dirty="0" smtClean="0">
                <a:latin typeface="Cambria Math" panose="02040503050406030204" pitchFamily="18" charset="0"/>
                <a:ea typeface="Times New Roman" panose="02020603050405020304" pitchFamily="18" charset="0"/>
                <a:cs typeface="Cambria Math" panose="02040503050406030204" pitchFamily="18" charset="0"/>
              </a:rPr>
              <a:t> </a:t>
            </a:r>
            <a:r>
              <a:rPr lang="vi-VN" sz="2200" dirty="0">
                <a:latin typeface="Cambria Math" panose="02040503050406030204" pitchFamily="18" charset="0"/>
                <a:ea typeface="Times New Roman" panose="02020603050405020304" pitchFamily="18" charset="0"/>
                <a:cs typeface="Cambria Math" panose="02040503050406030204" pitchFamily="18" charset="0"/>
              </a:rPr>
              <a:t>is the true negative rate (i.e., the proportion of negative tuples that are correctly identiﬁed). </a:t>
            </a:r>
            <a:endParaRPr lang="en-US" sz="2200" dirty="0" smtClean="0">
              <a:latin typeface="Cambria Math" panose="02040503050406030204" pitchFamily="18" charset="0"/>
              <a:ea typeface="Times New Roman" panose="02020603050405020304" pitchFamily="18" charset="0"/>
              <a:cs typeface="Cambria Math" panose="02040503050406030204" pitchFamily="18" charset="0"/>
            </a:endParaRPr>
          </a:p>
          <a:p>
            <a:pPr marL="342900" indent="-342900">
              <a:buFont typeface="Arial" panose="020B0604020202020204" pitchFamily="34" charset="0"/>
              <a:buChar char="•"/>
            </a:pPr>
            <a:r>
              <a:rPr lang="vi-VN" sz="2200" dirty="0" smtClean="0">
                <a:latin typeface="Cambria Math" panose="02040503050406030204" pitchFamily="18" charset="0"/>
                <a:ea typeface="Times New Roman" panose="02020603050405020304" pitchFamily="18" charset="0"/>
                <a:cs typeface="Cambria Math" panose="02040503050406030204" pitchFamily="18" charset="0"/>
              </a:rPr>
              <a:t>These </a:t>
            </a:r>
            <a:r>
              <a:rPr lang="vi-VN" sz="2200" dirty="0">
                <a:latin typeface="Cambria Math" panose="02040503050406030204" pitchFamily="18" charset="0"/>
                <a:ea typeface="Times New Roman" panose="02020603050405020304" pitchFamily="18" charset="0"/>
                <a:cs typeface="Cambria Math" panose="02040503050406030204" pitchFamily="18" charset="0"/>
              </a:rPr>
              <a:t>measures are deﬁned as</a:t>
            </a:r>
            <a:endParaRPr lang="en-US" sz="2200"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120775" y="4432569"/>
            <a:ext cx="7261225" cy="1983471"/>
          </a:xfrm>
          <a:prstGeom prst="rect">
            <a:avLst/>
          </a:prstGeom>
          <a:noFill/>
          <a:ln>
            <a:noFill/>
          </a:ln>
        </p:spPr>
      </p:pic>
    </p:spTree>
    <p:extLst>
      <p:ext uri="{BB962C8B-B14F-4D97-AF65-F5344CB8AC3E}">
        <p14:creationId xmlns:p14="http://schemas.microsoft.com/office/powerpoint/2010/main" val="3860753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999806" y="867092"/>
            <a:ext cx="8281354" cy="2058988"/>
          </a:xfrm>
          <a:prstGeom prst="rect">
            <a:avLst/>
          </a:prstGeom>
          <a:noFill/>
          <a:ln>
            <a:noFill/>
          </a:ln>
        </p:spPr>
      </p:pic>
      <p:pic>
        <p:nvPicPr>
          <p:cNvPr id="3" name="Picture 2"/>
          <p:cNvPicPr/>
          <p:nvPr/>
        </p:nvPicPr>
        <p:blipFill>
          <a:blip r:embed="rId3">
            <a:extLst>
              <a:ext uri="{28A0092B-C50C-407E-A947-70E740481C1C}">
                <a14:useLocalDpi xmlns:a14="http://schemas.microsoft.com/office/drawing/2010/main" val="0"/>
              </a:ext>
            </a:extLst>
          </a:blip>
          <a:srcRect/>
          <a:stretch>
            <a:fillRect/>
          </a:stretch>
        </p:blipFill>
        <p:spPr bwMode="auto">
          <a:xfrm>
            <a:off x="999806" y="3109276"/>
            <a:ext cx="8281354" cy="3352483"/>
          </a:xfrm>
          <a:prstGeom prst="rect">
            <a:avLst/>
          </a:prstGeom>
          <a:noFill/>
          <a:ln>
            <a:noFill/>
          </a:ln>
        </p:spPr>
      </p:pic>
    </p:spTree>
    <p:extLst>
      <p:ext uri="{BB962C8B-B14F-4D97-AF65-F5344CB8AC3E}">
        <p14:creationId xmlns:p14="http://schemas.microsoft.com/office/powerpoint/2010/main" val="3696893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76908" y="1110971"/>
            <a:ext cx="8741410" cy="1937069"/>
          </a:xfrm>
          <a:prstGeom prst="rect">
            <a:avLst/>
          </a:prstGeom>
        </p:spPr>
        <p:txBody>
          <a:bodyPr wrap="square">
            <a:spAutoFit/>
          </a:bodyPr>
          <a:lstStyle/>
          <a:p>
            <a:pPr marL="342900" indent="-342900">
              <a:lnSpc>
                <a:spcPct val="107000"/>
              </a:lnSpc>
              <a:spcAft>
                <a:spcPts val="1000"/>
              </a:spcAft>
              <a:buFont typeface="Wingdings" panose="05000000000000000000" pitchFamily="2" charset="2"/>
              <a:buChar char="Ø"/>
            </a:pPr>
            <a:r>
              <a:rPr lang="en-US" sz="2200" dirty="0">
                <a:latin typeface="Calibri" panose="020F0502020204030204" pitchFamily="34" charset="0"/>
                <a:ea typeface="Times New Roman" panose="02020603050405020304" pitchFamily="18" charset="0"/>
                <a:cs typeface="Calibri" panose="020F0502020204030204" pitchFamily="34" charset="0"/>
              </a:rPr>
              <a:t>The</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precision</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and</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recall</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measures</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are</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also</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widely</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used</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in</a:t>
            </a:r>
            <a:r>
              <a:rPr lang="en-US" sz="2200" dirty="0">
                <a:latin typeface="Cambria Math" panose="02040503050406030204" pitchFamily="18" charset="0"/>
                <a:ea typeface="Times New Roman" panose="02020603050405020304" pitchFamily="18" charset="0"/>
                <a:cs typeface="Cambria Math" panose="02040503050406030204" pitchFamily="18" charset="0"/>
              </a:rPr>
              <a:t> </a:t>
            </a:r>
            <a:r>
              <a:rPr lang="en-US" sz="2200" dirty="0">
                <a:latin typeface="Calibri" panose="020F0502020204030204" pitchFamily="34" charset="0"/>
                <a:ea typeface="Times New Roman" panose="02020603050405020304" pitchFamily="18" charset="0"/>
                <a:cs typeface="Calibri" panose="020F0502020204030204" pitchFamily="34" charset="0"/>
              </a:rPr>
              <a:t>classiﬁcation</a:t>
            </a:r>
            <a:r>
              <a:rPr lang="en-US" sz="2200" dirty="0">
                <a:latin typeface="Cambria Math" panose="02040503050406030204" pitchFamily="18" charset="0"/>
                <a:ea typeface="Times New Roman" panose="02020603050405020304" pitchFamily="18" charset="0"/>
                <a:cs typeface="Cambria Math" panose="02040503050406030204" pitchFamily="18"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l-GR" sz="2200" b="1" dirty="0">
                <a:solidFill>
                  <a:srgbClr val="0070C0"/>
                </a:solidFill>
                <a:latin typeface="Calibri" panose="020F0502020204030204" pitchFamily="34" charset="0"/>
                <a:ea typeface="Times New Roman" panose="02020603050405020304" pitchFamily="18" charset="0"/>
              </a:rPr>
              <a:t>Precision</a:t>
            </a:r>
            <a:r>
              <a:rPr lang="el-GR" sz="2200" dirty="0">
                <a:latin typeface="Calibri" panose="020F0502020204030204" pitchFamily="34" charset="0"/>
                <a:ea typeface="Times New Roman" panose="02020603050405020304" pitchFamily="18" charset="0"/>
              </a:rPr>
              <a:t> can be thought of as a measure of exactness (i.e., what percentage of tuples labeled as positive are actually </a:t>
            </a:r>
            <a:r>
              <a:rPr lang="el-GR" sz="2200" dirty="0" smtClean="0">
                <a:latin typeface="Calibri" panose="020F0502020204030204" pitchFamily="34" charset="0"/>
                <a:ea typeface="Times New Roman" panose="02020603050405020304" pitchFamily="18" charset="0"/>
              </a:rPr>
              <a:t>such)</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en-US" sz="2200" b="1" dirty="0">
                <a:solidFill>
                  <a:srgbClr val="0070C0"/>
                </a:solidFill>
                <a:latin typeface="Calibri" panose="020F0502020204030204" pitchFamily="34" charset="0"/>
                <a:ea typeface="Times New Roman" panose="02020603050405020304" pitchFamily="18" charset="0"/>
              </a:rPr>
              <a:t>R</a:t>
            </a:r>
            <a:r>
              <a:rPr lang="el-GR" sz="2200" b="1" dirty="0" smtClean="0">
                <a:solidFill>
                  <a:srgbClr val="0070C0"/>
                </a:solidFill>
                <a:latin typeface="Calibri" panose="020F0502020204030204" pitchFamily="34" charset="0"/>
                <a:ea typeface="Times New Roman" panose="02020603050405020304" pitchFamily="18" charset="0"/>
              </a:rPr>
              <a:t>ecall</a:t>
            </a:r>
            <a:r>
              <a:rPr lang="el-GR" sz="2200" dirty="0" smtClean="0">
                <a:latin typeface="Calibri" panose="020F0502020204030204" pitchFamily="34" charset="0"/>
                <a:ea typeface="Times New Roman" panose="02020603050405020304" pitchFamily="18" charset="0"/>
              </a:rPr>
              <a:t> </a:t>
            </a:r>
            <a:r>
              <a:rPr lang="el-GR" sz="2200" dirty="0">
                <a:latin typeface="Calibri" panose="020F0502020204030204" pitchFamily="34" charset="0"/>
                <a:ea typeface="Times New Roman" panose="02020603050405020304" pitchFamily="18" charset="0"/>
              </a:rPr>
              <a:t>is a measure of completeness (what percentage </a:t>
            </a:r>
            <a:r>
              <a:rPr lang="el-GR" sz="2200" dirty="0" smtClean="0">
                <a:latin typeface="Calibri" panose="020F0502020204030204" pitchFamily="34" charset="0"/>
                <a:ea typeface="Times New Roman" panose="02020603050405020304" pitchFamily="18" charset="0"/>
              </a:rPr>
              <a:t>of</a:t>
            </a:r>
            <a:r>
              <a:rPr lang="en-US" sz="2200" dirty="0" smtClean="0">
                <a:latin typeface="Calibri" panose="020F0502020204030204" pitchFamily="34" charset="0"/>
                <a:ea typeface="Times New Roman" panose="02020603050405020304" pitchFamily="18" charset="0"/>
              </a:rPr>
              <a:t> </a:t>
            </a:r>
            <a:r>
              <a:rPr lang="el-GR" sz="2200" dirty="0" smtClean="0">
                <a:latin typeface="Calibri" panose="020F0502020204030204" pitchFamily="34" charset="0"/>
                <a:ea typeface="Times New Roman" panose="02020603050405020304" pitchFamily="18" charset="0"/>
              </a:rPr>
              <a:t>positive</a:t>
            </a:r>
            <a:r>
              <a:rPr lang="en-US" sz="2200" dirty="0" smtClean="0">
                <a:latin typeface="Calibri" panose="020F0502020204030204" pitchFamily="34" charset="0"/>
                <a:ea typeface="Times New Roman" panose="02020603050405020304" pitchFamily="18" charset="0"/>
              </a:rPr>
              <a:t> </a:t>
            </a:r>
            <a:r>
              <a:rPr lang="el-GR" sz="2200" dirty="0" smtClean="0">
                <a:latin typeface="Calibri" panose="020F0502020204030204" pitchFamily="34" charset="0"/>
                <a:ea typeface="Times New Roman" panose="02020603050405020304" pitchFamily="18" charset="0"/>
              </a:rPr>
              <a:t>tuples</a:t>
            </a:r>
            <a:r>
              <a:rPr lang="en-US" sz="2200" dirty="0" smtClean="0">
                <a:latin typeface="Calibri" panose="020F0502020204030204" pitchFamily="34" charset="0"/>
                <a:ea typeface="Times New Roman" panose="02020603050405020304" pitchFamily="18" charset="0"/>
              </a:rPr>
              <a:t> </a:t>
            </a:r>
            <a:r>
              <a:rPr lang="el-GR" sz="2200" dirty="0" smtClean="0">
                <a:latin typeface="Calibri" panose="020F0502020204030204" pitchFamily="34" charset="0"/>
                <a:ea typeface="Times New Roman" panose="02020603050405020304" pitchFamily="18" charset="0"/>
              </a:rPr>
              <a:t>are</a:t>
            </a:r>
            <a:r>
              <a:rPr lang="en-US" sz="2200" dirty="0" smtClean="0">
                <a:latin typeface="Calibri" panose="020F0502020204030204" pitchFamily="34" charset="0"/>
                <a:ea typeface="Times New Roman" panose="02020603050405020304" pitchFamily="18" charset="0"/>
              </a:rPr>
              <a:t> </a:t>
            </a:r>
            <a:r>
              <a:rPr lang="el-GR" sz="2200" dirty="0" smtClean="0">
                <a:latin typeface="Calibri" panose="020F0502020204030204" pitchFamily="34" charset="0"/>
                <a:ea typeface="Times New Roman" panose="02020603050405020304" pitchFamily="18" charset="0"/>
              </a:rPr>
              <a:t>labeled</a:t>
            </a:r>
            <a:r>
              <a:rPr lang="en-US" sz="2200" dirty="0" smtClean="0">
                <a:latin typeface="Calibri" panose="020F0502020204030204" pitchFamily="34" charset="0"/>
                <a:ea typeface="Times New Roman" panose="02020603050405020304" pitchFamily="18" charset="0"/>
              </a:rPr>
              <a:t> </a:t>
            </a:r>
            <a:r>
              <a:rPr lang="el-GR" sz="2200" dirty="0" smtClean="0">
                <a:latin typeface="Calibri" panose="020F0502020204030204" pitchFamily="34" charset="0"/>
                <a:ea typeface="Times New Roman" panose="02020603050405020304" pitchFamily="18" charset="0"/>
              </a:rPr>
              <a:t>as</a:t>
            </a:r>
            <a:r>
              <a:rPr lang="en-US" sz="2200" dirty="0" smtClean="0">
                <a:latin typeface="Calibri" panose="020F0502020204030204" pitchFamily="34" charset="0"/>
                <a:ea typeface="Times New Roman" panose="02020603050405020304" pitchFamily="18" charset="0"/>
              </a:rPr>
              <a:t> </a:t>
            </a:r>
            <a:r>
              <a:rPr lang="el-GR" sz="2200" dirty="0" smtClean="0">
                <a:latin typeface="Calibri" panose="020F0502020204030204" pitchFamily="34" charset="0"/>
                <a:ea typeface="Times New Roman" panose="02020603050405020304" pitchFamily="18" charset="0"/>
              </a:rPr>
              <a:t>such</a:t>
            </a:r>
            <a:r>
              <a:rPr lang="el-GR" sz="2200" dirty="0">
                <a:latin typeface="Calibri" panose="020F0502020204030204" pitchFamily="34" charset="0"/>
                <a:ea typeface="Times New Roman" panose="02020603050405020304" pitchFamily="18" charset="0"/>
              </a:rPr>
              <a:t>).</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455101" y="3816985"/>
            <a:ext cx="7185025" cy="2065655"/>
          </a:xfrm>
          <a:prstGeom prst="rect">
            <a:avLst/>
          </a:prstGeom>
          <a:noFill/>
          <a:ln>
            <a:noFill/>
          </a:ln>
        </p:spPr>
      </p:pic>
    </p:spTree>
    <p:extLst>
      <p:ext uri="{BB962C8B-B14F-4D97-AF65-F5344CB8AC3E}">
        <p14:creationId xmlns:p14="http://schemas.microsoft.com/office/powerpoint/2010/main" val="16745788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44550" y="511334"/>
            <a:ext cx="8421370" cy="1446550"/>
          </a:xfrm>
          <a:prstGeom prst="rect">
            <a:avLst/>
          </a:prstGeom>
        </p:spPr>
        <p:txBody>
          <a:bodyPr wrap="square">
            <a:spAutoFit/>
          </a:bodyPr>
          <a:lstStyle/>
          <a:p>
            <a:pPr marL="342900" indent="-342900">
              <a:buFont typeface="Wingdings" panose="05000000000000000000" pitchFamily="2" charset="2"/>
              <a:buChar char="Ø"/>
            </a:pPr>
            <a:r>
              <a:rPr lang="el-GR" sz="2200" dirty="0">
                <a:latin typeface="Calibri" panose="020F0502020204030204" pitchFamily="34" charset="0"/>
                <a:ea typeface="Times New Roman" panose="02020603050405020304" pitchFamily="18" charset="0"/>
              </a:rPr>
              <a:t>An alternative way to use precision and recall is to combine them into a single measure. </a:t>
            </a:r>
            <a:endParaRPr lang="en-US" sz="2200" dirty="0" smtClean="0">
              <a:latin typeface="Calibri" panose="020F0502020204030204" pitchFamily="34" charset="0"/>
              <a:ea typeface="Times New Roman" panose="02020603050405020304" pitchFamily="18" charset="0"/>
            </a:endParaRPr>
          </a:p>
          <a:p>
            <a:r>
              <a:rPr lang="el-GR" sz="2200" dirty="0" smtClean="0">
                <a:latin typeface="Calibri" panose="020F0502020204030204" pitchFamily="34" charset="0"/>
                <a:ea typeface="Times New Roman" panose="02020603050405020304" pitchFamily="18" charset="0"/>
                <a:sym typeface="Wingdings" panose="05000000000000000000" pitchFamily="2" charset="2"/>
              </a:rPr>
              <a:t></a:t>
            </a:r>
            <a:r>
              <a:rPr lang="en-US" sz="2200" dirty="0" smtClean="0">
                <a:latin typeface="Calibri" panose="020F0502020204030204" pitchFamily="34" charset="0"/>
                <a:ea typeface="Times New Roman" panose="02020603050405020304" pitchFamily="18" charset="0"/>
                <a:sym typeface="Wingdings" panose="05000000000000000000" pitchFamily="2" charset="2"/>
              </a:rPr>
              <a:t> </a:t>
            </a:r>
            <a:r>
              <a:rPr lang="el-GR" sz="2200" dirty="0" smtClean="0">
                <a:latin typeface="Calibri" panose="020F0502020204030204" pitchFamily="34" charset="0"/>
                <a:ea typeface="Times New Roman" panose="02020603050405020304" pitchFamily="18" charset="0"/>
              </a:rPr>
              <a:t>This </a:t>
            </a:r>
            <a:r>
              <a:rPr lang="el-GR" sz="2200" dirty="0">
                <a:latin typeface="Calibri" panose="020F0502020204030204" pitchFamily="34" charset="0"/>
                <a:ea typeface="Times New Roman" panose="02020603050405020304" pitchFamily="18" charset="0"/>
              </a:rPr>
              <a:t>is the approach of the </a:t>
            </a:r>
            <a:r>
              <a:rPr lang="el-GR" sz="2200" b="1" dirty="0">
                <a:solidFill>
                  <a:srgbClr val="0070C0"/>
                </a:solidFill>
                <a:latin typeface="Calibri" panose="020F0502020204030204" pitchFamily="34" charset="0"/>
                <a:ea typeface="Times New Roman" panose="02020603050405020304" pitchFamily="18" charset="0"/>
              </a:rPr>
              <a:t>F measure</a:t>
            </a:r>
            <a:r>
              <a:rPr lang="el-GR" sz="2200" dirty="0">
                <a:latin typeface="Calibri" panose="020F0502020204030204" pitchFamily="34" charset="0"/>
                <a:ea typeface="Times New Roman" panose="02020603050405020304" pitchFamily="18" charset="0"/>
              </a:rPr>
              <a:t> (also known as the F1 score or F-score) and</a:t>
            </a:r>
            <a:r>
              <a:rPr lang="vi-VN" sz="2200" dirty="0">
                <a:latin typeface="Calibri" panose="020F0502020204030204" pitchFamily="34" charset="0"/>
                <a:ea typeface="Times New Roman" panose="02020603050405020304" pitchFamily="18" charset="0"/>
              </a:rPr>
              <a:t> the </a:t>
            </a:r>
            <a:r>
              <a:rPr lang="vi-VN" sz="2200" b="1" dirty="0">
                <a:solidFill>
                  <a:srgbClr val="0070C0"/>
                </a:solidFill>
                <a:latin typeface="Calibri" panose="020F0502020204030204" pitchFamily="34" charset="0"/>
                <a:ea typeface="Times New Roman" panose="02020603050405020304" pitchFamily="18" charset="0"/>
              </a:rPr>
              <a:t>F</a:t>
            </a:r>
            <a:r>
              <a:rPr lang="el-GR" sz="2200" b="1" dirty="0">
                <a:solidFill>
                  <a:srgbClr val="0070C0"/>
                </a:solidFill>
                <a:latin typeface="Calibri" panose="020F0502020204030204" pitchFamily="34" charset="0"/>
                <a:ea typeface="Times New Roman" panose="02020603050405020304" pitchFamily="18" charset="0"/>
              </a:rPr>
              <a:t>β measure</a:t>
            </a:r>
            <a:r>
              <a:rPr lang="el-GR" sz="2200" dirty="0">
                <a:latin typeface="Calibri" panose="020F0502020204030204" pitchFamily="34" charset="0"/>
                <a:ea typeface="Times New Roman" panose="02020603050405020304" pitchFamily="18" charset="0"/>
              </a:rPr>
              <a:t>. They are deﬁned as</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661318" y="1943664"/>
            <a:ext cx="6787833" cy="2126615"/>
          </a:xfrm>
          <a:prstGeom prst="rect">
            <a:avLst/>
          </a:prstGeom>
          <a:noFill/>
          <a:ln>
            <a:noFill/>
          </a:ln>
        </p:spPr>
      </p:pic>
      <p:sp>
        <p:nvSpPr>
          <p:cNvPr id="6" name="Rectangle 5"/>
          <p:cNvSpPr/>
          <p:nvPr/>
        </p:nvSpPr>
        <p:spPr>
          <a:xfrm>
            <a:off x="844550" y="4103052"/>
            <a:ext cx="8421370" cy="2789866"/>
          </a:xfrm>
          <a:prstGeom prst="rect">
            <a:avLst/>
          </a:prstGeom>
        </p:spPr>
        <p:txBody>
          <a:bodyPr wrap="square">
            <a:spAutoFit/>
          </a:bodyPr>
          <a:lstStyle/>
          <a:p>
            <a:pPr>
              <a:lnSpc>
                <a:spcPct val="107000"/>
              </a:lnSpc>
              <a:spcAft>
                <a:spcPts val="1000"/>
              </a:spcAft>
            </a:pPr>
            <a:r>
              <a:rPr lang="el-GR" sz="2200" dirty="0">
                <a:latin typeface="Calibri" panose="020F0502020204030204" pitchFamily="34" charset="0"/>
                <a:ea typeface="Times New Roman" panose="02020603050405020304" pitchFamily="18" charset="0"/>
                <a:cs typeface="Calibri" panose="020F0502020204030204" pitchFamily="34" charset="0"/>
              </a:rPr>
              <a:t>where β is a non-negative real number.</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el-GR" sz="2200" dirty="0">
                <a:latin typeface="Calibri" panose="020F0502020204030204" pitchFamily="34" charset="0"/>
                <a:ea typeface="Times New Roman" panose="02020603050405020304" pitchFamily="18" charset="0"/>
                <a:cs typeface="Calibri" panose="020F0502020204030204" pitchFamily="34" charset="0"/>
              </a:rPr>
              <a:t>The </a:t>
            </a:r>
            <a:r>
              <a:rPr lang="el-GR"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F measure</a:t>
            </a:r>
            <a:r>
              <a:rPr lang="el-GR" sz="2200" dirty="0">
                <a:latin typeface="Calibri" panose="020F0502020204030204" pitchFamily="34" charset="0"/>
                <a:ea typeface="Times New Roman" panose="02020603050405020304" pitchFamily="18" charset="0"/>
                <a:cs typeface="Calibri" panose="020F0502020204030204" pitchFamily="34" charset="0"/>
              </a:rPr>
              <a:t> is the harmonic mean of precision and recall (the proof of which is left as an exercise).</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l-GR" sz="2200" dirty="0">
                <a:latin typeface="Calibri" panose="020F0502020204030204" pitchFamily="34" charset="0"/>
                <a:ea typeface="Times New Roman" panose="02020603050405020304" pitchFamily="18" charset="0"/>
              </a:rPr>
              <a:t>The </a:t>
            </a:r>
            <a:r>
              <a:rPr lang="el-GR" sz="2200" b="1" dirty="0">
                <a:solidFill>
                  <a:srgbClr val="0070C0"/>
                </a:solidFill>
                <a:latin typeface="Calibri" panose="020F0502020204030204" pitchFamily="34" charset="0"/>
                <a:ea typeface="Times New Roman" panose="02020603050405020304" pitchFamily="18" charset="0"/>
              </a:rPr>
              <a:t>Fβ measure</a:t>
            </a:r>
            <a:r>
              <a:rPr lang="el-GR" sz="2200" dirty="0">
                <a:latin typeface="Calibri" panose="020F0502020204030204" pitchFamily="34" charset="0"/>
                <a:ea typeface="Times New Roman" panose="02020603050405020304" pitchFamily="18" charset="0"/>
              </a:rPr>
              <a:t> is a weighted measure of precision and recall. It assigns β times as much weight to recall as to precision. Commonly used Fβ measures are F</a:t>
            </a:r>
            <a:r>
              <a:rPr lang="vi-VN" sz="2200" baseline="-25000" dirty="0">
                <a:latin typeface="Calibri" panose="020F0502020204030204" pitchFamily="34" charset="0"/>
                <a:ea typeface="Times New Roman" panose="02020603050405020304" pitchFamily="18" charset="0"/>
              </a:rPr>
              <a:t>2</a:t>
            </a:r>
            <a:r>
              <a:rPr lang="el-GR" sz="2200" dirty="0">
                <a:latin typeface="Calibri" panose="020F0502020204030204" pitchFamily="34" charset="0"/>
                <a:ea typeface="Times New Roman" panose="02020603050405020304" pitchFamily="18" charset="0"/>
              </a:rPr>
              <a:t> (which weights recall twice as much as precision) and F</a:t>
            </a:r>
            <a:r>
              <a:rPr lang="vi-VN" sz="2200" baseline="-25000" dirty="0">
                <a:latin typeface="Calibri" panose="020F0502020204030204" pitchFamily="34" charset="0"/>
                <a:ea typeface="Times New Roman" panose="02020603050405020304" pitchFamily="18" charset="0"/>
              </a:rPr>
              <a:t>0.5</a:t>
            </a:r>
            <a:r>
              <a:rPr lang="el-GR" sz="2200" dirty="0">
                <a:latin typeface="Calibri" panose="020F0502020204030204" pitchFamily="34" charset="0"/>
                <a:ea typeface="Times New Roman" panose="02020603050405020304" pitchFamily="18" charset="0"/>
              </a:rPr>
              <a:t> (which weights precision twice as much as recall).</a:t>
            </a:r>
            <a:endParaRPr lang="en-US" sz="2200" dirty="0"/>
          </a:p>
        </p:txBody>
      </p:sp>
    </p:spTree>
    <p:extLst>
      <p:ext uri="{BB962C8B-B14F-4D97-AF65-F5344CB8AC3E}">
        <p14:creationId xmlns:p14="http://schemas.microsoft.com/office/powerpoint/2010/main" val="965525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3150" y="468293"/>
            <a:ext cx="7827010" cy="769441"/>
          </a:xfrm>
          <a:prstGeom prst="rect">
            <a:avLst/>
          </a:prstGeom>
        </p:spPr>
        <p:txBody>
          <a:bodyPr wrap="square">
            <a:spAutoFit/>
          </a:bodyPr>
          <a:lstStyle/>
          <a:p>
            <a:pPr marL="342900" indent="-342900">
              <a:buFont typeface="Wingdings" panose="05000000000000000000" pitchFamily="2" charset="2"/>
              <a:buChar char="Ø"/>
            </a:pPr>
            <a:r>
              <a:rPr lang="vi-VN" sz="2200" dirty="0">
                <a:latin typeface="Calibri" panose="020F0502020204030204" pitchFamily="34" charset="0"/>
                <a:ea typeface="Times New Roman" panose="02020603050405020304" pitchFamily="18" charset="0"/>
              </a:rPr>
              <a:t>In addition to accuracy-based measures, classiﬁers can also be compared with  </a:t>
            </a:r>
            <a:r>
              <a:rPr lang="en-US" sz="2200" dirty="0" smtClean="0">
                <a:latin typeface="Calibri" panose="020F0502020204030204" pitchFamily="34" charset="0"/>
                <a:ea typeface="Times New Roman" panose="02020603050405020304" pitchFamily="18" charset="0"/>
              </a:rPr>
              <a:t>r</a:t>
            </a:r>
            <a:r>
              <a:rPr lang="vi-VN" sz="2200" dirty="0" smtClean="0">
                <a:latin typeface="Calibri" panose="020F0502020204030204" pitchFamily="34" charset="0"/>
                <a:ea typeface="Times New Roman" panose="02020603050405020304" pitchFamily="18" charset="0"/>
              </a:rPr>
              <a:t>espect </a:t>
            </a:r>
            <a:r>
              <a:rPr lang="vi-VN" sz="2200" dirty="0">
                <a:latin typeface="Calibri" panose="020F0502020204030204" pitchFamily="34" charset="0"/>
                <a:ea typeface="Times New Roman" panose="02020603050405020304" pitchFamily="18" charset="0"/>
              </a:rPr>
              <a:t>to the following additional aspects:</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2412"/>
            <a:ext cx="8412480" cy="5274628"/>
          </a:xfrm>
          <a:prstGeom prst="rect">
            <a:avLst/>
          </a:prstGeom>
          <a:noFill/>
          <a:ln>
            <a:noFill/>
          </a:ln>
        </p:spPr>
      </p:pic>
    </p:spTree>
    <p:extLst>
      <p:ext uri="{BB962C8B-B14F-4D97-AF65-F5344CB8AC3E}">
        <p14:creationId xmlns:p14="http://schemas.microsoft.com/office/powerpoint/2010/main" val="578048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57910" y="2047896"/>
            <a:ext cx="8177530" cy="3416320"/>
          </a:xfrm>
          <a:prstGeom prst="rect">
            <a:avLst/>
          </a:prstGeom>
        </p:spPr>
        <p:txBody>
          <a:bodyPr wrap="square">
            <a:spAutoFit/>
          </a:bodyPr>
          <a:lstStyle/>
          <a:p>
            <a:pPr marL="342900" indent="-342900">
              <a:buFont typeface="Wingdings" panose="05000000000000000000" pitchFamily="2" charset="2"/>
              <a:buChar char="Ø"/>
            </a:pPr>
            <a:r>
              <a:rPr lang="vi-VN" sz="2400" dirty="0">
                <a:latin typeface="Calibri" panose="020F0502020204030204" pitchFamily="34" charset="0"/>
                <a:ea typeface="Times New Roman" panose="02020603050405020304" pitchFamily="18" charset="0"/>
              </a:rPr>
              <a:t>The accuracy measure works best when the data classes are fairly evenly distributed. </a:t>
            </a: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r>
              <a:rPr lang="vi-VN" sz="2400" dirty="0" smtClean="0">
                <a:latin typeface="Calibri" panose="020F0502020204030204" pitchFamily="34" charset="0"/>
                <a:ea typeface="Times New Roman" panose="02020603050405020304" pitchFamily="18" charset="0"/>
              </a:rPr>
              <a:t>Other </a:t>
            </a:r>
            <a:r>
              <a:rPr lang="vi-VN" sz="2400" dirty="0">
                <a:latin typeface="Calibri" panose="020F0502020204030204" pitchFamily="34" charset="0"/>
                <a:ea typeface="Times New Roman" panose="02020603050405020304" pitchFamily="18" charset="0"/>
              </a:rPr>
              <a:t>measures, such as sensitivity (or recall ), speciﬁcity, precision, F, and F</a:t>
            </a:r>
            <a:r>
              <a:rPr lang="el-GR" sz="2400" dirty="0">
                <a:latin typeface="Calibri" panose="020F0502020204030204" pitchFamily="34" charset="0"/>
                <a:ea typeface="Times New Roman" panose="02020603050405020304" pitchFamily="18" charset="0"/>
              </a:rPr>
              <a:t>β, are better suited to theclassimbalance problem, where the main class of interest is rare. </a:t>
            </a: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endParaRPr lang="en-US" sz="2400" dirty="0" smtClean="0">
              <a:latin typeface="Calibri" panose="020F0502020204030204" pitchFamily="34" charset="0"/>
              <a:ea typeface="Times New Roman" panose="02020603050405020304" pitchFamily="18" charset="0"/>
            </a:endParaRPr>
          </a:p>
          <a:p>
            <a:pPr marL="342900" indent="-342900">
              <a:buFont typeface="Wingdings" panose="05000000000000000000" pitchFamily="2" charset="2"/>
              <a:buChar char="Ø"/>
            </a:pPr>
            <a:r>
              <a:rPr lang="el-GR" sz="2400" dirty="0" smtClean="0">
                <a:latin typeface="Calibri" panose="020F0502020204030204" pitchFamily="34" charset="0"/>
                <a:ea typeface="Times New Roman" panose="02020603050405020304" pitchFamily="18" charset="0"/>
              </a:rPr>
              <a:t>The </a:t>
            </a:r>
            <a:r>
              <a:rPr lang="el-GR" sz="2400" dirty="0">
                <a:latin typeface="Calibri" panose="020F0502020204030204" pitchFamily="34" charset="0"/>
                <a:ea typeface="Times New Roman" panose="02020603050405020304" pitchFamily="18" charset="0"/>
              </a:rPr>
              <a:t>remaining subsections focus on obtaining reliable classiﬁer accuracy estimates.</a:t>
            </a:r>
            <a:endParaRPr lang="en-US" sz="2400" dirty="0"/>
          </a:p>
        </p:txBody>
      </p:sp>
    </p:spTree>
    <p:extLst>
      <p:ext uri="{BB962C8B-B14F-4D97-AF65-F5344CB8AC3E}">
        <p14:creationId xmlns:p14="http://schemas.microsoft.com/office/powerpoint/2010/main" val="3070395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44550" y="904522"/>
            <a:ext cx="8589010" cy="5013167"/>
          </a:xfrm>
          <a:prstGeom prst="rect">
            <a:avLst/>
          </a:prstGeom>
        </p:spPr>
        <p:txBody>
          <a:bodyPr wrap="square">
            <a:spAutoFit/>
          </a:bodyPr>
          <a:lstStyle/>
          <a:p>
            <a:pPr algn="ctr">
              <a:lnSpc>
                <a:spcPct val="107000"/>
              </a:lnSpc>
              <a:spcAft>
                <a:spcPts val="1000"/>
              </a:spcAft>
            </a:pPr>
            <a:r>
              <a:rPr lang="el-GR" sz="3200" dirty="0">
                <a:latin typeface="Calibri" panose="020F0502020204030204" pitchFamily="34" charset="0"/>
                <a:ea typeface="Times New Roman" panose="02020603050405020304" pitchFamily="18" charset="0"/>
                <a:cs typeface="Calibri" panose="020F0502020204030204" pitchFamily="34" charset="0"/>
              </a:rPr>
              <a:t>8.5.2 Holdout Method and Random Subsampling </a:t>
            </a:r>
            <a:endParaRPr lang="en-US" sz="3200" dirty="0" smtClean="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sz="3200" dirty="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el-GR" sz="2200" dirty="0">
                <a:latin typeface="Calibri" panose="020F0502020204030204" pitchFamily="34" charset="0"/>
                <a:ea typeface="Times New Roman" panose="02020603050405020304" pitchFamily="18" charset="0"/>
                <a:cs typeface="Calibri" panose="020F0502020204030204" pitchFamily="34" charset="0"/>
              </a:rPr>
              <a:t>In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holdout</a:t>
            </a:r>
            <a:r>
              <a:rPr lang="vi-VN" sz="2200" b="1" dirty="0">
                <a:latin typeface="Calibri" panose="020F0502020204030204" pitchFamily="34" charset="0"/>
                <a:ea typeface="Times New Roman" panose="02020603050405020304" pitchFamily="18" charset="0"/>
                <a:cs typeface="Calibri" panose="020F0502020204030204" pitchFamily="34" charset="0"/>
              </a:rPr>
              <a:t> </a:t>
            </a:r>
            <a:r>
              <a:rPr lang="el-GR" sz="2200" dirty="0">
                <a:latin typeface="Calibri" panose="020F0502020204030204" pitchFamily="34" charset="0"/>
                <a:ea typeface="Times New Roman" panose="02020603050405020304" pitchFamily="18" charset="0"/>
                <a:cs typeface="Calibri" panose="020F0502020204030204" pitchFamily="34" charset="0"/>
              </a:rPr>
              <a:t>method, the given data are randomly partitioned into two independent sets, a training set and a test set. Typically, two-thirds of the data are allocated to the training set, and the remaining one-third is allocated to the test set. The training set is used to derive the model. The model’s accuracy is then estimated with the test set (Figure 8.17). </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l-GR" sz="2200" b="1" dirty="0">
                <a:solidFill>
                  <a:srgbClr val="0070C0"/>
                </a:solidFill>
                <a:latin typeface="Calibri" panose="020F0502020204030204" pitchFamily="34" charset="0"/>
                <a:ea typeface="Times New Roman" panose="02020603050405020304" pitchFamily="18" charset="0"/>
              </a:rPr>
              <a:t>Random subsampling</a:t>
            </a:r>
            <a:r>
              <a:rPr lang="el-GR" sz="2200" b="1" dirty="0">
                <a:latin typeface="Calibri" panose="020F0502020204030204" pitchFamily="34" charset="0"/>
                <a:ea typeface="Times New Roman" panose="02020603050405020304" pitchFamily="18" charset="0"/>
              </a:rPr>
              <a:t> </a:t>
            </a:r>
            <a:r>
              <a:rPr lang="el-GR" sz="2200" dirty="0">
                <a:latin typeface="Calibri" panose="020F0502020204030204" pitchFamily="34" charset="0"/>
                <a:ea typeface="Times New Roman" panose="02020603050405020304" pitchFamily="18" charset="0"/>
              </a:rPr>
              <a:t>is a variation of the holdout method in which the holdout method is repeated k times. The overall accuracy estimate is taken as the average of the accuracies obtained from each iteration.</a:t>
            </a:r>
            <a:endParaRPr lang="en-US" sz="2200" dirty="0"/>
          </a:p>
        </p:txBody>
      </p:sp>
    </p:spTree>
    <p:extLst>
      <p:ext uri="{BB962C8B-B14F-4D97-AF65-F5344CB8AC3E}">
        <p14:creationId xmlns:p14="http://schemas.microsoft.com/office/powerpoint/2010/main" val="1646121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8160" y="778196"/>
            <a:ext cx="9022080" cy="5533374"/>
          </a:xfrm>
          <a:prstGeom prst="rect">
            <a:avLst/>
          </a:prstGeom>
        </p:spPr>
        <p:txBody>
          <a:bodyPr wrap="square">
            <a:spAutoFit/>
          </a:bodyPr>
          <a:lstStyle/>
          <a:p>
            <a:pPr algn="ctr">
              <a:lnSpc>
                <a:spcPct val="107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8.5.3 Cross-Validation </a:t>
            </a:r>
            <a:endParaRPr lang="en-US" sz="3200" dirty="0" smtClean="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400" dirty="0">
                <a:latin typeface="Calibri" panose="020F0502020204030204" pitchFamily="34" charset="0"/>
                <a:ea typeface="Times New Roman" panose="02020603050405020304" pitchFamily="18" charset="0"/>
                <a:cs typeface="Calibri" panose="020F0502020204030204" pitchFamily="34" charset="0"/>
              </a:rPr>
              <a:t>In </a:t>
            </a:r>
            <a:r>
              <a:rPr lang="vi-VN" sz="24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k-fold cross-validation</a:t>
            </a:r>
            <a:r>
              <a:rPr lang="vi-VN" sz="2400" b="1" dirty="0">
                <a:latin typeface="Calibri" panose="020F0502020204030204" pitchFamily="34" charset="0"/>
                <a:ea typeface="Times New Roman" panose="02020603050405020304" pitchFamily="18" charset="0"/>
                <a:cs typeface="Calibri" panose="020F0502020204030204" pitchFamily="34" charset="0"/>
              </a:rPr>
              <a:t>, </a:t>
            </a:r>
            <a:r>
              <a:rPr lang="vi-VN" sz="2400" dirty="0">
                <a:latin typeface="Calibri" panose="020F0502020204030204" pitchFamily="34" charset="0"/>
                <a:ea typeface="Times New Roman" panose="02020603050405020304" pitchFamily="18" charset="0"/>
                <a:cs typeface="Calibri" panose="020F0502020204030204" pitchFamily="34" charset="0"/>
              </a:rPr>
              <a:t>the initial data are randomly partitioned into k mutually exclusive subsets or “folds,” D1, D2,..., Dk, each of approximately equal size. Training and testing is performed k times. In iteration i, partition Di is reserved as the test set, and the remaining partitions are collectively used to train the model.</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4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Leave-one-out</a:t>
            </a:r>
            <a:r>
              <a:rPr lang="vi-VN" sz="2400" b="1" dirty="0">
                <a:latin typeface="Calibri" panose="020F0502020204030204" pitchFamily="34" charset="0"/>
                <a:ea typeface="Times New Roman" panose="02020603050405020304" pitchFamily="18" charset="0"/>
                <a:cs typeface="Calibri" panose="020F0502020204030204" pitchFamily="34" charset="0"/>
              </a:rPr>
              <a:t> </a:t>
            </a:r>
            <a:r>
              <a:rPr lang="vi-VN" sz="2400" dirty="0">
                <a:latin typeface="Calibri" panose="020F0502020204030204" pitchFamily="34" charset="0"/>
                <a:ea typeface="Times New Roman" panose="02020603050405020304" pitchFamily="18" charset="0"/>
                <a:cs typeface="Calibri" panose="020F0502020204030204" pitchFamily="34" charset="0"/>
              </a:rPr>
              <a:t>is a special case of k-fold cross-validation where k is set to the number of initial tuples.</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400" dirty="0">
                <a:latin typeface="Calibri" panose="020F0502020204030204" pitchFamily="34" charset="0"/>
                <a:ea typeface="Times New Roman" panose="02020603050405020304" pitchFamily="18" charset="0"/>
              </a:rPr>
              <a:t>In </a:t>
            </a:r>
            <a:r>
              <a:rPr lang="vi-VN" sz="2400" b="1" dirty="0">
                <a:solidFill>
                  <a:srgbClr val="0070C0"/>
                </a:solidFill>
                <a:latin typeface="Calibri" panose="020F0502020204030204" pitchFamily="34" charset="0"/>
                <a:ea typeface="Times New Roman" panose="02020603050405020304" pitchFamily="18" charset="0"/>
              </a:rPr>
              <a:t>stratiﬁed cross-validation</a:t>
            </a:r>
            <a:r>
              <a:rPr lang="vi-VN" sz="2400" dirty="0">
                <a:latin typeface="Calibri" panose="020F0502020204030204" pitchFamily="34" charset="0"/>
                <a:ea typeface="Times New Roman" panose="02020603050405020304" pitchFamily="18" charset="0"/>
              </a:rPr>
              <a:t>, the folds are stratiﬁed so that the class distribution of the tuples in each fold is approximately the same as that in the initial data.</a:t>
            </a:r>
            <a:endParaRPr lang="en-US" sz="2400" dirty="0"/>
          </a:p>
        </p:txBody>
      </p:sp>
    </p:spTree>
    <p:extLst>
      <p:ext uri="{BB962C8B-B14F-4D97-AF65-F5344CB8AC3E}">
        <p14:creationId xmlns:p14="http://schemas.microsoft.com/office/powerpoint/2010/main" val="36154825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3070" y="896391"/>
            <a:ext cx="9107170" cy="5434180"/>
          </a:xfrm>
          <a:prstGeom prst="rect">
            <a:avLst/>
          </a:prstGeom>
        </p:spPr>
        <p:txBody>
          <a:bodyPr wrap="square">
            <a:spAutoFit/>
          </a:bodyPr>
          <a:lstStyle/>
          <a:p>
            <a:pPr algn="ctr">
              <a:lnSpc>
                <a:spcPct val="107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8.5.4 Bootstrap</a:t>
            </a:r>
            <a:r>
              <a:rPr lang="vi-VN" dirty="0">
                <a:latin typeface="Calibri" panose="020F0502020204030204" pitchFamily="34" charset="0"/>
                <a:ea typeface="Times New Roman" panose="02020603050405020304" pitchFamily="18" charset="0"/>
                <a:cs typeface="Calibri" panose="020F0502020204030204" pitchFamily="34" charset="0"/>
              </a:rPr>
              <a:t> </a:t>
            </a:r>
            <a:endParaRPr lang="en-US" dirty="0" smtClean="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200" dirty="0">
                <a:latin typeface="Calibri" panose="020F0502020204030204" pitchFamily="34" charset="0"/>
                <a:ea typeface="Times New Roman" panose="02020603050405020304" pitchFamily="18" charset="0"/>
                <a:cs typeface="Calibri" panose="020F0502020204030204" pitchFamily="34" charset="0"/>
              </a:rPr>
              <a:t>The </a:t>
            </a:r>
            <a:r>
              <a:rPr lang="vi-VN" sz="22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bootstrap</a:t>
            </a:r>
            <a:r>
              <a:rPr lang="vi-VN" sz="2200" b="1" dirty="0">
                <a:latin typeface="Calibri" panose="020F0502020204030204" pitchFamily="34" charset="0"/>
                <a:ea typeface="Times New Roman" panose="02020603050405020304" pitchFamily="18" charset="0"/>
                <a:cs typeface="Calibri" panose="020F0502020204030204" pitchFamily="34" charset="0"/>
              </a:rPr>
              <a:t> </a:t>
            </a:r>
            <a:r>
              <a:rPr lang="vi-VN" sz="2200" dirty="0">
                <a:latin typeface="Calibri" panose="020F0502020204030204" pitchFamily="34" charset="0"/>
                <a:ea typeface="Times New Roman" panose="02020603050405020304" pitchFamily="18" charset="0"/>
                <a:cs typeface="Calibri" panose="020F0502020204030204" pitchFamily="34" charset="0"/>
              </a:rPr>
              <a:t>method samples the given training tuples uniformly with replacement. That is, each time a tuple is selected, it is equally likely to be selected again and re-added to the training set.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200" dirty="0">
                <a:latin typeface="Calibri" panose="020F0502020204030204" pitchFamily="34" charset="0"/>
                <a:ea typeface="Times New Roman" panose="02020603050405020304" pitchFamily="18" charset="0"/>
              </a:rPr>
              <a:t>A commonly used one is the </a:t>
            </a:r>
            <a:r>
              <a:rPr lang="vi-VN" sz="2200" b="1" dirty="0">
                <a:solidFill>
                  <a:srgbClr val="0070C0"/>
                </a:solidFill>
                <a:latin typeface="Calibri" panose="020F0502020204030204" pitchFamily="34" charset="0"/>
                <a:ea typeface="Times New Roman" panose="02020603050405020304" pitchFamily="18" charset="0"/>
              </a:rPr>
              <a:t>.632 bootstrap</a:t>
            </a:r>
            <a:r>
              <a:rPr lang="vi-VN" sz="2200" dirty="0">
                <a:latin typeface="Calibri" panose="020F0502020204030204" pitchFamily="34" charset="0"/>
                <a:ea typeface="Times New Roman" panose="02020603050405020304" pitchFamily="18" charset="0"/>
              </a:rPr>
              <a:t>, which works as follows. Suppose we are given a data set of d tuples. The data set is sampled d times, with replacement, resulting in a bootstrap sample or training set of d samples. It is very likely that some of the original data tuples will occur more than once in this sample. The data tuples that did not make it into the training set end up forming the test set. Suppose we were to try this out several times. As it turns out, on average, 63.2%of the original data tuples will end up in the bootstrap sample, and the remaining 36.8% will form the test set (hence, the name, .632 bootstrap).</a:t>
            </a:r>
            <a:endParaRPr lang="en-US" sz="2200" dirty="0"/>
          </a:p>
        </p:txBody>
      </p:sp>
    </p:spTree>
    <p:extLst>
      <p:ext uri="{BB962C8B-B14F-4D97-AF65-F5344CB8AC3E}">
        <p14:creationId xmlns:p14="http://schemas.microsoft.com/office/powerpoint/2010/main" val="24783696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14070" y="268860"/>
            <a:ext cx="8649970" cy="6939977"/>
          </a:xfrm>
          <a:prstGeom prst="rect">
            <a:avLst/>
          </a:prstGeom>
        </p:spPr>
        <p:txBody>
          <a:bodyPr wrap="square">
            <a:spAutoFit/>
          </a:bodyPr>
          <a:lstStyle/>
          <a:p>
            <a:pPr algn="ctr">
              <a:lnSpc>
                <a:spcPct val="107000"/>
              </a:lnSpc>
              <a:spcAft>
                <a:spcPts val="1000"/>
              </a:spcAft>
            </a:pPr>
            <a:r>
              <a:rPr lang="vi-VN" sz="3200" dirty="0">
                <a:latin typeface="Calibri" panose="020F0502020204030204" pitchFamily="34" charset="0"/>
                <a:ea typeface="Times New Roman" panose="02020603050405020304" pitchFamily="18" charset="0"/>
                <a:cs typeface="Calibri" panose="020F0502020204030204" pitchFamily="34" charset="0"/>
              </a:rPr>
              <a:t>8.5.5 Model Selection Using Statistical Tests of </a:t>
            </a:r>
            <a:r>
              <a:rPr lang="vi-VN" sz="3200" dirty="0" smtClean="0">
                <a:latin typeface="Calibri" panose="020F0502020204030204" pitchFamily="34" charset="0"/>
                <a:ea typeface="Times New Roman" panose="02020603050405020304" pitchFamily="18" charset="0"/>
                <a:cs typeface="Calibri" panose="020F0502020204030204" pitchFamily="34" charset="0"/>
              </a:rPr>
              <a:t>Signiﬁcance</a:t>
            </a:r>
            <a:endParaRPr lang="en-US" sz="3200" dirty="0" smtClean="0">
              <a:latin typeface="Calibri" panose="020F0502020204030204" pitchFamily="34" charset="0"/>
              <a:ea typeface="Times New Roman" panose="02020603050405020304" pitchFamily="18" charset="0"/>
              <a:cs typeface="Calibri" panose="020F0502020204030204" pitchFamily="34" charset="0"/>
            </a:endParaRPr>
          </a:p>
          <a:p>
            <a:pPr algn="ctr">
              <a:lnSpc>
                <a:spcPct val="107000"/>
              </a:lnSpc>
              <a:spcAft>
                <a:spcPts val="1000"/>
              </a:spcAft>
            </a:pP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200" dirty="0">
                <a:latin typeface="Calibri" panose="020F0502020204030204" pitchFamily="34" charset="0"/>
                <a:ea typeface="Times New Roman" panose="02020603050405020304" pitchFamily="18" charset="0"/>
                <a:cs typeface="Calibri" panose="020F0502020204030204" pitchFamily="34" charset="0"/>
              </a:rPr>
              <a:t>To determine if there is any “real” difference in the mean error rates of two models, we need to employ a test of statistical signiﬁcance. In data mining practice, we may often employ a single test set, that is, the same test set can be used for both M1 and M2. In such cases, we do a pairwise comparison of the two models for each 10-fold cross-validation round.</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200" dirty="0">
                <a:latin typeface="Calibri" panose="020F0502020204030204" pitchFamily="34" charset="0"/>
                <a:ea typeface="Times New Roman" panose="02020603050405020304" pitchFamily="18" charset="0"/>
              </a:rPr>
              <a:t>Let err(M1)</a:t>
            </a:r>
            <a:r>
              <a:rPr lang="vi-VN" sz="2200" baseline="-25000"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(or err(M2)</a:t>
            </a:r>
            <a:r>
              <a:rPr lang="vi-VN" sz="2200" baseline="-25000" dirty="0">
                <a:latin typeface="Calibri" panose="020F0502020204030204" pitchFamily="34" charset="0"/>
                <a:ea typeface="Times New Roman" panose="02020603050405020304" pitchFamily="18" charset="0"/>
              </a:rPr>
              <a:t>i</a:t>
            </a:r>
            <a:r>
              <a:rPr lang="vi-VN" sz="2200" dirty="0">
                <a:latin typeface="Calibri" panose="020F0502020204030204" pitchFamily="34" charset="0"/>
                <a:ea typeface="Times New Roman" panose="02020603050405020304" pitchFamily="18" charset="0"/>
              </a:rPr>
              <a:t>) be the error rate of model M1 (or M2) on round i.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The </a:t>
            </a:r>
            <a:r>
              <a:rPr lang="vi-VN" sz="2200" dirty="0">
                <a:latin typeface="Calibri" panose="020F0502020204030204" pitchFamily="34" charset="0"/>
                <a:ea typeface="Times New Roman" panose="02020603050405020304" pitchFamily="18" charset="0"/>
              </a:rPr>
              <a:t>error rates for M1 are averaged to obtain a mean error rate for M1, denoted err(M1). Similarly, we can obtain err(M2). </a:t>
            </a:r>
            <a:endParaRPr lang="en-US" sz="2200" dirty="0" smtClean="0">
              <a:latin typeface="Calibri" panose="020F0502020204030204" pitchFamily="34" charset="0"/>
              <a:ea typeface="Times New Roman" panose="02020603050405020304" pitchFamily="18" charset="0"/>
            </a:endParaRPr>
          </a:p>
          <a:p>
            <a:pPr marL="342900" indent="-342900">
              <a:buFont typeface="Arial" panose="020B0604020202020204" pitchFamily="34" charset="0"/>
              <a:buChar char="•"/>
            </a:pPr>
            <a:r>
              <a:rPr lang="vi-VN" sz="2200" dirty="0" smtClean="0">
                <a:latin typeface="Calibri" panose="020F0502020204030204" pitchFamily="34" charset="0"/>
                <a:ea typeface="Times New Roman" panose="02020603050405020304" pitchFamily="18" charset="0"/>
              </a:rPr>
              <a:t>The </a:t>
            </a:r>
            <a:r>
              <a:rPr lang="vi-VN" sz="2200" dirty="0">
                <a:latin typeface="Calibri" panose="020F0502020204030204" pitchFamily="34" charset="0"/>
                <a:ea typeface="Times New Roman" panose="02020603050405020304" pitchFamily="18" charset="0"/>
              </a:rPr>
              <a:t>variance of the difference between the two models is denoted var(M1</a:t>
            </a:r>
            <a:r>
              <a:rPr lang="vi-VN" sz="2200" dirty="0">
                <a:latin typeface="Cambria Math" panose="02040503050406030204" pitchFamily="18" charset="0"/>
                <a:ea typeface="Times New Roman" panose="02020603050405020304" pitchFamily="18" charset="0"/>
                <a:cs typeface="Cambria Math" panose="02040503050406030204" pitchFamily="18" charset="0"/>
              </a:rPr>
              <a:t>−M2). </a:t>
            </a:r>
            <a:endParaRPr lang="en-US" sz="2200" dirty="0" smtClean="0">
              <a:latin typeface="Cambria Math" panose="02040503050406030204" pitchFamily="18" charset="0"/>
              <a:ea typeface="Times New Roman" panose="02020603050405020304" pitchFamily="18" charset="0"/>
              <a:cs typeface="Cambria Math" panose="02040503050406030204" pitchFamily="18" charset="0"/>
            </a:endParaRPr>
          </a:p>
          <a:p>
            <a:pPr marL="342900" indent="-342900">
              <a:buFont typeface="Arial" panose="020B0604020202020204" pitchFamily="34" charset="0"/>
              <a:buChar char="•"/>
            </a:pPr>
            <a:r>
              <a:rPr lang="vi-VN" sz="2200" dirty="0" smtClean="0">
                <a:latin typeface="Cambria Math" panose="02040503050406030204" pitchFamily="18" charset="0"/>
                <a:ea typeface="Times New Roman" panose="02020603050405020304" pitchFamily="18" charset="0"/>
                <a:cs typeface="Cambria Math" panose="02040503050406030204" pitchFamily="18" charset="0"/>
              </a:rPr>
              <a:t>The</a:t>
            </a:r>
            <a:r>
              <a:rPr lang="en-US" sz="2200" dirty="0" smtClean="0">
                <a:latin typeface="Cambria Math" panose="02040503050406030204" pitchFamily="18" charset="0"/>
                <a:ea typeface="Times New Roman" panose="02020603050405020304" pitchFamily="18" charset="0"/>
                <a:cs typeface="Cambria Math" panose="02040503050406030204" pitchFamily="18" charset="0"/>
              </a:rPr>
              <a:t> </a:t>
            </a:r>
            <a:r>
              <a:rPr lang="vi-VN" sz="2200" dirty="0" smtClean="0">
                <a:latin typeface="Cambria Math" panose="02040503050406030204" pitchFamily="18" charset="0"/>
                <a:ea typeface="Times New Roman" panose="02020603050405020304" pitchFamily="18" charset="0"/>
                <a:cs typeface="Cambria Math" panose="02040503050406030204" pitchFamily="18" charset="0"/>
              </a:rPr>
              <a:t>t-test </a:t>
            </a:r>
            <a:r>
              <a:rPr lang="vi-VN" sz="2200" dirty="0">
                <a:latin typeface="Cambria Math" panose="02040503050406030204" pitchFamily="18" charset="0"/>
                <a:ea typeface="Times New Roman" panose="02020603050405020304" pitchFamily="18" charset="0"/>
                <a:cs typeface="Cambria Math" panose="02040503050406030204" pitchFamily="18" charset="0"/>
              </a:rPr>
              <a:t>computes the t-statistic with k−1 degrees of freedom for k samples.</a:t>
            </a:r>
            <a:endParaRPr lang="en-US" sz="2200" dirty="0"/>
          </a:p>
        </p:txBody>
      </p:sp>
    </p:spTree>
    <p:extLst>
      <p:ext uri="{BB962C8B-B14F-4D97-AF65-F5344CB8AC3E}">
        <p14:creationId xmlns:p14="http://schemas.microsoft.com/office/powerpoint/2010/main" val="29401632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42670" y="378193"/>
            <a:ext cx="8025130" cy="430887"/>
          </a:xfrm>
          <a:prstGeom prst="rect">
            <a:avLst/>
          </a:prstGeom>
        </p:spPr>
        <p:txBody>
          <a:bodyPr wrap="square">
            <a:spAutoFit/>
          </a:bodyPr>
          <a:lstStyle/>
          <a:p>
            <a:pPr marL="285750" indent="-285750">
              <a:buFont typeface="Wingdings" panose="05000000000000000000" pitchFamily="2" charset="2"/>
              <a:buChar char="Ø"/>
            </a:pPr>
            <a:r>
              <a:rPr lang="vi-VN" sz="2200" dirty="0">
                <a:latin typeface="Calibri" panose="020F0502020204030204" pitchFamily="34" charset="0"/>
                <a:ea typeface="Times New Roman" panose="02020603050405020304" pitchFamily="18" charset="0"/>
              </a:rPr>
              <a:t>The t-statistic for pairwise comparison is computed as follows:</a:t>
            </a:r>
            <a:endParaRPr lang="en-US" sz="2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43610" y="1159510"/>
            <a:ext cx="8223250" cy="2635250"/>
          </a:xfrm>
          <a:prstGeom prst="rect">
            <a:avLst/>
          </a:prstGeom>
          <a:noFill/>
          <a:ln>
            <a:noFill/>
          </a:ln>
        </p:spPr>
      </p:pic>
      <p:sp>
        <p:nvSpPr>
          <p:cNvPr id="6" name="Rectangle 5"/>
          <p:cNvSpPr/>
          <p:nvPr/>
        </p:nvSpPr>
        <p:spPr>
          <a:xfrm>
            <a:off x="943610" y="3794760"/>
            <a:ext cx="8223250" cy="1107996"/>
          </a:xfrm>
          <a:prstGeom prst="rect">
            <a:avLst/>
          </a:prstGeom>
        </p:spPr>
        <p:txBody>
          <a:bodyPr wrap="square">
            <a:spAutoFit/>
          </a:bodyPr>
          <a:lstStyle/>
          <a:p>
            <a:r>
              <a:rPr lang="en-US" sz="2200" dirty="0" smtClean="0">
                <a:latin typeface="Calibri" panose="020F0502020204030204" pitchFamily="34" charset="0"/>
                <a:ea typeface="Times New Roman" panose="02020603050405020304" pitchFamily="18" charset="0"/>
              </a:rPr>
              <a:t>If two test sets are available instead of a single test set, then a non-paired version of the </a:t>
            </a:r>
            <a:r>
              <a:rPr lang="en-US" sz="2200" dirty="0">
                <a:latin typeface="Calibri" panose="020F0502020204030204" pitchFamily="34" charset="0"/>
                <a:ea typeface="Times New Roman" panose="02020603050405020304" pitchFamily="18" charset="0"/>
              </a:rPr>
              <a:t>t-test is used, where the variance between the means of the two models is estimated as</a:t>
            </a:r>
            <a:endParaRPr lang="en-US" sz="2200" dirty="0"/>
          </a:p>
        </p:txBody>
      </p:sp>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1516380" y="4902756"/>
            <a:ext cx="7650480" cy="1315164"/>
          </a:xfrm>
          <a:prstGeom prst="rect">
            <a:avLst/>
          </a:prstGeom>
          <a:noFill/>
          <a:ln>
            <a:noFill/>
          </a:ln>
        </p:spPr>
      </p:pic>
    </p:spTree>
    <p:extLst>
      <p:ext uri="{BB962C8B-B14F-4D97-AF65-F5344CB8AC3E}">
        <p14:creationId xmlns:p14="http://schemas.microsoft.com/office/powerpoint/2010/main" val="2364235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514013"/>
            <a:ext cx="8671560" cy="1569660"/>
          </a:xfrm>
          <a:prstGeom prst="rect">
            <a:avLst/>
          </a:prstGeom>
        </p:spPr>
        <p:txBody>
          <a:bodyPr wrap="square">
            <a:spAutoFit/>
          </a:bodyPr>
          <a:lstStyle/>
          <a:p>
            <a:pPr algn="ctr"/>
            <a:r>
              <a:rPr lang="en-US" sz="3200" dirty="0">
                <a:latin typeface="Calibri" panose="020F0502020204030204" pitchFamily="34" charset="0"/>
                <a:ea typeface="Times New Roman" panose="02020603050405020304" pitchFamily="18" charset="0"/>
              </a:rPr>
              <a:t>8.5.6 Comparing Classiﬁers Based on Cost–Beneﬁt and ROC Curves</a:t>
            </a:r>
            <a:r>
              <a:rPr lang="vi-VN" sz="3200" dirty="0">
                <a:latin typeface="Calibri" panose="020F0502020204030204" pitchFamily="34" charset="0"/>
                <a:ea typeface="Times New Roman" panose="02020603050405020304" pitchFamily="18" charset="0"/>
              </a:rPr>
              <a:t>(Receiver operating characteristic curves)</a:t>
            </a:r>
            <a:endParaRPr lang="en-US" sz="32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685800" y="2349182"/>
            <a:ext cx="8671560" cy="4402138"/>
          </a:xfrm>
          <a:prstGeom prst="rect">
            <a:avLst/>
          </a:prstGeom>
          <a:noFill/>
          <a:ln>
            <a:noFill/>
          </a:ln>
        </p:spPr>
      </p:pic>
    </p:spTree>
    <p:extLst>
      <p:ext uri="{BB962C8B-B14F-4D97-AF65-F5344CB8AC3E}">
        <p14:creationId xmlns:p14="http://schemas.microsoft.com/office/powerpoint/2010/main" val="3807457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847406" y="798512"/>
            <a:ext cx="8509953" cy="6029008"/>
          </a:xfrm>
          <a:prstGeom prst="rect">
            <a:avLst/>
          </a:prstGeom>
          <a:noFill/>
          <a:ln>
            <a:noFill/>
          </a:ln>
        </p:spPr>
      </p:pic>
    </p:spTree>
    <p:extLst>
      <p:ext uri="{BB962C8B-B14F-4D97-AF65-F5344CB8AC3E}">
        <p14:creationId xmlns:p14="http://schemas.microsoft.com/office/powerpoint/2010/main" val="557252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51544" y="1034852"/>
            <a:ext cx="8594982" cy="584775"/>
          </a:xfrm>
          <a:prstGeom prst="rect">
            <a:avLst/>
          </a:prstGeom>
        </p:spPr>
        <p:txBody>
          <a:bodyPr wrap="none">
            <a:spAutoFit/>
          </a:bodyPr>
          <a:lstStyle/>
          <a:p>
            <a:r>
              <a:rPr lang="en-US" sz="3200" b="1" dirty="0">
                <a:latin typeface="Calibri" panose="020F0502020204030204" pitchFamily="34" charset="0"/>
                <a:ea typeface="Times New Roman" panose="02020603050405020304" pitchFamily="18" charset="0"/>
              </a:rPr>
              <a:t>8.6 Techniques to Improve Classiﬁcation Accuracy</a:t>
            </a:r>
            <a:endParaRPr lang="en-US" sz="3200" dirty="0"/>
          </a:p>
        </p:txBody>
      </p:sp>
      <p:sp>
        <p:nvSpPr>
          <p:cNvPr id="5" name="Rectangle 4"/>
          <p:cNvSpPr/>
          <p:nvPr/>
        </p:nvSpPr>
        <p:spPr>
          <a:xfrm>
            <a:off x="851544" y="2379441"/>
            <a:ext cx="8594982" cy="3055132"/>
          </a:xfrm>
          <a:prstGeom prst="rect">
            <a:avLst/>
          </a:prstGeom>
        </p:spPr>
        <p:txBody>
          <a:bodyPr wrap="square">
            <a:spAutoFit/>
          </a:bodyPr>
          <a:lstStyle/>
          <a:p>
            <a:pPr>
              <a:lnSpc>
                <a:spcPct val="107000"/>
              </a:lnSpc>
              <a:spcAft>
                <a:spcPts val="1000"/>
              </a:spcAft>
            </a:pPr>
            <a:r>
              <a:rPr lang="en-US" sz="2600" dirty="0">
                <a:latin typeface="Calibri" panose="020F0502020204030204" pitchFamily="34" charset="0"/>
                <a:ea typeface="Times New Roman" panose="02020603050405020304" pitchFamily="18" charset="0"/>
                <a:cs typeface="Calibri" panose="020F0502020204030204" pitchFamily="34" charset="0"/>
              </a:rPr>
              <a:t>8.6.1 Introducing Ensemble Methods </a:t>
            </a:r>
            <a:endParaRPr lang="en-US" sz="26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en-US" sz="2200" dirty="0">
                <a:latin typeface="Calibri" panose="020F0502020204030204" pitchFamily="34" charset="0"/>
                <a:ea typeface="Times New Roman" panose="02020603050405020304" pitchFamily="18" charset="0"/>
                <a:cs typeface="Calibri" panose="020F0502020204030204" pitchFamily="34" charset="0"/>
              </a:rPr>
              <a:t>Bagging, boosting, and random forests are examples of ensemble methods</a:t>
            </a:r>
            <a:r>
              <a:rPr lang="vi-VN" sz="2200" dirty="0">
                <a:latin typeface="Calibri" panose="020F0502020204030204" pitchFamily="34" charset="0"/>
                <a:ea typeface="Times New Roman" panose="02020603050405020304" pitchFamily="18" charset="0"/>
                <a:cs typeface="Calibri" panose="020F0502020204030204" pitchFamily="34"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200" dirty="0">
                <a:latin typeface="Calibri" panose="020F0502020204030204" pitchFamily="34" charset="0"/>
                <a:ea typeface="Times New Roman" panose="02020603050405020304" pitchFamily="18" charset="0"/>
                <a:cs typeface="Calibri" panose="020F0502020204030204" pitchFamily="34" charset="0"/>
              </a:rPr>
              <a:t>An ensemble combines a seriesof k learned models (or baseclassiﬁers), M1, M2,..., Mk, with the aim of creating an improved composite classiﬁcation model, M</a:t>
            </a:r>
            <a:r>
              <a:rPr lang="vi-VN" sz="2200" dirty="0">
                <a:latin typeface="Cambria Math" panose="02040503050406030204" pitchFamily="18" charset="0"/>
                <a:ea typeface="Times New Roman" panose="02020603050405020304" pitchFamily="18" charset="0"/>
                <a:cs typeface="Cambria Math" panose="02040503050406030204" pitchFamily="18" charset="0"/>
              </a:rPr>
              <a:t>∗.</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200" dirty="0">
                <a:latin typeface="Cambria Math" panose="02040503050406030204" pitchFamily="18" charset="0"/>
                <a:ea typeface="Times New Roman" panose="02020603050405020304" pitchFamily="18" charset="0"/>
                <a:cs typeface="Cambria Math" panose="02040503050406030204" pitchFamily="18" charset="0"/>
              </a:rPr>
              <a:t>An ensemble tends to be more accurate than its base classiﬁers.</a:t>
            </a:r>
            <a:endParaRPr lang="en-US" sz="2200" dirty="0"/>
          </a:p>
        </p:txBody>
      </p:sp>
    </p:spTree>
    <p:extLst>
      <p:ext uri="{BB962C8B-B14F-4D97-AF65-F5344CB8AC3E}">
        <p14:creationId xmlns:p14="http://schemas.microsoft.com/office/powerpoint/2010/main" val="2762022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634046" y="1072832"/>
            <a:ext cx="8799513" cy="5556568"/>
          </a:xfrm>
          <a:prstGeom prst="rect">
            <a:avLst/>
          </a:prstGeom>
          <a:noFill/>
          <a:ln>
            <a:noFill/>
          </a:ln>
        </p:spPr>
      </p:pic>
    </p:spTree>
    <p:extLst>
      <p:ext uri="{BB962C8B-B14F-4D97-AF65-F5344CB8AC3E}">
        <p14:creationId xmlns:p14="http://schemas.microsoft.com/office/powerpoint/2010/main" val="2234938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420686" y="852805"/>
            <a:ext cx="9043353" cy="6035675"/>
          </a:xfrm>
          <a:prstGeom prst="rect">
            <a:avLst/>
          </a:prstGeom>
          <a:noFill/>
          <a:ln>
            <a:noFill/>
          </a:ln>
        </p:spPr>
      </p:pic>
    </p:spTree>
    <p:extLst>
      <p:ext uri="{BB962C8B-B14F-4D97-AF65-F5344CB8AC3E}">
        <p14:creationId xmlns:p14="http://schemas.microsoft.com/office/powerpoint/2010/main" val="1247538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0502" y="394772"/>
            <a:ext cx="2762338" cy="492443"/>
          </a:xfrm>
          <a:prstGeom prst="rect">
            <a:avLst/>
          </a:prstGeom>
        </p:spPr>
        <p:txBody>
          <a:bodyPr wrap="square">
            <a:spAutoFit/>
          </a:bodyPr>
          <a:lstStyle/>
          <a:p>
            <a:r>
              <a:rPr lang="en-US" sz="2600" b="1" dirty="0">
                <a:latin typeface="Calibri" panose="020F0502020204030204" pitchFamily="34" charset="0"/>
                <a:ea typeface="Times New Roman" panose="02020603050405020304" pitchFamily="18" charset="0"/>
              </a:rPr>
              <a:t>8.6.2 Bagging</a:t>
            </a:r>
            <a:endParaRPr lang="en-US" sz="26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10502" y="1051560"/>
            <a:ext cx="8355418" cy="5852159"/>
          </a:xfrm>
          <a:prstGeom prst="rect">
            <a:avLst/>
          </a:prstGeom>
          <a:noFill/>
          <a:ln>
            <a:noFill/>
          </a:ln>
        </p:spPr>
      </p:pic>
    </p:spTree>
    <p:extLst>
      <p:ext uri="{BB962C8B-B14F-4D97-AF65-F5344CB8AC3E}">
        <p14:creationId xmlns:p14="http://schemas.microsoft.com/office/powerpoint/2010/main" val="8144001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72856" y="364292"/>
            <a:ext cx="4218014" cy="507831"/>
          </a:xfrm>
          <a:prstGeom prst="rect">
            <a:avLst/>
          </a:prstGeom>
        </p:spPr>
        <p:txBody>
          <a:bodyPr wrap="none">
            <a:spAutoFit/>
          </a:bodyPr>
          <a:lstStyle/>
          <a:p>
            <a:r>
              <a:rPr lang="vi-VN" sz="2600" dirty="0">
                <a:latin typeface="Calibri" panose="020F0502020204030204" pitchFamily="34" charset="0"/>
                <a:ea typeface="Times New Roman" panose="02020603050405020304" pitchFamily="18" charset="0"/>
              </a:rPr>
              <a:t>8.6.3 Boosting and AdaBoost</a:t>
            </a:r>
            <a:endParaRPr lang="en-US" sz="2600" dirty="0"/>
          </a:p>
        </p:txBody>
      </p:sp>
      <p:sp>
        <p:nvSpPr>
          <p:cNvPr id="5" name="Rectangle 4"/>
          <p:cNvSpPr/>
          <p:nvPr/>
        </p:nvSpPr>
        <p:spPr>
          <a:xfrm>
            <a:off x="533400" y="872123"/>
            <a:ext cx="8747760" cy="3427605"/>
          </a:xfrm>
          <a:prstGeom prst="rect">
            <a:avLst/>
          </a:prstGeom>
        </p:spPr>
        <p:txBody>
          <a:bodyPr wrap="square">
            <a:spAutoFit/>
          </a:bodyPr>
          <a:lstStyle/>
          <a:p>
            <a:pPr marL="342900" indent="-342900">
              <a:lnSpc>
                <a:spcPct val="107000"/>
              </a:lnSpc>
              <a:spcAft>
                <a:spcPts val="1000"/>
              </a:spcAft>
              <a:buFont typeface="Arial" panose="020B0604020202020204" pitchFamily="34" charset="0"/>
              <a:buChar char="•"/>
            </a:pPr>
            <a:r>
              <a:rPr lang="vi-VN" sz="2000" dirty="0">
                <a:latin typeface="Calibri" panose="020F0502020204030204" pitchFamily="34" charset="0"/>
                <a:ea typeface="Times New Roman" panose="02020603050405020304" pitchFamily="18" charset="0"/>
                <a:cs typeface="Calibri" panose="020F0502020204030204" pitchFamily="34" charset="0"/>
              </a:rPr>
              <a:t>In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boosting</a:t>
            </a:r>
            <a:r>
              <a:rPr lang="vi-VN" sz="2000" dirty="0">
                <a:latin typeface="Calibri" panose="020F0502020204030204" pitchFamily="34" charset="0"/>
                <a:ea typeface="Times New Roman" panose="02020603050405020304" pitchFamily="18" charset="0"/>
                <a:cs typeface="Calibri" panose="020F0502020204030204" pitchFamily="34" charset="0"/>
              </a:rPr>
              <a:t>, weights are also assigned to each training tuple. A series of k classiﬁers is iteratively learned. After a classiﬁer, M</a:t>
            </a:r>
            <a:r>
              <a:rPr lang="vi-VN" sz="2000" baseline="-25000" dirty="0">
                <a:latin typeface="Calibri" panose="020F0502020204030204" pitchFamily="34" charset="0"/>
                <a:ea typeface="Times New Roman" panose="02020603050405020304" pitchFamily="18" charset="0"/>
                <a:cs typeface="Calibri" panose="020F0502020204030204" pitchFamily="34" charset="0"/>
              </a:rPr>
              <a:t>i</a:t>
            </a:r>
            <a:r>
              <a:rPr lang="vi-VN" sz="2000" dirty="0">
                <a:latin typeface="Calibri" panose="020F0502020204030204" pitchFamily="34" charset="0"/>
                <a:ea typeface="Times New Roman" panose="02020603050405020304" pitchFamily="18" charset="0"/>
                <a:cs typeface="Calibri" panose="020F0502020204030204" pitchFamily="34" charset="0"/>
              </a:rPr>
              <a:t>, is learned, the weights are updated to allow the subsequent classiﬁer, M</a:t>
            </a:r>
            <a:r>
              <a:rPr lang="vi-VN" sz="2000" baseline="-25000" dirty="0">
                <a:latin typeface="Calibri" panose="020F0502020204030204" pitchFamily="34" charset="0"/>
                <a:ea typeface="Times New Roman" panose="02020603050405020304" pitchFamily="18" charset="0"/>
                <a:cs typeface="Calibri" panose="020F0502020204030204" pitchFamily="34" charset="0"/>
              </a:rPr>
              <a:t>i</a:t>
            </a:r>
            <a:r>
              <a:rPr lang="vi-VN" sz="2000" dirty="0">
                <a:latin typeface="Calibri" panose="020F0502020204030204" pitchFamily="34" charset="0"/>
                <a:ea typeface="Times New Roman" panose="02020603050405020304" pitchFamily="18" charset="0"/>
                <a:cs typeface="Calibri" panose="020F0502020204030204" pitchFamily="34" charset="0"/>
              </a:rPr>
              <a:t>+1, to “pay more attention”to the training tuples that were misclassiﬁed by M</a:t>
            </a:r>
            <a:r>
              <a:rPr lang="vi-VN" sz="2000" baseline="-25000" dirty="0">
                <a:latin typeface="Calibri" panose="020F0502020204030204" pitchFamily="34" charset="0"/>
                <a:ea typeface="Times New Roman" panose="02020603050405020304" pitchFamily="18" charset="0"/>
                <a:cs typeface="Calibri" panose="020F0502020204030204" pitchFamily="34" charset="0"/>
              </a:rPr>
              <a:t>i</a:t>
            </a:r>
            <a:r>
              <a:rPr lang="vi-VN" sz="2000" dirty="0">
                <a:latin typeface="Calibri" panose="020F0502020204030204" pitchFamily="34" charset="0"/>
                <a:ea typeface="Times New Roman" panose="02020603050405020304" pitchFamily="18" charset="0"/>
                <a:cs typeface="Calibri" panose="020F0502020204030204" pitchFamily="34" charset="0"/>
              </a:rPr>
              <a:t>. The ﬁnal boosted classiﬁer, M</a:t>
            </a:r>
            <a:r>
              <a:rPr lang="vi-VN" sz="2000" dirty="0">
                <a:latin typeface="Cambria Math" panose="02040503050406030204" pitchFamily="18" charset="0"/>
                <a:ea typeface="Times New Roman" panose="02020603050405020304" pitchFamily="18" charset="0"/>
                <a:cs typeface="Cambria Math" panose="02040503050406030204" pitchFamily="18" charset="0"/>
              </a:rPr>
              <a:t>∗, combines the votes of each individual classiﬁer, where the weight of each classiﬁer’s vote is a function of its accuracy. </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err="1">
                <a:solidFill>
                  <a:srgbClr val="0070C0"/>
                </a:solidFill>
                <a:latin typeface="Calibri" panose="020F0502020204030204" pitchFamily="34" charset="0"/>
                <a:ea typeface="Times New Roman" panose="02020603050405020304" pitchFamily="18" charset="0"/>
              </a:rPr>
              <a:t>AdaBoost</a:t>
            </a:r>
            <a:r>
              <a:rPr lang="en-US" sz="2000" b="1" dirty="0">
                <a:solidFill>
                  <a:srgbClr val="0070C0"/>
                </a:solidFill>
                <a:latin typeface="Calibri" panose="020F0502020204030204" pitchFamily="34" charset="0"/>
                <a:ea typeface="Times New Roman" panose="02020603050405020304" pitchFamily="18" charset="0"/>
              </a:rPr>
              <a:t> (short for Adaptive Boosting)</a:t>
            </a:r>
            <a:r>
              <a:rPr lang="en-US" sz="2000" dirty="0">
                <a:latin typeface="Calibri" panose="020F0502020204030204" pitchFamily="34" charset="0"/>
                <a:ea typeface="Times New Roman" panose="02020603050405020304" pitchFamily="18" charset="0"/>
              </a:rPr>
              <a:t> is a popular boosting algorithm</a:t>
            </a:r>
            <a:r>
              <a:rPr lang="vi-VN" sz="2000" dirty="0">
                <a:latin typeface="Calibri" panose="020F0502020204030204" pitchFamily="34" charset="0"/>
                <a:ea typeface="Times New Roman" panose="02020603050405020304" pitchFamily="18" charset="0"/>
              </a:rPr>
              <a:t>. Initially, AdaBoost assigns each training tuple an equal weight of 1/d. Generating k classiﬁers for the ensemble requires k rounds through the rest of the algorithm.</a:t>
            </a:r>
            <a:endParaRPr lang="en-US" sz="2000"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872856" y="4434224"/>
            <a:ext cx="8408304" cy="2530456"/>
          </a:xfrm>
          <a:prstGeom prst="rect">
            <a:avLst/>
          </a:prstGeom>
          <a:noFill/>
          <a:ln>
            <a:noFill/>
          </a:ln>
        </p:spPr>
      </p:pic>
    </p:spTree>
    <p:extLst>
      <p:ext uri="{BB962C8B-B14F-4D97-AF65-F5344CB8AC3E}">
        <p14:creationId xmlns:p14="http://schemas.microsoft.com/office/powerpoint/2010/main" val="2234819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640080" y="457201"/>
            <a:ext cx="8808719" cy="6522720"/>
          </a:xfrm>
          <a:prstGeom prst="rect">
            <a:avLst/>
          </a:prstGeom>
          <a:noFill/>
          <a:ln>
            <a:noFill/>
          </a:ln>
        </p:spPr>
      </p:pic>
    </p:spTree>
    <p:extLst>
      <p:ext uri="{BB962C8B-B14F-4D97-AF65-F5344CB8AC3E}">
        <p14:creationId xmlns:p14="http://schemas.microsoft.com/office/powerpoint/2010/main" val="2015576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72440" y="598208"/>
            <a:ext cx="9128760" cy="5887061"/>
          </a:xfrm>
          <a:prstGeom prst="rect">
            <a:avLst/>
          </a:prstGeom>
        </p:spPr>
        <p:txBody>
          <a:bodyPr wrap="square">
            <a:spAutoFit/>
          </a:bodyPr>
          <a:lstStyle/>
          <a:p>
            <a:pPr>
              <a:lnSpc>
                <a:spcPct val="107000"/>
              </a:lnSpc>
              <a:spcAft>
                <a:spcPts val="1000"/>
              </a:spcAft>
            </a:pPr>
            <a:r>
              <a:rPr lang="vi-VN" sz="2600" dirty="0">
                <a:latin typeface="Calibri" panose="020F0502020204030204" pitchFamily="34" charset="0"/>
                <a:ea typeface="Times New Roman" panose="02020603050405020304" pitchFamily="18" charset="0"/>
                <a:cs typeface="Calibri" panose="020F0502020204030204" pitchFamily="34" charset="0"/>
              </a:rPr>
              <a:t>8.6.4 Random Forests</a:t>
            </a:r>
            <a:r>
              <a:rPr lang="vi-VN" sz="2000" dirty="0">
                <a:latin typeface="Calibri" panose="020F0502020204030204" pitchFamily="34" charset="0"/>
                <a:ea typeface="Times New Roman" panose="02020603050405020304" pitchFamily="18" charset="0"/>
                <a:cs typeface="Calibri" panose="020F0502020204030204" pitchFamily="34" charset="0"/>
              </a:rPr>
              <a:t> </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000" dirty="0">
                <a:latin typeface="Calibri" panose="020F0502020204030204" pitchFamily="34" charset="0"/>
                <a:ea typeface="Times New Roman" panose="02020603050405020304" pitchFamily="18" charset="0"/>
                <a:cs typeface="Calibri" panose="020F0502020204030204" pitchFamily="34" charset="0"/>
              </a:rPr>
              <a:t>When using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Random Forests</a:t>
            </a:r>
            <a:r>
              <a:rPr lang="vi-VN" sz="2000" dirty="0">
                <a:latin typeface="Calibri" panose="020F0502020204030204" pitchFamily="34" charset="0"/>
                <a:ea typeface="Times New Roman" panose="02020603050405020304" pitchFamily="18" charset="0"/>
                <a:cs typeface="Calibri" panose="020F0502020204030204" pitchFamily="34" charset="0"/>
              </a:rPr>
              <a:t>, each of the classiﬁers in the ensemble is a decision tree classiﬁer so that the collection of classiﬁers is a “forest". The individual decision trees are generated using a random selection of attributes at each node to determine the split. During classiﬁcation, each tree votes and the most popular class is returned. </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000" dirty="0">
                <a:latin typeface="Calibri" panose="020F0502020204030204" pitchFamily="34" charset="0"/>
                <a:ea typeface="Times New Roman" panose="02020603050405020304" pitchFamily="18" charset="0"/>
                <a:cs typeface="Calibri" panose="020F0502020204030204" pitchFamily="34" charset="0"/>
              </a:rPr>
              <a:t>Random forests which is built using bagging in tandem with random attribute selection,and with random input selection, are called Forest-RI..</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000" dirty="0">
                <a:latin typeface="Calibri" panose="020F0502020204030204" pitchFamily="34" charset="0"/>
                <a:ea typeface="Times New Roman" panose="02020603050405020304" pitchFamily="18" charset="0"/>
                <a:cs typeface="Calibri" panose="020F0502020204030204" pitchFamily="34" charset="0"/>
              </a:rPr>
              <a:t>Another form of random forest, called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Forest-RC</a:t>
            </a:r>
            <a:r>
              <a:rPr lang="vi-VN" sz="2000" dirty="0">
                <a:latin typeface="Calibri" panose="020F0502020204030204" pitchFamily="34" charset="0"/>
                <a:ea typeface="Times New Roman" panose="02020603050405020304" pitchFamily="18" charset="0"/>
                <a:cs typeface="Calibri" panose="020F0502020204030204" pitchFamily="34" charset="0"/>
              </a:rPr>
              <a:t>, uses random linear combinations of the input attributes. Instead of randomly selecting a subset of the attributes, it creates new attributes (or features) that are a linear combination of the existing attributes. </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r>
              <a:rPr lang="vi-VN" sz="2000" dirty="0" smtClean="0">
                <a:latin typeface="Calibri" panose="020F0502020204030204" pitchFamily="34" charset="0"/>
                <a:ea typeface="Times New Roman" panose="02020603050405020304" pitchFamily="18" charset="0"/>
                <a:sym typeface="Wingdings" panose="05000000000000000000" pitchFamily="2" charset="2"/>
              </a:rPr>
              <a:t></a:t>
            </a:r>
            <a:r>
              <a:rPr lang="en-US" sz="2000" dirty="0" smtClean="0">
                <a:latin typeface="Calibri" panose="020F0502020204030204" pitchFamily="34" charset="0"/>
                <a:ea typeface="Times New Roman" panose="02020603050405020304" pitchFamily="18" charset="0"/>
                <a:sym typeface="Wingdings" panose="05000000000000000000" pitchFamily="2" charset="2"/>
              </a:rPr>
              <a:t> </a:t>
            </a:r>
            <a:r>
              <a:rPr lang="vi-VN" sz="2000" dirty="0" smtClean="0">
                <a:latin typeface="Calibri" panose="020F0502020204030204" pitchFamily="34" charset="0"/>
                <a:ea typeface="Times New Roman" panose="02020603050405020304" pitchFamily="18" charset="0"/>
              </a:rPr>
              <a:t>Random </a:t>
            </a:r>
            <a:r>
              <a:rPr lang="vi-VN" sz="2000" dirty="0">
                <a:latin typeface="Calibri" panose="020F0502020204030204" pitchFamily="34" charset="0"/>
                <a:ea typeface="Times New Roman" panose="02020603050405020304" pitchFamily="18" charset="0"/>
              </a:rPr>
              <a:t>forests are comparable in accuracy to AdaBoost, yet are more robust to errors and outliers. Because random forests consider many fewer attributes for each split, they are efﬁcient on very large databases. They can be faster than either bagging or boosting. Random forests give internal estimates of variable importance.</a:t>
            </a:r>
            <a:endParaRPr lang="en-US" sz="2000" dirty="0"/>
          </a:p>
        </p:txBody>
      </p:sp>
    </p:spTree>
    <p:extLst>
      <p:ext uri="{BB962C8B-B14F-4D97-AF65-F5344CB8AC3E}">
        <p14:creationId xmlns:p14="http://schemas.microsoft.com/office/powerpoint/2010/main" val="28109766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8160" y="171863"/>
            <a:ext cx="8884920" cy="6721455"/>
          </a:xfrm>
          <a:prstGeom prst="rect">
            <a:avLst/>
          </a:prstGeom>
        </p:spPr>
        <p:txBody>
          <a:bodyPr wrap="square">
            <a:spAutoFit/>
          </a:bodyPr>
          <a:lstStyle/>
          <a:p>
            <a:pPr>
              <a:lnSpc>
                <a:spcPct val="107000"/>
              </a:lnSpc>
              <a:spcAft>
                <a:spcPts val="1000"/>
              </a:spcAft>
            </a:pPr>
            <a:r>
              <a:rPr lang="vi-VN" sz="2600" dirty="0">
                <a:latin typeface="Calibri" panose="020F0502020204030204" pitchFamily="34" charset="0"/>
                <a:ea typeface="Times New Roman" panose="02020603050405020304" pitchFamily="18" charset="0"/>
                <a:cs typeface="Calibri" panose="020F0502020204030204" pitchFamily="34" charset="0"/>
              </a:rPr>
              <a:t>8.6.5 Improving Classiﬁcation Accuracy of Class-Imbalanced </a:t>
            </a:r>
            <a:r>
              <a:rPr lang="vi-VN" sz="2600" dirty="0" smtClean="0">
                <a:latin typeface="Calibri" panose="020F0502020204030204" pitchFamily="34" charset="0"/>
                <a:ea typeface="Times New Roman" panose="02020603050405020304" pitchFamily="18" charset="0"/>
                <a:cs typeface="Calibri" panose="020F0502020204030204" pitchFamily="34" charset="0"/>
              </a:rPr>
              <a:t>Data</a:t>
            </a:r>
            <a:endParaRPr lang="en-US" sz="2600" dirty="0" smtClean="0">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1000"/>
              </a:spcAft>
            </a:pPr>
            <a:endParaRPr lang="en-US" sz="26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000" dirty="0">
                <a:latin typeface="Calibri" panose="020F0502020204030204" pitchFamily="34" charset="0"/>
                <a:ea typeface="Times New Roman" panose="02020603050405020304" pitchFamily="18" charset="0"/>
                <a:cs typeface="Calibri" panose="020F0502020204030204" pitchFamily="34" charset="0"/>
              </a:rPr>
              <a:t>The general approaches for improving the classiﬁcation accuracy of class-imbalanced data include (1)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oversampling</a:t>
            </a:r>
            <a:r>
              <a:rPr lang="vi-VN" sz="2000" dirty="0">
                <a:latin typeface="Calibri" panose="020F0502020204030204" pitchFamily="34" charset="0"/>
                <a:ea typeface="Times New Roman" panose="02020603050405020304" pitchFamily="18" charset="0"/>
                <a:cs typeface="Calibri" panose="020F0502020204030204" pitchFamily="34" charset="0"/>
              </a:rPr>
              <a:t>, (2)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undersampling</a:t>
            </a:r>
            <a:r>
              <a:rPr lang="vi-VN" sz="2000" dirty="0">
                <a:latin typeface="Calibri" panose="020F0502020204030204" pitchFamily="34" charset="0"/>
                <a:ea typeface="Times New Roman" panose="02020603050405020304" pitchFamily="18" charset="0"/>
                <a:cs typeface="Calibri" panose="020F0502020204030204" pitchFamily="34" charset="0"/>
              </a:rPr>
              <a:t>, (3)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threshold moving</a:t>
            </a:r>
            <a:r>
              <a:rPr lang="vi-VN" sz="2000" dirty="0">
                <a:latin typeface="Calibri" panose="020F0502020204030204" pitchFamily="34" charset="0"/>
                <a:ea typeface="Times New Roman" panose="02020603050405020304" pitchFamily="18" charset="0"/>
                <a:cs typeface="Calibri" panose="020F0502020204030204" pitchFamily="34" charset="0"/>
              </a:rPr>
              <a:t>, and (4)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ensemble techniques</a:t>
            </a:r>
            <a:r>
              <a:rPr lang="vi-VN" sz="2000" dirty="0">
                <a:latin typeface="Calibri" panose="020F0502020204030204" pitchFamily="34" charset="0"/>
                <a:ea typeface="Times New Roman" panose="02020603050405020304" pitchFamily="18" charset="0"/>
                <a:cs typeface="Calibri" panose="020F0502020204030204" pitchFamily="34" charset="0"/>
              </a:rPr>
              <a:t>. </a:t>
            </a:r>
            <a:endParaRPr lang="en-US" sz="20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07000"/>
              </a:lnSpc>
              <a:spcAft>
                <a:spcPts val="1000"/>
              </a:spcAft>
              <a:buFont typeface="Arial" panose="020B0604020202020204" pitchFamily="34" charset="0"/>
              <a:buChar char="•"/>
            </a:pPr>
            <a:r>
              <a:rPr lang="vi-VN" sz="2000" dirty="0" smtClean="0">
                <a:latin typeface="Calibri" panose="020F0502020204030204" pitchFamily="34" charset="0"/>
                <a:ea typeface="Times New Roman" panose="02020603050405020304" pitchFamily="18" charset="0"/>
                <a:cs typeface="Calibri" panose="020F0502020204030204" pitchFamily="34" charset="0"/>
              </a:rPr>
              <a:t>The </a:t>
            </a:r>
            <a:r>
              <a:rPr lang="vi-VN" sz="2000" dirty="0">
                <a:latin typeface="Calibri" panose="020F0502020204030204" pitchFamily="34" charset="0"/>
                <a:ea typeface="Times New Roman" panose="02020603050405020304" pitchFamily="18" charset="0"/>
                <a:cs typeface="Calibri" panose="020F0502020204030204" pitchFamily="34" charset="0"/>
              </a:rPr>
              <a:t>ﬁrst three do not involve any changes to the construction of the classiﬁcation model. For ease of explanation, we describe these general approaches with respect to the two-class imbalance data problem, where the higher-cost classes are rarer than the lower-cost classes. </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1000"/>
              </a:spcAft>
              <a:buFont typeface="Arial" panose="020B0604020202020204" pitchFamily="34" charset="0"/>
              <a:buChar char="•"/>
            </a:pPr>
            <a:r>
              <a:rPr lang="vi-VN" sz="2000" dirty="0">
                <a:latin typeface="Calibri" panose="020F0502020204030204" pitchFamily="34" charset="0"/>
                <a:ea typeface="Times New Roman" panose="02020603050405020304" pitchFamily="18" charset="0"/>
                <a:cs typeface="Calibri" panose="020F0502020204030204" pitchFamily="34" charset="0"/>
              </a:rPr>
              <a:t>Both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oversampling</a:t>
            </a:r>
            <a:r>
              <a:rPr lang="vi-VN" sz="2000" dirty="0">
                <a:latin typeface="Calibri" panose="020F0502020204030204" pitchFamily="34" charset="0"/>
                <a:ea typeface="Times New Roman" panose="02020603050405020304" pitchFamily="18" charset="0"/>
                <a:cs typeface="Calibri" panose="020F0502020204030204" pitchFamily="34" charset="0"/>
              </a:rPr>
              <a:t>  and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undersampling</a:t>
            </a:r>
            <a:r>
              <a:rPr lang="vi-VN" sz="2000" dirty="0">
                <a:latin typeface="Calibri" panose="020F0502020204030204" pitchFamily="34" charset="0"/>
                <a:ea typeface="Times New Roman" panose="02020603050405020304" pitchFamily="18" charset="0"/>
                <a:cs typeface="Calibri" panose="020F0502020204030204" pitchFamily="34" charset="0"/>
              </a:rPr>
              <a:t> change the training data distribution so that the rare (positive) class is well represented. </a:t>
            </a:r>
            <a:endParaRPr lang="en-US" sz="20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07000"/>
              </a:lnSpc>
              <a:spcAft>
                <a:spcPts val="1000"/>
              </a:spcAft>
              <a:buFont typeface="Arial" panose="020B0604020202020204" pitchFamily="34" charset="0"/>
              <a:buChar char="•"/>
            </a:pPr>
            <a:r>
              <a:rPr lang="vi-VN" sz="2000" b="1"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Over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sampling</a:t>
            </a:r>
            <a:r>
              <a:rPr lang="vi-VN" sz="2000" b="1" dirty="0">
                <a:latin typeface="Calibri" panose="020F0502020204030204" pitchFamily="34" charset="0"/>
                <a:ea typeface="Times New Roman" panose="02020603050405020304" pitchFamily="18" charset="0"/>
                <a:cs typeface="Calibri" panose="020F0502020204030204" pitchFamily="34" charset="0"/>
              </a:rPr>
              <a:t> </a:t>
            </a:r>
            <a:r>
              <a:rPr lang="vi-VN" sz="2000" dirty="0">
                <a:latin typeface="Calibri" panose="020F0502020204030204" pitchFamily="34" charset="0"/>
                <a:ea typeface="Times New Roman" panose="02020603050405020304" pitchFamily="18" charset="0"/>
                <a:cs typeface="Calibri" panose="020F0502020204030204" pitchFamily="34" charset="0"/>
              </a:rPr>
              <a:t>works by resampling the positive tuples so that the resulting training set contains an equal number of positive and negative tuples. </a:t>
            </a:r>
            <a:endParaRPr lang="en-US" sz="2000" dirty="0" smtClean="0">
              <a:latin typeface="Calibri" panose="020F0502020204030204" pitchFamily="34" charset="0"/>
              <a:ea typeface="Times New Roman" panose="02020603050405020304" pitchFamily="18" charset="0"/>
              <a:cs typeface="Calibri" panose="020F0502020204030204" pitchFamily="34" charset="0"/>
            </a:endParaRPr>
          </a:p>
          <a:p>
            <a:pPr marL="342900" indent="-342900">
              <a:lnSpc>
                <a:spcPct val="107000"/>
              </a:lnSpc>
              <a:spcAft>
                <a:spcPts val="1000"/>
              </a:spcAft>
              <a:buFont typeface="Arial" panose="020B0604020202020204" pitchFamily="34" charset="0"/>
              <a:buChar char="•"/>
            </a:pPr>
            <a:r>
              <a:rPr lang="vi-VN" sz="2000" b="1" dirty="0" smtClean="0">
                <a:solidFill>
                  <a:srgbClr val="0070C0"/>
                </a:solidFill>
                <a:latin typeface="Calibri" panose="020F0502020204030204" pitchFamily="34" charset="0"/>
                <a:ea typeface="Times New Roman" panose="02020603050405020304" pitchFamily="18" charset="0"/>
                <a:cs typeface="Calibri" panose="020F0502020204030204" pitchFamily="34" charset="0"/>
              </a:rPr>
              <a:t>Undersampling </a:t>
            </a:r>
            <a:r>
              <a:rPr lang="vi-VN" sz="2000" b="1" dirty="0">
                <a:solidFill>
                  <a:srgbClr val="0070C0"/>
                </a:solidFill>
                <a:latin typeface="Calibri" panose="020F0502020204030204" pitchFamily="34" charset="0"/>
                <a:ea typeface="Times New Roman" panose="02020603050405020304" pitchFamily="18" charset="0"/>
                <a:cs typeface="Calibri" panose="020F0502020204030204" pitchFamily="34" charset="0"/>
              </a:rPr>
              <a:t>works</a:t>
            </a:r>
            <a:r>
              <a:rPr lang="vi-VN" sz="2000" b="1" dirty="0">
                <a:latin typeface="Calibri" panose="020F0502020204030204" pitchFamily="34" charset="0"/>
                <a:ea typeface="Times New Roman" panose="02020603050405020304" pitchFamily="18" charset="0"/>
                <a:cs typeface="Calibri" panose="020F0502020204030204" pitchFamily="34" charset="0"/>
              </a:rPr>
              <a:t> </a:t>
            </a:r>
            <a:r>
              <a:rPr lang="vi-VN" sz="2000" dirty="0">
                <a:latin typeface="Calibri" panose="020F0502020204030204" pitchFamily="34" charset="0"/>
                <a:ea typeface="Times New Roman" panose="02020603050405020304" pitchFamily="18" charset="0"/>
                <a:cs typeface="Calibri" panose="020F0502020204030204" pitchFamily="34" charset="0"/>
              </a:rPr>
              <a:t>by decreasing the number of negative tuples. </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000" dirty="0">
                <a:latin typeface="Calibri" panose="020F0502020204030204" pitchFamily="34" charset="0"/>
                <a:ea typeface="Times New Roman" panose="02020603050405020304" pitchFamily="18" charset="0"/>
              </a:rPr>
              <a:t>The </a:t>
            </a:r>
            <a:r>
              <a:rPr lang="vi-VN" sz="2000" b="1" dirty="0">
                <a:solidFill>
                  <a:srgbClr val="0070C0"/>
                </a:solidFill>
                <a:latin typeface="Calibri" panose="020F0502020204030204" pitchFamily="34" charset="0"/>
                <a:ea typeface="Times New Roman" panose="02020603050405020304" pitchFamily="18" charset="0"/>
              </a:rPr>
              <a:t>threshold-moving</a:t>
            </a:r>
            <a:r>
              <a:rPr lang="vi-VN" sz="2000" b="1" dirty="0">
                <a:latin typeface="Calibri" panose="020F0502020204030204" pitchFamily="34" charset="0"/>
                <a:ea typeface="Times New Roman" panose="02020603050405020304" pitchFamily="18" charset="0"/>
              </a:rPr>
              <a:t> </a:t>
            </a:r>
            <a:r>
              <a:rPr lang="vi-VN" sz="2000" dirty="0">
                <a:latin typeface="Calibri" panose="020F0502020204030204" pitchFamily="34" charset="0"/>
                <a:ea typeface="Times New Roman" panose="02020603050405020304" pitchFamily="18" charset="0"/>
              </a:rPr>
              <a:t>approach to the class imbalance problem does not involve any sampling. It applies to classiﬁers that, given an input tuple, return a continuous output value.</a:t>
            </a:r>
            <a:endParaRPr lang="en-US" sz="2000" dirty="0"/>
          </a:p>
        </p:txBody>
      </p:sp>
    </p:spTree>
    <p:extLst>
      <p:ext uri="{BB962C8B-B14F-4D97-AF65-F5344CB8AC3E}">
        <p14:creationId xmlns:p14="http://schemas.microsoft.com/office/powerpoint/2010/main" val="17241120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09470" y="2701703"/>
            <a:ext cx="5937250" cy="1537857"/>
          </a:xfrm>
          <a:prstGeom prst="rect">
            <a:avLst/>
          </a:prstGeom>
        </p:spPr>
        <p:txBody>
          <a:bodyPr wrap="square">
            <a:spAutoFit/>
          </a:bodyPr>
          <a:lstStyle/>
          <a:p>
            <a:pPr algn="ctr">
              <a:lnSpc>
                <a:spcPct val="107000"/>
              </a:lnSpc>
              <a:spcAft>
                <a:spcPts val="1000"/>
              </a:spcAft>
            </a:pPr>
            <a:r>
              <a:rPr lang="en-US" sz="4000" b="1" dirty="0" smtClean="0"/>
              <a:t>THE END</a:t>
            </a:r>
          </a:p>
          <a:p>
            <a:pPr algn="ctr">
              <a:lnSpc>
                <a:spcPct val="107000"/>
              </a:lnSpc>
              <a:spcAft>
                <a:spcPts val="1000"/>
              </a:spcAft>
            </a:pPr>
            <a:r>
              <a:rPr lang="en-US" sz="4000" b="1" dirty="0" smtClean="0"/>
              <a:t>THANKS FOR LISTENING</a:t>
            </a:r>
            <a:endParaRPr lang="en-US" sz="4000" b="1" dirty="0"/>
          </a:p>
        </p:txBody>
      </p:sp>
    </p:spTree>
    <p:extLst>
      <p:ext uri="{BB962C8B-B14F-4D97-AF65-F5344CB8AC3E}">
        <p14:creationId xmlns:p14="http://schemas.microsoft.com/office/powerpoint/2010/main" val="40226970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Mặc địn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TotalTime>
  <Words>6799</Words>
  <Application>Microsoft Office PowerPoint</Application>
  <PresentationFormat>Custom</PresentationFormat>
  <Paragraphs>427</Paragraphs>
  <Slides>93</Slides>
  <Notes>29</Notes>
  <HiddenSlides>1</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Mặc định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Hải Ôn Đông</dc:creator>
  <cp:lastModifiedBy>B-402</cp:lastModifiedBy>
  <cp:revision>90</cp:revision>
  <dcterms:created xsi:type="dcterms:W3CDTF">2019-05-31T08:24:54Z</dcterms:created>
  <dcterms:modified xsi:type="dcterms:W3CDTF">2019-06-01T01:10:33Z</dcterms:modified>
</cp:coreProperties>
</file>