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9" r:id="rId1"/>
  </p:sldMasterIdLst>
  <p:notesMasterIdLst>
    <p:notesMasterId r:id="rId56"/>
  </p:notesMasterIdLst>
  <p:sldIdLst>
    <p:sldId id="256" r:id="rId2"/>
    <p:sldId id="296" r:id="rId3"/>
    <p:sldId id="299" r:id="rId4"/>
    <p:sldId id="300" r:id="rId5"/>
    <p:sldId id="302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258" r:id="rId21"/>
    <p:sldId id="264" r:id="rId22"/>
    <p:sldId id="260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318" r:id="rId42"/>
    <p:sldId id="284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7" r:id="rId54"/>
    <p:sldId id="298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37" autoAdjust="0"/>
    <p:restoredTop sz="85561" autoAdjust="0"/>
  </p:normalViewPr>
  <p:slideViewPr>
    <p:cSldViewPr snapToGrid="0">
      <p:cViewPr varScale="1">
        <p:scale>
          <a:sx n="93" d="100"/>
          <a:sy n="93" d="100"/>
        </p:scale>
        <p:origin x="9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77564-1CD3-4D8D-AD5E-635687B884C4}" type="datetimeFigureOut">
              <a:rPr lang="en-US" smtClean="0"/>
              <a:t>5/4/19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555D1-EB55-4C00-A192-01882A8C4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61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_For example: through experience, we</a:t>
            </a:r>
          </a:p>
          <a:p>
            <a:r>
              <a:rPr lang="en-US" dirty="0" smtClean="0"/>
              <a:t>associate the concept snow with other concepts such as cold, white, snowman, slippery, and ice. -&gt; "snow is white" &amp; "the snowman is white"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9D3D4-D805-4537-ABB0-15B6B570834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916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9D3D4-D805-4537-ABB0-15B6B57083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151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smtClean="0"/>
              <a:t>Given two words, it would search the graphs outward from each word in a breadth-first fashion, searching for a common concept or </a:t>
            </a:r>
            <a:r>
              <a:rPr lang="en-US" sz="1200" i="1" dirty="0" smtClean="0"/>
              <a:t>intersection node</a:t>
            </a:r>
            <a:r>
              <a:rPr lang="en-US" sz="1200" dirty="0" smtClean="0"/>
              <a:t>. The paths to this node represented a relationship between the word concepts.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9D3D4-D805-4537-ABB0-15B6B570834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93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9D3D4-D805-4537-ABB0-15B6B57083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concept given just a</a:t>
            </a:r>
            <a:r>
              <a:rPr lang="en-US" baseline="0" dirty="0" smtClean="0"/>
              <a:t> type label: dog == dog:*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Although we do not know which dog is scratching its ear, the variable *X indicates that the paw and the ear belong to the same dog that is doing the scratching.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555D1-EB55-4C00-A192-01882A8C4D3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139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555D1-EB55-4C00-A192-01882A8C4D3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711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555D1-EB55-4C00-A192-01882A8C4D3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485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555D1-EB55-4C00-A192-01882A8C4D3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99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555D1-EB55-4C00-A192-01882A8C4D3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619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555D1-EB55-4C00-A192-01882A8C4D3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3733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555D1-EB55-4C00-A192-01882A8C4D3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2094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555D1-EB55-4C00-A192-01882A8C4D3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651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555D1-EB55-4C00-A192-01882A8C4D3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8309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555D1-EB55-4C00-A192-01882A8C4D3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9670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555D1-EB55-4C00-A192-01882A8C4D3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125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555D1-EB55-4C00-A192-01882A8C4D3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8466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555D1-EB55-4C00-A192-01882A8C4D3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9355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555D1-EB55-4C00-A192-01882A8C4D3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5489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555D1-EB55-4C00-A192-01882A8C4D3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717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5/4/19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5/4/19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5/4/19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Relationship Id="rId3" Type="http://schemas.openxmlformats.org/officeDocument/2006/relationships/image" Target="../media/image26.jp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7612" y="1122363"/>
            <a:ext cx="8310520" cy="2387600"/>
          </a:xfrm>
        </p:spPr>
        <p:txBody>
          <a:bodyPr>
            <a:normAutofit/>
          </a:bodyPr>
          <a:lstStyle/>
          <a:p>
            <a:pPr algn="ctr"/>
            <a:r>
              <a:rPr lang="en-US" sz="5400" dirty="0" smtClean="0">
                <a:latin typeface="Rockwell" panose="02060603020205020403" pitchFamily="18" charset="0"/>
              </a:rPr>
              <a:t>Chap 7: Knowledge representation</a:t>
            </a:r>
            <a:endParaRPr lang="en-US" sz="5400" dirty="0">
              <a:latin typeface="Rockwell" panose="020606030202050204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8715" y="4267055"/>
            <a:ext cx="8791575" cy="1912071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Group 7:</a:t>
            </a:r>
          </a:p>
          <a:p>
            <a:pPr algn="ctr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Pham </a:t>
            </a:r>
            <a:r>
              <a:rPr lang="en-US" sz="2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quang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Doan tan </a:t>
            </a:r>
            <a:r>
              <a:rPr lang="en-US" sz="2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Nguyen vu </a:t>
            </a:r>
            <a:r>
              <a:rPr lang="en-US" sz="2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duy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Rockwell" panose="02060603020205020403" pitchFamily="18" charset="0"/>
              </a:rPr>
              <a:t>Outline: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7.1: A 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Brief History of AI Representational Schemes </a:t>
            </a:r>
          </a:p>
          <a:p>
            <a:r>
              <a:rPr lang="en-US" dirty="0">
                <a:latin typeface="Tahoma" charset="0"/>
                <a:ea typeface="Tahoma" charset="0"/>
                <a:cs typeface="Tahoma" charset="0"/>
              </a:rPr>
              <a:t>7.2: Conceptual Graphs: a Network Language </a:t>
            </a:r>
          </a:p>
          <a:p>
            <a:r>
              <a:rPr lang="en-US" dirty="0">
                <a:latin typeface="Tahoma" charset="0"/>
                <a:ea typeface="Tahoma" charset="0"/>
                <a:cs typeface="Tahoma" charset="0"/>
              </a:rPr>
              <a:t>7.3: Alternative Representations and Ontologies </a:t>
            </a:r>
          </a:p>
          <a:p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7.4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: Agent-Based and Distributed </a:t>
            </a: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Problem 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Solving </a:t>
            </a:r>
            <a:endParaRPr lang="en-US" dirty="0" smtClean="0">
              <a:latin typeface="Tahoma" charset="0"/>
              <a:ea typeface="Tahoma" charset="0"/>
              <a:cs typeface="Tahoma" charset="0"/>
            </a:endParaRPr>
          </a:p>
          <a:p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Summary</a:t>
            </a:r>
            <a:endParaRPr lang="en-US" dirty="0">
              <a:latin typeface="Tahoma" charset="0"/>
              <a:ea typeface="Tahoma" charset="0"/>
              <a:cs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361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xmlns="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576954"/>
            <a:ext cx="9905998" cy="147857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7.1 A Brief History of AI Representational </a:t>
            </a:r>
            <a:r>
              <a:rPr lang="en-US" sz="4400" dirty="0" smtClean="0">
                <a:latin typeface="Rockwell" panose="02060603020205020403" pitchFamily="18" charset="0"/>
              </a:rPr>
              <a:t>Systems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141413" y="1953490"/>
            <a:ext cx="8986260" cy="53201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There are many problems that arise in mapping commonsense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reasoning into formal logic. For example of the operators ∨ and → as corresponding to the English “or” and “if ... then ...”.</a:t>
            </a:r>
          </a:p>
          <a:p>
            <a:pPr lvl="1"/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For example, the sentence “If a bird is a cardinal then it is red”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∀ X (cardinal(X) → red(X)).</a:t>
            </a:r>
          </a:p>
          <a:p>
            <a:pPr lvl="1"/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With truth-preserving operations, Chapter 2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∀ X (¬ red(X) → ¬ cardinal(X))</a:t>
            </a:r>
          </a:p>
        </p:txBody>
      </p:sp>
    </p:spTree>
    <p:extLst>
      <p:ext uri="{BB962C8B-B14F-4D97-AF65-F5344CB8AC3E}">
        <p14:creationId xmlns:p14="http://schemas.microsoft.com/office/powerpoint/2010/main" val="180001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9728" y="893317"/>
            <a:ext cx="10811944" cy="53832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Example: 	∀ 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X (cardinal(X) → red(X</a:t>
            </a: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))   &amp;  ∀ 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X (¬ red(X) → ¬ cardinal(X</a:t>
            </a: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))</a:t>
            </a:r>
          </a:p>
          <a:p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Same 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truth </a:t>
            </a: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value. 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However, truth value equivalence is </a:t>
            </a: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inappropriate</a:t>
            </a:r>
          </a:p>
          <a:p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The reason: </a:t>
            </a:r>
          </a:p>
          <a:p>
            <a:pPr lvl="1"/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Logical 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implication only expresses a relationship between </a:t>
            </a: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the truth values 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of its </a:t>
            </a: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operands.</a:t>
            </a:r>
          </a:p>
          <a:p>
            <a:pPr lvl="1"/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While 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the English sentence implied a positive </a:t>
            </a: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relation between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 </a:t>
            </a: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membership 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in a class and the possession of properties of that </a:t>
            </a: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class.</a:t>
            </a:r>
          </a:p>
          <a:p>
            <a:pPr lvl="1"/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In 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fact, the </a:t>
            </a: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genetic makeup 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of a bird causes it to have a certain </a:t>
            </a: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color. This 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relationship is lost in the </a:t>
            </a: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second version 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of the expression.  </a:t>
            </a:r>
          </a:p>
          <a:p>
            <a:pPr marL="0" indent="0">
              <a:buNone/>
            </a:pPr>
            <a:endParaRPr lang="en-US" dirty="0">
              <a:latin typeface="Tahoma" charset="0"/>
              <a:ea typeface="Tahoma" charset="0"/>
              <a:cs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97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167" y="512618"/>
            <a:ext cx="11215015" cy="5462990"/>
          </a:xfrm>
        </p:spPr>
        <p:txBody>
          <a:bodyPr>
            <a:normAutofit/>
          </a:bodyPr>
          <a:lstStyle/>
          <a:p>
            <a:r>
              <a:rPr lang="en-US" sz="2600" dirty="0" smtClean="0">
                <a:latin typeface="Tahoma" charset="0"/>
                <a:ea typeface="Tahoma" charset="0"/>
                <a:cs typeface="Tahoma" charset="0"/>
              </a:rPr>
              <a:t>In addition to their ability to associate concepts, humans also organize their knowledge hierarchically, with information kept at the highest appropriate levels of the taxonomy.</a:t>
            </a:r>
            <a:endParaRPr lang="en-US" sz="2600" dirty="0">
              <a:latin typeface="Tahoma" charset="0"/>
              <a:ea typeface="Tahoma" charset="0"/>
              <a:cs typeface="Tahoma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986" y="2150282"/>
            <a:ext cx="5626378" cy="42862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40676" y="2309623"/>
            <a:ext cx="34999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→ People store information at its most abstract level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22891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622" y="540327"/>
            <a:ext cx="10420688" cy="5791200"/>
          </a:xfrm>
        </p:spPr>
        <p:txBody>
          <a:bodyPr/>
          <a:lstStyle/>
          <a:p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Inheritance systems</a:t>
            </a:r>
          </a:p>
          <a:p>
            <a:pPr lvl="1"/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Store information at the highest level of abstraction, which reduces the size of knowledge bases and helps prevent update inconsistencies.</a:t>
            </a:r>
          </a:p>
          <a:p>
            <a:pPr lvl="1"/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Maintain the consistency of the knowledge base when adding new classes and individuals.</a:t>
            </a:r>
          </a:p>
          <a:p>
            <a:pPr marL="0" indent="0">
              <a:buNone/>
            </a:pPr>
            <a:endParaRPr lang="en-US" dirty="0">
              <a:latin typeface="Tahoma" charset="0"/>
              <a:ea typeface="Tahoma" charset="0"/>
              <a:cs typeface="Tahoma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409" y="2742091"/>
            <a:ext cx="6294101" cy="358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37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0709" y="175939"/>
            <a:ext cx="10515600" cy="1325563"/>
          </a:xfrm>
        </p:spPr>
        <p:txBody>
          <a:bodyPr/>
          <a:lstStyle/>
          <a:p>
            <a:r>
              <a:rPr lang="en-US" dirty="0">
                <a:latin typeface="Rockwell" panose="02060603020205020403" pitchFamily="18" charset="0"/>
              </a:rPr>
              <a:t>7.1.2 Early Work in Semantic Nets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0709" y="1501502"/>
            <a:ext cx="10093036" cy="5037843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ahoma" charset="0"/>
                <a:ea typeface="Tahoma" charset="0"/>
                <a:cs typeface="Tahoma" charset="0"/>
              </a:rPr>
              <a:t>Semantic Memory: It is based on explicit facts but we also use implicit  </a:t>
            </a:r>
            <a:r>
              <a:rPr lang="en-US" sz="2000" dirty="0" smtClean="0">
                <a:latin typeface="Tahoma" charset="0"/>
                <a:ea typeface="Tahoma" charset="0"/>
                <a:cs typeface="Tahoma" charset="0"/>
              </a:rPr>
              <a:t>knowledge that </a:t>
            </a:r>
            <a:r>
              <a:rPr lang="en-US" sz="2000" dirty="0">
                <a:latin typeface="Tahoma" charset="0"/>
                <a:ea typeface="Tahoma" charset="0"/>
                <a:cs typeface="Tahoma" charset="0"/>
              </a:rPr>
              <a:t>is </a:t>
            </a:r>
            <a:r>
              <a:rPr lang="en-US" sz="2000" dirty="0" smtClean="0">
                <a:latin typeface="Tahoma" charset="0"/>
                <a:ea typeface="Tahoma" charset="0"/>
                <a:cs typeface="Tahoma" charset="0"/>
              </a:rPr>
              <a:t>called common </a:t>
            </a:r>
            <a:r>
              <a:rPr lang="en-US" sz="2000" dirty="0">
                <a:latin typeface="Tahoma" charset="0"/>
                <a:ea typeface="Tahoma" charset="0"/>
                <a:cs typeface="Tahoma" charset="0"/>
              </a:rPr>
              <a:t>sense that comes from </a:t>
            </a:r>
            <a:r>
              <a:rPr lang="en-US" sz="2000" dirty="0" smtClean="0">
                <a:latin typeface="Tahoma" charset="0"/>
                <a:ea typeface="Tahoma" charset="0"/>
                <a:cs typeface="Tahoma" charset="0"/>
              </a:rPr>
              <a:t>our experiences.</a:t>
            </a:r>
          </a:p>
          <a:p>
            <a:pPr lvl="1"/>
            <a:r>
              <a:rPr lang="en-US" sz="1800" dirty="0" smtClean="0">
                <a:latin typeface="Tahoma" charset="0"/>
                <a:ea typeface="Tahoma" charset="0"/>
                <a:cs typeface="Tahoma" charset="0"/>
              </a:rPr>
              <a:t>For </a:t>
            </a:r>
            <a:r>
              <a:rPr lang="en-US" sz="1800" dirty="0">
                <a:latin typeface="Tahoma" charset="0"/>
                <a:ea typeface="Tahoma" charset="0"/>
                <a:cs typeface="Tahoma" charset="0"/>
              </a:rPr>
              <a:t>example: the concept </a:t>
            </a:r>
            <a:r>
              <a:rPr lang="en-US" sz="1800" dirty="0" smtClean="0">
                <a:latin typeface="Tahoma" charset="0"/>
                <a:ea typeface="Tahoma" charset="0"/>
                <a:cs typeface="Tahoma" charset="0"/>
              </a:rPr>
              <a:t>“snow</a:t>
            </a:r>
            <a:r>
              <a:rPr lang="en-US" sz="1800" dirty="0">
                <a:latin typeface="Tahoma" charset="0"/>
                <a:ea typeface="Tahoma" charset="0"/>
                <a:cs typeface="Tahoma" charset="0"/>
              </a:rPr>
              <a:t>” </a:t>
            </a:r>
            <a:r>
              <a:rPr lang="en-US" sz="1800" dirty="0" smtClean="0">
                <a:latin typeface="Tahoma" charset="0"/>
                <a:ea typeface="Tahoma" charset="0"/>
                <a:cs typeface="Tahoma" charset="0"/>
              </a:rPr>
              <a:t>with other </a:t>
            </a:r>
            <a:r>
              <a:rPr lang="en-US" sz="1800" dirty="0">
                <a:latin typeface="Tahoma" charset="0"/>
                <a:ea typeface="Tahoma" charset="0"/>
                <a:cs typeface="Tahoma" charset="0"/>
              </a:rPr>
              <a:t>concepts such as cold, white, </a:t>
            </a:r>
            <a:r>
              <a:rPr lang="en-US" sz="1800" dirty="0" smtClean="0">
                <a:latin typeface="Tahoma" charset="0"/>
                <a:ea typeface="Tahoma" charset="0"/>
                <a:cs typeface="Tahoma" charset="0"/>
              </a:rPr>
              <a:t>snowman</a:t>
            </a:r>
            <a:r>
              <a:rPr lang="en-US" sz="1800" dirty="0">
                <a:latin typeface="Tahoma" charset="0"/>
                <a:ea typeface="Tahoma" charset="0"/>
                <a:cs typeface="Tahoma" charset="0"/>
              </a:rPr>
              <a:t>, slippery, and ice</a:t>
            </a:r>
            <a:r>
              <a:rPr lang="en-US" sz="1800" dirty="0" smtClean="0">
                <a:latin typeface="Tahoma" charset="0"/>
                <a:ea typeface="Tahoma" charset="0"/>
                <a:cs typeface="Tahoma" charset="0"/>
              </a:rPr>
              <a:t>.</a:t>
            </a:r>
          </a:p>
          <a:p>
            <a:r>
              <a:rPr lang="en-US" sz="2000" dirty="0">
                <a:latin typeface="Tahoma" charset="0"/>
                <a:ea typeface="Tahoma" charset="0"/>
                <a:cs typeface="Tahoma" charset="0"/>
              </a:rPr>
              <a:t>A semantic </a:t>
            </a:r>
            <a:r>
              <a:rPr lang="en-US" sz="2000" dirty="0" smtClean="0">
                <a:latin typeface="Tahoma" charset="0"/>
                <a:ea typeface="Tahoma" charset="0"/>
                <a:cs typeface="Tahoma" charset="0"/>
              </a:rPr>
              <a:t>network:</a:t>
            </a:r>
          </a:p>
          <a:p>
            <a:pPr lvl="1"/>
            <a:r>
              <a:rPr lang="en-US" sz="1800" dirty="0" smtClean="0">
                <a:latin typeface="Tahoma" charset="0"/>
                <a:ea typeface="Tahoma" charset="0"/>
                <a:cs typeface="Tahoma" charset="0"/>
              </a:rPr>
              <a:t>Represents </a:t>
            </a:r>
            <a:r>
              <a:rPr lang="en-US" sz="1800" dirty="0">
                <a:latin typeface="Tahoma" charset="0"/>
                <a:ea typeface="Tahoma" charset="0"/>
                <a:cs typeface="Tahoma" charset="0"/>
              </a:rPr>
              <a:t>knowledge as a graph, with the nodes corresponding to facts or concepts and the arcs to relations or associations between concepts. Both nodes and links are generally labeled. </a:t>
            </a:r>
            <a:endParaRPr lang="en-US" sz="1800" dirty="0" smtClean="0">
              <a:latin typeface="Tahoma" charset="0"/>
              <a:ea typeface="Tahoma" charset="0"/>
              <a:cs typeface="Tahoma" charset="0"/>
            </a:endParaRPr>
          </a:p>
          <a:p>
            <a:pPr lvl="1"/>
            <a:r>
              <a:rPr lang="en-US" sz="1800" dirty="0" smtClean="0">
                <a:latin typeface="Tahoma" charset="0"/>
                <a:ea typeface="Tahoma" charset="0"/>
                <a:cs typeface="Tahoma" charset="0"/>
              </a:rPr>
              <a:t>Collin </a:t>
            </a:r>
            <a:r>
              <a:rPr lang="en-US" sz="1800" dirty="0">
                <a:latin typeface="Tahoma" charset="0"/>
                <a:ea typeface="Tahoma" charset="0"/>
                <a:cs typeface="Tahoma" charset="0"/>
              </a:rPr>
              <a:t>and </a:t>
            </a:r>
            <a:r>
              <a:rPr lang="en-US" sz="1800" dirty="0" err="1">
                <a:latin typeface="Tahoma" charset="0"/>
                <a:ea typeface="Tahoma" charset="0"/>
                <a:cs typeface="Tahoma" charset="0"/>
              </a:rPr>
              <a:t>Quillian</a:t>
            </a:r>
            <a:r>
              <a:rPr lang="en-US" sz="1800" dirty="0">
                <a:latin typeface="Tahoma" charset="0"/>
                <a:ea typeface="Tahoma" charset="0"/>
                <a:cs typeface="Tahoma" charset="0"/>
              </a:rPr>
              <a:t> believed that semantic memory is organized into a set of connected ideas</a:t>
            </a:r>
            <a:r>
              <a:rPr lang="en-US" sz="1800" dirty="0" smtClean="0">
                <a:latin typeface="Tahoma" charset="0"/>
                <a:ea typeface="Tahoma" charset="0"/>
                <a:cs typeface="Tahoma" charset="0"/>
              </a:rPr>
              <a:t>.</a:t>
            </a:r>
          </a:p>
          <a:p>
            <a:pPr lvl="1"/>
            <a:r>
              <a:rPr lang="en-US" sz="1800" dirty="0" smtClean="0">
                <a:latin typeface="Tahoma" charset="0"/>
                <a:ea typeface="Tahoma" charset="0"/>
                <a:cs typeface="Tahoma" charset="0"/>
              </a:rPr>
              <a:t>Information </a:t>
            </a:r>
            <a:r>
              <a:rPr lang="en-US" sz="1800" dirty="0">
                <a:latin typeface="Tahoma" charset="0"/>
                <a:ea typeface="Tahoma" charset="0"/>
                <a:cs typeface="Tahoma" charset="0"/>
              </a:rPr>
              <a:t>is organized into nodes or categories that are connected to words or concepts that relate to it.</a:t>
            </a:r>
          </a:p>
        </p:txBody>
      </p:sp>
    </p:spTree>
    <p:extLst>
      <p:ext uri="{BB962C8B-B14F-4D97-AF65-F5344CB8AC3E}">
        <p14:creationId xmlns:p14="http://schemas.microsoft.com/office/powerpoint/2010/main" val="39602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812" y="116443"/>
            <a:ext cx="6027879" cy="653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4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0709" y="1501502"/>
            <a:ext cx="10311817" cy="4558146"/>
          </a:xfrm>
        </p:spPr>
        <p:txBody>
          <a:bodyPr/>
          <a:lstStyle/>
          <a:p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Language 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understanding requires an understanding of </a:t>
            </a: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common sense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, the </a:t>
            </a: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ways 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in which physical objects behave, the </a:t>
            </a: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interactions that 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occur </a:t>
            </a: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between humans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, and the ways in which human institutions are </a:t>
            </a: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organized.</a:t>
            </a:r>
            <a:endParaRPr lang="en-US" dirty="0">
              <a:latin typeface="Tahoma" charset="0"/>
              <a:ea typeface="Tahoma" charset="0"/>
              <a:cs typeface="Tahoma" charset="0"/>
            </a:endParaRPr>
          </a:p>
          <a:p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A 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natural language program must understand intentions, </a:t>
            </a: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beliefs, hypothetical reasoning, plans 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and goals</a:t>
            </a: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Tahoma" charset="0"/>
                <a:ea typeface="Tahoma" charset="0"/>
                <a:cs typeface="Tahoma" charset="0"/>
              </a:rPr>
              <a:t> </a:t>
            </a: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→A 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driving force for research in knowledge representation.</a:t>
            </a:r>
          </a:p>
          <a:p>
            <a:pPr marL="0" indent="0">
              <a:buNone/>
            </a:pPr>
            <a:endParaRPr lang="en-US" dirty="0">
              <a:latin typeface="Tahoma" charset="0"/>
              <a:ea typeface="Tahoma" charset="0"/>
              <a:cs typeface="Tahoma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170709" y="175939"/>
            <a:ext cx="10515600" cy="1325563"/>
          </a:xfrm>
        </p:spPr>
        <p:txBody>
          <a:bodyPr/>
          <a:lstStyle/>
          <a:p>
            <a:r>
              <a:rPr lang="en-US" dirty="0">
                <a:latin typeface="Rockwell" panose="02060603020205020403" pitchFamily="18" charset="0"/>
              </a:rPr>
              <a:t>7.1.2 Early Work in Semantic Nets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92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16786" y="240363"/>
            <a:ext cx="5050523" cy="63621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 smtClean="0">
                <a:latin typeface="Tahoma" charset="0"/>
                <a:ea typeface="Tahoma" charset="0"/>
                <a:cs typeface="Tahoma" charset="0"/>
              </a:rPr>
              <a:t>- Each </a:t>
            </a:r>
            <a:r>
              <a:rPr lang="en-US" sz="2000" dirty="0">
                <a:latin typeface="Tahoma" charset="0"/>
                <a:ea typeface="Tahoma" charset="0"/>
                <a:cs typeface="Tahoma" charset="0"/>
              </a:rPr>
              <a:t>node in </a:t>
            </a:r>
            <a:r>
              <a:rPr lang="en-US" sz="2000" dirty="0" err="1">
                <a:latin typeface="Tahoma" charset="0"/>
                <a:ea typeface="Tahoma" charset="0"/>
                <a:cs typeface="Tahoma" charset="0"/>
              </a:rPr>
              <a:t>Quillian’s</a:t>
            </a:r>
            <a:r>
              <a:rPr lang="en-US" sz="2000" dirty="0">
                <a:latin typeface="Tahoma" charset="0"/>
                <a:ea typeface="Tahoma" charset="0"/>
                <a:cs typeface="Tahoma" charset="0"/>
              </a:rPr>
              <a:t> </a:t>
            </a:r>
            <a:r>
              <a:rPr lang="en-US" sz="2000" dirty="0" smtClean="0">
                <a:latin typeface="Tahoma" charset="0"/>
                <a:ea typeface="Tahoma" charset="0"/>
                <a:cs typeface="Tahoma" charset="0"/>
              </a:rPr>
              <a:t>network corresponded </a:t>
            </a:r>
            <a:r>
              <a:rPr lang="en-US" sz="2000" dirty="0">
                <a:latin typeface="Tahoma" charset="0"/>
                <a:ea typeface="Tahoma" charset="0"/>
                <a:cs typeface="Tahoma" charset="0"/>
              </a:rPr>
              <a:t>to a </a:t>
            </a:r>
            <a:r>
              <a:rPr lang="en-US" sz="2000" i="1" dirty="0">
                <a:latin typeface="Tahoma" charset="0"/>
                <a:ea typeface="Tahoma" charset="0"/>
                <a:cs typeface="Tahoma" charset="0"/>
              </a:rPr>
              <a:t>word concept</a:t>
            </a:r>
            <a:r>
              <a:rPr lang="en-US" sz="2000" dirty="0">
                <a:latin typeface="Tahoma" charset="0"/>
                <a:ea typeface="Tahoma" charset="0"/>
                <a:cs typeface="Tahoma" charset="0"/>
              </a:rPr>
              <a:t>, with </a:t>
            </a:r>
            <a:r>
              <a:rPr lang="en-US" sz="2000" dirty="0" smtClean="0">
                <a:latin typeface="Tahoma" charset="0"/>
                <a:ea typeface="Tahoma" charset="0"/>
                <a:cs typeface="Tahoma" charset="0"/>
              </a:rPr>
              <a:t>associative links </a:t>
            </a:r>
            <a:r>
              <a:rPr lang="en-US" sz="2000" dirty="0">
                <a:latin typeface="Tahoma" charset="0"/>
                <a:ea typeface="Tahoma" charset="0"/>
                <a:cs typeface="Tahoma" charset="0"/>
              </a:rPr>
              <a:t>to other word concepts that formed its definition</a:t>
            </a:r>
            <a:r>
              <a:rPr lang="en-US" sz="2000" dirty="0" smtClean="0">
                <a:latin typeface="Tahoma" charset="0"/>
                <a:ea typeface="Tahoma" charset="0"/>
                <a:cs typeface="Tahoma" charset="0"/>
              </a:rPr>
              <a:t>.</a:t>
            </a:r>
          </a:p>
          <a:p>
            <a:pPr marL="0" indent="0">
              <a:buNone/>
            </a:pPr>
            <a:r>
              <a:rPr lang="en-US" sz="2000" dirty="0">
                <a:latin typeface="Tahoma" charset="0"/>
                <a:ea typeface="Tahoma" charset="0"/>
                <a:cs typeface="Tahoma" charset="0"/>
              </a:rPr>
              <a:t>-</a:t>
            </a:r>
            <a:r>
              <a:rPr lang="en-US" sz="2000" dirty="0" smtClean="0">
                <a:latin typeface="Tahoma" charset="0"/>
                <a:ea typeface="Tahoma" charset="0"/>
                <a:cs typeface="Tahoma" charset="0"/>
              </a:rPr>
              <a:t> </a:t>
            </a:r>
            <a:r>
              <a:rPr lang="en-US" sz="2000" dirty="0">
                <a:latin typeface="Tahoma" charset="0"/>
                <a:ea typeface="Tahoma" charset="0"/>
                <a:cs typeface="Tahoma" charset="0"/>
              </a:rPr>
              <a:t>The knowledge base was </a:t>
            </a:r>
            <a:r>
              <a:rPr lang="en-US" sz="2000" dirty="0" smtClean="0">
                <a:latin typeface="Tahoma" charset="0"/>
                <a:ea typeface="Tahoma" charset="0"/>
                <a:cs typeface="Tahoma" charset="0"/>
              </a:rPr>
              <a:t>organized into </a:t>
            </a:r>
            <a:r>
              <a:rPr lang="en-US" sz="2000" i="1" dirty="0">
                <a:latin typeface="Tahoma" charset="0"/>
                <a:ea typeface="Tahoma" charset="0"/>
                <a:cs typeface="Tahoma" charset="0"/>
              </a:rPr>
              <a:t>planes</a:t>
            </a:r>
            <a:r>
              <a:rPr lang="en-US" sz="2000" dirty="0">
                <a:latin typeface="Tahoma" charset="0"/>
                <a:ea typeface="Tahoma" charset="0"/>
                <a:cs typeface="Tahoma" charset="0"/>
              </a:rPr>
              <a:t>, where each plane was a graph that defined a single </a:t>
            </a:r>
            <a:r>
              <a:rPr lang="en-US" sz="2000" dirty="0" smtClean="0">
                <a:latin typeface="Tahoma" charset="0"/>
                <a:ea typeface="Tahoma" charset="0"/>
                <a:cs typeface="Tahoma" charset="0"/>
              </a:rPr>
              <a:t>word.</a:t>
            </a:r>
          </a:p>
          <a:p>
            <a:pPr marL="0" indent="0">
              <a:buNone/>
            </a:pPr>
            <a:r>
              <a:rPr lang="en-US" sz="2000" dirty="0" smtClean="0">
                <a:latin typeface="Tahoma" charset="0"/>
                <a:ea typeface="Tahoma" charset="0"/>
                <a:cs typeface="Tahoma" charset="0"/>
              </a:rPr>
              <a:t>- </a:t>
            </a:r>
            <a:r>
              <a:rPr lang="en-US" sz="2000" dirty="0">
                <a:latin typeface="Tahoma" charset="0"/>
                <a:ea typeface="Tahoma" charset="0"/>
                <a:cs typeface="Tahoma" charset="0"/>
              </a:rPr>
              <a:t>I</a:t>
            </a:r>
            <a:r>
              <a:rPr lang="en-US" sz="2000" dirty="0" smtClean="0">
                <a:latin typeface="Tahoma" charset="0"/>
                <a:ea typeface="Tahoma" charset="0"/>
                <a:cs typeface="Tahoma" charset="0"/>
              </a:rPr>
              <a:t>llustrates </a:t>
            </a:r>
            <a:r>
              <a:rPr lang="en-US" sz="2000" dirty="0">
                <a:latin typeface="Tahoma" charset="0"/>
                <a:ea typeface="Tahoma" charset="0"/>
                <a:cs typeface="Tahoma" charset="0"/>
              </a:rPr>
              <a:t>three planes that capture three </a:t>
            </a:r>
            <a:r>
              <a:rPr lang="en-US" sz="2000" dirty="0" smtClean="0">
                <a:latin typeface="Tahoma" charset="0"/>
                <a:ea typeface="Tahoma" charset="0"/>
                <a:cs typeface="Tahoma" charset="0"/>
              </a:rPr>
              <a:t>different definitions </a:t>
            </a:r>
            <a:r>
              <a:rPr lang="en-US" sz="2000" dirty="0">
                <a:latin typeface="Tahoma" charset="0"/>
                <a:ea typeface="Tahoma" charset="0"/>
                <a:cs typeface="Tahoma" charset="0"/>
              </a:rPr>
              <a:t>of the word “plant</a:t>
            </a:r>
            <a:r>
              <a:rPr lang="en-US" sz="2000" b="1" dirty="0">
                <a:latin typeface="Tahoma" charset="0"/>
                <a:ea typeface="Tahoma" charset="0"/>
                <a:cs typeface="Tahoma" charset="0"/>
              </a:rPr>
              <a:t>:” a living organism</a:t>
            </a:r>
            <a:r>
              <a:rPr lang="en-US" sz="2000" dirty="0">
                <a:latin typeface="Tahoma" charset="0"/>
                <a:ea typeface="Tahoma" charset="0"/>
                <a:cs typeface="Tahoma" charset="0"/>
              </a:rPr>
              <a:t> (plant 1), </a:t>
            </a:r>
            <a:r>
              <a:rPr lang="en-US" sz="2000" b="1" dirty="0">
                <a:latin typeface="Tahoma" charset="0"/>
                <a:ea typeface="Tahoma" charset="0"/>
                <a:cs typeface="Tahoma" charset="0"/>
              </a:rPr>
              <a:t>a place where people work</a:t>
            </a:r>
            <a:r>
              <a:rPr lang="en-US" sz="2000" dirty="0">
                <a:latin typeface="Tahoma" charset="0"/>
                <a:ea typeface="Tahoma" charset="0"/>
                <a:cs typeface="Tahoma" charset="0"/>
              </a:rPr>
              <a:t/>
            </a:r>
            <a:br>
              <a:rPr lang="en-US" sz="2000" dirty="0">
                <a:latin typeface="Tahoma" charset="0"/>
                <a:ea typeface="Tahoma" charset="0"/>
                <a:cs typeface="Tahoma" charset="0"/>
              </a:rPr>
            </a:br>
            <a:r>
              <a:rPr lang="en-US" sz="2000" dirty="0">
                <a:latin typeface="Tahoma" charset="0"/>
                <a:ea typeface="Tahoma" charset="0"/>
                <a:cs typeface="Tahoma" charset="0"/>
              </a:rPr>
              <a:t>(plant 2), and </a:t>
            </a:r>
            <a:r>
              <a:rPr lang="en-US" sz="2000" b="1" dirty="0">
                <a:latin typeface="Tahoma" charset="0"/>
                <a:ea typeface="Tahoma" charset="0"/>
                <a:cs typeface="Tahoma" charset="0"/>
              </a:rPr>
              <a:t>the act of putting a seed in the ground</a:t>
            </a:r>
            <a:r>
              <a:rPr lang="en-US" sz="2000" dirty="0">
                <a:latin typeface="Tahoma" charset="0"/>
                <a:ea typeface="Tahoma" charset="0"/>
                <a:cs typeface="Tahoma" charset="0"/>
              </a:rPr>
              <a:t> (plant 3</a:t>
            </a:r>
            <a:r>
              <a:rPr lang="en-US" sz="2000" dirty="0" smtClean="0">
                <a:latin typeface="Tahoma" charset="0"/>
                <a:ea typeface="Tahoma" charset="0"/>
                <a:cs typeface="Tahoma" charset="0"/>
              </a:rPr>
              <a:t>).</a:t>
            </a:r>
          </a:p>
          <a:p>
            <a:pPr marL="0" indent="0">
              <a:buNone/>
            </a:pPr>
            <a:r>
              <a:rPr lang="en-US" sz="2000" dirty="0" smtClean="0">
                <a:latin typeface="Tahoma" charset="0"/>
                <a:ea typeface="Tahoma" charset="0"/>
                <a:cs typeface="Tahoma" charset="0"/>
              </a:rPr>
              <a:t> </a:t>
            </a:r>
          </a:p>
          <a:p>
            <a:pPr marL="0" indent="0">
              <a:buNone/>
            </a:pPr>
            <a:r>
              <a:rPr lang="en-US" sz="2000" dirty="0" smtClean="0">
                <a:latin typeface="Tahoma" charset="0"/>
                <a:ea typeface="Tahoma" charset="0"/>
                <a:cs typeface="Tahoma" charset="0"/>
              </a:rPr>
              <a:t>→ The </a:t>
            </a:r>
            <a:r>
              <a:rPr lang="en-US" sz="2000" dirty="0">
                <a:latin typeface="Tahoma" charset="0"/>
                <a:ea typeface="Tahoma" charset="0"/>
                <a:cs typeface="Tahoma" charset="0"/>
              </a:rPr>
              <a:t>program used this knowledge base to find relationships between pairs of </a:t>
            </a:r>
            <a:r>
              <a:rPr lang="en-US" sz="2000" dirty="0" smtClean="0">
                <a:latin typeface="Tahoma" charset="0"/>
                <a:ea typeface="Tahoma" charset="0"/>
                <a:cs typeface="Tahoma" charset="0"/>
              </a:rPr>
              <a:t>English words. </a:t>
            </a:r>
            <a:endParaRPr lang="en-US" dirty="0">
              <a:latin typeface="Tahoma" charset="0"/>
              <a:ea typeface="Tahoma" charset="0"/>
              <a:cs typeface="Tahoma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4180" y="0"/>
            <a:ext cx="70575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89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370" y="93845"/>
            <a:ext cx="11210264" cy="1325563"/>
          </a:xfrm>
        </p:spPr>
        <p:txBody>
          <a:bodyPr/>
          <a:lstStyle/>
          <a:p>
            <a:r>
              <a:rPr lang="en-US" dirty="0">
                <a:latin typeface="Rockwell" panose="02060603020205020403" pitchFamily="18" charset="0"/>
              </a:rPr>
              <a:t>7.1.3 Standardization of Network Relationships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70" y="1182490"/>
            <a:ext cx="9492920" cy="4351338"/>
          </a:xfrm>
        </p:spPr>
        <p:txBody>
          <a:bodyPr>
            <a:normAutofit/>
          </a:bodyPr>
          <a:lstStyle/>
          <a:p>
            <a:r>
              <a:rPr lang="en-US" sz="1800" dirty="0" smtClean="0">
                <a:latin typeface="Tahoma" charset="0"/>
                <a:ea typeface="Tahoma" charset="0"/>
                <a:cs typeface="Tahoma" charset="0"/>
              </a:rPr>
              <a:t> The </a:t>
            </a:r>
            <a:r>
              <a:rPr lang="en-US" sz="1800" dirty="0">
                <a:latin typeface="Tahoma" charset="0"/>
                <a:ea typeface="Tahoma" charset="0"/>
                <a:cs typeface="Tahoma" charset="0"/>
              </a:rPr>
              <a:t>program used this knowledge base to find relationships between pairs of </a:t>
            </a:r>
            <a:r>
              <a:rPr lang="en-US" sz="1800" dirty="0" smtClean="0">
                <a:latin typeface="Tahoma" charset="0"/>
                <a:ea typeface="Tahoma" charset="0"/>
                <a:cs typeface="Tahoma" charset="0"/>
              </a:rPr>
              <a:t>English words. Given </a:t>
            </a:r>
            <a:r>
              <a:rPr lang="en-US" sz="1800" dirty="0">
                <a:latin typeface="Tahoma" charset="0"/>
                <a:ea typeface="Tahoma" charset="0"/>
                <a:cs typeface="Tahoma" charset="0"/>
              </a:rPr>
              <a:t>two words, it would </a:t>
            </a:r>
            <a:r>
              <a:rPr lang="en-US" sz="1800" dirty="0" smtClean="0">
                <a:latin typeface="Tahoma" charset="0"/>
                <a:ea typeface="Tahoma" charset="0"/>
                <a:cs typeface="Tahoma" charset="0"/>
              </a:rPr>
              <a:t>search </a:t>
            </a:r>
            <a:r>
              <a:rPr lang="en-US" sz="1800" dirty="0">
                <a:latin typeface="Tahoma" charset="0"/>
                <a:ea typeface="Tahoma" charset="0"/>
                <a:cs typeface="Tahoma" charset="0"/>
              </a:rPr>
              <a:t>for a common concept or </a:t>
            </a:r>
            <a:r>
              <a:rPr lang="en-US" sz="1800" i="1" dirty="0">
                <a:latin typeface="Tahoma" charset="0"/>
                <a:ea typeface="Tahoma" charset="0"/>
                <a:cs typeface="Tahoma" charset="0"/>
              </a:rPr>
              <a:t>intersection node</a:t>
            </a:r>
            <a:r>
              <a:rPr lang="en-US" sz="1800" dirty="0">
                <a:latin typeface="Tahoma" charset="0"/>
                <a:ea typeface="Tahoma" charset="0"/>
                <a:cs typeface="Tahoma" charset="0"/>
              </a:rPr>
              <a:t>. The paths to this </a:t>
            </a:r>
            <a:r>
              <a:rPr lang="en-US" sz="1800" dirty="0" smtClean="0">
                <a:latin typeface="Tahoma" charset="0"/>
                <a:ea typeface="Tahoma" charset="0"/>
                <a:cs typeface="Tahoma" charset="0"/>
              </a:rPr>
              <a:t>node represented </a:t>
            </a:r>
            <a:r>
              <a:rPr lang="en-US" sz="1800" dirty="0">
                <a:latin typeface="Tahoma" charset="0"/>
                <a:ea typeface="Tahoma" charset="0"/>
                <a:cs typeface="Tahoma" charset="0"/>
              </a:rPr>
              <a:t>a relationship between the word </a:t>
            </a:r>
            <a:r>
              <a:rPr lang="en-US" sz="1800" dirty="0" smtClean="0">
                <a:latin typeface="Tahoma" charset="0"/>
                <a:ea typeface="Tahoma" charset="0"/>
                <a:cs typeface="Tahoma" charset="0"/>
              </a:rPr>
              <a:t>concepts.</a:t>
            </a:r>
          </a:p>
          <a:p>
            <a:pPr lvl="1"/>
            <a:r>
              <a:rPr lang="en-US" sz="1400" dirty="0" smtClean="0">
                <a:latin typeface="Tahoma" charset="0"/>
                <a:ea typeface="Tahoma" charset="0"/>
                <a:cs typeface="Tahoma" charset="0"/>
              </a:rPr>
              <a:t>For example: the intersection paths between cry and comfort. The spreading activations would intersect at the words "sad", and the English account would express "to cry is to make a sad sound, and to comfort is to make something less sad"</a:t>
            </a:r>
            <a:endParaRPr lang="en-US" sz="1400" dirty="0">
              <a:latin typeface="Tahoma" charset="0"/>
              <a:ea typeface="Tahoma" charset="0"/>
              <a:cs typeface="Tahoma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370" y="3322324"/>
            <a:ext cx="5423637" cy="34325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22665" y="4129873"/>
            <a:ext cx="5192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→ When </a:t>
            </a:r>
            <a:r>
              <a:rPr lang="en-US" dirty="0"/>
              <a:t>a node in a semantic network is excited is spreads to other connections in the network.</a:t>
            </a:r>
          </a:p>
        </p:txBody>
      </p:sp>
    </p:spTree>
    <p:extLst>
      <p:ext uri="{BB962C8B-B14F-4D97-AF65-F5344CB8AC3E}">
        <p14:creationId xmlns:p14="http://schemas.microsoft.com/office/powerpoint/2010/main" val="1672414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70" y="1291188"/>
            <a:ext cx="9261992" cy="4351338"/>
          </a:xfrm>
        </p:spPr>
        <p:txBody>
          <a:bodyPr/>
          <a:lstStyle/>
          <a:p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Simmons (1973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) focused 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on 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the </a:t>
            </a:r>
            <a:r>
              <a:rPr lang="en-US" sz="2400" i="1" dirty="0" smtClean="0">
                <a:latin typeface="Tahoma" charset="0"/>
                <a:ea typeface="Tahoma" charset="0"/>
                <a:cs typeface="Tahoma" charset="0"/>
              </a:rPr>
              <a:t>case </a:t>
            </a:r>
            <a:r>
              <a:rPr lang="en-US" sz="2400" i="1" dirty="0">
                <a:latin typeface="Tahoma" charset="0"/>
                <a:ea typeface="Tahoma" charset="0"/>
                <a:cs typeface="Tahoma" charset="0"/>
              </a:rPr>
              <a:t>structure 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of English 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verbs.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 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Case relationships 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include </a:t>
            </a:r>
            <a:r>
              <a:rPr lang="en-US" sz="2400" i="1" dirty="0">
                <a:latin typeface="Tahoma" charset="0"/>
                <a:ea typeface="Tahoma" charset="0"/>
                <a:cs typeface="Tahoma" charset="0"/>
              </a:rPr>
              <a:t>agent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, </a:t>
            </a:r>
            <a:r>
              <a:rPr lang="en-US" sz="2400" i="1" dirty="0">
                <a:latin typeface="Tahoma" charset="0"/>
                <a:ea typeface="Tahoma" charset="0"/>
                <a:cs typeface="Tahoma" charset="0"/>
              </a:rPr>
              <a:t>object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, </a:t>
            </a:r>
            <a:r>
              <a:rPr lang="en-US" sz="2400" i="1" dirty="0">
                <a:latin typeface="Tahoma" charset="0"/>
                <a:ea typeface="Tahoma" charset="0"/>
                <a:cs typeface="Tahoma" charset="0"/>
              </a:rPr>
              <a:t>instrument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, </a:t>
            </a:r>
            <a:r>
              <a:rPr lang="en-US" sz="2400" i="1" dirty="0">
                <a:latin typeface="Tahoma" charset="0"/>
                <a:ea typeface="Tahoma" charset="0"/>
                <a:cs typeface="Tahoma" charset="0"/>
              </a:rPr>
              <a:t>location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, and </a:t>
            </a:r>
            <a:r>
              <a:rPr lang="en-US" sz="2400" i="1" dirty="0">
                <a:latin typeface="Tahoma" charset="0"/>
                <a:ea typeface="Tahoma" charset="0"/>
                <a:cs typeface="Tahoma" charset="0"/>
              </a:rPr>
              <a:t>time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.  This structure 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is called a </a:t>
            </a:r>
            <a:r>
              <a:rPr lang="en-US" sz="2400" i="1" dirty="0">
                <a:latin typeface="Tahoma" charset="0"/>
                <a:ea typeface="Tahoma" charset="0"/>
                <a:cs typeface="Tahoma" charset="0"/>
              </a:rPr>
              <a:t>case </a:t>
            </a:r>
            <a:r>
              <a:rPr lang="en-US" sz="2400" i="1" dirty="0" smtClean="0">
                <a:latin typeface="Tahoma" charset="0"/>
                <a:ea typeface="Tahoma" charset="0"/>
                <a:cs typeface="Tahoma" charset="0"/>
              </a:rPr>
              <a:t>frame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.</a:t>
            </a:r>
          </a:p>
          <a:p>
            <a:pPr lvl="1"/>
            <a:r>
              <a:rPr lang="en-US" sz="2000" dirty="0" smtClean="0">
                <a:latin typeface="Tahoma" charset="0"/>
                <a:ea typeface="Tahoma" charset="0"/>
                <a:cs typeface="Tahoma" charset="0"/>
              </a:rPr>
              <a:t>For example: </a:t>
            </a:r>
            <a:r>
              <a:rPr lang="en-US" sz="2000" dirty="0">
                <a:latin typeface="Tahoma" charset="0"/>
                <a:ea typeface="Tahoma" charset="0"/>
                <a:cs typeface="Tahoma" charset="0"/>
              </a:rPr>
              <a:t>the sentence “Sarah fixed the chair with glue” </a:t>
            </a:r>
            <a:r>
              <a:rPr lang="en-US" sz="2000" dirty="0" smtClean="0">
                <a:latin typeface="Tahoma" charset="0"/>
                <a:ea typeface="Tahoma" charset="0"/>
                <a:cs typeface="Tahoma" charset="0"/>
              </a:rPr>
              <a:t>be </a:t>
            </a:r>
            <a:r>
              <a:rPr lang="en-US" sz="2000" dirty="0">
                <a:latin typeface="Tahoma" charset="0"/>
                <a:ea typeface="Tahoma" charset="0"/>
                <a:cs typeface="Tahoma" charset="0"/>
              </a:rPr>
              <a:t>represented by the </a:t>
            </a:r>
            <a:r>
              <a:rPr lang="en-US" sz="2000" dirty="0" smtClean="0">
                <a:latin typeface="Tahoma" charset="0"/>
                <a:ea typeface="Tahoma" charset="0"/>
                <a:cs typeface="Tahoma" charset="0"/>
              </a:rPr>
              <a:t>network. 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/>
            </a:r>
            <a:br>
              <a:rPr lang="en-US" dirty="0">
                <a:latin typeface="Tahoma" charset="0"/>
                <a:ea typeface="Tahoma" charset="0"/>
                <a:cs typeface="Tahoma" charset="0"/>
              </a:rPr>
            </a:br>
            <a:r>
              <a:rPr lang="en-US" dirty="0">
                <a:latin typeface="Tahoma" charset="0"/>
                <a:ea typeface="Tahoma" charset="0"/>
                <a:cs typeface="Tahoma" charset="0"/>
              </a:rPr>
              <a:t/>
            </a:r>
            <a:br>
              <a:rPr lang="en-US" dirty="0">
                <a:latin typeface="Tahoma" charset="0"/>
                <a:ea typeface="Tahoma" charset="0"/>
                <a:cs typeface="Tahoma" charset="0"/>
              </a:rPr>
            </a:br>
            <a:endParaRPr lang="en-US" dirty="0">
              <a:latin typeface="Tahoma" charset="0"/>
              <a:ea typeface="Tahoma" charset="0"/>
              <a:cs typeface="Tahoma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448" y="3574584"/>
            <a:ext cx="5994207" cy="2937052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228370" y="93845"/>
            <a:ext cx="11210264" cy="1325563"/>
          </a:xfrm>
        </p:spPr>
        <p:txBody>
          <a:bodyPr/>
          <a:lstStyle/>
          <a:p>
            <a:r>
              <a:rPr lang="en-US" dirty="0">
                <a:latin typeface="Rockwell" panose="02060603020205020403" pitchFamily="18" charset="0"/>
              </a:rPr>
              <a:t>7.1.3 Standardization of Network Relationships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873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127" y="0"/>
            <a:ext cx="96947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555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17134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887" y="754726"/>
            <a:ext cx="2295525" cy="28479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300" y="5210175"/>
            <a:ext cx="560070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9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01" y="872836"/>
            <a:ext cx="10198815" cy="521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857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7494" y="734167"/>
            <a:ext cx="8973178" cy="562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341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38" y="365125"/>
            <a:ext cx="7415565" cy="63279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516" y="687056"/>
            <a:ext cx="42672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595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4782" y="221674"/>
            <a:ext cx="10515600" cy="1282805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Rockwell" panose="02060603020205020403" pitchFamily="18" charset="0"/>
              </a:rPr>
              <a:t>7.1.4 Scripts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745" y="1504479"/>
            <a:ext cx="7820891" cy="490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354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83" y="96771"/>
            <a:ext cx="4678346" cy="66707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5967" y="307787"/>
            <a:ext cx="3460350" cy="278389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5282" y="307787"/>
            <a:ext cx="2515168" cy="380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99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Rockwell" panose="02060603020205020403" pitchFamily="18" charset="0"/>
              </a:rPr>
              <a:t>7.1.5 Frames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ere proposed by Marvin </a:t>
            </a:r>
            <a:r>
              <a:rPr 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Minsky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1974. 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 the primary data structure used in AI frame language.</a:t>
            </a:r>
          </a:p>
          <a:p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are they?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Frames are record like structure that have </a:t>
            </a:r>
            <a:r>
              <a:rPr lang="en-US" i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slots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n-US" i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slot values 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an entity.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/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slot in frame specify a characteristic of an entity. </a:t>
            </a:r>
          </a:p>
          <a:p>
            <a:pPr lvl="2"/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slot in frame contains information as attribute-value pairs, etc.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179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Rockwell" panose="02060603020205020403" pitchFamily="18" charset="0"/>
              </a:rPr>
              <a:t>7.1.5 Frames (cont.)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48308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 1: Superhero details</a:t>
            </a:r>
          </a:p>
          <a:p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Tony Stark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 </a:t>
            </a:r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(Job				(Value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Billionaire industrialist))</a:t>
            </a:r>
          </a:p>
          <a:p>
            <a:pPr marL="0" indent="0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(Date of Birth 			(Value		May 29, 1970)</a:t>
            </a:r>
          </a:p>
          <a:p>
            <a:pPr marL="0" indent="0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(Date of Death 		(Value 		2023)</a:t>
            </a:r>
          </a:p>
          <a:p>
            <a:pPr marL="0" indent="0">
              <a:buNone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(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 				(Value 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53))</a:t>
            </a:r>
          </a:p>
          <a:p>
            <a:pPr marL="0" indent="0">
              <a:buNone/>
            </a:pPr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654" y="0"/>
            <a:ext cx="4934346" cy="277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886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Rockwell" panose="02060603020205020403" pitchFamily="18" charset="0"/>
              </a:rPr>
              <a:t>7. 2.1 Conceptual Graphs: </a:t>
            </a:r>
            <a:br>
              <a:rPr lang="en-US" sz="4400" dirty="0" smtClean="0">
                <a:latin typeface="Rockwell" panose="02060603020205020403" pitchFamily="18" charset="0"/>
              </a:rPr>
            </a:br>
            <a:r>
              <a:rPr lang="en-US" sz="4400" dirty="0" smtClean="0">
                <a:latin typeface="Rockwell" panose="02060603020205020403" pitchFamily="18" charset="0"/>
              </a:rPr>
              <a:t>A network language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5785373" cy="3541714"/>
          </a:xfrm>
        </p:spPr>
        <p:txBody>
          <a:bodyPr>
            <a:normAutofit/>
          </a:bodyPr>
          <a:lstStyle/>
          <a:p>
            <a:pPr lvl="1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based upon the following general form: </a:t>
            </a:r>
          </a:p>
          <a:p>
            <a:pPr lvl="1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May be read as: “The </a:t>
            </a:r>
            <a:r>
              <a:rPr lang="en-US" sz="2400" i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relation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of a </a:t>
            </a:r>
            <a:r>
              <a:rPr lang="en-US" sz="2400" i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Concept_1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a </a:t>
            </a:r>
            <a:r>
              <a:rPr lang="en-US" sz="2400" i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Concept_2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2" y="3503751"/>
            <a:ext cx="1529394" cy="89821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Concept_1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7792628" y="3503750"/>
            <a:ext cx="1529394" cy="89821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Concept_2</a:t>
            </a:r>
            <a:endParaRPr lang="en-US" sz="2400" dirty="0"/>
          </a:p>
        </p:txBody>
      </p:sp>
      <p:sp>
        <p:nvSpPr>
          <p:cNvPr id="7" name="Oval 6"/>
          <p:cNvSpPr/>
          <p:nvPr/>
        </p:nvSpPr>
        <p:spPr>
          <a:xfrm>
            <a:off x="4464780" y="3426826"/>
            <a:ext cx="2678464" cy="105206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Relation</a:t>
            </a:r>
            <a:endParaRPr lang="en-US" sz="24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815396" y="3952858"/>
            <a:ext cx="64938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7143244" y="3952858"/>
            <a:ext cx="64938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410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Rockwell" panose="02060603020205020403" pitchFamily="18" charset="0"/>
              </a:rPr>
              <a:t>7. 2.1 Conceptual Graphs: </a:t>
            </a:r>
            <a:br>
              <a:rPr lang="en-US" sz="4400" dirty="0" smtClean="0">
                <a:latin typeface="Rockwell" panose="02060603020205020403" pitchFamily="18" charset="0"/>
              </a:rPr>
            </a:br>
            <a:r>
              <a:rPr lang="en-US" sz="4400" dirty="0" smtClean="0">
                <a:latin typeface="Rockwell" panose="02060603020205020403" pitchFamily="18" charset="0"/>
              </a:rPr>
              <a:t>A network language (cont.)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10057967" cy="3541714"/>
          </a:xfrm>
        </p:spPr>
        <p:txBody>
          <a:bodyPr>
            <a:normAutofit/>
          </a:bodyPr>
          <a:lstStyle/>
          <a:p>
            <a:pPr lvl="1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box is labeled with a type label, which indicates the class or type of individual.</a:t>
            </a:r>
          </a:p>
          <a:p>
            <a:pPr lvl="1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Example:</a:t>
            </a:r>
          </a:p>
          <a:p>
            <a:pPr lvl="1"/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May be read as: “The employee as known as Simon”.</a:t>
            </a:r>
          </a:p>
          <a:p>
            <a:pPr lvl="1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Type: Employee, individual label: Simon.</a:t>
            </a:r>
          </a:p>
          <a:p>
            <a:pPr lvl="1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and individual label are separated by a “ : “</a:t>
            </a:r>
          </a:p>
          <a:p>
            <a:pPr lvl="1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70335" y="3228621"/>
            <a:ext cx="2277906" cy="89821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Employee: Simon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09149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Rockwell" panose="02060603020205020403" pitchFamily="18" charset="0"/>
              </a:rPr>
              <a:t>7. 2.1 Conceptual Graphs: </a:t>
            </a:r>
            <a:br>
              <a:rPr lang="en-US" sz="4400" dirty="0" smtClean="0">
                <a:latin typeface="Rockwell" panose="02060603020205020403" pitchFamily="18" charset="0"/>
              </a:rPr>
            </a:br>
            <a:r>
              <a:rPr lang="en-US" sz="4400" dirty="0" smtClean="0">
                <a:latin typeface="Rockwell" panose="02060603020205020403" pitchFamily="18" charset="0"/>
              </a:rPr>
              <a:t>A network language (cont.)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44" y="5105972"/>
            <a:ext cx="10057967" cy="568271"/>
          </a:xfrm>
        </p:spPr>
        <p:txBody>
          <a:bodyPr>
            <a:normAutofit/>
          </a:bodyPr>
          <a:lstStyle/>
          <a:p>
            <a:pPr marL="457200" lvl="1" indent="0" algn="ctr">
              <a:buNone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Conceptual graph of “Mary gave John the book”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28" y="2247018"/>
            <a:ext cx="10057967" cy="270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466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Rockwell" panose="02060603020205020403" pitchFamily="18" charset="0"/>
              </a:rPr>
              <a:t>7. 2.1 Conceptual Graphs: </a:t>
            </a:r>
            <a:br>
              <a:rPr lang="en-US" sz="4400" dirty="0" smtClean="0">
                <a:latin typeface="Rockwell" panose="02060603020205020403" pitchFamily="18" charset="0"/>
              </a:rPr>
            </a:br>
            <a:r>
              <a:rPr lang="en-US" sz="4400" dirty="0" smtClean="0">
                <a:latin typeface="Rockwell" panose="02060603020205020403" pitchFamily="18" charset="0"/>
              </a:rPr>
              <a:t>A network language (cont.)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44" y="2278252"/>
            <a:ext cx="10057967" cy="3395992"/>
          </a:xfrm>
        </p:spPr>
        <p:txBody>
          <a:bodyPr>
            <a:normAutofit/>
          </a:bodyPr>
          <a:lstStyle/>
          <a:p>
            <a:pPr lvl="1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# (marker) indicate specific but unnamed individuals.</a:t>
            </a:r>
          </a:p>
          <a:p>
            <a:pPr lvl="1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A particular dog, #1352, is brown.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16" y="3065068"/>
            <a:ext cx="10237822" cy="124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096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Rockwell" panose="02060603020205020403" pitchFamily="18" charset="0"/>
              </a:rPr>
              <a:t>7. 2.1 Conceptual Graphs: </a:t>
            </a:r>
            <a:br>
              <a:rPr lang="en-US" sz="4400" dirty="0" smtClean="0">
                <a:latin typeface="Rockwell" panose="02060603020205020403" pitchFamily="18" charset="0"/>
              </a:rPr>
            </a:br>
            <a:r>
              <a:rPr lang="en-US" sz="4400" dirty="0" smtClean="0">
                <a:latin typeface="Rockwell" panose="02060603020205020403" pitchFamily="18" charset="0"/>
              </a:rPr>
              <a:t>A network language (cont.)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7527" y="1973452"/>
            <a:ext cx="10773770" cy="3395992"/>
          </a:xfrm>
        </p:spPr>
        <p:txBody>
          <a:bodyPr>
            <a:normAutofit lnSpcReduction="10000"/>
          </a:bodyPr>
          <a:lstStyle/>
          <a:p>
            <a:pPr lvl="1"/>
            <a:r>
              <a:rPr 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Besides makers or names, we use * (generic maker) to indicate an unspecified individual. </a:t>
            </a:r>
            <a:r>
              <a:rPr lang="en-US" sz="2400" dirty="0"/>
              <a:t/>
            </a:r>
            <a:br>
              <a:rPr lang="en-US" sz="2400" dirty="0"/>
            </a:b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243" y="3047999"/>
            <a:ext cx="7272338" cy="2908935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43100" y="5956934"/>
            <a:ext cx="8734425" cy="767444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CG of a sentence “The dog scratches it ear and its paw</a:t>
            </a:r>
          </a:p>
        </p:txBody>
      </p:sp>
    </p:spTree>
    <p:extLst>
      <p:ext uri="{BB962C8B-B14F-4D97-AF65-F5344CB8AC3E}">
        <p14:creationId xmlns:p14="http://schemas.microsoft.com/office/powerpoint/2010/main" val="1981972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Rockwell" panose="02060603020205020403" pitchFamily="18" charset="0"/>
              </a:rPr>
              <a:t>7. 2.1 Conceptual Graphs: </a:t>
            </a:r>
            <a:br>
              <a:rPr lang="en-US" sz="4400" dirty="0" smtClean="0">
                <a:latin typeface="Rockwell" panose="02060603020205020403" pitchFamily="18" charset="0"/>
              </a:rPr>
            </a:br>
            <a:r>
              <a:rPr lang="en-US" sz="4400" dirty="0" smtClean="0">
                <a:latin typeface="Rockwell" panose="02060603020205020403" pitchFamily="18" charset="0"/>
              </a:rPr>
              <a:t>A network language (cont.)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44" y="2278252"/>
            <a:ext cx="10773770" cy="3395992"/>
          </a:xfrm>
        </p:spPr>
        <p:txBody>
          <a:bodyPr>
            <a:normAutofit fontScale="85000" lnSpcReduction="20000"/>
          </a:bodyPr>
          <a:lstStyle/>
          <a:p>
            <a:pPr lvl="1"/>
            <a:r>
              <a:rPr 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 individual can have several different names.</a:t>
            </a:r>
          </a:p>
          <a:p>
            <a:pPr lvl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“Her name was McGill, and she called herself Lil, </a:t>
            </a:r>
            <a:r>
              <a:rPr 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but everyone 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knew her as Nancy” (Lennon and McCartney 1968). </a:t>
            </a:r>
            <a:r>
              <a:rPr lang="en-US" sz="2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Song lyrics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813" y="3768266"/>
            <a:ext cx="5400675" cy="28860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3879" y="3666436"/>
            <a:ext cx="2059823" cy="308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623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Rockwell" panose="02060603020205020403" pitchFamily="18" charset="0"/>
              </a:rPr>
              <a:t>7. 2.2 the type hierarchy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8019" y="1754376"/>
            <a:ext cx="10773770" cy="4227323"/>
          </a:xfrm>
        </p:spPr>
        <p:txBody>
          <a:bodyPr>
            <a:noAutofit/>
          </a:bodyPr>
          <a:lstStyle/>
          <a:p>
            <a:pPr lvl="1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type hierarchy indicated by the symbol “≤”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s and t are types and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≤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s, then t is said to be a 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subtype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sand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 is said to be a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supertype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t.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s, t, and u are types, with t ≤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≤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then t is said to be a 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common subtype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s and u </a:t>
            </a:r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Similarly, if s ≤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≤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 then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 is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common 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supertype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s and u. </a:t>
            </a:r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universal type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indicated by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┬,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supertype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of all types. </a:t>
            </a:r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400" i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absurd type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indicated by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⊥,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 subtype of all types.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995839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88" y="-191107"/>
            <a:ext cx="9905998" cy="1478570"/>
          </a:xfrm>
        </p:spPr>
        <p:txBody>
          <a:bodyPr>
            <a:normAutofit/>
          </a:bodyPr>
          <a:lstStyle/>
          <a:p>
            <a:r>
              <a:rPr lang="en-US" sz="4400" dirty="0" smtClean="0">
                <a:latin typeface="Rockwell" panose="02060603020205020403" pitchFamily="18" charset="0"/>
              </a:rPr>
              <a:t>7. 2.2 the type hierarchy (Cont.)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5247" y="3048000"/>
            <a:ext cx="5448139" cy="129540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 of subtypes, </a:t>
            </a:r>
            <a:r>
              <a:rPr lang="en-US" sz="2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supertypes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universal type and absurd type.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836" y="895349"/>
            <a:ext cx="4157663" cy="582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032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Rockwell" panose="02060603020205020403" pitchFamily="18" charset="0"/>
              </a:rPr>
              <a:t>7. 2.3 generalization and specialization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8019" y="2630677"/>
            <a:ext cx="10773770" cy="4227323"/>
          </a:xfrm>
        </p:spPr>
        <p:txBody>
          <a:bodyPr>
            <a:noAutofit/>
          </a:bodyPr>
          <a:lstStyle/>
          <a:p>
            <a:pPr lvl="1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CG, new graphs can be formed from existing graphs using number of operations.</a:t>
            </a:r>
          </a:p>
          <a:p>
            <a:pPr lvl="1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 basic operations are: copy, restrict, join and simplify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67056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Rockwell" panose="02060603020205020403" pitchFamily="18" charset="0"/>
              </a:rPr>
              <a:t>7. 2.3 generalization and specialization (cont.)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7494" y="2097088"/>
            <a:ext cx="10773770" cy="4227323"/>
          </a:xfrm>
        </p:spPr>
        <p:txBody>
          <a:bodyPr>
            <a:noAutofit/>
          </a:bodyPr>
          <a:lstStyle/>
          <a:p>
            <a:pPr lvl="1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Copy rule: form new graph g, exactly copy of g1.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5" y="2658873"/>
            <a:ext cx="8433746" cy="19898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375" y="4762311"/>
            <a:ext cx="8433746" cy="198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176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Rockwell" panose="02060603020205020403" pitchFamily="18" charset="0"/>
              </a:rPr>
              <a:t>7. 2.3 generalization and specialization (cont.)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7494" y="2982913"/>
            <a:ext cx="10773770" cy="4227323"/>
          </a:xfrm>
        </p:spPr>
        <p:txBody>
          <a:bodyPr>
            <a:noAutofit/>
          </a:bodyPr>
          <a:lstStyle/>
          <a:p>
            <a:pPr lvl="1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Restrict rule: replace a concept node in a graph by a node representing their specialization.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66610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266" y="31144"/>
            <a:ext cx="9905998" cy="1478570"/>
          </a:xfrm>
        </p:spPr>
        <p:txBody>
          <a:bodyPr>
            <a:normAutofit/>
          </a:bodyPr>
          <a:lstStyle/>
          <a:p>
            <a:r>
              <a:rPr lang="en-US" sz="4400" dirty="0" smtClean="0">
                <a:latin typeface="Rockwell" panose="02060603020205020403" pitchFamily="18" charset="0"/>
              </a:rPr>
              <a:t>7. 2.3 generalization and specialization (cont.)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7494" y="2097088"/>
            <a:ext cx="10773770" cy="4227323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875" y="1443133"/>
            <a:ext cx="6587133" cy="305257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8222" y="4482910"/>
            <a:ext cx="7310438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858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824403"/>
            <a:ext cx="9905998" cy="1478570"/>
          </a:xfrm>
        </p:spPr>
        <p:txBody>
          <a:bodyPr>
            <a:normAutofit/>
          </a:bodyPr>
          <a:lstStyle/>
          <a:p>
            <a:r>
              <a:rPr lang="en-US" sz="4400" dirty="0" smtClean="0">
                <a:latin typeface="Rockwell" panose="02060603020205020403" pitchFamily="18" charset="0"/>
              </a:rPr>
              <a:t>7. 2.3 generalization and specialization (cont.)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7527" y="2468360"/>
            <a:ext cx="10773770" cy="4227323"/>
          </a:xfrm>
        </p:spPr>
        <p:txBody>
          <a:bodyPr>
            <a:noAutofit/>
          </a:bodyPr>
          <a:lstStyle/>
          <a:p>
            <a:pPr lvl="1"/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Join rule: combine to graphs into a single graph.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408281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266" y="31144"/>
            <a:ext cx="9905998" cy="1478570"/>
          </a:xfrm>
        </p:spPr>
        <p:txBody>
          <a:bodyPr>
            <a:normAutofit/>
          </a:bodyPr>
          <a:lstStyle/>
          <a:p>
            <a:r>
              <a:rPr lang="en-US" sz="4400" dirty="0" smtClean="0">
                <a:latin typeface="Rockwell" panose="02060603020205020403" pitchFamily="18" charset="0"/>
              </a:rPr>
              <a:t>7. 2.3 generalization and specialization (cont.)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7494" y="2097088"/>
            <a:ext cx="10773770" cy="4227323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168" y="1367708"/>
            <a:ext cx="6649345" cy="1461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167" y="2829225"/>
            <a:ext cx="6649346" cy="151171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9167" y="4340938"/>
            <a:ext cx="6649346" cy="250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065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824403"/>
            <a:ext cx="9905998" cy="1478570"/>
          </a:xfrm>
        </p:spPr>
        <p:txBody>
          <a:bodyPr>
            <a:normAutofit/>
          </a:bodyPr>
          <a:lstStyle/>
          <a:p>
            <a:r>
              <a:rPr lang="en-US" sz="4400" dirty="0" smtClean="0">
                <a:latin typeface="Rockwell" panose="02060603020205020403" pitchFamily="18" charset="0"/>
              </a:rPr>
              <a:t>7. 2.3 generalization and specialization (cont.)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7527" y="2219822"/>
            <a:ext cx="10773770" cy="1942604"/>
          </a:xfrm>
        </p:spPr>
        <p:txBody>
          <a:bodyPr>
            <a:noAutofit/>
          </a:bodyPr>
          <a:lstStyle/>
          <a:p>
            <a:pPr lvl="1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Simplify rule: combine to graphs into a single graph.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262" y="2857108"/>
            <a:ext cx="8614965" cy="342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480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824403"/>
            <a:ext cx="9905998" cy="1478570"/>
          </a:xfrm>
        </p:spPr>
        <p:txBody>
          <a:bodyPr>
            <a:normAutofit/>
          </a:bodyPr>
          <a:lstStyle/>
          <a:p>
            <a:r>
              <a:rPr lang="en-US" sz="4400" dirty="0" smtClean="0">
                <a:latin typeface="Rockwell" panose="02060603020205020403" pitchFamily="18" charset="0"/>
              </a:rPr>
              <a:t>7. 2.4 propositional nodes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3727" y="2302973"/>
            <a:ext cx="10773770" cy="3314203"/>
          </a:xfrm>
        </p:spPr>
        <p:txBody>
          <a:bodyPr>
            <a:noAutofit/>
          </a:bodyPr>
          <a:lstStyle/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Conceptual graphs include a concept type, 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proposition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that takes a set of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conceptual graphs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 its referent and allows us to define relations involving propositions. </a:t>
            </a:r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Propositional concepts are indicated as a box that contains another conceptual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graph.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424236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5" y="205278"/>
            <a:ext cx="9905998" cy="1478570"/>
          </a:xfrm>
        </p:spPr>
        <p:txBody>
          <a:bodyPr>
            <a:normAutofit/>
          </a:bodyPr>
          <a:lstStyle/>
          <a:p>
            <a:r>
              <a:rPr lang="en-US" sz="4400" dirty="0" smtClean="0">
                <a:latin typeface="Rockwell" panose="02060603020205020403" pitchFamily="18" charset="0"/>
              </a:rPr>
              <a:t>7. 2.4 propositional nodes (cont.)</a:t>
            </a:r>
            <a:endParaRPr lang="en-US" sz="4400" dirty="0">
              <a:latin typeface="Rockwell" panose="02060603020205020403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1744078"/>
            <a:ext cx="7143750" cy="443199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48625" y="2302972"/>
            <a:ext cx="3981450" cy="3314203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CG of “Tom believes that </a:t>
            </a:r>
            <a:r>
              <a:rPr lang="en-US" sz="2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Janes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likes pizza” using propositional nodes.</a:t>
            </a:r>
          </a:p>
        </p:txBody>
      </p:sp>
    </p:spTree>
    <p:extLst>
      <p:ext uri="{BB962C8B-B14F-4D97-AF65-F5344CB8AC3E}">
        <p14:creationId xmlns:p14="http://schemas.microsoft.com/office/powerpoint/2010/main" val="1779192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824403"/>
            <a:ext cx="9905998" cy="1478570"/>
          </a:xfrm>
        </p:spPr>
        <p:txBody>
          <a:bodyPr>
            <a:normAutofit/>
          </a:bodyPr>
          <a:lstStyle/>
          <a:p>
            <a:r>
              <a:rPr lang="en-US" sz="4400" dirty="0" smtClean="0">
                <a:latin typeface="Rockwell" panose="02060603020205020403" pitchFamily="18" charset="0"/>
              </a:rPr>
              <a:t>7. 2.5 conceptual graphs and logic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6250" y="2302973"/>
            <a:ext cx="11439525" cy="3314203"/>
          </a:xfrm>
        </p:spPr>
        <p:txBody>
          <a:bodyPr>
            <a:noAutofit/>
          </a:bodyPr>
          <a:lstStyle/>
          <a:p>
            <a:pPr lvl="1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“The dog is big and hungry” can be easily represent by CG.</a:t>
            </a:r>
          </a:p>
          <a:p>
            <a:pPr lvl="1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about “There are no pink dogs” sentence? </a:t>
            </a:r>
          </a:p>
          <a:p>
            <a:pPr lvl="1"/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Using </a:t>
            </a:r>
            <a:r>
              <a:rPr lang="en-US" sz="2400" i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neg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operation, we can implement negation and propositional concepts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737" y="4045798"/>
            <a:ext cx="6867393" cy="267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040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Rockwell" panose="02060603020205020403" pitchFamily="18" charset="0"/>
              </a:rPr>
              <a:t>7. </a:t>
            </a:r>
            <a:r>
              <a:rPr lang="en-US" dirty="0" smtClean="0">
                <a:latin typeface="Rockwell" panose="02060603020205020403" pitchFamily="18" charset="0"/>
              </a:rPr>
              <a:t>3 </a:t>
            </a:r>
            <a:r>
              <a:rPr lang="en-US" dirty="0">
                <a:latin typeface="Rockwell" panose="02060603020205020403" pitchFamily="18" charset="0"/>
              </a:rPr>
              <a:t>Alternative Representations and Ontologies</a:t>
            </a:r>
            <a:endParaRPr lang="en-US" dirty="0">
              <a:latin typeface="Rockwell Extra Bold" charset="0"/>
              <a:ea typeface="Rockwell Extra Bold" charset="0"/>
              <a:cs typeface="Rockwell Extra Bold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141413" y="2356532"/>
            <a:ext cx="8596668" cy="388077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ahoma" charset="0"/>
                <a:ea typeface="Tahoma" charset="0"/>
                <a:cs typeface="Tahoma" charset="0"/>
              </a:rPr>
              <a:t>Brooks’ </a:t>
            </a:r>
            <a:r>
              <a:rPr lang="en-US" sz="2800" dirty="0" err="1">
                <a:latin typeface="Tahoma" charset="0"/>
                <a:ea typeface="Tahoma" charset="0"/>
                <a:cs typeface="Tahoma" charset="0"/>
              </a:rPr>
              <a:t>Subsumption</a:t>
            </a:r>
            <a:r>
              <a:rPr lang="en-US" sz="2800" dirty="0">
                <a:latin typeface="Tahoma" charset="0"/>
                <a:ea typeface="Tahoma" charset="0"/>
                <a:cs typeface="Tahoma" charset="0"/>
              </a:rPr>
              <a:t> Architecture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ahoma" charset="0"/>
                <a:ea typeface="Tahoma" charset="0"/>
                <a:cs typeface="Tahoma" charset="0"/>
              </a:rPr>
              <a:t>Copycat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ahoma" charset="0"/>
                <a:ea typeface="Tahoma" charset="0"/>
                <a:cs typeface="Tahoma" charset="0"/>
              </a:rPr>
              <a:t>Multiple Representations, Ontologies, and Knowledge Services </a:t>
            </a:r>
          </a:p>
          <a:p>
            <a:endParaRPr lang="en-US" dirty="0">
              <a:latin typeface="Tahoma" charset="0"/>
              <a:ea typeface="Tahoma" charset="0"/>
              <a:cs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4294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468" y="290134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Rockwell" panose="02060603020205020403" pitchFamily="18" charset="0"/>
              </a:rPr>
              <a:t>Brooks’ </a:t>
            </a:r>
            <a:r>
              <a:rPr lang="en-US" sz="4000" dirty="0" err="1">
                <a:latin typeface="Rockwell" panose="02060603020205020403" pitchFamily="18" charset="0"/>
              </a:rPr>
              <a:t>Subsumption</a:t>
            </a:r>
            <a:r>
              <a:rPr lang="en-US" sz="4000" dirty="0">
                <a:latin typeface="Rockwell" panose="02060603020205020403" pitchFamily="18" charset="0"/>
              </a:rPr>
              <a:t> Architecture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0468" y="1630158"/>
            <a:ext cx="8596668" cy="3880773"/>
          </a:xfrm>
        </p:spPr>
        <p:txBody>
          <a:bodyPr>
            <a:normAutofit fontScale="92500"/>
          </a:bodyPr>
          <a:lstStyle/>
          <a:p>
            <a:r>
              <a:rPr lang="en-US" u="sng" dirty="0">
                <a:latin typeface="Tahoma" charset="0"/>
                <a:ea typeface="Tahoma" charset="0"/>
                <a:cs typeface="Tahoma" charset="0"/>
              </a:rPr>
              <a:t>Rodney </a:t>
            </a:r>
            <a:r>
              <a:rPr lang="en-US" u="sng" dirty="0" smtClean="0">
                <a:latin typeface="Tahoma" charset="0"/>
                <a:ea typeface="Tahoma" charset="0"/>
                <a:cs typeface="Tahoma" charset="0"/>
              </a:rPr>
              <a:t>Brooks </a:t>
            </a: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from MIT.</a:t>
            </a:r>
          </a:p>
          <a:p>
            <a:r>
              <a:rPr lang="en-US" dirty="0" err="1" smtClean="0">
                <a:latin typeface="Tahoma" charset="0"/>
                <a:ea typeface="Tahoma" charset="0"/>
                <a:cs typeface="Tahoma" charset="0"/>
              </a:rPr>
              <a:t>Subsumption</a:t>
            </a: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 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architecture </a:t>
            </a:r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: 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a layered collection of task-handlers </a:t>
            </a:r>
          </a:p>
          <a:p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Rule: </a:t>
            </a:r>
            <a:r>
              <a:rPr lang="en-US" i="1" dirty="0">
                <a:latin typeface="Tahoma" charset="0"/>
                <a:ea typeface="Tahoma" charset="0"/>
                <a:cs typeface="Tahoma" charset="0"/>
              </a:rPr>
              <a:t>condition 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→ </a:t>
            </a:r>
            <a:r>
              <a:rPr lang="en-US" i="1" dirty="0">
                <a:latin typeface="Tahoma" charset="0"/>
                <a:ea typeface="Tahoma" charset="0"/>
                <a:cs typeface="Tahoma" charset="0"/>
              </a:rPr>
              <a:t>action </a:t>
            </a:r>
            <a:endParaRPr lang="en-US" i="1" dirty="0" smtClean="0">
              <a:latin typeface="Tahoma" charset="0"/>
              <a:ea typeface="Tahoma" charset="0"/>
              <a:cs typeface="Tahoma" charset="0"/>
            </a:endParaRPr>
          </a:p>
          <a:p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Example: A robot</a:t>
            </a:r>
          </a:p>
          <a:p>
            <a:pPr lvl="1"/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12 sonar sensors</a:t>
            </a:r>
          </a:p>
          <a:p>
            <a:pPr lvl="1"/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AVOID: keep robot from hitting objects</a:t>
            </a:r>
          </a:p>
          <a:p>
            <a:pPr lvl="1"/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WANDER: generate random directions</a:t>
            </a:r>
          </a:p>
          <a:p>
            <a:pPr lvl="1"/>
            <a:r>
              <a:rPr lang="en-US" dirty="0" smtClean="0">
                <a:latin typeface="Tahoma" charset="0"/>
                <a:ea typeface="Tahoma" charset="0"/>
                <a:cs typeface="Tahoma" charset="0"/>
              </a:rPr>
              <a:t>EXPLORE: look for object and plan a path</a:t>
            </a:r>
            <a:endParaRPr lang="en-US" dirty="0">
              <a:latin typeface="Tahoma" charset="0"/>
              <a:ea typeface="Tahoma" charset="0"/>
              <a:cs typeface="Tahoma" charset="0"/>
            </a:endParaRPr>
          </a:p>
          <a:p>
            <a:endParaRPr lang="en-US" dirty="0">
              <a:latin typeface="Tahoma" charset="0"/>
              <a:ea typeface="Tahoma" charset="0"/>
              <a:cs typeface="Tahoma" charset="0"/>
            </a:endParaRPr>
          </a:p>
          <a:p>
            <a:endParaRPr lang="en-US" dirty="0">
              <a:latin typeface="Tahoma" charset="0"/>
              <a:ea typeface="Tahoma" charset="0"/>
              <a:cs typeface="Tahoma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514" y="2879311"/>
            <a:ext cx="5514975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816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0897" y="230591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>
                <a:latin typeface="Rockwell" panose="02060603020205020403" pitchFamily="18" charset="0"/>
              </a:rPr>
              <a:t>Brooks’ </a:t>
            </a:r>
            <a:r>
              <a:rPr lang="en-US" dirty="0" err="1">
                <a:latin typeface="Rockwell" panose="02060603020205020403" pitchFamily="18" charset="0"/>
              </a:rPr>
              <a:t>Subsumption</a:t>
            </a:r>
            <a:r>
              <a:rPr lang="en-US" dirty="0">
                <a:latin typeface="Rockwell" panose="02060603020205020403" pitchFamily="18" charset="0"/>
              </a:rPr>
              <a:t> Architecture </a:t>
            </a:r>
            <a:endParaRPr lang="en-US" dirty="0">
              <a:latin typeface="Rockwell Extra Bold" charset="0"/>
              <a:ea typeface="Rockwell Extra Bold" charset="0"/>
              <a:cs typeface="Rockwell Extra Bold" charset="0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480897" y="1891573"/>
            <a:ext cx="8896157" cy="4287555"/>
          </a:xfrm>
        </p:spPr>
        <p:txBody>
          <a:bodyPr/>
          <a:lstStyle/>
          <a:p>
            <a:r>
              <a:rPr lang="en-US" sz="2800" dirty="0" smtClean="0">
                <a:latin typeface="Tahoma" charset="0"/>
                <a:ea typeface="Tahoma" charset="0"/>
                <a:cs typeface="Tahoma" charset="0"/>
              </a:rPr>
              <a:t>Concern:</a:t>
            </a:r>
          </a:p>
          <a:p>
            <a:pPr lvl="1"/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P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roblem 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of 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sufficiency of information at each system level </a:t>
            </a:r>
          </a:p>
          <a:p>
            <a:pPr lvl="1"/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H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ow 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can the limited input on the local situation </a:t>
            </a:r>
          </a:p>
          <a:p>
            <a:pPr lvl="1"/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How can a purely reactive component with very limited state </a:t>
            </a:r>
            <a:r>
              <a:rPr lang="en-US" sz="2400" i="1" dirty="0">
                <a:latin typeface="Tahoma" charset="0"/>
                <a:ea typeface="Tahoma" charset="0"/>
                <a:cs typeface="Tahoma" charset="0"/>
              </a:rPr>
              <a:t>learn 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from its 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environment </a:t>
            </a:r>
            <a:endParaRPr lang="en-US" sz="2400" dirty="0">
              <a:latin typeface="Tahoma" charset="0"/>
              <a:ea typeface="Tahoma" charset="0"/>
              <a:cs typeface="Tahoma" charset="0"/>
            </a:endParaRPr>
          </a:p>
          <a:p>
            <a:pPr lvl="1"/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P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roblem 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of scale </a:t>
            </a:r>
          </a:p>
        </p:txBody>
      </p:sp>
    </p:spTree>
    <p:extLst>
      <p:ext uri="{BB962C8B-B14F-4D97-AF65-F5344CB8AC3E}">
        <p14:creationId xmlns:p14="http://schemas.microsoft.com/office/powerpoint/2010/main" val="7597357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Rockwell" panose="02060603020205020403" pitchFamily="18" charset="0"/>
              </a:rPr>
              <a:t>Copycat </a:t>
            </a:r>
            <a:br>
              <a:rPr lang="en-US" dirty="0">
                <a:latin typeface="Rockwell" panose="02060603020205020403" pitchFamily="18" charset="0"/>
              </a:rPr>
            </a:br>
            <a:endParaRPr lang="en-US" dirty="0">
              <a:latin typeface="Rockwell Extra Bold" charset="0"/>
              <a:ea typeface="Rockwell Extra Bold" charset="0"/>
              <a:cs typeface="Rockwell Extra Bold" charset="0"/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141413" y="1820163"/>
            <a:ext cx="8596668" cy="4671285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Build 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on many of the representational techniques that preceded 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it</a:t>
            </a:r>
          </a:p>
          <a:p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Contrast with </a:t>
            </a:r>
            <a:r>
              <a:rPr lang="en-US" sz="2400" dirty="0" err="1" smtClean="0">
                <a:latin typeface="Tahoma" charset="0"/>
                <a:ea typeface="Tahoma" charset="0"/>
                <a:cs typeface="Tahoma" charset="0"/>
              </a:rPr>
              <a:t>Brooks’s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 approach, Copycat 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requires a global “state” to be part of the problem solver </a:t>
            </a:r>
          </a:p>
          <a:p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Three components:</a:t>
            </a:r>
          </a:p>
          <a:p>
            <a:pPr lvl="1"/>
            <a:r>
              <a:rPr lang="en-US" sz="2400" i="1" dirty="0" smtClean="0">
                <a:latin typeface="Tahoma" charset="0"/>
                <a:ea typeface="Tahoma" charset="0"/>
                <a:cs typeface="Tahoma" charset="0"/>
              </a:rPr>
              <a:t>workspace</a:t>
            </a:r>
          </a:p>
          <a:p>
            <a:pPr lvl="1"/>
            <a:r>
              <a:rPr lang="en-US" sz="2400" i="1" dirty="0" err="1">
                <a:latin typeface="Tahoma" charset="0"/>
                <a:ea typeface="Tahoma" charset="0"/>
                <a:cs typeface="Tahoma" charset="0"/>
              </a:rPr>
              <a:t>s</a:t>
            </a:r>
            <a:r>
              <a:rPr lang="en-US" sz="2400" i="1" dirty="0" err="1" smtClean="0">
                <a:latin typeface="Tahoma" charset="0"/>
                <a:ea typeface="Tahoma" charset="0"/>
                <a:cs typeface="Tahoma" charset="0"/>
              </a:rPr>
              <a:t>lipnet</a:t>
            </a:r>
            <a:endParaRPr lang="en-US" sz="2400" i="1" dirty="0" smtClean="0">
              <a:latin typeface="Tahoma" charset="0"/>
              <a:ea typeface="Tahoma" charset="0"/>
              <a:cs typeface="Tahoma" charset="0"/>
            </a:endParaRPr>
          </a:p>
          <a:p>
            <a:pPr lvl="1"/>
            <a:r>
              <a:rPr lang="en-US" sz="2400" i="1" dirty="0" err="1" smtClean="0">
                <a:latin typeface="Tahoma" charset="0"/>
                <a:ea typeface="Tahoma" charset="0"/>
                <a:cs typeface="Tahoma" charset="0"/>
              </a:rPr>
              <a:t>coderack</a:t>
            </a:r>
            <a:endParaRPr lang="en-US" sz="2400" dirty="0">
              <a:latin typeface="Tahoma" charset="0"/>
              <a:ea typeface="Tahoma" charset="0"/>
              <a:cs typeface="Tahoma" charset="0"/>
            </a:endParaRPr>
          </a:p>
          <a:p>
            <a:endParaRPr lang="en-US" sz="2400" dirty="0">
              <a:latin typeface="Tahoma" charset="0"/>
              <a:ea typeface="Tahoma" charset="0"/>
              <a:cs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599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722" y="193476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>
                <a:latin typeface="Rockwell" panose="02060603020205020403" pitchFamily="18" charset="0"/>
              </a:rPr>
              <a:t>Copycat</a:t>
            </a:r>
            <a:endParaRPr lang="en-US" dirty="0">
              <a:latin typeface="Rockwell Extra Bold" charset="0"/>
              <a:ea typeface="Rockwell Extra Bold" charset="0"/>
              <a:cs typeface="Rockwell Extra Bold" charset="0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016722" y="1672046"/>
            <a:ext cx="8596668" cy="4395442"/>
          </a:xfrm>
        </p:spPr>
        <p:txBody>
          <a:bodyPr/>
          <a:lstStyle/>
          <a:p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Three components:</a:t>
            </a:r>
          </a:p>
          <a:p>
            <a:pPr lvl="1"/>
            <a:r>
              <a:rPr lang="en-US" sz="2400" i="1" dirty="0">
                <a:latin typeface="Tahoma" charset="0"/>
                <a:ea typeface="Tahoma" charset="0"/>
                <a:cs typeface="Tahoma" charset="0"/>
              </a:rPr>
              <a:t>workspace: 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global 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structure, other 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components of the system can 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inspect.</a:t>
            </a:r>
            <a:endParaRPr lang="en-US" sz="2400" dirty="0">
              <a:latin typeface="Tahoma" charset="0"/>
              <a:ea typeface="Tahoma" charset="0"/>
              <a:cs typeface="Tahoma" charset="0"/>
            </a:endParaRPr>
          </a:p>
          <a:p>
            <a:pPr lvl="1"/>
            <a:r>
              <a:rPr lang="en-US" sz="2400" i="1" dirty="0" err="1">
                <a:latin typeface="Tahoma" charset="0"/>
                <a:ea typeface="Tahoma" charset="0"/>
                <a:cs typeface="Tahoma" charset="0"/>
              </a:rPr>
              <a:t>slipnet</a:t>
            </a:r>
            <a:r>
              <a:rPr lang="en-US" sz="2400" i="1" dirty="0">
                <a:latin typeface="Tahoma" charset="0"/>
                <a:ea typeface="Tahoma" charset="0"/>
                <a:cs typeface="Tahoma" charset="0"/>
              </a:rPr>
              <a:t>: 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network of concepts or potential associations </a:t>
            </a:r>
          </a:p>
          <a:p>
            <a:pPr lvl="1"/>
            <a:r>
              <a:rPr lang="en-US" sz="2400" i="1" dirty="0" err="1">
                <a:latin typeface="Tahoma" charset="0"/>
                <a:ea typeface="Tahoma" charset="0"/>
                <a:cs typeface="Tahoma" charset="0"/>
              </a:rPr>
              <a:t>coderack</a:t>
            </a:r>
            <a:r>
              <a:rPr lang="en-US" sz="2400" i="1" dirty="0">
                <a:latin typeface="Tahoma" charset="0"/>
                <a:ea typeface="Tahoma" charset="0"/>
                <a:cs typeface="Tahoma" charset="0"/>
              </a:rPr>
              <a:t>: 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priority based probabilistic queue containing </a:t>
            </a:r>
            <a:r>
              <a:rPr lang="en-US" sz="2400" i="1" dirty="0" err="1">
                <a:latin typeface="Tahoma" charset="0"/>
                <a:ea typeface="Tahoma" charset="0"/>
                <a:cs typeface="Tahoma" charset="0"/>
              </a:rPr>
              <a:t>codelets</a:t>
            </a:r>
            <a:r>
              <a:rPr lang="en-US" sz="2400" i="1" dirty="0">
                <a:latin typeface="Tahoma" charset="0"/>
                <a:ea typeface="Tahoma" charset="0"/>
                <a:cs typeface="Tahoma" charset="0"/>
              </a:rPr>
              <a:t> (</a:t>
            </a:r>
            <a:r>
              <a:rPr lang="en-US" sz="2400" i="1" dirty="0" smtClean="0">
                <a:latin typeface="Tahoma" charset="0"/>
                <a:ea typeface="Tahoma" charset="0"/>
                <a:cs typeface="Tahoma" charset="0"/>
              </a:rPr>
              <a:t>small </a:t>
            </a:r>
            <a:r>
              <a:rPr lang="en-US" sz="2400" i="1" dirty="0">
                <a:latin typeface="Tahoma" charset="0"/>
                <a:ea typeface="Tahoma" charset="0"/>
                <a:cs typeface="Tahoma" charset="0"/>
              </a:rPr>
              <a:t>pieces of code</a:t>
            </a:r>
            <a:r>
              <a:rPr lang="en-US" sz="2400" i="1" dirty="0" smtClean="0">
                <a:latin typeface="Tahoma" charset="0"/>
                <a:ea typeface="Tahoma" charset="0"/>
                <a:cs typeface="Tahoma" charset="0"/>
              </a:rPr>
              <a:t>)</a:t>
            </a:r>
          </a:p>
          <a:p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Nodes in the </a:t>
            </a:r>
            <a:r>
              <a:rPr lang="en-US" sz="2400" dirty="0" err="1">
                <a:latin typeface="Tahoma" charset="0"/>
                <a:ea typeface="Tahoma" charset="0"/>
                <a:cs typeface="Tahoma" charset="0"/>
              </a:rPr>
              <a:t>slipnet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 generate </a:t>
            </a:r>
            <a:r>
              <a:rPr lang="en-US" sz="2400" dirty="0" err="1">
                <a:latin typeface="Tahoma" charset="0"/>
                <a:ea typeface="Tahoma" charset="0"/>
                <a:cs typeface="Tahoma" charset="0"/>
              </a:rPr>
              <a:t>codelets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 and post them to the </a:t>
            </a:r>
            <a:r>
              <a:rPr lang="en-US" sz="2400" dirty="0" err="1" smtClean="0">
                <a:latin typeface="Tahoma" charset="0"/>
                <a:ea typeface="Tahoma" charset="0"/>
                <a:cs typeface="Tahoma" charset="0"/>
              </a:rPr>
              <a:t>coderack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, system 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maintains 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code 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in parallel that compete for the chance to find and build structures in the 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workspace.</a:t>
            </a:r>
            <a:endParaRPr lang="en-US" sz="2400" dirty="0">
              <a:latin typeface="Tahoma" charset="0"/>
              <a:ea typeface="Tahoma" charset="0"/>
              <a:cs typeface="Tahoma" charset="0"/>
            </a:endParaRPr>
          </a:p>
          <a:p>
            <a:endParaRPr lang="en-US" sz="2400" dirty="0">
              <a:latin typeface="Tahoma" charset="0"/>
              <a:ea typeface="Tahoma" charset="0"/>
              <a:cs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9444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189952" y="345876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latin typeface="Rockwell" panose="02060603020205020403" pitchFamily="18" charset="0"/>
              </a:rPr>
              <a:t>Copycat</a:t>
            </a:r>
            <a:endParaRPr lang="en-US" dirty="0">
              <a:latin typeface="Rockwell Extra Bold" charset="0"/>
              <a:ea typeface="Rockwell Extra Bold" charset="0"/>
              <a:cs typeface="Rockwell Extra Bold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189952" y="2049753"/>
            <a:ext cx="8596668" cy="3880773"/>
          </a:xfrm>
        </p:spPr>
        <p:txBody>
          <a:bodyPr>
            <a:normAutofit/>
          </a:bodyPr>
          <a:lstStyle/>
          <a:p>
            <a:r>
              <a:rPr lang="en-US" sz="2600" dirty="0" smtClean="0">
                <a:latin typeface="Tahoma" charset="0"/>
                <a:ea typeface="Tahoma" charset="0"/>
                <a:cs typeface="Tahoma" charset="0"/>
              </a:rPr>
              <a:t>Cohesion: connection </a:t>
            </a:r>
            <a:r>
              <a:rPr lang="en-US" sz="2600" dirty="0">
                <a:latin typeface="Tahoma" charset="0"/>
                <a:ea typeface="Tahoma" charset="0"/>
                <a:cs typeface="Tahoma" charset="0"/>
              </a:rPr>
              <a:t>among the structures built in the </a:t>
            </a:r>
            <a:r>
              <a:rPr lang="en-US" sz="2600" dirty="0" smtClean="0">
                <a:latin typeface="Tahoma" charset="0"/>
                <a:ea typeface="Tahoma" charset="0"/>
                <a:cs typeface="Tahoma" charset="0"/>
              </a:rPr>
              <a:t>workspace</a:t>
            </a:r>
          </a:p>
          <a:p>
            <a:r>
              <a:rPr lang="en-US" sz="2600" dirty="0" smtClean="0">
                <a:latin typeface="Tahoma" charset="0"/>
                <a:ea typeface="Tahoma" charset="0"/>
                <a:cs typeface="Tahoma" charset="0"/>
              </a:rPr>
              <a:t>Low cohesion: </a:t>
            </a:r>
            <a:r>
              <a:rPr lang="en-US" sz="2600" dirty="0">
                <a:latin typeface="Tahoma" charset="0"/>
                <a:ea typeface="Tahoma" charset="0"/>
                <a:cs typeface="Tahoma" charset="0"/>
              </a:rPr>
              <a:t>biases of the probabilistic choices </a:t>
            </a:r>
            <a:r>
              <a:rPr lang="en-US" sz="2600" dirty="0" smtClean="0">
                <a:latin typeface="Tahoma" charset="0"/>
                <a:ea typeface="Tahoma" charset="0"/>
                <a:cs typeface="Tahoma" charset="0"/>
              </a:rPr>
              <a:t>are less important.</a:t>
            </a:r>
          </a:p>
          <a:p>
            <a:r>
              <a:rPr lang="en-US" sz="2600" dirty="0" smtClean="0">
                <a:latin typeface="Tahoma" charset="0"/>
                <a:ea typeface="Tahoma" charset="0"/>
                <a:cs typeface="Tahoma" charset="0"/>
              </a:rPr>
              <a:t>High cohesion: biases become important. </a:t>
            </a:r>
            <a:endParaRPr lang="en-US" sz="2600" dirty="0">
              <a:latin typeface="Tahoma" charset="0"/>
              <a:ea typeface="Tahoma" charset="0"/>
              <a:cs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4193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Rockwell" panose="02060603020205020403" pitchFamily="18" charset="0"/>
              </a:rPr>
              <a:t>Multiple Representations, Ontologies, and Knowledge Services </a:t>
            </a:r>
            <a:endParaRPr lang="en-US" dirty="0">
              <a:latin typeface="Rockwell Extra Bold" charset="0"/>
              <a:ea typeface="Rockwell Extra Bold" charset="0"/>
              <a:cs typeface="Rockwell Extra Bold" charset="0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/>
          <a:lstStyle/>
          <a:p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C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omplex 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AI applications 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require multiple 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representational 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schemes, each for a specific task.</a:t>
            </a:r>
            <a:endParaRPr lang="en-US" sz="2400" dirty="0">
              <a:latin typeface="Tahoma" charset="0"/>
              <a:ea typeface="Tahoma" charset="0"/>
              <a:cs typeface="Tahoma" charset="0"/>
            </a:endParaRPr>
          </a:p>
          <a:p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Ontology: </a:t>
            </a:r>
            <a:r>
              <a:rPr lang="en-US" sz="2400" i="1" dirty="0" smtClean="0">
                <a:latin typeface="Tahoma" charset="0"/>
                <a:ea typeface="Tahoma" charset="0"/>
                <a:cs typeface="Tahoma" charset="0"/>
              </a:rPr>
              <a:t>being 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or </a:t>
            </a:r>
            <a:r>
              <a:rPr lang="en-US" sz="2400" i="1" dirty="0" smtClean="0">
                <a:latin typeface="Tahoma" charset="0"/>
                <a:ea typeface="Tahoma" charset="0"/>
                <a:cs typeface="Tahoma" charset="0"/>
              </a:rPr>
              <a:t>existence. It refers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 to 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components 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of a software module 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and 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structure supporting the interactions of these 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components.</a:t>
            </a:r>
            <a:endParaRPr lang="en-US" sz="2400" dirty="0">
              <a:latin typeface="Tahoma" charset="0"/>
              <a:ea typeface="Tahoma" charset="0"/>
              <a:cs typeface="Tahoma" charset="0"/>
            </a:endParaRPr>
          </a:p>
          <a:p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A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pplication 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for ontology based knowledge 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services: agent-oriented 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problem solving </a:t>
            </a:r>
            <a:endParaRPr lang="en-US" dirty="0">
              <a:latin typeface="Tahoma" charset="0"/>
              <a:ea typeface="Tahoma" charset="0"/>
              <a:cs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5345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Rockwell" panose="02060603020205020403" pitchFamily="18" charset="0"/>
              </a:rPr>
              <a:t>7.4. Agent-Based </a:t>
            </a:r>
            <a:r>
              <a:rPr lang="en-US" dirty="0">
                <a:latin typeface="Rockwell" panose="02060603020205020403" pitchFamily="18" charset="0"/>
              </a:rPr>
              <a:t>and Distributed Problem Solving </a:t>
            </a:r>
            <a:endParaRPr lang="en-US" dirty="0">
              <a:latin typeface="Rockwell Extra Bold" charset="0"/>
              <a:ea typeface="Rockwell Extra Bold" charset="0"/>
              <a:cs typeface="Rockwell Extra Bold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141413" y="2216007"/>
            <a:ext cx="8596668" cy="3880773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ahoma" charset="0"/>
                <a:ea typeface="Tahoma" charset="0"/>
                <a:cs typeface="Tahoma" charset="0"/>
              </a:rPr>
              <a:t>Agent-Oriented Problem Solving: A Definition </a:t>
            </a:r>
          </a:p>
          <a:p>
            <a:r>
              <a:rPr lang="en-US" sz="2800" dirty="0" smtClean="0">
                <a:latin typeface="Tahoma" charset="0"/>
                <a:ea typeface="Tahoma" charset="0"/>
                <a:cs typeface="Tahoma" charset="0"/>
              </a:rPr>
              <a:t>Examples of and Challenges to an Agent-Oriented Paradigm </a:t>
            </a:r>
          </a:p>
          <a:p>
            <a:endParaRPr lang="en-US" sz="2800" dirty="0">
              <a:latin typeface="Tahoma" charset="0"/>
              <a:ea typeface="Tahoma" charset="0"/>
              <a:cs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8664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Rockwell" panose="02060603020205020403" pitchFamily="18" charset="0"/>
              </a:rPr>
              <a:t>Agent-Oriented Problem Solving: A Definition </a:t>
            </a:r>
            <a:endParaRPr lang="en-US" dirty="0">
              <a:latin typeface="Rockwell Extra Bold" charset="0"/>
              <a:ea typeface="Rockwell Extra Bold" charset="0"/>
              <a:cs typeface="Rockwell Extra Bold" charset="0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141413" y="2060576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M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ulti-agent system: computer 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program with problem solvers situated in interactive environments </a:t>
            </a:r>
          </a:p>
          <a:p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four </a:t>
            </a:r>
            <a:r>
              <a:rPr lang="en-US" sz="2400" dirty="0" smtClean="0">
                <a:latin typeface="Tahoma" charset="0"/>
                <a:ea typeface="Tahoma" charset="0"/>
                <a:cs typeface="Tahoma" charset="0"/>
              </a:rPr>
              <a:t>criteria:</a:t>
            </a:r>
          </a:p>
          <a:p>
            <a:pPr lvl="1"/>
            <a:r>
              <a:rPr lang="en-US" sz="2200" i="1" dirty="0" smtClean="0">
                <a:latin typeface="Tahoma" charset="0"/>
                <a:ea typeface="Tahoma" charset="0"/>
                <a:cs typeface="Tahoma" charset="0"/>
              </a:rPr>
              <a:t>situated</a:t>
            </a:r>
            <a:endParaRPr lang="en-US" sz="2200" dirty="0" smtClean="0">
              <a:latin typeface="Tahoma" charset="0"/>
              <a:ea typeface="Tahoma" charset="0"/>
              <a:cs typeface="Tahoma" charset="0"/>
            </a:endParaRPr>
          </a:p>
          <a:p>
            <a:pPr lvl="1"/>
            <a:r>
              <a:rPr lang="en-US" sz="2200" i="1" dirty="0" smtClean="0">
                <a:latin typeface="Tahoma" charset="0"/>
                <a:ea typeface="Tahoma" charset="0"/>
                <a:cs typeface="Tahoma" charset="0"/>
              </a:rPr>
              <a:t>autonomous</a:t>
            </a:r>
            <a:endParaRPr lang="en-US" sz="2200" dirty="0" smtClean="0">
              <a:latin typeface="Tahoma" charset="0"/>
              <a:ea typeface="Tahoma" charset="0"/>
              <a:cs typeface="Tahoma" charset="0"/>
            </a:endParaRPr>
          </a:p>
          <a:p>
            <a:pPr lvl="1"/>
            <a:r>
              <a:rPr lang="en-US" sz="2200" i="1" dirty="0">
                <a:latin typeface="Tahoma" charset="0"/>
                <a:ea typeface="Tahoma" charset="0"/>
                <a:cs typeface="Tahoma" charset="0"/>
              </a:rPr>
              <a:t>f</a:t>
            </a:r>
            <a:r>
              <a:rPr lang="en-US" sz="2200" i="1" dirty="0" smtClean="0">
                <a:latin typeface="Tahoma" charset="0"/>
                <a:ea typeface="Tahoma" charset="0"/>
                <a:cs typeface="Tahoma" charset="0"/>
              </a:rPr>
              <a:t>lexible</a:t>
            </a:r>
          </a:p>
          <a:p>
            <a:pPr lvl="1"/>
            <a:r>
              <a:rPr lang="en-US" sz="2200" i="1" dirty="0" smtClean="0">
                <a:latin typeface="Tahoma" charset="0"/>
                <a:ea typeface="Tahoma" charset="0"/>
                <a:cs typeface="Tahoma" charset="0"/>
              </a:rPr>
              <a:t>social </a:t>
            </a:r>
            <a:endParaRPr lang="en-US" sz="2200" dirty="0">
              <a:latin typeface="Tahoma" charset="0"/>
              <a:ea typeface="Tahoma" charset="0"/>
              <a:cs typeface="Tahoma" charset="0"/>
            </a:endParaRPr>
          </a:p>
          <a:p>
            <a:endParaRPr lang="en-US" sz="2400" dirty="0">
              <a:latin typeface="Tahoma" charset="0"/>
              <a:ea typeface="Tahoma" charset="0"/>
              <a:cs typeface="Tahoma" charset="0"/>
            </a:endParaRPr>
          </a:p>
          <a:p>
            <a:endParaRPr lang="en-US" sz="2400" dirty="0">
              <a:latin typeface="Tahoma" charset="0"/>
              <a:ea typeface="Tahoma" charset="0"/>
              <a:cs typeface="Tahoma" charset="0"/>
            </a:endParaRPr>
          </a:p>
          <a:p>
            <a:endParaRPr lang="en-US" sz="2400" dirty="0">
              <a:latin typeface="Tahoma" charset="0"/>
              <a:ea typeface="Tahoma" charset="0"/>
              <a:cs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3003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293813" y="7709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latin typeface="Rockwell" panose="02060603020205020403" pitchFamily="18" charset="0"/>
              </a:rPr>
              <a:t>Agent-Oriented Problem Solving: A Definition </a:t>
            </a:r>
            <a:endParaRPr lang="en-US" dirty="0">
              <a:latin typeface="Rockwell Extra Bold" charset="0"/>
              <a:ea typeface="Rockwell Extra Bold" charset="0"/>
              <a:cs typeface="Rockwell Extra Bold" charset="0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141413" y="2060576"/>
            <a:ext cx="8596668" cy="3880773"/>
          </a:xfrm>
        </p:spPr>
        <p:txBody>
          <a:bodyPr>
            <a:normAutofit/>
          </a:bodyPr>
          <a:lstStyle/>
          <a:p>
            <a:r>
              <a:rPr lang="en-US" sz="2200" i="1" dirty="0" smtClean="0">
                <a:latin typeface="Tahoma" charset="0"/>
                <a:ea typeface="Tahoma" charset="0"/>
                <a:cs typeface="Tahoma" charset="0"/>
              </a:rPr>
              <a:t>Situated</a:t>
            </a:r>
            <a:r>
              <a:rPr lang="en-US" sz="2200" i="1" dirty="0">
                <a:latin typeface="Tahoma" charset="0"/>
                <a:ea typeface="Tahoma" charset="0"/>
                <a:cs typeface="Tahoma" charset="0"/>
              </a:rPr>
              <a:t>: </a:t>
            </a:r>
            <a:r>
              <a:rPr lang="en-US" sz="2200" dirty="0">
                <a:latin typeface="Tahoma" charset="0"/>
                <a:ea typeface="Tahoma" charset="0"/>
                <a:cs typeface="Tahoma" charset="0"/>
              </a:rPr>
              <a:t>receives input from the </a:t>
            </a:r>
            <a:r>
              <a:rPr lang="en-US" sz="2200" dirty="0" smtClean="0">
                <a:latin typeface="Tahoma" charset="0"/>
                <a:ea typeface="Tahoma" charset="0"/>
                <a:cs typeface="Tahoma" charset="0"/>
              </a:rPr>
              <a:t>environment and effect changes in that environment</a:t>
            </a:r>
          </a:p>
          <a:p>
            <a:r>
              <a:rPr lang="en-US" sz="2200" i="1" dirty="0">
                <a:latin typeface="Tahoma" charset="0"/>
                <a:ea typeface="Tahoma" charset="0"/>
                <a:cs typeface="Tahoma" charset="0"/>
              </a:rPr>
              <a:t>Autonomous: </a:t>
            </a:r>
            <a:r>
              <a:rPr lang="en-US" sz="2200" dirty="0">
                <a:latin typeface="Tahoma" charset="0"/>
                <a:ea typeface="Tahoma" charset="0"/>
                <a:cs typeface="Tahoma" charset="0"/>
              </a:rPr>
              <a:t>interact with its environment without the direct intervention of other </a:t>
            </a:r>
            <a:r>
              <a:rPr lang="en-US" sz="2200" dirty="0" smtClean="0">
                <a:latin typeface="Tahoma" charset="0"/>
                <a:ea typeface="Tahoma" charset="0"/>
                <a:cs typeface="Tahoma" charset="0"/>
              </a:rPr>
              <a:t>agents</a:t>
            </a:r>
          </a:p>
          <a:p>
            <a:r>
              <a:rPr lang="en-US" sz="2200" i="1" dirty="0">
                <a:latin typeface="Tahoma" charset="0"/>
                <a:ea typeface="Tahoma" charset="0"/>
                <a:cs typeface="Tahoma" charset="0"/>
              </a:rPr>
              <a:t>Flexible: </a:t>
            </a:r>
            <a:r>
              <a:rPr lang="en-US" sz="2200" dirty="0">
                <a:latin typeface="Tahoma" charset="0"/>
                <a:ea typeface="Tahoma" charset="0"/>
                <a:cs typeface="Tahoma" charset="0"/>
              </a:rPr>
              <a:t>both intelligently responsive </a:t>
            </a:r>
            <a:r>
              <a:rPr lang="en-US" sz="2200" dirty="0" smtClean="0">
                <a:latin typeface="Tahoma" charset="0"/>
                <a:ea typeface="Tahoma" charset="0"/>
                <a:cs typeface="Tahoma" charset="0"/>
              </a:rPr>
              <a:t>and proactive depending </a:t>
            </a:r>
            <a:r>
              <a:rPr lang="en-US" sz="2200" dirty="0">
                <a:latin typeface="Tahoma" charset="0"/>
                <a:ea typeface="Tahoma" charset="0"/>
                <a:cs typeface="Tahoma" charset="0"/>
              </a:rPr>
              <a:t>on its current </a:t>
            </a:r>
            <a:r>
              <a:rPr lang="en-US" sz="2200" dirty="0" smtClean="0">
                <a:latin typeface="Tahoma" charset="0"/>
                <a:ea typeface="Tahoma" charset="0"/>
                <a:cs typeface="Tahoma" charset="0"/>
              </a:rPr>
              <a:t>situation</a:t>
            </a:r>
          </a:p>
          <a:p>
            <a:r>
              <a:rPr lang="en-US" sz="2200" i="1" dirty="0">
                <a:latin typeface="Tahoma" charset="0"/>
                <a:ea typeface="Tahoma" charset="0"/>
                <a:cs typeface="Tahoma" charset="0"/>
              </a:rPr>
              <a:t>Social: </a:t>
            </a:r>
            <a:r>
              <a:rPr lang="en-US" sz="2200" dirty="0">
                <a:latin typeface="Tahoma" charset="0"/>
                <a:ea typeface="Tahoma" charset="0"/>
                <a:cs typeface="Tahoma" charset="0"/>
              </a:rPr>
              <a:t>interact, as appropriate, with other software or human </a:t>
            </a:r>
            <a:r>
              <a:rPr lang="en-US" sz="2200" dirty="0" smtClean="0">
                <a:latin typeface="Tahoma" charset="0"/>
                <a:ea typeface="Tahoma" charset="0"/>
                <a:cs typeface="Tahoma" charset="0"/>
              </a:rPr>
              <a:t>agents</a:t>
            </a:r>
            <a:endParaRPr lang="en-US" sz="2200" dirty="0">
              <a:latin typeface="Tahoma" charset="0"/>
              <a:ea typeface="Tahoma" charset="0"/>
              <a:cs typeface="Tahoma" charset="0"/>
            </a:endParaRPr>
          </a:p>
          <a:p>
            <a:endParaRPr lang="en-US" sz="2200" dirty="0">
              <a:latin typeface="Tahoma" charset="0"/>
              <a:ea typeface="Tahoma" charset="0"/>
              <a:cs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9245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latin typeface="Rockwell" panose="02060603020205020403" pitchFamily="18" charset="0"/>
              </a:rPr>
              <a:t>Agent-Oriented Problem Solving: A Definition </a:t>
            </a:r>
            <a:endParaRPr lang="en-US" dirty="0">
              <a:latin typeface="Rockwell Extra Bold" charset="0"/>
              <a:ea typeface="Rockwell Extra Bold" charset="0"/>
              <a:cs typeface="Rockwell Extra Bold" charset="0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141413" y="2060576"/>
            <a:ext cx="8596668" cy="4492624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ahoma" charset="0"/>
                <a:ea typeface="Tahoma" charset="0"/>
                <a:cs typeface="Tahoma" charset="0"/>
              </a:rPr>
              <a:t>Multi-agent systems are ideal for representing problems that include many problem-solving methods, multiple viewpoints, and multiple entities </a:t>
            </a:r>
          </a:p>
          <a:p>
            <a:r>
              <a:rPr lang="en-US" sz="2200" dirty="0" smtClean="0">
                <a:latin typeface="Tahoma" charset="0"/>
                <a:ea typeface="Tahoma" charset="0"/>
                <a:cs typeface="Tahoma" charset="0"/>
              </a:rPr>
              <a:t>Suitable for distributed </a:t>
            </a:r>
            <a:r>
              <a:rPr lang="en-US" sz="2200" dirty="0">
                <a:latin typeface="Tahoma" charset="0"/>
                <a:ea typeface="Tahoma" charset="0"/>
                <a:cs typeface="Tahoma" charset="0"/>
              </a:rPr>
              <a:t>and concurrent problem </a:t>
            </a:r>
            <a:r>
              <a:rPr lang="en-US" sz="2200" dirty="0" smtClean="0">
                <a:latin typeface="Tahoma" charset="0"/>
                <a:ea typeface="Tahoma" charset="0"/>
                <a:cs typeface="Tahoma" charset="0"/>
              </a:rPr>
              <a:t>solving</a:t>
            </a:r>
          </a:p>
          <a:p>
            <a:r>
              <a:rPr lang="en-US" sz="2200" dirty="0" smtClean="0">
                <a:latin typeface="Tahoma" charset="0"/>
                <a:ea typeface="Tahoma" charset="0"/>
                <a:cs typeface="Tahoma" charset="0"/>
              </a:rPr>
              <a:t>Four characteristics:</a:t>
            </a:r>
          </a:p>
          <a:p>
            <a:pPr lvl="1"/>
            <a:r>
              <a:rPr lang="en-US" sz="1800" dirty="0">
                <a:latin typeface="Tahoma" charset="0"/>
                <a:ea typeface="Tahoma" charset="0"/>
                <a:cs typeface="Tahoma" charset="0"/>
              </a:rPr>
              <a:t>each agent has incomplete </a:t>
            </a:r>
            <a:r>
              <a:rPr lang="en-US" sz="1800" dirty="0" smtClean="0">
                <a:latin typeface="Tahoma" charset="0"/>
                <a:ea typeface="Tahoma" charset="0"/>
                <a:cs typeface="Tahoma" charset="0"/>
              </a:rPr>
              <a:t>information, suffer limited viewpoint</a:t>
            </a:r>
            <a:endParaRPr lang="en-US" sz="1800" dirty="0">
              <a:latin typeface="Tahoma" charset="0"/>
              <a:ea typeface="Tahoma" charset="0"/>
              <a:cs typeface="Tahoma" charset="0"/>
            </a:endParaRPr>
          </a:p>
          <a:p>
            <a:pPr lvl="1"/>
            <a:r>
              <a:rPr lang="en-US" sz="1800" dirty="0">
                <a:latin typeface="Tahoma" charset="0"/>
                <a:ea typeface="Tahoma" charset="0"/>
                <a:cs typeface="Tahoma" charset="0"/>
              </a:rPr>
              <a:t>n</a:t>
            </a:r>
            <a:r>
              <a:rPr lang="en-US" sz="1800" dirty="0" smtClean="0">
                <a:latin typeface="Tahoma" charset="0"/>
                <a:ea typeface="Tahoma" charset="0"/>
                <a:cs typeface="Tahoma" charset="0"/>
              </a:rPr>
              <a:t>o global </a:t>
            </a:r>
            <a:r>
              <a:rPr lang="en-US" sz="1800" dirty="0">
                <a:latin typeface="Tahoma" charset="0"/>
                <a:ea typeface="Tahoma" charset="0"/>
                <a:cs typeface="Tahoma" charset="0"/>
              </a:rPr>
              <a:t>system controller for the entire problem solving </a:t>
            </a:r>
            <a:endParaRPr lang="en-US" sz="1800" dirty="0" smtClean="0">
              <a:latin typeface="Tahoma" charset="0"/>
              <a:ea typeface="Tahoma" charset="0"/>
              <a:cs typeface="Tahoma" charset="0"/>
            </a:endParaRPr>
          </a:p>
          <a:p>
            <a:pPr lvl="1"/>
            <a:r>
              <a:rPr lang="en-US" sz="1800" dirty="0">
                <a:latin typeface="Tahoma" charset="0"/>
                <a:ea typeface="Tahoma" charset="0"/>
                <a:cs typeface="Tahoma" charset="0"/>
              </a:rPr>
              <a:t>knowledge and input data for the problem is also decentralized </a:t>
            </a:r>
          </a:p>
          <a:p>
            <a:pPr lvl="1"/>
            <a:r>
              <a:rPr lang="en-US" sz="1800" dirty="0">
                <a:latin typeface="Tahoma" charset="0"/>
                <a:ea typeface="Tahoma" charset="0"/>
                <a:cs typeface="Tahoma" charset="0"/>
              </a:rPr>
              <a:t>reasoning processes are often asynchronous </a:t>
            </a:r>
          </a:p>
          <a:p>
            <a:pPr lvl="1"/>
            <a:endParaRPr lang="en-US" sz="1800" dirty="0">
              <a:latin typeface="Tahoma" charset="0"/>
              <a:ea typeface="Tahoma" charset="0"/>
              <a:cs typeface="Tahoma" charset="0"/>
            </a:endParaRPr>
          </a:p>
          <a:p>
            <a:pPr lvl="1"/>
            <a:endParaRPr lang="en-US" sz="1800" dirty="0">
              <a:latin typeface="Tahoma" charset="0"/>
              <a:ea typeface="Tahoma" charset="0"/>
              <a:cs typeface="Tahoma" charset="0"/>
            </a:endParaRPr>
          </a:p>
          <a:p>
            <a:endParaRPr lang="en-US" sz="2200" dirty="0">
              <a:latin typeface="Tahoma" charset="0"/>
              <a:ea typeface="Tahoma" charset="0"/>
              <a:cs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9806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Rockwell" panose="02060603020205020403" pitchFamily="18" charset="0"/>
              </a:rPr>
              <a:t>Examples of and Challenges to an Agent-Oriented Paradigm 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141412" y="1977448"/>
            <a:ext cx="9180223" cy="4492624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ahoma" charset="0"/>
                <a:ea typeface="Tahoma" charset="0"/>
                <a:cs typeface="Tahoma" charset="0"/>
              </a:rPr>
              <a:t>Manufacturing: production </a:t>
            </a:r>
            <a:r>
              <a:rPr lang="en-US" sz="2200" dirty="0" smtClean="0">
                <a:latin typeface="Tahoma" charset="0"/>
                <a:ea typeface="Tahoma" charset="0"/>
                <a:cs typeface="Tahoma" charset="0"/>
              </a:rPr>
              <a:t>sequencing,</a:t>
            </a:r>
            <a:r>
              <a:rPr lang="mr-IN" sz="2200" dirty="0" smtClean="0">
                <a:latin typeface="Tahoma" charset="0"/>
                <a:ea typeface="Tahoma" charset="0"/>
                <a:cs typeface="Tahoma" charset="0"/>
              </a:rPr>
              <a:t>…</a:t>
            </a:r>
            <a:endParaRPr lang="en-US" sz="2200" dirty="0">
              <a:latin typeface="Tahoma" charset="0"/>
              <a:ea typeface="Tahoma" charset="0"/>
              <a:cs typeface="Tahoma" charset="0"/>
            </a:endParaRPr>
          </a:p>
          <a:p>
            <a:r>
              <a:rPr lang="en-US" sz="2200" dirty="0">
                <a:latin typeface="Tahoma" charset="0"/>
                <a:ea typeface="Tahoma" charset="0"/>
                <a:cs typeface="Tahoma" charset="0"/>
              </a:rPr>
              <a:t>Automated c</a:t>
            </a:r>
            <a:r>
              <a:rPr lang="en-US" sz="2200" dirty="0" smtClean="0">
                <a:latin typeface="Tahoma" charset="0"/>
                <a:ea typeface="Tahoma" charset="0"/>
                <a:cs typeface="Tahoma" charset="0"/>
              </a:rPr>
              <a:t>ontrol</a:t>
            </a:r>
            <a:r>
              <a:rPr lang="en-US" sz="2200" dirty="0">
                <a:latin typeface="Tahoma" charset="0"/>
                <a:ea typeface="Tahoma" charset="0"/>
                <a:cs typeface="Tahoma" charset="0"/>
              </a:rPr>
              <a:t>: spacecraft control, air traffic </a:t>
            </a:r>
            <a:r>
              <a:rPr lang="en-US" sz="2200" dirty="0" smtClean="0">
                <a:latin typeface="Tahoma" charset="0"/>
                <a:ea typeface="Tahoma" charset="0"/>
                <a:cs typeface="Tahoma" charset="0"/>
              </a:rPr>
              <a:t>control,</a:t>
            </a:r>
            <a:r>
              <a:rPr lang="mr-IN" sz="2200" dirty="0" smtClean="0">
                <a:latin typeface="Tahoma" charset="0"/>
                <a:ea typeface="Tahoma" charset="0"/>
                <a:cs typeface="Tahoma" charset="0"/>
              </a:rPr>
              <a:t>…</a:t>
            </a:r>
            <a:endParaRPr lang="en-US" sz="2200" dirty="0">
              <a:latin typeface="Tahoma" charset="0"/>
              <a:ea typeface="Tahoma" charset="0"/>
              <a:cs typeface="Tahoma" charset="0"/>
            </a:endParaRPr>
          </a:p>
          <a:p>
            <a:r>
              <a:rPr lang="en-US" sz="2200" dirty="0">
                <a:latin typeface="Tahoma" charset="0"/>
                <a:ea typeface="Tahoma" charset="0"/>
                <a:cs typeface="Tahoma" charset="0"/>
              </a:rPr>
              <a:t>Telecommunications: network control and </a:t>
            </a:r>
            <a:r>
              <a:rPr lang="en-US" sz="2200" dirty="0" smtClean="0">
                <a:latin typeface="Tahoma" charset="0"/>
                <a:ea typeface="Tahoma" charset="0"/>
                <a:cs typeface="Tahoma" charset="0"/>
              </a:rPr>
              <a:t>management, </a:t>
            </a:r>
            <a:r>
              <a:rPr lang="mr-IN" sz="2200" dirty="0" smtClean="0">
                <a:latin typeface="Tahoma" charset="0"/>
                <a:ea typeface="Tahoma" charset="0"/>
                <a:cs typeface="Tahoma" charset="0"/>
              </a:rPr>
              <a:t>…</a:t>
            </a:r>
            <a:endParaRPr lang="en-US" sz="2200" dirty="0">
              <a:latin typeface="Tahoma" charset="0"/>
              <a:ea typeface="Tahoma" charset="0"/>
              <a:cs typeface="Tahoma" charset="0"/>
            </a:endParaRPr>
          </a:p>
          <a:p>
            <a:r>
              <a:rPr lang="en-US" sz="2200" dirty="0">
                <a:latin typeface="Tahoma" charset="0"/>
                <a:ea typeface="Tahoma" charset="0"/>
                <a:cs typeface="Tahoma" charset="0"/>
              </a:rPr>
              <a:t>Transportation Systems: cooperative transportation </a:t>
            </a:r>
            <a:r>
              <a:rPr lang="en-US" sz="2200" dirty="0" smtClean="0">
                <a:latin typeface="Tahoma" charset="0"/>
                <a:ea typeface="Tahoma" charset="0"/>
                <a:cs typeface="Tahoma" charset="0"/>
              </a:rPr>
              <a:t>scheduling,</a:t>
            </a:r>
            <a:r>
              <a:rPr lang="mr-IN" sz="2200" dirty="0" smtClean="0">
                <a:latin typeface="Tahoma" charset="0"/>
                <a:ea typeface="Tahoma" charset="0"/>
                <a:cs typeface="Tahoma" charset="0"/>
              </a:rPr>
              <a:t>…</a:t>
            </a:r>
            <a:endParaRPr lang="en-US" sz="2200" dirty="0" smtClean="0">
              <a:latin typeface="Tahoma" charset="0"/>
              <a:ea typeface="Tahoma" charset="0"/>
              <a:cs typeface="Tahoma" charset="0"/>
            </a:endParaRPr>
          </a:p>
          <a:p>
            <a:r>
              <a:rPr lang="en-US" sz="2200" dirty="0">
                <a:latin typeface="Tahoma" charset="0"/>
                <a:ea typeface="Tahoma" charset="0"/>
                <a:cs typeface="Tahoma" charset="0"/>
              </a:rPr>
              <a:t>Information Management: web browsing </a:t>
            </a:r>
            <a:r>
              <a:rPr lang="en-US" sz="2200" dirty="0" smtClean="0">
                <a:latin typeface="Tahoma" charset="0"/>
                <a:ea typeface="Tahoma" charset="0"/>
                <a:cs typeface="Tahoma" charset="0"/>
              </a:rPr>
              <a:t>assistant, </a:t>
            </a:r>
            <a:r>
              <a:rPr lang="mr-IN" sz="2200" dirty="0" smtClean="0">
                <a:latin typeface="Tahoma" charset="0"/>
                <a:ea typeface="Tahoma" charset="0"/>
                <a:cs typeface="Tahoma" charset="0"/>
              </a:rPr>
              <a:t>…</a:t>
            </a:r>
            <a:endParaRPr lang="en-US" sz="2200" dirty="0">
              <a:latin typeface="Tahoma" charset="0"/>
              <a:ea typeface="Tahoma" charset="0"/>
              <a:cs typeface="Tahoma" charset="0"/>
            </a:endParaRPr>
          </a:p>
          <a:p>
            <a:r>
              <a:rPr lang="en-US" sz="2200" dirty="0">
                <a:latin typeface="Tahoma" charset="0"/>
                <a:ea typeface="Tahoma" charset="0"/>
                <a:cs typeface="Tahoma" charset="0"/>
              </a:rPr>
              <a:t>E-Commerce: buy and sell decisions in the stock </a:t>
            </a:r>
            <a:r>
              <a:rPr lang="en-US" sz="2200" dirty="0" smtClean="0">
                <a:latin typeface="Tahoma" charset="0"/>
                <a:ea typeface="Tahoma" charset="0"/>
                <a:cs typeface="Tahoma" charset="0"/>
              </a:rPr>
              <a:t>market, </a:t>
            </a:r>
            <a:r>
              <a:rPr lang="mr-IN" sz="2200" dirty="0" smtClean="0">
                <a:latin typeface="Tahoma" charset="0"/>
                <a:ea typeface="Tahoma" charset="0"/>
                <a:cs typeface="Tahoma" charset="0"/>
              </a:rPr>
              <a:t>…</a:t>
            </a:r>
            <a:endParaRPr lang="en-US" sz="2200" dirty="0">
              <a:latin typeface="Tahoma" charset="0"/>
              <a:ea typeface="Tahoma" charset="0"/>
              <a:cs typeface="Tahoma" charset="0"/>
            </a:endParaRPr>
          </a:p>
          <a:p>
            <a:r>
              <a:rPr lang="en-US" sz="2200" dirty="0">
                <a:latin typeface="Tahoma" charset="0"/>
                <a:ea typeface="Tahoma" charset="0"/>
                <a:cs typeface="Tahoma" charset="0"/>
              </a:rPr>
              <a:t>Interactive Games and Theater: challenge </a:t>
            </a:r>
            <a:r>
              <a:rPr lang="en-US" sz="2200" dirty="0" smtClean="0">
                <a:latin typeface="Tahoma" charset="0"/>
                <a:ea typeface="Tahoma" charset="0"/>
                <a:cs typeface="Tahoma" charset="0"/>
              </a:rPr>
              <a:t>in </a:t>
            </a:r>
            <a:r>
              <a:rPr lang="en-US" sz="2200" dirty="0">
                <a:latin typeface="Tahoma" charset="0"/>
                <a:ea typeface="Tahoma" charset="0"/>
                <a:cs typeface="Tahoma" charset="0"/>
              </a:rPr>
              <a:t>war games, </a:t>
            </a:r>
            <a:r>
              <a:rPr lang="en-US" sz="2200" dirty="0" smtClean="0">
                <a:latin typeface="Tahoma" charset="0"/>
                <a:ea typeface="Tahoma" charset="0"/>
                <a:cs typeface="Tahoma" charset="0"/>
              </a:rPr>
              <a:t>sports, </a:t>
            </a:r>
            <a:r>
              <a:rPr lang="mr-IN" sz="2200" dirty="0" smtClean="0">
                <a:latin typeface="Tahoma" charset="0"/>
                <a:ea typeface="Tahoma" charset="0"/>
                <a:cs typeface="Tahoma" charset="0"/>
              </a:rPr>
              <a:t>…</a:t>
            </a:r>
            <a:endParaRPr lang="en-US" sz="2200" dirty="0">
              <a:latin typeface="Tahoma" charset="0"/>
              <a:ea typeface="Tahoma" charset="0"/>
              <a:cs typeface="Tahoma" charset="0"/>
            </a:endParaRPr>
          </a:p>
          <a:p>
            <a:endParaRPr lang="en-US" sz="2200" dirty="0" smtClean="0">
              <a:latin typeface="Tahoma" charset="0"/>
              <a:ea typeface="Tahoma" charset="0"/>
              <a:cs typeface="Tahoma" charset="0"/>
            </a:endParaRPr>
          </a:p>
          <a:p>
            <a:pPr lvl="1"/>
            <a:endParaRPr lang="en-US" sz="1800" dirty="0">
              <a:latin typeface="Tahoma" charset="0"/>
              <a:ea typeface="Tahoma" charset="0"/>
              <a:cs typeface="Tahoma" charset="0"/>
            </a:endParaRPr>
          </a:p>
          <a:p>
            <a:endParaRPr lang="en-US" sz="2200" dirty="0">
              <a:latin typeface="Tahoma" charset="0"/>
              <a:ea typeface="Tahoma" charset="0"/>
              <a:cs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9845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Rockwell" panose="02060603020205020403" pitchFamily="18" charset="0"/>
              </a:rPr>
              <a:t>Summary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141412" y="1977448"/>
            <a:ext cx="9180223" cy="4492624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ahoma" charset="0"/>
                <a:ea typeface="Tahoma" charset="0"/>
                <a:cs typeface="Tahoma" charset="0"/>
              </a:rPr>
              <a:t>M</a:t>
            </a:r>
            <a:r>
              <a:rPr lang="en-US" sz="2200" dirty="0" smtClean="0">
                <a:latin typeface="Tahoma" charset="0"/>
                <a:ea typeface="Tahoma" charset="0"/>
                <a:cs typeface="Tahoma" charset="0"/>
              </a:rPr>
              <a:t>ajor </a:t>
            </a:r>
            <a:r>
              <a:rPr lang="en-US" sz="2200" dirty="0">
                <a:latin typeface="Tahoma" charset="0"/>
                <a:ea typeface="Tahoma" charset="0"/>
                <a:cs typeface="Tahoma" charset="0"/>
              </a:rPr>
              <a:t>alternatives for knowledge </a:t>
            </a:r>
            <a:r>
              <a:rPr lang="en-US" sz="2200" dirty="0" smtClean="0">
                <a:latin typeface="Tahoma" charset="0"/>
                <a:ea typeface="Tahoma" charset="0"/>
                <a:cs typeface="Tahoma" charset="0"/>
              </a:rPr>
              <a:t>representation</a:t>
            </a:r>
            <a:r>
              <a:rPr lang="en-US" sz="2200" dirty="0">
                <a:latin typeface="Tahoma" charset="0"/>
                <a:ea typeface="Tahoma" charset="0"/>
                <a:cs typeface="Tahoma" charset="0"/>
              </a:rPr>
              <a:t>, including the use of logic, rules, semantic networks, and frames </a:t>
            </a:r>
          </a:p>
          <a:p>
            <a:r>
              <a:rPr lang="en-US" sz="2200" dirty="0" smtClean="0">
                <a:latin typeface="Tahoma" charset="0"/>
                <a:ea typeface="Tahoma" charset="0"/>
                <a:cs typeface="Tahoma" charset="0"/>
              </a:rPr>
              <a:t>Systems </a:t>
            </a:r>
            <a:r>
              <a:rPr lang="en-US" sz="2200" dirty="0">
                <a:latin typeface="Tahoma" charset="0"/>
                <a:ea typeface="Tahoma" charset="0"/>
                <a:cs typeface="Tahoma" charset="0"/>
              </a:rPr>
              <a:t>with no centralized knowledge base or general-purpose reasoning scheme </a:t>
            </a:r>
          </a:p>
          <a:p>
            <a:r>
              <a:rPr lang="en-US" sz="2200" dirty="0" smtClean="0">
                <a:latin typeface="Tahoma" charset="0"/>
                <a:ea typeface="Tahoma" charset="0"/>
                <a:cs typeface="Tahoma" charset="0"/>
              </a:rPr>
              <a:t>Distributed </a:t>
            </a:r>
            <a:r>
              <a:rPr lang="en-US" sz="2200" dirty="0">
                <a:latin typeface="Tahoma" charset="0"/>
                <a:ea typeface="Tahoma" charset="0"/>
                <a:cs typeface="Tahoma" charset="0"/>
              </a:rPr>
              <a:t>problem-solving with agents </a:t>
            </a:r>
          </a:p>
          <a:p>
            <a:endParaRPr lang="en-US" sz="2200" dirty="0">
              <a:latin typeface="Tahoma" charset="0"/>
              <a:ea typeface="Tahoma" charset="0"/>
              <a:cs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25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Rockwell" panose="02060603020205020403" pitchFamily="18" charset="0"/>
              </a:rPr>
              <a:t>reference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141412" y="1977448"/>
            <a:ext cx="9180223" cy="4492624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ahoma" charset="0"/>
                <a:ea typeface="Tahoma" charset="0"/>
                <a:cs typeface="Tahoma" charset="0"/>
              </a:rPr>
              <a:t>Artificial </a:t>
            </a:r>
            <a:r>
              <a:rPr lang="en-US" sz="2200" dirty="0">
                <a:latin typeface="Tahoma" charset="0"/>
                <a:ea typeface="Tahoma" charset="0"/>
                <a:cs typeface="Tahoma" charset="0"/>
              </a:rPr>
              <a:t>Intelligence. Structures and Strategies for Complex Problem Solving. Sixth Edition-Addison Wesley </a:t>
            </a:r>
            <a:r>
              <a:rPr lang="en-US" sz="2200" dirty="0" smtClean="0">
                <a:latin typeface="Tahoma" charset="0"/>
                <a:ea typeface="Tahoma" charset="0"/>
                <a:cs typeface="Tahoma" charset="0"/>
              </a:rPr>
              <a:t>(Luger 2009)</a:t>
            </a:r>
          </a:p>
          <a:p>
            <a:r>
              <a:rPr lang="en-US" sz="2200" dirty="0">
                <a:latin typeface="Tahoma" charset="0"/>
                <a:ea typeface="Tahoma" charset="0"/>
                <a:cs typeface="Tahoma" charset="0"/>
              </a:rPr>
              <a:t>Cognitive Science: The Science of Intelligent Systems (Luger 1994) </a:t>
            </a:r>
          </a:p>
          <a:p>
            <a:r>
              <a:rPr lang="en-US" sz="2200" dirty="0">
                <a:latin typeface="Tahoma" charset="0"/>
                <a:ea typeface="Tahoma" charset="0"/>
                <a:cs typeface="Tahoma" charset="0"/>
              </a:rPr>
              <a:t>An Overview of Knowledge Representation (</a:t>
            </a:r>
            <a:r>
              <a:rPr lang="en-US" sz="2200" dirty="0" err="1">
                <a:latin typeface="Tahoma" charset="0"/>
                <a:ea typeface="Tahoma" charset="0"/>
                <a:cs typeface="Tahoma" charset="0"/>
              </a:rPr>
              <a:t>Mylopoulos</a:t>
            </a:r>
            <a:r>
              <a:rPr lang="en-US" sz="2200" dirty="0">
                <a:latin typeface="Tahoma" charset="0"/>
                <a:ea typeface="Tahoma" charset="0"/>
                <a:cs typeface="Tahoma" charset="0"/>
              </a:rPr>
              <a:t> and Levesque 1984</a:t>
            </a:r>
            <a:r>
              <a:rPr lang="en-US" sz="2200" dirty="0" smtClean="0">
                <a:latin typeface="Tahoma" charset="0"/>
                <a:ea typeface="Tahoma" charset="0"/>
                <a:cs typeface="Tahoma" charset="0"/>
              </a:rPr>
              <a:t>)</a:t>
            </a:r>
          </a:p>
          <a:p>
            <a:r>
              <a:rPr lang="en-US" sz="2200" dirty="0">
                <a:latin typeface="Tahoma" charset="0"/>
                <a:ea typeface="Tahoma" charset="0"/>
                <a:cs typeface="Tahoma" charset="0"/>
              </a:rPr>
              <a:t>Representations of Commonsense Knowledge by Davis (1990) </a:t>
            </a:r>
          </a:p>
          <a:p>
            <a:endParaRPr lang="en-US" sz="2200" dirty="0">
              <a:latin typeface="Tahoma" charset="0"/>
              <a:ea typeface="Tahoma" charset="0"/>
              <a:cs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576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5085" y="2530445"/>
            <a:ext cx="6921932" cy="1478570"/>
          </a:xfrm>
        </p:spPr>
        <p:txBody>
          <a:bodyPr>
            <a:normAutofit/>
          </a:bodyPr>
          <a:lstStyle/>
          <a:p>
            <a:pPr algn="ctr"/>
            <a:r>
              <a:rPr lang="en-US" sz="4400" dirty="0" smtClean="0"/>
              <a:t>Thank you for your listening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7363981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blem - Solution.potx" id="{618825C9-7A5B-4FD0-8173-05FBE0DDE387}" vid="{0970E009-9DDA-4822-A7D1-BB4C8516F0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0</TotalTime>
  <Words>2125</Words>
  <Application>Microsoft Macintosh PowerPoint</Application>
  <PresentationFormat>Widescreen</PresentationFormat>
  <Paragraphs>298</Paragraphs>
  <Slides>54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Calibri</vt:lpstr>
      <vt:lpstr>Rockwell</vt:lpstr>
      <vt:lpstr>Rockwell Extra Bold</vt:lpstr>
      <vt:lpstr>Tahoma</vt:lpstr>
      <vt:lpstr>Trebuchet MS</vt:lpstr>
      <vt:lpstr>Tw Cen MT</vt:lpstr>
      <vt:lpstr>Arial</vt:lpstr>
      <vt:lpstr>Circuit</vt:lpstr>
      <vt:lpstr>Chap 7: Knowledge representation</vt:lpstr>
      <vt:lpstr>Outline:</vt:lpstr>
      <vt:lpstr>7.1 A Brief History of AI Representational Systems</vt:lpstr>
      <vt:lpstr>PowerPoint Presentation</vt:lpstr>
      <vt:lpstr>PowerPoint Presentation</vt:lpstr>
      <vt:lpstr>PowerPoint Presentation</vt:lpstr>
      <vt:lpstr>7.1.2 Early Work in Semantic Nets</vt:lpstr>
      <vt:lpstr>PowerPoint Presentation</vt:lpstr>
      <vt:lpstr>7.1.2 Early Work in Semantic Nets</vt:lpstr>
      <vt:lpstr>PowerPoint Presentation</vt:lpstr>
      <vt:lpstr>7.1.3 Standardization of Network Relationships</vt:lpstr>
      <vt:lpstr>7.1.3 Standardization of Network Relationships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7.1.4 Scripts</vt:lpstr>
      <vt:lpstr>PowerPoint Presentation</vt:lpstr>
      <vt:lpstr>7.1.5 Frames</vt:lpstr>
      <vt:lpstr>7.1.5 Frames (cont.)</vt:lpstr>
      <vt:lpstr>7. 2.1 Conceptual Graphs:  A network language</vt:lpstr>
      <vt:lpstr>7. 2.1 Conceptual Graphs:  A network language (cont.)</vt:lpstr>
      <vt:lpstr>7. 2.1 Conceptual Graphs:  A network language (cont.)</vt:lpstr>
      <vt:lpstr>7. 2.1 Conceptual Graphs:  A network language (cont.)</vt:lpstr>
      <vt:lpstr>7. 2.1 Conceptual Graphs:  A network language (cont.)</vt:lpstr>
      <vt:lpstr>7. 2.1 Conceptual Graphs:  A network language (cont.)</vt:lpstr>
      <vt:lpstr>7. 2.2 the type hierarchy</vt:lpstr>
      <vt:lpstr>7. 2.2 the type hierarchy (Cont.)</vt:lpstr>
      <vt:lpstr>7. 2.3 generalization and specialization</vt:lpstr>
      <vt:lpstr>7. 2.3 generalization and specialization (cont.)</vt:lpstr>
      <vt:lpstr>7. 2.3 generalization and specialization (cont.)</vt:lpstr>
      <vt:lpstr>7. 2.3 generalization and specialization (cont.)</vt:lpstr>
      <vt:lpstr>7. 2.3 generalization and specialization (cont.)</vt:lpstr>
      <vt:lpstr>7. 2.3 generalization and specialization (cont.)</vt:lpstr>
      <vt:lpstr>7. 2.3 generalization and specialization (cont.)</vt:lpstr>
      <vt:lpstr>7. 2.4 propositional nodes</vt:lpstr>
      <vt:lpstr>7. 2.4 propositional nodes (cont.)</vt:lpstr>
      <vt:lpstr>7. 2.5 conceptual graphs and logic</vt:lpstr>
      <vt:lpstr>7. 3 Alternative Representations and Ontologies</vt:lpstr>
      <vt:lpstr>Brooks’ Subsumption Architecture </vt:lpstr>
      <vt:lpstr>Brooks’ Subsumption Architecture </vt:lpstr>
      <vt:lpstr>Copycat  </vt:lpstr>
      <vt:lpstr>Copycat</vt:lpstr>
      <vt:lpstr>PowerPoint Presentation</vt:lpstr>
      <vt:lpstr>Multiple Representations, Ontologies, and Knowledge Services </vt:lpstr>
      <vt:lpstr>7.4. Agent-Based and Distributed Problem Solving </vt:lpstr>
      <vt:lpstr>Agent-Oriented Problem Solving: A Definition </vt:lpstr>
      <vt:lpstr>PowerPoint Presentation</vt:lpstr>
      <vt:lpstr>Agent-Oriented Problem Solving: A Definition </vt:lpstr>
      <vt:lpstr>Examples of and Challenges to an Agent-Oriented Paradigm </vt:lpstr>
      <vt:lpstr>Summary</vt:lpstr>
      <vt:lpstr>reference</vt:lpstr>
      <vt:lpstr>Thank you for your listening</vt:lpstr>
    </vt:vector>
  </TitlesOfParts>
  <Company/>
  <LinksUpToDate>false</LinksUpToDate>
  <SharedDoc>false</SharedDoc>
  <HyperlinksChanged>false</HyperlinksChanged>
  <AppVersion>15.0038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2019-05-03T12:31:51Z</dcterms:created>
  <dcterms:modified xsi:type="dcterms:W3CDTF">2019-05-04T02:28:34Z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v-abdarl@microsoft.com</vt:lpwstr>
  </property>
  <property fmtid="{D5CDD505-2E9C-101B-9397-08002B2CF9AE}" pid="5" name="MSIP_Label_f42aa342-8706-4288-bd11-ebb85995028c_SetDate">
    <vt:lpwstr>2018-08-20T22:55:44.5188046Z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</Properties>
</file>