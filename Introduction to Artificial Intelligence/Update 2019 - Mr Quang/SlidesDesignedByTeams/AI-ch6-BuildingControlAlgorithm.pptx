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69" r:id="rId3"/>
    <p:sldId id="278" r:id="rId4"/>
    <p:sldId id="282" r:id="rId5"/>
    <p:sldId id="283" r:id="rId6"/>
    <p:sldId id="284" r:id="rId7"/>
    <p:sldId id="268" r:id="rId8"/>
    <p:sldId id="275" r:id="rId9"/>
    <p:sldId id="274" r:id="rId10"/>
    <p:sldId id="291" r:id="rId11"/>
    <p:sldId id="276" r:id="rId12"/>
    <p:sldId id="259" r:id="rId13"/>
    <p:sldId id="261" r:id="rId14"/>
    <p:sldId id="262" r:id="rId15"/>
    <p:sldId id="263" r:id="rId16"/>
    <p:sldId id="292" r:id="rId17"/>
    <p:sldId id="264" r:id="rId18"/>
    <p:sldId id="265" r:id="rId19"/>
    <p:sldId id="293" r:id="rId20"/>
    <p:sldId id="257" r:id="rId21"/>
    <p:sldId id="256" r:id="rId22"/>
    <p:sldId id="258" r:id="rId23"/>
    <p:sldId id="285" r:id="rId24"/>
    <p:sldId id="286" r:id="rId25"/>
    <p:sldId id="281" r:id="rId26"/>
    <p:sldId id="287" r:id="rId27"/>
    <p:sldId id="267" r:id="rId28"/>
    <p:sldId id="288" r:id="rId29"/>
    <p:sldId id="289" r:id="rId30"/>
    <p:sldId id="290" r:id="rId31"/>
    <p:sldId id="260" r:id="rId32"/>
    <p:sldId id="270" r:id="rId33"/>
    <p:sldId id="271" r:id="rId34"/>
    <p:sldId id="272" r:id="rId35"/>
    <p:sldId id="273" r:id="rId36"/>
    <p:sldId id="279" r:id="rId37"/>
    <p:sldId id="28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A8CDC02-876A-4C7F-BB59-10E620031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42286933-5F6A-48C6-9FB6-2636AABDB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54AFD5B-80B4-430D-AE67-185D0275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EEFF-8CD6-4B4E-8F83-17CD91C9BDEB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E5F859D-D805-4165-AF1B-7D608041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27C5540-58C9-4CE1-890C-AF3FA49F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4471-2027-4B38-B92D-C31D1CF1B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05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2D43757-D837-4C70-B921-FF063121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A8F2F3D-27AD-4F9C-BD61-DD81763F2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47C1308-CA5A-4F81-A27C-32737B40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EEFF-8CD6-4B4E-8F83-17CD91C9BDEB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25312B4-C899-4132-9B85-CC9CD5926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AA0178B-0CF7-465A-B73A-FC351642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4471-2027-4B38-B92D-C31D1CF1B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0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ADA20AF-AB37-4393-B195-58DB4193D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232454F-4607-4FB1-81D1-3AC0C8166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1BCBAB3-A52A-4E81-AF4B-3E50271C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EEFF-8CD6-4B4E-8F83-17CD91C9BDEB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DD02C48-F197-45B7-951E-B48311C03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361666E-03B8-4B72-895E-1212384C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4471-2027-4B38-B92D-C31D1CF1B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84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4939E61-1F4F-48D8-B16F-4FB904EF4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E1F7C9B-3C8A-471C-A84B-1F73B8B97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9ACA4303-F513-45E9-8017-CD645FAAC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7AE42854-D2EE-4E18-BA13-435B5D6DB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EEFF-8CD6-4B4E-8F83-17CD91C9BDEB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F5E1652-86DE-4C8E-916F-84DFABAFD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DDBB90BA-4B3F-41F1-923F-28B6AFA1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4471-2027-4B38-B92D-C31D1CF1B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6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D526939-9923-43C9-A45D-CCE7AECB6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1D241FB-A9D6-47C2-BAB1-1DBF781D5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B80A7166-41EB-4046-9EE1-93743A205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3D0C6DF-066A-4467-A251-0A2CD893C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B4626845-FEE2-42AC-A9FC-27C9E9C56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22EF478B-E7F5-4B0C-8EB3-54D83DA8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EEFF-8CD6-4B4E-8F83-17CD91C9BDEB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B44FAC95-2480-4B2A-9ADF-B7E40313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F366592D-D30B-4DCA-A568-E988CCABF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4471-2027-4B38-B92D-C31D1CF1B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31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8DA6E66-D48D-4662-BF1F-62E9D4FFF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5C2F6527-9E39-45C5-A78E-F91C74E4D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EEFF-8CD6-4B4E-8F83-17CD91C9BDEB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A795A991-5161-42F7-98A3-D34645A1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6D908D7-9624-414A-BC87-DCFF149A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4471-2027-4B38-B92D-C31D1CF1B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9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A26E8D71-C58D-46BB-A668-9320FAC2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EEFF-8CD6-4B4E-8F83-17CD91C9BDEB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CDA7E96D-EB30-4C8E-A218-515A86CC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62477BF-67BD-4929-81A1-B5BCE9A2C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4471-2027-4B38-B92D-C31D1CF1B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81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29D6F4-53A7-4D2C-A517-7CDA5478A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A5E9131-657C-416F-9147-B52AD1000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AEA94A1-9912-473A-BE42-4A87695E9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CAC815F-CC9F-43F6-A512-819BE6FC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EEFF-8CD6-4B4E-8F83-17CD91C9BDEB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506AF06-9808-466E-8B7D-062D5E8CD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8CA72336-D459-411F-B993-51C84B147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4471-2027-4B38-B92D-C31D1CF1B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0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05DBC3-48B5-4A16-B630-E5178D651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B3BFEE1-C2B6-4BC1-B114-3688BB9C76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9E26D526-47D5-4D0C-9351-E9B0F9361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BCD051F1-290F-4C70-9557-A851CA3B2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EEFF-8CD6-4B4E-8F83-17CD91C9BDEB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C6F1357-FE86-41EE-9F36-3FE298B04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CD29B449-576D-4693-99C7-8209FDD6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4471-2027-4B38-B92D-C31D1CF1B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7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6989AA8-9A07-4C6B-B3A1-291241A9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792B122-8D4C-4F08-94FC-5E0C5A022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4D90745-6235-4B4A-9296-B4F3F1A6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EEFF-8CD6-4B4E-8F83-17CD91C9BDEB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D120DED-DAC6-40AE-9F93-2564F652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251FA93-5034-412F-889B-25355C9C8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4471-2027-4B38-B92D-C31D1CF1B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88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3B81C465-F778-4CA6-941B-4693FB7C3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3E5E3CA7-2584-4CE6-A11B-CB941D173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F60FD75-7788-4F1B-94DA-89FB8BAA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EEFF-8CD6-4B4E-8F83-17CD91C9BDEB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3152CEB-1616-4E25-9000-190521B7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8262617-3A0D-4917-9039-10BD4C82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4471-2027-4B38-B92D-C31D1CF1B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4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C83050C2-BE9F-464B-A35D-D39DE421D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3A0E1CA8-C5C3-499B-B45D-A5983982A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7A83CD8-D7F6-43CC-A3E8-612B2DB4E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5EEFF-8CD6-4B4E-8F83-17CD91C9BDEB}" type="datetimeFigureOut">
              <a:rPr lang="en-US" smtClean="0"/>
              <a:t>4/6/2019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C17FD95-130C-4292-B484-A98CA084D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A907ABD-0B38-4DC2-99BD-96AFEFBDC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A4471-2027-4B38-B92D-C31D1CF1B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8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6880-7E26-45AC-8A5A-CACBB0E8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81" y="1538509"/>
            <a:ext cx="8981454" cy="162178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6: </a:t>
            </a:r>
            <a:b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AND IMPLEMENTATION OF STATE SPACE SEARCH</a:t>
            </a:r>
          </a:p>
        </p:txBody>
      </p:sp>
    </p:spTree>
    <p:extLst>
      <p:ext uri="{BB962C8B-B14F-4D97-AF65-F5344CB8AC3E}">
        <p14:creationId xmlns:p14="http://schemas.microsoft.com/office/powerpoint/2010/main" val="316128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FF4A-B2DE-446E-A66C-66EEFF98F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093" y="1243263"/>
            <a:ext cx="8911687" cy="1280890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</a:rPr>
              <a:t>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31D7B-17A0-4330-8592-21A0AC913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977" y="3192379"/>
            <a:ext cx="8915400" cy="2422358"/>
          </a:xfrm>
        </p:spPr>
        <p:txBody>
          <a:bodyPr/>
          <a:lstStyle/>
          <a:p>
            <a:pPr algn="ctr"/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Nguyen Hoang Lam </a:t>
            </a:r>
            <a:r>
              <a:rPr lang="en-US" dirty="0"/>
              <a:t>- ITITIU16038</a:t>
            </a:r>
          </a:p>
          <a:p>
            <a:pPr algn="ctr"/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 Le Minh </a:t>
            </a:r>
            <a:r>
              <a:rPr lang="en-US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Trung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- ITITIU16138</a:t>
            </a:r>
          </a:p>
          <a:p>
            <a:pPr algn="ctr"/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Pham </a:t>
            </a:r>
            <a:r>
              <a:rPr lang="en-US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Giao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Huy </a:t>
            </a:r>
            <a:r>
              <a:rPr lang="en-US" dirty="0"/>
              <a:t>- ITITIU16031</a:t>
            </a:r>
          </a:p>
          <a:p>
            <a:pPr algn="ctr"/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 Thanh </a:t>
            </a:r>
            <a:r>
              <a:rPr lang="en-US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Hoai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- ITITIU16026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167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5FE3-D5EB-4885-8829-23FEDCEB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53645"/>
            <a:ext cx="8911687" cy="128089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OUTLINE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63A597-766F-4582-8223-BFC69E947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992" y="2326105"/>
            <a:ext cx="8915400" cy="3778250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FF0000"/>
                </a:solidFill>
              </a:rPr>
              <a:t>I. Recursion-Based Search:</a:t>
            </a:r>
          </a:p>
          <a:p>
            <a:r>
              <a:rPr lang="en-US" sz="3400" dirty="0">
                <a:solidFill>
                  <a:srgbClr val="FF0000"/>
                </a:solidFill>
              </a:rPr>
              <a:t>II. Production System:</a:t>
            </a:r>
          </a:p>
          <a:p>
            <a:r>
              <a:rPr lang="en-US" sz="3400" dirty="0">
                <a:solidFill>
                  <a:srgbClr val="FF0000"/>
                </a:solidFill>
              </a:rPr>
              <a:t>III. The Blackboard  Architecture for Problem Solving:</a:t>
            </a:r>
          </a:p>
        </p:txBody>
      </p:sp>
    </p:spTree>
    <p:extLst>
      <p:ext uri="{BB962C8B-B14F-4D97-AF65-F5344CB8AC3E}">
        <p14:creationId xmlns:p14="http://schemas.microsoft.com/office/powerpoint/2010/main" val="285339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493679B-8EEB-4015-9527-40839F27C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1/ Recursion Based-Search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1770D2A-DC0B-4BE4-B9F2-2DCCF712F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recursive procedure consists of: </a:t>
            </a:r>
          </a:p>
          <a:p>
            <a:pPr lvl="1"/>
            <a:r>
              <a:rPr lang="en-US" dirty="0"/>
              <a:t>– A recursive step: the procedure calls itself to repeat a sequence of actions </a:t>
            </a:r>
          </a:p>
          <a:p>
            <a:pPr lvl="1"/>
            <a:r>
              <a:rPr lang="en-US" dirty="0"/>
              <a:t>– A terminating condition that stops the procedure from recurring endlessly</a:t>
            </a:r>
          </a:p>
          <a:p>
            <a:r>
              <a:rPr lang="en-US" dirty="0"/>
              <a:t>Recursion is also a natural control construct for data structures that have regular structure and no definite size, such as lists, trees, graphs, and is particularly appropriate for state space 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751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3CC195-6F1A-4148-889A-8E093612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Fibonacci Number Example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1623719-C239-4988-942F-498F785BA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Fibonacci numbers are the numbers in the following sequence: </a:t>
            </a:r>
          </a:p>
          <a:p>
            <a:r>
              <a:rPr lang="en-US" dirty="0"/>
              <a:t>0,1, 1, 2, 3, 5, 8, 13, 21, 34, 55, 89, 144, … </a:t>
            </a:r>
          </a:p>
          <a:p>
            <a:r>
              <a:rPr lang="en-US" dirty="0"/>
              <a:t>By definition, the first two numbers in the Fibonacci sequence are 0 and 1, and each subsequent number is the sum of the previous two.</a:t>
            </a:r>
          </a:p>
          <a:p>
            <a:r>
              <a:rPr lang="en-US" dirty="0"/>
              <a:t> The sequence F(n) of Fibonacci numbers is defined as:</a:t>
            </a:r>
          </a:p>
          <a:p>
            <a:pPr lvl="1"/>
            <a:r>
              <a:rPr lang="en-US" dirty="0"/>
              <a:t>F(0) = 0 F(1) = 1 F(n) = F(n-1) + F(n-2)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73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AA375DD5-8FDB-4B01-84CC-C250E4AB8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220536"/>
            <a:ext cx="10905066" cy="441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257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16D08940-8681-4C5F-8509-2A00CB708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38" y="4756638"/>
            <a:ext cx="11139854" cy="930447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Depth-search</a:t>
            </a:r>
          </a:p>
        </p:txBody>
      </p:sp>
      <p:sp>
        <p:nvSpPr>
          <p:cNvPr id="6" name="Tiêu đề phụ 5">
            <a:extLst>
              <a:ext uri="{FF2B5EF4-FFF2-40B4-BE49-F238E27FC236}">
                <a16:creationId xmlns:a16="http://schemas.microsoft.com/office/drawing/2014/main" id="{9B1C9D48-D024-4975-9C88-042F6DEB4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362" y="5815698"/>
            <a:ext cx="9144000" cy="420001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rgbClr val="FDCA8A"/>
                </a:solidFill>
              </a:rPr>
              <a:t>1/ Recursion Based-Search</a:t>
            </a:r>
          </a:p>
          <a:p>
            <a:endParaRPr lang="en-US" sz="2000">
              <a:solidFill>
                <a:srgbClr val="FDCA8A"/>
              </a:solidFill>
            </a:endParaRPr>
          </a:p>
        </p:txBody>
      </p:sp>
      <p:pic>
        <p:nvPicPr>
          <p:cNvPr id="9" name="Hình ảnh 3">
            <a:extLst>
              <a:ext uri="{FF2B5EF4-FFF2-40B4-BE49-F238E27FC236}">
                <a16:creationId xmlns:a16="http://schemas.microsoft.com/office/drawing/2014/main" id="{C6AC8EA8-05D7-497A-B9BB-DBC392137DB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20041" y="799352"/>
            <a:ext cx="5644532" cy="311860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736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5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ACDA2CC0-59C9-450F-B17C-08EFFB3E5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174"/>
          <a:stretch/>
        </p:blipFill>
        <p:spPr>
          <a:xfrm>
            <a:off x="589925" y="755010"/>
            <a:ext cx="4611250" cy="5427676"/>
          </a:xfrm>
          <a:prstGeom prst="rect">
            <a:avLst/>
          </a:prstGeom>
        </p:spPr>
      </p:pic>
      <p:graphicFrame>
        <p:nvGraphicFramePr>
          <p:cNvPr id="2" name="Bảng 1">
            <a:extLst>
              <a:ext uri="{FF2B5EF4-FFF2-40B4-BE49-F238E27FC236}">
                <a16:creationId xmlns:a16="http://schemas.microsoft.com/office/drawing/2014/main" id="{28907AEA-00C3-442B-9B04-0D6FA372C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107197"/>
              </p:ext>
            </p:extLst>
          </p:nvPr>
        </p:nvGraphicFramePr>
        <p:xfrm>
          <a:off x="5201175" y="755010"/>
          <a:ext cx="593592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221">
                  <a:extLst>
                    <a:ext uri="{9D8B030D-6E8A-4147-A177-3AD203B41FA5}">
                      <a16:colId xmlns:a16="http://schemas.microsoft.com/office/drawing/2014/main" val="3018657016"/>
                    </a:ext>
                  </a:extLst>
                </a:gridCol>
                <a:gridCol w="379730">
                  <a:extLst>
                    <a:ext uri="{9D8B030D-6E8A-4147-A177-3AD203B41FA5}">
                      <a16:colId xmlns:a16="http://schemas.microsoft.com/office/drawing/2014/main" val="932117675"/>
                    </a:ext>
                  </a:extLst>
                </a:gridCol>
                <a:gridCol w="1591763">
                  <a:extLst>
                    <a:ext uri="{9D8B030D-6E8A-4147-A177-3AD203B41FA5}">
                      <a16:colId xmlns:a16="http://schemas.microsoft.com/office/drawing/2014/main" val="3214822380"/>
                    </a:ext>
                  </a:extLst>
                </a:gridCol>
                <a:gridCol w="1283946">
                  <a:extLst>
                    <a:ext uri="{9D8B030D-6E8A-4147-A177-3AD203B41FA5}">
                      <a16:colId xmlns:a16="http://schemas.microsoft.com/office/drawing/2014/main" val="2035219951"/>
                    </a:ext>
                  </a:extLst>
                </a:gridCol>
                <a:gridCol w="1390269">
                  <a:extLst>
                    <a:ext uri="{9D8B030D-6E8A-4147-A177-3AD203B41FA5}">
                      <a16:colId xmlns:a16="http://schemas.microsoft.com/office/drawing/2014/main" val="20513406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BZ" dirty="0"/>
                        <a:t>Iteration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Open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Close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006475"/>
                  </a:ext>
                </a:extLst>
              </a:tr>
              <a:tr h="253171">
                <a:tc>
                  <a:txBody>
                    <a:bodyPr/>
                    <a:lstStyle/>
                    <a:p>
                      <a:r>
                        <a:rPr lang="en-BZ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{A}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411192"/>
                  </a:ext>
                </a:extLst>
              </a:tr>
              <a:tr h="253171">
                <a:tc>
                  <a:txBody>
                    <a:bodyPr/>
                    <a:lstStyle/>
                    <a:p>
                      <a:r>
                        <a:rPr lang="en-BZ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{B,C,D}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{B,C,D}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{A}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960371"/>
                  </a:ext>
                </a:extLst>
              </a:tr>
              <a:tr h="253171">
                <a:tc>
                  <a:txBody>
                    <a:bodyPr/>
                    <a:lstStyle/>
                    <a:p>
                      <a:r>
                        <a:rPr lang="en-BZ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{E,F}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{C,D,E,F}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{A,B}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845384"/>
                  </a:ext>
                </a:extLst>
              </a:tr>
              <a:tr h="266593">
                <a:tc>
                  <a:txBody>
                    <a:bodyPr/>
                    <a:lstStyle/>
                    <a:p>
                      <a:r>
                        <a:rPr lang="en-BZ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{F,G}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{D,E,F,G}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{A,B,C}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407547"/>
                  </a:ext>
                </a:extLst>
              </a:tr>
              <a:tr h="253171">
                <a:tc>
                  <a:txBody>
                    <a:bodyPr/>
                    <a:lstStyle/>
                    <a:p>
                      <a:r>
                        <a:rPr lang="en-BZ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{E,F,G}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{A,B,C,D}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945942"/>
                  </a:ext>
                </a:extLst>
              </a:tr>
              <a:tr h="253171">
                <a:tc>
                  <a:txBody>
                    <a:bodyPr/>
                    <a:lstStyle/>
                    <a:p>
                      <a:r>
                        <a:rPr lang="en-BZ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{H,I}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{F,G,H,J}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{A,B,C,D,E}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02019"/>
                  </a:ext>
                </a:extLst>
              </a:tr>
              <a:tr h="253171">
                <a:tc>
                  <a:txBody>
                    <a:bodyPr/>
                    <a:lstStyle/>
                    <a:p>
                      <a:r>
                        <a:rPr lang="en-BZ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{J}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{G,H,I,J}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{A,B,C,D,E,F}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952397"/>
                  </a:ext>
                </a:extLst>
              </a:tr>
              <a:tr h="253171">
                <a:tc>
                  <a:txBody>
                    <a:bodyPr/>
                    <a:lstStyle/>
                    <a:p>
                      <a:r>
                        <a:rPr lang="en-BZ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Z" dirty="0"/>
                        <a:t>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521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667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3D2A66EF-11BC-4FB6-AFD2-EC66B49C9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798" y="1043516"/>
            <a:ext cx="10905066" cy="4770967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3A508D-58ED-4C26-AA25-03371DFE1C60}"/>
              </a:ext>
            </a:extLst>
          </p:cNvPr>
          <p:cNvSpPr txBox="1"/>
          <p:nvPr/>
        </p:nvSpPr>
        <p:spPr>
          <a:xfrm>
            <a:off x="1132514" y="469783"/>
            <a:ext cx="345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Simpler of </a:t>
            </a:r>
            <a:r>
              <a:rPr lang="en-US" b="1" dirty="0" err="1"/>
              <a:t>Depthsearch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44104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E2EEE36-9241-4877-A2EE-5C41E0B49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Recursive Search Example: Pattern-Driven Reasoning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F0F2ADB-D748-49B8-BDD6-D508C4AC8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algorithm determines if a predicate calculus expression is a logical result of some assertions. </a:t>
            </a:r>
          </a:p>
          <a:p>
            <a:r>
              <a:rPr lang="en-US" dirty="0"/>
              <a:t>It uses goal-directed search – given a goal (such as p(a))). the algorithm finds rules whose conclusions match the goal (q(X) -&gt; p(X)) (assuming modus ponens defines the transitions between states)</a:t>
            </a:r>
          </a:p>
          <a:p>
            <a:r>
              <a:rPr lang="en-US" dirty="0"/>
              <a:t>After finding the rule and applying the substitutions throughout the rule, the rule premise becomes a new goal or </a:t>
            </a:r>
            <a:r>
              <a:rPr lang="en-US" dirty="0" err="1"/>
              <a:t>subgoal</a:t>
            </a:r>
            <a:endParaRPr lang="en-US" dirty="0"/>
          </a:p>
          <a:p>
            <a:r>
              <a:rPr lang="en-US" dirty="0"/>
              <a:t>The algorithm then recurs on the </a:t>
            </a:r>
            <a:r>
              <a:rPr lang="en-US" dirty="0" err="1"/>
              <a:t>subgoal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695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3">
            <a:extLst>
              <a:ext uri="{FF2B5EF4-FFF2-40B4-BE49-F238E27FC236}">
                <a16:creationId xmlns:a16="http://schemas.microsoft.com/office/drawing/2014/main" id="{8FB8ECDF-D967-48E1-AF52-594490F28F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6640" y="643466"/>
            <a:ext cx="7258719" cy="5571067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E2825FF1-764B-4498-9253-D8436197B2ED}"/>
              </a:ext>
            </a:extLst>
          </p:cNvPr>
          <p:cNvSpPr txBox="1"/>
          <p:nvPr/>
        </p:nvSpPr>
        <p:spPr>
          <a:xfrm>
            <a:off x="1459684" y="274134"/>
            <a:ext cx="5780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6.1.2 </a:t>
            </a:r>
            <a:r>
              <a:rPr lang="en-US" dirty="0"/>
              <a:t>A Recursive Search Example: Pattern-Driven Reasoning</a:t>
            </a:r>
          </a:p>
        </p:txBody>
      </p:sp>
    </p:spTree>
    <p:extLst>
      <p:ext uri="{BB962C8B-B14F-4D97-AF65-F5344CB8AC3E}">
        <p14:creationId xmlns:p14="http://schemas.microsoft.com/office/powerpoint/2010/main" val="778375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309803E-58FE-437B-811B-5EAF9E44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2/ Production Systems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84790BE-7007-4AF5-92DE-4C24F7531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 Definition</a:t>
            </a:r>
          </a:p>
          <a:p>
            <a:pPr marL="457200" lvl="1" indent="0">
              <a:buNone/>
            </a:pPr>
            <a:r>
              <a:rPr lang="en-US"/>
              <a:t>1. The set of production rules: a </a:t>
            </a:r>
            <a:r>
              <a:rPr lang="en-US" i="1"/>
              <a:t>condition–action </a:t>
            </a:r>
            <a:r>
              <a:rPr lang="en-US"/>
              <a:t>pair and defines single chunk of problem-solving knowledge, defines the associated problem-solving step(s).</a:t>
            </a:r>
          </a:p>
          <a:p>
            <a:pPr marL="457200" lvl="1" indent="0">
              <a:buNone/>
            </a:pPr>
            <a:r>
              <a:rPr lang="en-US"/>
              <a:t>2. Describe of the current state in a reasoning process, match against the condition part to select appropriate problem-solving actions; actions are designed to alter the contents of working memory.</a:t>
            </a:r>
          </a:p>
          <a:p>
            <a:pPr marL="457200" lvl="1" indent="0">
              <a:buNone/>
            </a:pPr>
            <a:r>
              <a:rPr lang="en-US"/>
              <a:t>3. Recognize–act cycle: </a:t>
            </a:r>
          </a:p>
          <a:p>
            <a:pPr marL="457200" lvl="1" indent="0">
              <a:buNone/>
            </a:pPr>
            <a:r>
              <a:rPr lang="en-US"/>
              <a:t>Current state of the problem-solving is maintained as a set of patterns in working memory; the conditions of the production rules produces a subset of the production rules, called the </a:t>
            </a:r>
            <a:r>
              <a:rPr lang="en-US" i="1"/>
              <a:t>conflict set </a:t>
            </a:r>
            <a:r>
              <a:rPr lang="en-US"/>
              <a:t>if patterns are matched against these conditions. </a:t>
            </a:r>
          </a:p>
          <a:p>
            <a:pPr marL="457200" lvl="1" indent="0">
              <a:buNone/>
            </a:pPr>
            <a:r>
              <a:rPr lang="en-US"/>
              <a:t>One of the productions in the conflict set is then selected (conflict resolution) and the production is fired. </a:t>
            </a:r>
          </a:p>
          <a:p>
            <a:pPr marL="457200" lvl="1" indent="0">
              <a:buNone/>
            </a:pPr>
            <a:endParaRPr lang="en-US"/>
          </a:p>
          <a:p>
            <a:pPr lvl="1"/>
            <a:endParaRPr lang="en-US"/>
          </a:p>
          <a:p>
            <a:pPr marL="0" indent="0">
              <a:buNone/>
            </a:pPr>
            <a:r>
              <a:rPr lang="en-US"/>
              <a:t> 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805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5D3D4F3-A792-4F49-9C11-ABED7BD3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BE96BAA2-8EAE-4B92-BF49-724084389572}"/>
              </a:ext>
            </a:extLst>
          </p:cNvPr>
          <p:cNvSpPr/>
          <p:nvPr/>
        </p:nvSpPr>
        <p:spPr>
          <a:xfrm>
            <a:off x="838200" y="2088859"/>
            <a:ext cx="1010104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 dirty="0">
                <a:solidFill>
                  <a:srgbClr val="231F20"/>
                </a:solidFill>
                <a:latin typeface="Calibri (Thân)"/>
              </a:rPr>
              <a:t>Conflict resolution </a:t>
            </a:r>
            <a:r>
              <a:rPr lang="en-US" sz="2200" dirty="0">
                <a:solidFill>
                  <a:srgbClr val="231F20"/>
                </a:solidFill>
                <a:latin typeface="Calibri (Thân)"/>
              </a:rPr>
              <a:t>chooses a rule from the conflict set for firing; simple, such as selecting the first rule whose condition matches the stat, or may involve complex rule selection. </a:t>
            </a:r>
          </a:p>
          <a:p>
            <a:endParaRPr lang="en-US" sz="2200" dirty="0">
              <a:solidFill>
                <a:srgbClr val="231F20"/>
              </a:solidFill>
              <a:latin typeface="Calibri (Thân)"/>
            </a:endParaRPr>
          </a:p>
          <a:p>
            <a:r>
              <a:rPr lang="en-US" sz="2200" dirty="0">
                <a:solidFill>
                  <a:srgbClr val="231F20"/>
                </a:solidFill>
                <a:latin typeface="Calibri (Thân)"/>
              </a:rPr>
              <a:t>This is an important way in which a production system allows the addition of heuristic control to a search algorithm</a:t>
            </a:r>
            <a:endParaRPr lang="en-US" sz="2200" dirty="0">
              <a:latin typeface="Calibri (Thân)"/>
            </a:endParaRPr>
          </a:p>
        </p:txBody>
      </p:sp>
    </p:spTree>
    <p:extLst>
      <p:ext uri="{BB962C8B-B14F-4D97-AF65-F5344CB8AC3E}">
        <p14:creationId xmlns:p14="http://schemas.microsoft.com/office/powerpoint/2010/main" val="2186527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hỗ dành sẵn cho Nội dung 6">
            <a:extLst>
              <a:ext uri="{FF2B5EF4-FFF2-40B4-BE49-F238E27FC236}">
                <a16:creationId xmlns:a16="http://schemas.microsoft.com/office/drawing/2014/main" id="{0FA3D675-753D-4A24-9A0A-A2308E559B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4780" y="643466"/>
            <a:ext cx="728244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02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4B7A6E18-1B90-4D52-8D9F-28D9EBBB0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8095" y="643467"/>
            <a:ext cx="585580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42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9E9D8D1-813D-412E-84D8-61997993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8-Puzzle Example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0B96761-CCD7-4F2F-9664-24F32323A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both complex enough to be interesting and small enough to be tractable</a:t>
            </a:r>
          </a:p>
          <a:p>
            <a:r>
              <a:rPr lang="en-US" dirty="0"/>
              <a:t>It has been used to explore various search strategies, such as depth-first and breath search, as well as heuristic strategies</a:t>
            </a:r>
          </a:p>
          <a:p>
            <a:r>
              <a:rPr lang="en-US" dirty="0"/>
              <a:t>We now present a production system solution to the 8-puzzle problem</a:t>
            </a:r>
          </a:p>
        </p:txBody>
      </p:sp>
    </p:spTree>
    <p:extLst>
      <p:ext uri="{BB962C8B-B14F-4D97-AF65-F5344CB8AC3E}">
        <p14:creationId xmlns:p14="http://schemas.microsoft.com/office/powerpoint/2010/main" val="2849775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070B71DD-29B7-4185-9460-7058DB482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2023" y="643467"/>
            <a:ext cx="566795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93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9C4851FD-4C2E-4B26-968A-008A54A172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6123" y="643467"/>
            <a:ext cx="587975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B14ED59-48CA-40DF-8B2A-1939E7FDB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Knight’s Tour Example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14EC52D-F196-4E5F-8CBB-06FD365C3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knight can move two squares followed by one square in an orthogonal direction</a:t>
            </a:r>
          </a:p>
          <a:p>
            <a:r>
              <a:rPr lang="en-US" dirty="0"/>
              <a:t> There are maximally eight possible moves a knight can make</a:t>
            </a:r>
          </a:p>
          <a:p>
            <a:r>
              <a:rPr lang="en-US" dirty="0"/>
              <a:t>The knight’s tour problem tries to find a series of moves such that the knight lands on each square exactly once</a:t>
            </a:r>
          </a:p>
          <a:p>
            <a:r>
              <a:rPr lang="en-US" dirty="0"/>
              <a:t>We solve the problem on a reduced-size (3x3)</a:t>
            </a:r>
          </a:p>
        </p:txBody>
      </p:sp>
    </p:spTree>
    <p:extLst>
      <p:ext uri="{BB962C8B-B14F-4D97-AF65-F5344CB8AC3E}">
        <p14:creationId xmlns:p14="http://schemas.microsoft.com/office/powerpoint/2010/main" val="3852406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ình ảnh 3">
            <a:extLst>
              <a:ext uri="{FF2B5EF4-FFF2-40B4-BE49-F238E27FC236}">
                <a16:creationId xmlns:a16="http://schemas.microsoft.com/office/drawing/2014/main" id="{297BBBAB-42E0-4786-B30A-6B8926BEA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24" y="947057"/>
            <a:ext cx="4949552" cy="5393094"/>
          </a:xfrm>
          <a:prstGeom prst="rect">
            <a:avLst/>
          </a:prstGeom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D5C09D63-1572-4245-9EC5-8822FEB6C013}"/>
              </a:ext>
            </a:extLst>
          </p:cNvPr>
          <p:cNvSpPr txBox="1"/>
          <p:nvPr/>
        </p:nvSpPr>
        <p:spPr>
          <a:xfrm>
            <a:off x="6712307" y="2194559"/>
            <a:ext cx="4495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Square 5 is special square. The knight can’t reach it.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C8C68ED5-77F5-4ACD-9A27-5A19F86CDBFC}"/>
              </a:ext>
            </a:extLst>
          </p:cNvPr>
          <p:cNvSpPr txBox="1"/>
          <p:nvPr/>
        </p:nvSpPr>
        <p:spPr>
          <a:xfrm>
            <a:off x="866901" y="333183"/>
            <a:ext cx="505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The knight’s tour problem:</a:t>
            </a:r>
          </a:p>
        </p:txBody>
      </p:sp>
    </p:spTree>
    <p:extLst>
      <p:ext uri="{BB962C8B-B14F-4D97-AF65-F5344CB8AC3E}">
        <p14:creationId xmlns:p14="http://schemas.microsoft.com/office/powerpoint/2010/main" val="3263253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Nhóm 6">
            <a:extLst>
              <a:ext uri="{FF2B5EF4-FFF2-40B4-BE49-F238E27FC236}">
                <a16:creationId xmlns:a16="http://schemas.microsoft.com/office/drawing/2014/main" id="{52EE1F86-4FDC-4F15-BCEF-EB6B5BB8E4EA}"/>
              </a:ext>
            </a:extLst>
          </p:cNvPr>
          <p:cNvGrpSpPr/>
          <p:nvPr/>
        </p:nvGrpSpPr>
        <p:grpSpPr>
          <a:xfrm>
            <a:off x="318458" y="1012372"/>
            <a:ext cx="11334427" cy="5542384"/>
            <a:chOff x="518852" y="391885"/>
            <a:chExt cx="11334427" cy="5542384"/>
          </a:xfrm>
        </p:grpSpPr>
        <p:pic>
          <p:nvPicPr>
            <p:cNvPr id="4" name="Hình ảnh 3">
              <a:extLst>
                <a:ext uri="{FF2B5EF4-FFF2-40B4-BE49-F238E27FC236}">
                  <a16:creationId xmlns:a16="http://schemas.microsoft.com/office/drawing/2014/main" id="{EC1E3201-4E1B-499C-B3B9-E990AC89B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8852" y="391885"/>
              <a:ext cx="5254271" cy="5542384"/>
            </a:xfrm>
            <a:prstGeom prst="rect">
              <a:avLst/>
            </a:prstGeom>
          </p:spPr>
        </p:pic>
        <p:pic>
          <p:nvPicPr>
            <p:cNvPr id="6" name="Hình ảnh 5">
              <a:extLst>
                <a:ext uri="{FF2B5EF4-FFF2-40B4-BE49-F238E27FC236}">
                  <a16:creationId xmlns:a16="http://schemas.microsoft.com/office/drawing/2014/main" id="{44861CAF-0685-4C1D-939B-7A7444329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1104" y="1539064"/>
              <a:ext cx="5972175" cy="3248025"/>
            </a:xfrm>
            <a:prstGeom prst="rect">
              <a:avLst/>
            </a:prstGeom>
          </p:spPr>
        </p:pic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FAC0F2D2-F8DA-4616-BE07-48113B6BF502}"/>
              </a:ext>
            </a:extLst>
          </p:cNvPr>
          <p:cNvSpPr txBox="1"/>
          <p:nvPr/>
        </p:nvSpPr>
        <p:spPr>
          <a:xfrm>
            <a:off x="709127" y="447869"/>
            <a:ext cx="3181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-Implement: </a:t>
            </a:r>
          </a:p>
        </p:txBody>
      </p:sp>
    </p:spTree>
    <p:extLst>
      <p:ext uri="{BB962C8B-B14F-4D97-AF65-F5344CB8AC3E}">
        <p14:creationId xmlns:p14="http://schemas.microsoft.com/office/powerpoint/2010/main" val="1932558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D7B23680-A08C-46AF-BC40-BB5ED76AACB3}"/>
              </a:ext>
            </a:extLst>
          </p:cNvPr>
          <p:cNvSpPr txBox="1"/>
          <p:nvPr/>
        </p:nvSpPr>
        <p:spPr>
          <a:xfrm>
            <a:off x="643468" y="2638044"/>
            <a:ext cx="3363974" cy="3415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 Diagram: </a:t>
            </a:r>
          </a:p>
        </p:txBody>
      </p:sp>
      <p:pic>
        <p:nvPicPr>
          <p:cNvPr id="2" name="Hình ảnh 1">
            <a:extLst>
              <a:ext uri="{FF2B5EF4-FFF2-40B4-BE49-F238E27FC236}">
                <a16:creationId xmlns:a16="http://schemas.microsoft.com/office/drawing/2014/main" id="{96D98C8B-B0A9-4D70-8A96-AA573F6D0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401" y="877078"/>
            <a:ext cx="6935002" cy="5010537"/>
          </a:xfrm>
          <a:prstGeom prst="rect">
            <a:avLst/>
          </a:prstGeom>
        </p:spPr>
      </p:pic>
      <p:grpSp>
        <p:nvGrpSpPr>
          <p:cNvPr id="6" name="Nhóm 5">
            <a:extLst>
              <a:ext uri="{FF2B5EF4-FFF2-40B4-BE49-F238E27FC236}">
                <a16:creationId xmlns:a16="http://schemas.microsoft.com/office/drawing/2014/main" id="{513723A3-5B42-4F2A-8A6A-6AEE084D5DA0}"/>
              </a:ext>
            </a:extLst>
          </p:cNvPr>
          <p:cNvGrpSpPr/>
          <p:nvPr/>
        </p:nvGrpSpPr>
        <p:grpSpPr>
          <a:xfrm>
            <a:off x="7458927" y="467686"/>
            <a:ext cx="4653513" cy="1207532"/>
            <a:chOff x="6392412" y="1090569"/>
            <a:chExt cx="4653513" cy="1207532"/>
          </a:xfrm>
        </p:grpSpPr>
        <p:pic>
          <p:nvPicPr>
            <p:cNvPr id="7" name="Hình ảnh 6">
              <a:extLst>
                <a:ext uri="{FF2B5EF4-FFF2-40B4-BE49-F238E27FC236}">
                  <a16:creationId xmlns:a16="http://schemas.microsoft.com/office/drawing/2014/main" id="{5243C44F-FDB9-499C-979D-215C3BAC7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0125" y="1459901"/>
              <a:ext cx="4495800" cy="838200"/>
            </a:xfrm>
            <a:prstGeom prst="rect">
              <a:avLst/>
            </a:prstGeom>
          </p:spPr>
        </p:pic>
        <p:sp>
          <p:nvSpPr>
            <p:cNvPr id="8" name="Hộp Văn bản 7">
              <a:extLst>
                <a:ext uri="{FF2B5EF4-FFF2-40B4-BE49-F238E27FC236}">
                  <a16:creationId xmlns:a16="http://schemas.microsoft.com/office/drawing/2014/main" id="{461A0EAA-9BCB-4950-B0A9-BFEBE9BCB0B5}"/>
                </a:ext>
              </a:extLst>
            </p:cNvPr>
            <p:cNvSpPr txBox="1"/>
            <p:nvPr/>
          </p:nvSpPr>
          <p:spPr>
            <a:xfrm>
              <a:off x="6392412" y="1090569"/>
              <a:ext cx="2634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 Formula: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8723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7B46825-E9AA-4E6D-85BC-144BA1AE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6.2.3 Control of Search in Production Systems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250737E-D4F0-4ABD-876D-708113EC2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production system model provides opportunities for adding heuristic control to the search algorithm, including:	</a:t>
            </a:r>
          </a:p>
          <a:p>
            <a:pPr lvl="1"/>
            <a:r>
              <a:rPr lang="en-US" dirty="0"/>
              <a:t>1) The choice of data driven or goal-drive search strategy</a:t>
            </a:r>
          </a:p>
          <a:p>
            <a:pPr lvl="1"/>
            <a:r>
              <a:rPr lang="en-US" dirty="0"/>
              <a:t>2) The structure of the rules</a:t>
            </a:r>
          </a:p>
          <a:p>
            <a:pPr lvl="1"/>
            <a:r>
              <a:rPr lang="en-US" dirty="0"/>
              <a:t>3) The different choice of conflict resolution</a:t>
            </a:r>
          </a:p>
        </p:txBody>
      </p:sp>
    </p:spTree>
    <p:extLst>
      <p:ext uri="{BB962C8B-B14F-4D97-AF65-F5344CB8AC3E}">
        <p14:creationId xmlns:p14="http://schemas.microsoft.com/office/powerpoint/2010/main" val="3563925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1CCAB23-B6FB-4BA9-A3AD-DFCCC5737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Data-Driven Search Strategy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831B9AD-EBE4-42A6-8C80-94548346C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Begins with a problem description, such as</a:t>
            </a:r>
          </a:p>
          <a:p>
            <a:pPr lvl="1"/>
            <a:r>
              <a:rPr lang="en-US" dirty="0"/>
              <a:t>a set of logical axioms</a:t>
            </a:r>
          </a:p>
          <a:p>
            <a:pPr lvl="1"/>
            <a:r>
              <a:rPr lang="en-US" dirty="0"/>
              <a:t>symptoms of an illness, </a:t>
            </a:r>
            <a:r>
              <a:rPr lang="en-US" dirty="0" err="1"/>
              <a:t>etc</a:t>
            </a:r>
            <a:r>
              <a:rPr lang="en-US" dirty="0"/>
              <a:t> …</a:t>
            </a:r>
          </a:p>
          <a:p>
            <a:r>
              <a:rPr lang="en-US" dirty="0"/>
              <a:t>Infers new knowledge from the data</a:t>
            </a:r>
          </a:p>
          <a:p>
            <a:pPr lvl="1"/>
            <a:r>
              <a:rPr lang="en-US" dirty="0"/>
              <a:t>Applying rules of inference, legal moves in a game, or other state-generating operations to the current description of the world and adding the results to the problem description</a:t>
            </a:r>
          </a:p>
          <a:p>
            <a:r>
              <a:rPr lang="en-US" dirty="0"/>
              <a:t>This process continues until a goal state is reached</a:t>
            </a:r>
          </a:p>
        </p:txBody>
      </p:sp>
    </p:spTree>
    <p:extLst>
      <p:ext uri="{BB962C8B-B14F-4D97-AF65-F5344CB8AC3E}">
        <p14:creationId xmlns:p14="http://schemas.microsoft.com/office/powerpoint/2010/main" val="1322172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ình ảnh 5">
            <a:extLst>
              <a:ext uri="{FF2B5EF4-FFF2-40B4-BE49-F238E27FC236}">
                <a16:creationId xmlns:a16="http://schemas.microsoft.com/office/drawing/2014/main" id="{102116CD-85AC-4A40-927D-83287C1CA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451" y="1247774"/>
            <a:ext cx="7410199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67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33F97BE-5E29-4901-A831-48849C57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Goal-Driven Search Strategy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7729C28-78F4-4162-B457-C098C4306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we have treated production system in a data-driven fashion</a:t>
            </a:r>
          </a:p>
          <a:p>
            <a:r>
              <a:rPr lang="en-US" dirty="0"/>
              <a:t>Goal-driven search begins with a goal and works backward to the facts of the problem</a:t>
            </a:r>
          </a:p>
          <a:p>
            <a:r>
              <a:rPr lang="en-US" dirty="0"/>
              <a:t>Initially the goal is placed in the working memory</a:t>
            </a:r>
          </a:p>
          <a:p>
            <a:r>
              <a:rPr lang="en-US" dirty="0"/>
              <a:t>When an ACTION of a rule is matched, the CONDITIONs are added to the working memory and become the new </a:t>
            </a:r>
            <a:r>
              <a:rPr lang="en-US" dirty="0" err="1"/>
              <a:t>subgoals</a:t>
            </a:r>
            <a:r>
              <a:rPr lang="en-US" dirty="0"/>
              <a:t> of the search</a:t>
            </a:r>
          </a:p>
          <a:p>
            <a:r>
              <a:rPr lang="en-US" dirty="0"/>
              <a:t>The process continues until facts that satisfy the goal are found</a:t>
            </a:r>
          </a:p>
        </p:txBody>
      </p:sp>
    </p:spTree>
    <p:extLst>
      <p:ext uri="{BB962C8B-B14F-4D97-AF65-F5344CB8AC3E}">
        <p14:creationId xmlns:p14="http://schemas.microsoft.com/office/powerpoint/2010/main" val="38360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6D137F7-57D0-495A-9556-6A5EE421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Goal-driven search in a production system: </a:t>
            </a: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7CA55014-B2B2-4C77-B358-31E1ABA7F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492" y="1274515"/>
            <a:ext cx="65817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64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1E75EB5-64FA-46E1-9153-F7AA027D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 of Strategies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3F187AF-2366-460C-A227-7B1E95489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combine data-driven and goal-driven search strategies – search simultaneously from both directions</a:t>
            </a:r>
          </a:p>
          <a:p>
            <a:r>
              <a:rPr lang="en-US" dirty="0"/>
              <a:t>There is a danger that parts of the graph searched may “miss” each other, when heuristic or best-first search is used, resulting more search</a:t>
            </a:r>
          </a:p>
          <a:p>
            <a:r>
              <a:rPr lang="en-US" dirty="0"/>
              <a:t>If the bidirectional search meet in the middle, when the branching of a space is constant and exhaustive search is used, it can cut back drastically the amount of space searched</a:t>
            </a:r>
          </a:p>
        </p:txBody>
      </p:sp>
    </p:spTree>
    <p:extLst>
      <p:ext uri="{BB962C8B-B14F-4D97-AF65-F5344CB8AC3E}">
        <p14:creationId xmlns:p14="http://schemas.microsoft.com/office/powerpoint/2010/main" val="655709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hỗ dành sẵn cho Nội dung 6">
            <a:extLst>
              <a:ext uri="{FF2B5EF4-FFF2-40B4-BE49-F238E27FC236}">
                <a16:creationId xmlns:a16="http://schemas.microsoft.com/office/drawing/2014/main" id="{530BFBCE-D71C-4FAF-AB20-4EB96FCF4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9628" y="643466"/>
            <a:ext cx="819274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665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382C1C29-9491-4B28-B1A3-6B72E5A12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4315" y="643466"/>
            <a:ext cx="810336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03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ED493-4614-4975-8A36-A40DA731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6.2.4 Advantages of Production Systems for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EBA59-CCEC-4D4E-B746-0BC086470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Separation of Knowledge and Control</a:t>
            </a:r>
            <a:r>
              <a:rPr lang="en-US" dirty="0"/>
              <a:t>:  The advantages of this separation include ease of modifying the knowledge base without requiring a change in the code for program control and, conversely, the ability to alter the code for program control without changing the set of production rules.</a:t>
            </a:r>
          </a:p>
          <a:p>
            <a:r>
              <a:rPr lang="en-US" b="1" dirty="0"/>
              <a:t>A Natural Mapping onto State Space Search: </a:t>
            </a:r>
            <a:r>
              <a:rPr lang="en-US" dirty="0"/>
              <a:t>simplify the implementation, debugging, and documentation of search algorithms.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5517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464AC-163F-4840-9F30-BE1FDF1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B9870-2B17-4512-8926-2134E12B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Modularity of Production Rules: </a:t>
            </a:r>
            <a:r>
              <a:rPr lang="en-US" dirty="0"/>
              <a:t>This syntactic independence supports the incremental development of expert systems by successively adding, deleting, or changing the knowledge (rules) of the system.</a:t>
            </a:r>
          </a:p>
          <a:p>
            <a:r>
              <a:rPr lang="en-US" b="1" dirty="0"/>
              <a:t>Pattern-Directed Control: </a:t>
            </a:r>
            <a:r>
              <a:rPr lang="en-US" dirty="0"/>
              <a:t>The descriptions of a problem that make up the current state of the world determine the conflict set and, consequently, the particular search path and solution.</a:t>
            </a:r>
          </a:p>
          <a:p>
            <a:r>
              <a:rPr lang="en-US" b="1" dirty="0"/>
              <a:t>Opportunities for Heuristic Control of Search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648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BD5D9-A395-441B-90C6-134DC08A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9C60E-E96D-4685-BC2F-B5C1FB80A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Tracing and Explanation</a:t>
            </a:r>
            <a:r>
              <a:rPr lang="en-US" dirty="0"/>
              <a:t>: The modularity of rules and the iterative nature of their execution make it easier to trace execution of a production system.</a:t>
            </a:r>
          </a:p>
          <a:p>
            <a:r>
              <a:rPr lang="en-US" b="1" dirty="0"/>
              <a:t>Language Independence</a:t>
            </a:r>
            <a:r>
              <a:rPr lang="en-US" dirty="0"/>
              <a:t>: Regardless of the type of inference rules employed, however, the production system provides a vehicle for searching the state space. </a:t>
            </a:r>
          </a:p>
          <a:p>
            <a:r>
              <a:rPr lang="en-US" b="1" dirty="0"/>
              <a:t>A Plausible Model of Human Problem Solving.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377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76D5-2B3E-45E8-B951-2D5DE754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6.3 The Blackboard Architecture for 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A408-431B-4894-B41D-2625D0449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 production systems.</a:t>
            </a:r>
          </a:p>
          <a:p>
            <a:r>
              <a:rPr lang="en-US" dirty="0"/>
              <a:t>Integrate separate sets of rules and coordinate the actions of multiple agents (each module is an agent – knowledge source).</a:t>
            </a:r>
          </a:p>
          <a:p>
            <a:r>
              <a:rPr lang="en-US" dirty="0"/>
              <a:t>A single global structure – blackboard.</a:t>
            </a:r>
          </a:p>
          <a:p>
            <a:pPr marL="0" indent="0">
              <a:buNone/>
            </a:pPr>
            <a:r>
              <a:rPr lang="en-US" dirty="0"/>
              <a:t>=&gt; Blackboard architecture – model of control requires coordination of multiple processes or knowledge sources(KS).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694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43AB2-D784-406A-8FAB-289065CB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DB64AD4-ADB2-4A8F-B868-7F765021F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1009" y="1825625"/>
            <a:ext cx="57499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394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9643-12EF-4335-9E9E-DDD7D511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5C64E-D702-4708-8C37-7BF4B9C8F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Luger2009-Artificial Intelligence. Structures and Strategies for Complex Problem Solving. Sixth Edition-Addison Wesley (2009)</a:t>
            </a:r>
          </a:p>
        </p:txBody>
      </p:sp>
    </p:spTree>
    <p:extLst>
      <p:ext uri="{BB962C8B-B14F-4D97-AF65-F5344CB8AC3E}">
        <p14:creationId xmlns:p14="http://schemas.microsoft.com/office/powerpoint/2010/main" val="14112358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DE9AC-6D76-4726-B59D-017CD30F0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220" y="660204"/>
            <a:ext cx="8911687" cy="128089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Thanks For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B5F40-F40B-48AF-88B5-D1B24269C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2205789"/>
            <a:ext cx="8915400" cy="3777622"/>
          </a:xfrm>
        </p:spPr>
        <p:txBody>
          <a:bodyPr/>
          <a:lstStyle/>
          <a:p>
            <a:r>
              <a:rPr lang="en-US" dirty="0"/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461772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1347</Words>
  <Application>Microsoft Office PowerPoint</Application>
  <PresentationFormat>Màn hình rộng</PresentationFormat>
  <Paragraphs>134</Paragraphs>
  <Slides>37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37</vt:i4>
      </vt:variant>
    </vt:vector>
  </HeadingPairs>
  <TitlesOfParts>
    <vt:vector size="43" baseType="lpstr">
      <vt:lpstr>Calibri (Thân)</vt:lpstr>
      <vt:lpstr>Arial</vt:lpstr>
      <vt:lpstr>Calibri</vt:lpstr>
      <vt:lpstr>Calibri Light</vt:lpstr>
      <vt:lpstr>Times New Roman</vt:lpstr>
      <vt:lpstr>Office Theme</vt:lpstr>
      <vt:lpstr>CHAPTER 6:  CONTROL AND IMPLEMENTATION OF STATE SPACE SEARCH</vt:lpstr>
      <vt:lpstr>Members</vt:lpstr>
      <vt:lpstr>OUTLINE</vt:lpstr>
      <vt:lpstr>1/ Recursion Based-Search</vt:lpstr>
      <vt:lpstr>Fibonacci Number Example</vt:lpstr>
      <vt:lpstr>Bản trình bày PowerPoint</vt:lpstr>
      <vt:lpstr>Depth-search</vt:lpstr>
      <vt:lpstr>Bản trình bày PowerPoint</vt:lpstr>
      <vt:lpstr>Bản trình bày PowerPoint</vt:lpstr>
      <vt:lpstr>A Recursive Search Example: Pattern-Driven Reasoning</vt:lpstr>
      <vt:lpstr>Bản trình bày PowerPoint</vt:lpstr>
      <vt:lpstr>2/ Production Systems</vt:lpstr>
      <vt:lpstr>Bản trình bày PowerPoint</vt:lpstr>
      <vt:lpstr>Bản trình bày PowerPoint</vt:lpstr>
      <vt:lpstr>Bản trình bày PowerPoint</vt:lpstr>
      <vt:lpstr>8-Puzzle Example</vt:lpstr>
      <vt:lpstr>Bản trình bày PowerPoint</vt:lpstr>
      <vt:lpstr>Bản trình bày PowerPoint</vt:lpstr>
      <vt:lpstr>Knight’s Tour Example</vt:lpstr>
      <vt:lpstr>Bản trình bày PowerPoint</vt:lpstr>
      <vt:lpstr>Bản trình bày PowerPoint</vt:lpstr>
      <vt:lpstr>Bản trình bày PowerPoint</vt:lpstr>
      <vt:lpstr>6.2.3 Control of Search in Production Systems</vt:lpstr>
      <vt:lpstr>Data-Driven Search Strategy</vt:lpstr>
      <vt:lpstr>Bản trình bày PowerPoint</vt:lpstr>
      <vt:lpstr>Goal-Driven Search Strategy</vt:lpstr>
      <vt:lpstr>+ Goal-driven search in a production system: </vt:lpstr>
      <vt:lpstr>Combination of Strategies</vt:lpstr>
      <vt:lpstr>Bản trình bày PowerPoint</vt:lpstr>
      <vt:lpstr>Bản trình bày PowerPoint</vt:lpstr>
      <vt:lpstr>6.2.4 Advantages of Production Systems for AI</vt:lpstr>
      <vt:lpstr>Bản trình bày PowerPoint</vt:lpstr>
      <vt:lpstr>Bản trình bày PowerPoint</vt:lpstr>
      <vt:lpstr>6.3 The Blackboard Architecture for Problem Solving</vt:lpstr>
      <vt:lpstr>Bản trình bày PowerPoint</vt:lpstr>
      <vt:lpstr>References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6:  CONTROL AND IMPLEMENTATION OF STATE SPACE SEARCH</dc:title>
  <dc:creator>Lam</dc:creator>
  <cp:lastModifiedBy>Lam</cp:lastModifiedBy>
  <cp:revision>7</cp:revision>
  <dcterms:created xsi:type="dcterms:W3CDTF">2019-04-05T19:04:02Z</dcterms:created>
  <dcterms:modified xsi:type="dcterms:W3CDTF">2019-04-05T19:15:33Z</dcterms:modified>
</cp:coreProperties>
</file>