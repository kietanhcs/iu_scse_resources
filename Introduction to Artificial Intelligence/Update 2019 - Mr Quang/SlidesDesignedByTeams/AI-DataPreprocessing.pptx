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>
        <p:scale>
          <a:sx n="96" d="100"/>
          <a:sy n="96" d="100"/>
        </p:scale>
        <p:origin x="-178" y="2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5/23/2019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5/23/2019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5/23/2019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63565" y="4606221"/>
            <a:ext cx="6831673" cy="1086237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en-US" dirty="0" smtClean="0">
                <a:latin typeface="Bookman Old Style" panose="02050604050505020204" pitchFamily="18" charset="0"/>
              </a:rPr>
              <a:t>Phạm </a:t>
            </a:r>
            <a:r>
              <a:rPr lang="en-US" dirty="0" err="1" smtClean="0">
                <a:latin typeface="Bookman Old Style" panose="02050604050505020204" pitchFamily="18" charset="0"/>
              </a:rPr>
              <a:t>Nguyễn</a:t>
            </a:r>
            <a:r>
              <a:rPr lang="en-US" dirty="0" smtClean="0">
                <a:latin typeface="Bookman Old Style" panose="02050604050505020204" pitchFamily="18" charset="0"/>
              </a:rPr>
              <a:t> </a:t>
            </a:r>
            <a:r>
              <a:rPr lang="en-US" dirty="0" err="1" smtClean="0">
                <a:latin typeface="Bookman Old Style" panose="02050604050505020204" pitchFamily="18" charset="0"/>
              </a:rPr>
              <a:t>Trường</a:t>
            </a:r>
            <a:r>
              <a:rPr lang="en-US" dirty="0" smtClean="0">
                <a:latin typeface="Bookman Old Style" panose="02050604050505020204" pitchFamily="18" charset="0"/>
              </a:rPr>
              <a:t> Thịnh – ITITIU15068</a:t>
            </a:r>
          </a:p>
          <a:p>
            <a:pPr algn="r"/>
            <a:r>
              <a:rPr lang="en-US" dirty="0" err="1" smtClean="0">
                <a:latin typeface="Bookman Old Style" panose="02050604050505020204" pitchFamily="18" charset="0"/>
              </a:rPr>
              <a:t>Lương</a:t>
            </a:r>
            <a:r>
              <a:rPr lang="en-US" dirty="0" smtClean="0">
                <a:latin typeface="Bookman Old Style" panose="02050604050505020204" pitchFamily="18" charset="0"/>
              </a:rPr>
              <a:t> </a:t>
            </a:r>
            <a:r>
              <a:rPr lang="en-US" dirty="0" err="1" smtClean="0">
                <a:latin typeface="Bookman Old Style" panose="02050604050505020204" pitchFamily="18" charset="0"/>
              </a:rPr>
              <a:t>Huỳnh</a:t>
            </a:r>
            <a:r>
              <a:rPr lang="en-US" dirty="0" smtClean="0">
                <a:latin typeface="Bookman Old Style" panose="02050604050505020204" pitchFamily="18" charset="0"/>
              </a:rPr>
              <a:t> </a:t>
            </a:r>
            <a:r>
              <a:rPr lang="en-US" dirty="0" err="1" smtClean="0">
                <a:latin typeface="Bookman Old Style" panose="02050604050505020204" pitchFamily="18" charset="0"/>
              </a:rPr>
              <a:t>Huy</a:t>
            </a:r>
            <a:r>
              <a:rPr lang="en-US" dirty="0" smtClean="0">
                <a:latin typeface="Bookman Old Style" panose="02050604050505020204" pitchFamily="18" charset="0"/>
              </a:rPr>
              <a:t> </a:t>
            </a:r>
            <a:r>
              <a:rPr lang="en-US" dirty="0" err="1" smtClean="0">
                <a:latin typeface="Bookman Old Style" panose="02050604050505020204" pitchFamily="18" charset="0"/>
              </a:rPr>
              <a:t>Hoàng</a:t>
            </a:r>
            <a:r>
              <a:rPr lang="en-US" dirty="0" smtClean="0">
                <a:latin typeface="Bookman Old Style" panose="02050604050505020204" pitchFamily="18" charset="0"/>
              </a:rPr>
              <a:t> – ITITIU15031</a:t>
            </a:r>
          </a:p>
          <a:p>
            <a:pPr algn="r"/>
            <a:r>
              <a:rPr lang="en-US" dirty="0" err="1" smtClean="0">
                <a:latin typeface="Bookman Old Style" panose="02050604050505020204" pitchFamily="18" charset="0"/>
              </a:rPr>
              <a:t>Nguyễn</a:t>
            </a:r>
            <a:r>
              <a:rPr lang="en-US" dirty="0" smtClean="0">
                <a:latin typeface="Bookman Old Style" panose="02050604050505020204" pitchFamily="18" charset="0"/>
              </a:rPr>
              <a:t> </a:t>
            </a:r>
            <a:r>
              <a:rPr lang="en-US" dirty="0" err="1" smtClean="0">
                <a:latin typeface="Bookman Old Style" panose="02050604050505020204" pitchFamily="18" charset="0"/>
              </a:rPr>
              <a:t>Thái</a:t>
            </a:r>
            <a:r>
              <a:rPr lang="en-US" dirty="0" smtClean="0">
                <a:latin typeface="Bookman Old Style" panose="02050604050505020204" pitchFamily="18" charset="0"/>
              </a:rPr>
              <a:t> </a:t>
            </a:r>
            <a:r>
              <a:rPr lang="en-US" dirty="0" err="1" smtClean="0">
                <a:latin typeface="Bookman Old Style" panose="02050604050505020204" pitchFamily="18" charset="0"/>
              </a:rPr>
              <a:t>Bình</a:t>
            </a:r>
            <a:r>
              <a:rPr lang="en-US" dirty="0" smtClean="0">
                <a:latin typeface="Bookman Old Style" panose="02050604050505020204" pitchFamily="18" charset="0"/>
              </a:rPr>
              <a:t> – ITITIU15105</a:t>
            </a:r>
            <a:endParaRPr lang="en-US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400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6776" y="1972234"/>
            <a:ext cx="9601200" cy="4069977"/>
          </a:xfrm>
        </p:spPr>
        <p:txBody>
          <a:bodyPr>
            <a:noAutofit/>
          </a:bodyPr>
          <a:lstStyle/>
          <a:p>
            <a:r>
              <a:rPr lang="en-US" dirty="0">
                <a:latin typeface="Lucida Calligraphy" panose="03010101010101010101" pitchFamily="66" charset="0"/>
              </a:rPr>
              <a:t>Data Preprocessing </a:t>
            </a:r>
            <a:endParaRPr lang="en-US" dirty="0" smtClean="0">
              <a:latin typeface="Lucida Calligraphy" panose="03010101010101010101" pitchFamily="66" charset="0"/>
            </a:endParaRPr>
          </a:p>
          <a:p>
            <a:r>
              <a:rPr lang="en-US" dirty="0" smtClean="0">
                <a:latin typeface="Lucida Calligraphy" panose="03010101010101010101" pitchFamily="66" charset="0"/>
              </a:rPr>
              <a:t>Data </a:t>
            </a:r>
            <a:r>
              <a:rPr lang="en-US" dirty="0">
                <a:latin typeface="Lucida Calligraphy" panose="03010101010101010101" pitchFamily="66" charset="0"/>
              </a:rPr>
              <a:t>Preprocessing: An Overview </a:t>
            </a:r>
            <a:endParaRPr lang="en-US" dirty="0" smtClean="0">
              <a:latin typeface="Lucida Calligraphy" panose="03010101010101010101" pitchFamily="66" charset="0"/>
            </a:endParaRPr>
          </a:p>
          <a:p>
            <a:r>
              <a:rPr lang="en-US" dirty="0" smtClean="0">
                <a:latin typeface="Lucida Calligraphy" panose="03010101010101010101" pitchFamily="66" charset="0"/>
              </a:rPr>
              <a:t>Data </a:t>
            </a:r>
            <a:r>
              <a:rPr lang="en-US" dirty="0">
                <a:latin typeface="Lucida Calligraphy" panose="03010101010101010101" pitchFamily="66" charset="0"/>
              </a:rPr>
              <a:t>Quality </a:t>
            </a:r>
            <a:endParaRPr lang="en-US" dirty="0" smtClean="0">
              <a:latin typeface="Lucida Calligraphy" panose="03010101010101010101" pitchFamily="66" charset="0"/>
            </a:endParaRPr>
          </a:p>
          <a:p>
            <a:r>
              <a:rPr lang="en-US" dirty="0" smtClean="0">
                <a:latin typeface="Lucida Calligraphy" panose="03010101010101010101" pitchFamily="66" charset="0"/>
              </a:rPr>
              <a:t>Major </a:t>
            </a:r>
            <a:r>
              <a:rPr lang="en-US" dirty="0">
                <a:latin typeface="Lucida Calligraphy" panose="03010101010101010101" pitchFamily="66" charset="0"/>
              </a:rPr>
              <a:t>Tasks in Data Preprocessing </a:t>
            </a:r>
          </a:p>
          <a:p>
            <a:r>
              <a:rPr lang="en-US" dirty="0" smtClean="0">
                <a:latin typeface="Lucida Calligraphy" panose="03010101010101010101" pitchFamily="66" charset="0"/>
              </a:rPr>
              <a:t>Data </a:t>
            </a:r>
            <a:r>
              <a:rPr lang="en-US" dirty="0">
                <a:latin typeface="Lucida Calligraphy" panose="03010101010101010101" pitchFamily="66" charset="0"/>
              </a:rPr>
              <a:t>Cleaning </a:t>
            </a:r>
          </a:p>
          <a:p>
            <a:r>
              <a:rPr lang="en-US" dirty="0" smtClean="0">
                <a:latin typeface="Lucida Calligraphy" panose="03010101010101010101" pitchFamily="66" charset="0"/>
              </a:rPr>
              <a:t>Data </a:t>
            </a:r>
            <a:r>
              <a:rPr lang="en-US" dirty="0">
                <a:latin typeface="Lucida Calligraphy" panose="03010101010101010101" pitchFamily="66" charset="0"/>
              </a:rPr>
              <a:t>Integration </a:t>
            </a:r>
          </a:p>
          <a:p>
            <a:r>
              <a:rPr lang="en-US" dirty="0" smtClean="0">
                <a:latin typeface="Lucida Calligraphy" panose="03010101010101010101" pitchFamily="66" charset="0"/>
              </a:rPr>
              <a:t>Data Reduction</a:t>
            </a:r>
          </a:p>
          <a:p>
            <a:r>
              <a:rPr lang="en-US" dirty="0" smtClean="0">
                <a:latin typeface="Lucida Calligraphy" panose="03010101010101010101" pitchFamily="66" charset="0"/>
              </a:rPr>
              <a:t>Data </a:t>
            </a:r>
            <a:r>
              <a:rPr lang="en-US" dirty="0">
                <a:latin typeface="Lucida Calligraphy" panose="03010101010101010101" pitchFamily="66" charset="0"/>
              </a:rPr>
              <a:t>Transformation and Data Discretization </a:t>
            </a:r>
            <a:endParaRPr lang="en-US" dirty="0" smtClean="0">
              <a:latin typeface="Lucida Calligraphy" panose="03010101010101010101" pitchFamily="66" charset="0"/>
            </a:endParaRPr>
          </a:p>
          <a:p>
            <a:r>
              <a:rPr lang="en-US" dirty="0" smtClean="0">
                <a:latin typeface="Lucida Calligraphy" panose="03010101010101010101" pitchFamily="66" charset="0"/>
              </a:rPr>
              <a:t>Summary</a:t>
            </a:r>
            <a:endParaRPr lang="en-US" dirty="0">
              <a:latin typeface="Lucida Calligraphy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32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Quality: Why Preprocess the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052918"/>
            <a:ext cx="9601200" cy="35814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Adobe Hebrew" panose="02040503050201020203" pitchFamily="18" charset="-79"/>
                <a:cs typeface="Adobe Hebrew" panose="02040503050201020203" pitchFamily="18" charset="-79"/>
              </a:rPr>
              <a:t>Measures </a:t>
            </a:r>
            <a:r>
              <a:rPr lang="en-US" sz="2400" dirty="0">
                <a:latin typeface="Adobe Hebrew" panose="02040503050201020203" pitchFamily="18" charset="-79"/>
                <a:cs typeface="Adobe Hebrew" panose="02040503050201020203" pitchFamily="18" charset="-79"/>
              </a:rPr>
              <a:t>for data quality: A multidimensional </a:t>
            </a:r>
            <a:r>
              <a:rPr lang="en-US" sz="2400" dirty="0" smtClean="0">
                <a:latin typeface="Adobe Hebrew" panose="02040503050201020203" pitchFamily="18" charset="-79"/>
                <a:cs typeface="Adobe Hebrew" panose="02040503050201020203" pitchFamily="18" charset="-79"/>
              </a:rPr>
              <a:t>view</a:t>
            </a:r>
          </a:p>
          <a:p>
            <a:r>
              <a:rPr lang="en-US" sz="2400" dirty="0" smtClean="0">
                <a:latin typeface="Adobe Hebrew" panose="02040503050201020203" pitchFamily="18" charset="-79"/>
                <a:cs typeface="Adobe Hebrew" panose="02040503050201020203" pitchFamily="18" charset="-79"/>
              </a:rPr>
              <a:t>Accuracy</a:t>
            </a:r>
            <a:r>
              <a:rPr lang="en-US" sz="2400" dirty="0">
                <a:latin typeface="Adobe Hebrew" panose="02040503050201020203" pitchFamily="18" charset="-79"/>
                <a:cs typeface="Adobe Hebrew" panose="02040503050201020203" pitchFamily="18" charset="-79"/>
              </a:rPr>
              <a:t>: correct or wrong, accurate or not </a:t>
            </a:r>
          </a:p>
          <a:p>
            <a:r>
              <a:rPr lang="en-US" sz="2400" dirty="0" smtClean="0">
                <a:latin typeface="Adobe Hebrew" panose="02040503050201020203" pitchFamily="18" charset="-79"/>
                <a:cs typeface="Adobe Hebrew" panose="02040503050201020203" pitchFamily="18" charset="-79"/>
              </a:rPr>
              <a:t>Completeness</a:t>
            </a:r>
            <a:r>
              <a:rPr lang="en-US" sz="2400" dirty="0">
                <a:latin typeface="Adobe Hebrew" panose="02040503050201020203" pitchFamily="18" charset="-79"/>
                <a:cs typeface="Adobe Hebrew" panose="02040503050201020203" pitchFamily="18" charset="-79"/>
              </a:rPr>
              <a:t>: not recorded, unavailable, … </a:t>
            </a:r>
          </a:p>
          <a:p>
            <a:r>
              <a:rPr lang="en-US" sz="2400" dirty="0" smtClean="0">
                <a:latin typeface="Adobe Hebrew" panose="02040503050201020203" pitchFamily="18" charset="-79"/>
                <a:cs typeface="Adobe Hebrew" panose="02040503050201020203" pitchFamily="18" charset="-79"/>
              </a:rPr>
              <a:t>Consistency</a:t>
            </a:r>
            <a:r>
              <a:rPr lang="en-US" sz="2400" dirty="0">
                <a:latin typeface="Adobe Hebrew" panose="02040503050201020203" pitchFamily="18" charset="-79"/>
                <a:cs typeface="Adobe Hebrew" panose="02040503050201020203" pitchFamily="18" charset="-79"/>
              </a:rPr>
              <a:t>: some modified but some not, dangling, … </a:t>
            </a:r>
            <a:endParaRPr lang="en-US" sz="2400" dirty="0" smtClean="0">
              <a:latin typeface="Adobe Hebrew" panose="02040503050201020203" pitchFamily="18" charset="-79"/>
              <a:cs typeface="Adobe Hebrew" panose="02040503050201020203" pitchFamily="18" charset="-79"/>
            </a:endParaRPr>
          </a:p>
          <a:p>
            <a:r>
              <a:rPr lang="en-US" sz="2400" dirty="0" smtClean="0">
                <a:latin typeface="Adobe Hebrew" panose="02040503050201020203" pitchFamily="18" charset="-79"/>
                <a:cs typeface="Adobe Hebrew" panose="02040503050201020203" pitchFamily="18" charset="-79"/>
              </a:rPr>
              <a:t>Timeliness</a:t>
            </a:r>
            <a:r>
              <a:rPr lang="en-US" sz="2400" dirty="0">
                <a:latin typeface="Adobe Hebrew" panose="02040503050201020203" pitchFamily="18" charset="-79"/>
                <a:cs typeface="Adobe Hebrew" panose="02040503050201020203" pitchFamily="18" charset="-79"/>
              </a:rPr>
              <a:t>: timely update</a:t>
            </a:r>
            <a:r>
              <a:rPr lang="en-US" sz="2400" dirty="0" smtClean="0">
                <a:latin typeface="Adobe Hebrew" panose="02040503050201020203" pitchFamily="18" charset="-79"/>
                <a:cs typeface="Adobe Hebrew" panose="02040503050201020203" pitchFamily="18" charset="-79"/>
              </a:rPr>
              <a:t>?</a:t>
            </a:r>
          </a:p>
          <a:p>
            <a:r>
              <a:rPr lang="en-US" sz="2400" dirty="0" smtClean="0">
                <a:latin typeface="Adobe Hebrew" panose="02040503050201020203" pitchFamily="18" charset="-79"/>
                <a:cs typeface="Adobe Hebrew" panose="02040503050201020203" pitchFamily="18" charset="-79"/>
              </a:rPr>
              <a:t>Believability</a:t>
            </a:r>
            <a:r>
              <a:rPr lang="en-US" sz="2400" dirty="0">
                <a:latin typeface="Adobe Hebrew" panose="02040503050201020203" pitchFamily="18" charset="-79"/>
                <a:cs typeface="Adobe Hebrew" panose="02040503050201020203" pitchFamily="18" charset="-79"/>
              </a:rPr>
              <a:t>: how trustable the data are correct? </a:t>
            </a:r>
          </a:p>
          <a:p>
            <a:r>
              <a:rPr lang="en-US" sz="2400" dirty="0" smtClean="0">
                <a:latin typeface="Adobe Hebrew" panose="02040503050201020203" pitchFamily="18" charset="-79"/>
                <a:cs typeface="Adobe Hebrew" panose="02040503050201020203" pitchFamily="18" charset="-79"/>
              </a:rPr>
              <a:t>Interpretability</a:t>
            </a:r>
            <a:r>
              <a:rPr lang="en-US" sz="2400" dirty="0">
                <a:latin typeface="Adobe Hebrew" panose="02040503050201020203" pitchFamily="18" charset="-79"/>
                <a:cs typeface="Adobe Hebrew" panose="02040503050201020203" pitchFamily="18" charset="-79"/>
              </a:rPr>
              <a:t>: how easily the data can be understood?</a:t>
            </a:r>
          </a:p>
        </p:txBody>
      </p:sp>
    </p:spTree>
    <p:extLst>
      <p:ext uri="{BB962C8B-B14F-4D97-AF65-F5344CB8AC3E}">
        <p14:creationId xmlns:p14="http://schemas.microsoft.com/office/powerpoint/2010/main" val="4131459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Tasks in 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945341"/>
            <a:ext cx="9601200" cy="4433047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>
                <a:latin typeface="Lucida Calligraphy" panose="03010101010101010101" pitchFamily="66" charset="0"/>
              </a:rPr>
              <a:t>Data </a:t>
            </a:r>
            <a:r>
              <a:rPr lang="en-US" b="1" dirty="0">
                <a:latin typeface="Lucida Calligraphy" panose="03010101010101010101" pitchFamily="66" charset="0"/>
              </a:rPr>
              <a:t>cleaning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Fill </a:t>
            </a:r>
            <a:r>
              <a:rPr lang="en-US" dirty="0"/>
              <a:t>in missing values, smooth noisy data, identify or remove outliers, and resolve inconsistencies </a:t>
            </a:r>
            <a:endParaRPr lang="en-US" dirty="0" smtClean="0"/>
          </a:p>
          <a:p>
            <a:r>
              <a:rPr lang="en-US" b="1" dirty="0" smtClean="0">
                <a:latin typeface="Lucida Calligraphy" panose="03010101010101010101" pitchFamily="66" charset="0"/>
              </a:rPr>
              <a:t>Data integration</a:t>
            </a:r>
          </a:p>
          <a:p>
            <a:pPr marL="0" indent="0">
              <a:buNone/>
            </a:pPr>
            <a:r>
              <a:rPr lang="en-US" dirty="0" smtClean="0"/>
              <a:t>	Integration </a:t>
            </a:r>
            <a:r>
              <a:rPr lang="en-US" dirty="0"/>
              <a:t>of multiple databases, data cubes, or files </a:t>
            </a:r>
            <a:endParaRPr lang="en-US" dirty="0" smtClean="0"/>
          </a:p>
          <a:p>
            <a:r>
              <a:rPr lang="en-US" b="1" dirty="0" smtClean="0">
                <a:latin typeface="Lucida Calligraphy" panose="03010101010101010101" pitchFamily="66" charset="0"/>
              </a:rPr>
              <a:t>Data </a:t>
            </a:r>
            <a:r>
              <a:rPr lang="en-US" b="1" dirty="0">
                <a:latin typeface="Lucida Calligraphy" panose="03010101010101010101" pitchFamily="66" charset="0"/>
              </a:rPr>
              <a:t>reduction </a:t>
            </a:r>
          </a:p>
          <a:p>
            <a:pPr marL="0" indent="0">
              <a:buNone/>
            </a:pPr>
            <a:r>
              <a:rPr lang="en-US" dirty="0" smtClean="0"/>
              <a:t>	Dimensionality </a:t>
            </a:r>
            <a:r>
              <a:rPr lang="en-US" dirty="0"/>
              <a:t>reduction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Numerosity</a:t>
            </a:r>
            <a:r>
              <a:rPr lang="en-US" dirty="0" smtClean="0"/>
              <a:t> </a:t>
            </a:r>
            <a:r>
              <a:rPr lang="en-US" dirty="0"/>
              <a:t>reduction </a:t>
            </a:r>
          </a:p>
          <a:p>
            <a:pPr marL="0" indent="0">
              <a:buNone/>
            </a:pPr>
            <a:r>
              <a:rPr lang="en-US" dirty="0" smtClean="0"/>
              <a:t>	Data </a:t>
            </a:r>
            <a:r>
              <a:rPr lang="en-US" dirty="0"/>
              <a:t>compression </a:t>
            </a:r>
            <a:endParaRPr lang="en-US" dirty="0" smtClean="0"/>
          </a:p>
          <a:p>
            <a:r>
              <a:rPr lang="en-US" b="1" dirty="0" smtClean="0">
                <a:latin typeface="Lucida Calligraphy" panose="03010101010101010101" pitchFamily="66" charset="0"/>
              </a:rPr>
              <a:t>Data </a:t>
            </a:r>
            <a:r>
              <a:rPr lang="en-US" b="1" dirty="0">
                <a:latin typeface="Lucida Calligraphy" panose="03010101010101010101" pitchFamily="66" charset="0"/>
              </a:rPr>
              <a:t>transformation and data discretization </a:t>
            </a:r>
            <a:endParaRPr lang="en-US" b="1" dirty="0" smtClean="0">
              <a:latin typeface="Lucida Calligraphy" panose="03010101010101010101" pitchFamily="66" charset="0"/>
            </a:endParaRPr>
          </a:p>
          <a:p>
            <a:pPr marL="0" indent="0">
              <a:buNone/>
            </a:pPr>
            <a:r>
              <a:rPr lang="en-US" dirty="0" smtClean="0"/>
              <a:t>	Normalization </a:t>
            </a:r>
          </a:p>
          <a:p>
            <a:pPr marL="0" indent="0">
              <a:buNone/>
            </a:pPr>
            <a:r>
              <a:rPr lang="en-US" dirty="0" smtClean="0"/>
              <a:t>	Concept </a:t>
            </a:r>
            <a:r>
              <a:rPr lang="en-US" dirty="0"/>
              <a:t>hierarchy generation</a:t>
            </a:r>
          </a:p>
        </p:txBody>
      </p:sp>
    </p:spTree>
    <p:extLst>
      <p:ext uri="{BB962C8B-B14F-4D97-AF65-F5344CB8AC3E}">
        <p14:creationId xmlns:p14="http://schemas.microsoft.com/office/powerpoint/2010/main" val="501432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51212"/>
            <a:ext cx="9601200" cy="4316506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Data </a:t>
            </a:r>
            <a:r>
              <a:rPr lang="en-US" dirty="0"/>
              <a:t>in the Real World Is Dirty: Lots of potentially incorrect data, e.g., instrument faulty, human or computer error, transmission error </a:t>
            </a:r>
            <a:endParaRPr lang="en-US" dirty="0" smtClean="0"/>
          </a:p>
          <a:p>
            <a:pPr lvl="1"/>
            <a:r>
              <a:rPr lang="en-US" b="1" dirty="0" smtClean="0"/>
              <a:t>incomplete</a:t>
            </a:r>
            <a:r>
              <a:rPr lang="en-US" b="1" dirty="0"/>
              <a:t>:</a:t>
            </a:r>
            <a:r>
              <a:rPr lang="en-US" dirty="0"/>
              <a:t> lacking attribute values, lacking certain attributes of interest, or containing only aggregate data </a:t>
            </a:r>
          </a:p>
          <a:p>
            <a:pPr lvl="2"/>
            <a:r>
              <a:rPr lang="en-US" dirty="0" smtClean="0"/>
              <a:t>e.g</a:t>
            </a:r>
            <a:r>
              <a:rPr lang="en-US" dirty="0"/>
              <a:t>., Occupation = “ ” (missing data) </a:t>
            </a:r>
            <a:endParaRPr lang="en-US" dirty="0" smtClean="0"/>
          </a:p>
          <a:p>
            <a:pPr lvl="1"/>
            <a:r>
              <a:rPr lang="en-US" b="1" dirty="0" smtClean="0"/>
              <a:t>noisy</a:t>
            </a:r>
            <a:r>
              <a:rPr lang="en-US" b="1" dirty="0"/>
              <a:t>: </a:t>
            </a:r>
            <a:r>
              <a:rPr lang="en-US" dirty="0"/>
              <a:t>containing noise, errors, or outliers </a:t>
            </a:r>
          </a:p>
          <a:p>
            <a:pPr lvl="2"/>
            <a:r>
              <a:rPr lang="en-US" dirty="0" smtClean="0"/>
              <a:t>e.g</a:t>
            </a:r>
            <a:r>
              <a:rPr lang="en-US" dirty="0"/>
              <a:t>., Salary = “−10” (an error) </a:t>
            </a:r>
          </a:p>
          <a:p>
            <a:pPr lvl="1"/>
            <a:r>
              <a:rPr lang="en-US" b="1" dirty="0" smtClean="0"/>
              <a:t>inconsistent</a:t>
            </a:r>
            <a:r>
              <a:rPr lang="en-US" b="1" dirty="0"/>
              <a:t>:</a:t>
            </a:r>
            <a:r>
              <a:rPr lang="en-US" dirty="0"/>
              <a:t> containing discrepancies in codes or names, e.g., </a:t>
            </a:r>
          </a:p>
          <a:p>
            <a:pPr lvl="2"/>
            <a:r>
              <a:rPr lang="en-US" dirty="0" smtClean="0"/>
              <a:t>Age </a:t>
            </a:r>
            <a:r>
              <a:rPr lang="en-US" dirty="0"/>
              <a:t>= “42”, Birthday = “03/07/2010” </a:t>
            </a:r>
          </a:p>
          <a:p>
            <a:pPr lvl="2"/>
            <a:r>
              <a:rPr lang="en-US" dirty="0" smtClean="0"/>
              <a:t>Was </a:t>
            </a:r>
            <a:r>
              <a:rPr lang="en-US" dirty="0"/>
              <a:t>rating “1, 2, 3”, now rating “A, B, C</a:t>
            </a:r>
            <a:r>
              <a:rPr lang="en-US" dirty="0" smtClean="0"/>
              <a:t>”</a:t>
            </a:r>
          </a:p>
          <a:p>
            <a:pPr lvl="2"/>
            <a:r>
              <a:rPr lang="en-US" dirty="0" smtClean="0"/>
              <a:t>discrepancy </a:t>
            </a:r>
            <a:r>
              <a:rPr lang="en-US" dirty="0"/>
              <a:t>between duplicate records </a:t>
            </a:r>
          </a:p>
          <a:p>
            <a:pPr lvl="1"/>
            <a:r>
              <a:rPr lang="en-US" b="1" dirty="0" smtClean="0"/>
              <a:t>Intentional </a:t>
            </a:r>
            <a:r>
              <a:rPr lang="en-US" dirty="0"/>
              <a:t>(e.g., disguised missing data) </a:t>
            </a:r>
          </a:p>
          <a:p>
            <a:pPr lvl="2"/>
            <a:r>
              <a:rPr lang="en-US" dirty="0" smtClean="0"/>
              <a:t>Jan</a:t>
            </a:r>
            <a:r>
              <a:rPr lang="en-US" dirty="0"/>
              <a:t>. 1 as everyone’s birthday?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3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Incomplete (Missing) Data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16188"/>
          </a:xfrm>
        </p:spPr>
        <p:txBody>
          <a:bodyPr>
            <a:normAutofit/>
          </a:bodyPr>
          <a:lstStyle/>
          <a:p>
            <a:r>
              <a:rPr lang="en-US" b="1" dirty="0" smtClean="0"/>
              <a:t>Data </a:t>
            </a:r>
            <a:r>
              <a:rPr lang="en-US" b="1" dirty="0"/>
              <a:t>is not always available </a:t>
            </a:r>
          </a:p>
          <a:p>
            <a:pPr lvl="1"/>
            <a:r>
              <a:rPr lang="en-US" dirty="0" smtClean="0"/>
              <a:t>E.g</a:t>
            </a:r>
            <a:r>
              <a:rPr lang="en-US" dirty="0"/>
              <a:t>., many tuples have no recorded value for several attributes, such as customer income in sales </a:t>
            </a:r>
            <a:r>
              <a:rPr lang="en-US" dirty="0" smtClean="0"/>
              <a:t>data</a:t>
            </a:r>
          </a:p>
          <a:p>
            <a:r>
              <a:rPr lang="en-US" b="1" dirty="0" smtClean="0"/>
              <a:t>Missing </a:t>
            </a:r>
            <a:r>
              <a:rPr lang="en-US" b="1" dirty="0"/>
              <a:t>data may be due to </a:t>
            </a:r>
          </a:p>
          <a:p>
            <a:pPr lvl="1"/>
            <a:r>
              <a:rPr lang="en-US" dirty="0" smtClean="0"/>
              <a:t>equipment </a:t>
            </a:r>
            <a:r>
              <a:rPr lang="en-US" dirty="0"/>
              <a:t>malfunction </a:t>
            </a:r>
          </a:p>
          <a:p>
            <a:pPr lvl="1"/>
            <a:r>
              <a:rPr lang="en-US" dirty="0" smtClean="0"/>
              <a:t>inconsistent </a:t>
            </a:r>
            <a:r>
              <a:rPr lang="en-US" dirty="0"/>
              <a:t>with other recorded data and thus deleted </a:t>
            </a:r>
          </a:p>
          <a:p>
            <a:pPr lvl="1"/>
            <a:r>
              <a:rPr lang="en-US" dirty="0" smtClean="0"/>
              <a:t>data </a:t>
            </a:r>
            <a:r>
              <a:rPr lang="en-US" dirty="0"/>
              <a:t>not entered due to misunderstanding </a:t>
            </a:r>
          </a:p>
          <a:p>
            <a:pPr lvl="1"/>
            <a:r>
              <a:rPr lang="en-US" dirty="0" smtClean="0"/>
              <a:t>certain </a:t>
            </a:r>
            <a:r>
              <a:rPr lang="en-US" dirty="0"/>
              <a:t>data may not be considered important at the time of entry </a:t>
            </a:r>
          </a:p>
          <a:p>
            <a:pPr lvl="1"/>
            <a:r>
              <a:rPr lang="en-US" dirty="0" smtClean="0"/>
              <a:t>not </a:t>
            </a:r>
            <a:r>
              <a:rPr lang="en-US" dirty="0"/>
              <a:t>register history or changes of the </a:t>
            </a:r>
            <a:r>
              <a:rPr lang="en-US" dirty="0" smtClean="0"/>
              <a:t>data</a:t>
            </a:r>
          </a:p>
          <a:p>
            <a:r>
              <a:rPr lang="en-US" b="1" dirty="0" smtClean="0"/>
              <a:t> </a:t>
            </a:r>
            <a:r>
              <a:rPr lang="en-US" b="1" dirty="0"/>
              <a:t>Missing data may need to be inferred</a:t>
            </a:r>
          </a:p>
        </p:txBody>
      </p:sp>
    </p:spTree>
    <p:extLst>
      <p:ext uri="{BB962C8B-B14F-4D97-AF65-F5344CB8AC3E}">
        <p14:creationId xmlns:p14="http://schemas.microsoft.com/office/powerpoint/2010/main" val="3199247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Handle Missing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114800"/>
          </a:xfrm>
        </p:spPr>
        <p:txBody>
          <a:bodyPr>
            <a:normAutofit/>
          </a:bodyPr>
          <a:lstStyle/>
          <a:p>
            <a:r>
              <a:rPr lang="en-US" b="1" dirty="0" smtClean="0"/>
              <a:t>Ignore </a:t>
            </a:r>
            <a:r>
              <a:rPr lang="en-US" b="1" dirty="0"/>
              <a:t>the tuple: </a:t>
            </a:r>
            <a:r>
              <a:rPr lang="en-US" dirty="0"/>
              <a:t>usually done when class label is missing (when doing classification)—not effective when the % of missing values per attribute varies considerably </a:t>
            </a:r>
          </a:p>
          <a:p>
            <a:r>
              <a:rPr lang="en-US" b="1" dirty="0" smtClean="0"/>
              <a:t>Fill </a:t>
            </a:r>
            <a:r>
              <a:rPr lang="en-US" b="1" dirty="0"/>
              <a:t>in the missing value manually: </a:t>
            </a:r>
            <a:r>
              <a:rPr lang="en-US" dirty="0"/>
              <a:t>tedious + infeasible</a:t>
            </a:r>
            <a:r>
              <a:rPr lang="en-US" dirty="0" smtClean="0"/>
              <a:t>?</a:t>
            </a:r>
          </a:p>
          <a:p>
            <a:r>
              <a:rPr lang="en-US" b="1" dirty="0" smtClean="0"/>
              <a:t>Fill </a:t>
            </a:r>
            <a:r>
              <a:rPr lang="en-US" b="1" dirty="0"/>
              <a:t>in it automatically with </a:t>
            </a:r>
          </a:p>
          <a:p>
            <a:pPr lvl="1"/>
            <a:r>
              <a:rPr lang="en-US" dirty="0" smtClean="0"/>
              <a:t>a </a:t>
            </a:r>
            <a:r>
              <a:rPr lang="en-US" dirty="0"/>
              <a:t>global constant : e.g., “unknown”, a new class?! 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attribute mean 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attribute mean for all samples belonging to the same class: smarter 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most probable value: inference-based such as Bayesian formula or decision tree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14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Noisy Data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213412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Noise</a:t>
            </a:r>
            <a:r>
              <a:rPr lang="en-US" b="1" dirty="0"/>
              <a:t>: </a:t>
            </a:r>
            <a:r>
              <a:rPr lang="en-US" dirty="0"/>
              <a:t>random error or variance in a measured variable </a:t>
            </a:r>
          </a:p>
          <a:p>
            <a:r>
              <a:rPr lang="en-US" b="1" dirty="0" smtClean="0"/>
              <a:t>Incorrect </a:t>
            </a:r>
            <a:r>
              <a:rPr lang="en-US" b="1" dirty="0"/>
              <a:t>attribute </a:t>
            </a:r>
            <a:r>
              <a:rPr lang="en-US" b="1" dirty="0" smtClean="0"/>
              <a:t>values may </a:t>
            </a:r>
            <a:r>
              <a:rPr lang="en-US" b="1" dirty="0"/>
              <a:t>be due to </a:t>
            </a:r>
          </a:p>
          <a:p>
            <a:pPr lvl="1"/>
            <a:r>
              <a:rPr lang="en-US" dirty="0" smtClean="0"/>
              <a:t>faulty </a:t>
            </a:r>
            <a:r>
              <a:rPr lang="en-US" dirty="0"/>
              <a:t>data collection instruments </a:t>
            </a:r>
          </a:p>
          <a:p>
            <a:pPr lvl="1"/>
            <a:r>
              <a:rPr lang="en-US" dirty="0" smtClean="0"/>
              <a:t>data </a:t>
            </a:r>
            <a:r>
              <a:rPr lang="en-US" dirty="0"/>
              <a:t>entry </a:t>
            </a:r>
            <a:r>
              <a:rPr lang="en-US" dirty="0" smtClean="0"/>
              <a:t>problems</a:t>
            </a:r>
          </a:p>
          <a:p>
            <a:pPr lvl="1"/>
            <a:r>
              <a:rPr lang="en-US" dirty="0" smtClean="0"/>
              <a:t>data </a:t>
            </a:r>
            <a:r>
              <a:rPr lang="en-US" dirty="0"/>
              <a:t>transmission problems </a:t>
            </a:r>
          </a:p>
          <a:p>
            <a:pPr lvl="1"/>
            <a:r>
              <a:rPr lang="en-US" dirty="0"/>
              <a:t>t</a:t>
            </a:r>
            <a:r>
              <a:rPr lang="en-US" dirty="0" smtClean="0"/>
              <a:t>echnology </a:t>
            </a:r>
            <a:r>
              <a:rPr lang="en-US" dirty="0"/>
              <a:t>limitation </a:t>
            </a:r>
          </a:p>
          <a:p>
            <a:pPr lvl="1"/>
            <a:r>
              <a:rPr lang="en-US" dirty="0" smtClean="0"/>
              <a:t>inconsistency </a:t>
            </a:r>
            <a:r>
              <a:rPr lang="en-US" dirty="0"/>
              <a:t>in naming convention </a:t>
            </a:r>
            <a:endParaRPr lang="en-US" dirty="0" smtClean="0"/>
          </a:p>
          <a:p>
            <a:r>
              <a:rPr lang="en-US" b="1" dirty="0" smtClean="0"/>
              <a:t>Other </a:t>
            </a:r>
            <a:r>
              <a:rPr lang="en-US" b="1" dirty="0"/>
              <a:t>data problems which require data cleaning </a:t>
            </a:r>
          </a:p>
          <a:p>
            <a:pPr lvl="1"/>
            <a:r>
              <a:rPr lang="en-US" dirty="0" smtClean="0"/>
              <a:t>duplicate </a:t>
            </a:r>
            <a:r>
              <a:rPr lang="en-US" dirty="0"/>
              <a:t>records </a:t>
            </a:r>
          </a:p>
          <a:p>
            <a:pPr lvl="1"/>
            <a:r>
              <a:rPr lang="en-US" dirty="0" smtClean="0"/>
              <a:t>incomplete </a:t>
            </a:r>
            <a:r>
              <a:rPr lang="en-US" dirty="0"/>
              <a:t>data </a:t>
            </a:r>
          </a:p>
          <a:p>
            <a:pPr lvl="1"/>
            <a:r>
              <a:rPr lang="en-US" dirty="0" smtClean="0"/>
              <a:t>inconsistent </a:t>
            </a:r>
            <a:r>
              <a:rPr lang="en-US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294904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Handle Noisy Data?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5999"/>
            <a:ext cx="9601200" cy="3823447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Binning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first </a:t>
            </a:r>
            <a:r>
              <a:rPr lang="en-US" dirty="0"/>
              <a:t>sort data and partition into (equal-frequency) </a:t>
            </a:r>
            <a:r>
              <a:rPr lang="en-US" dirty="0" smtClean="0"/>
              <a:t>bins</a:t>
            </a:r>
          </a:p>
          <a:p>
            <a:pPr lvl="1"/>
            <a:r>
              <a:rPr lang="en-US" dirty="0" smtClean="0"/>
              <a:t>then </a:t>
            </a:r>
            <a:r>
              <a:rPr lang="en-US" dirty="0"/>
              <a:t>one can smooth by bin means, smooth by bin median, smooth by bin boundaries, etc. </a:t>
            </a:r>
          </a:p>
          <a:p>
            <a:r>
              <a:rPr lang="en-US" b="1" dirty="0" smtClean="0"/>
              <a:t>Regression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smooth </a:t>
            </a:r>
            <a:r>
              <a:rPr lang="en-US" dirty="0"/>
              <a:t>by fitting the data into regression functions </a:t>
            </a:r>
          </a:p>
          <a:p>
            <a:r>
              <a:rPr lang="en-US" b="1" dirty="0" smtClean="0"/>
              <a:t>Clustering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detect </a:t>
            </a:r>
            <a:r>
              <a:rPr lang="en-US" dirty="0"/>
              <a:t>and remove outliers </a:t>
            </a:r>
          </a:p>
          <a:p>
            <a:r>
              <a:rPr lang="en-US" b="1" dirty="0" smtClean="0"/>
              <a:t>Combined </a:t>
            </a:r>
            <a:r>
              <a:rPr lang="en-US" b="1" dirty="0"/>
              <a:t>computer and human inspection </a:t>
            </a:r>
          </a:p>
          <a:p>
            <a:pPr lvl="1"/>
            <a:r>
              <a:rPr lang="en-US" dirty="0" smtClean="0"/>
              <a:t>detect </a:t>
            </a:r>
            <a:r>
              <a:rPr lang="en-US" dirty="0"/>
              <a:t>suspicious values and check by human (e.g., deal with possible outliers)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964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as a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5999"/>
            <a:ext cx="9601200" cy="432995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/>
              <a:t>Data </a:t>
            </a:r>
            <a:r>
              <a:rPr lang="en-US" b="1" dirty="0"/>
              <a:t>discrepancy detection </a:t>
            </a:r>
          </a:p>
          <a:p>
            <a:pPr lvl="1"/>
            <a:r>
              <a:rPr lang="en-US" dirty="0" smtClean="0"/>
              <a:t>Use </a:t>
            </a:r>
            <a:r>
              <a:rPr lang="en-US" dirty="0"/>
              <a:t>metadata (e.g., domain, range, dependency, distribution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Check </a:t>
            </a:r>
            <a:r>
              <a:rPr lang="en-US" dirty="0"/>
              <a:t>field overloading </a:t>
            </a:r>
          </a:p>
          <a:p>
            <a:pPr lvl="1"/>
            <a:r>
              <a:rPr lang="en-US" dirty="0" smtClean="0"/>
              <a:t>Check </a:t>
            </a:r>
            <a:r>
              <a:rPr lang="en-US" dirty="0"/>
              <a:t>uniqueness rule, consecutive rule and null rule </a:t>
            </a:r>
          </a:p>
          <a:p>
            <a:pPr lvl="1"/>
            <a:r>
              <a:rPr lang="en-US" dirty="0" smtClean="0"/>
              <a:t>Use </a:t>
            </a:r>
            <a:r>
              <a:rPr lang="en-US" dirty="0"/>
              <a:t>commercial tools </a:t>
            </a:r>
          </a:p>
          <a:p>
            <a:pPr lvl="2"/>
            <a:r>
              <a:rPr lang="en-US" dirty="0" smtClean="0"/>
              <a:t>Data </a:t>
            </a:r>
            <a:r>
              <a:rPr lang="en-US" dirty="0"/>
              <a:t>scrubbing: use simple domain knowledge (e.g., postal code, spell-check) to detect errors and make corrections </a:t>
            </a:r>
          </a:p>
          <a:p>
            <a:pPr lvl="2"/>
            <a:r>
              <a:rPr lang="en-US" dirty="0" smtClean="0"/>
              <a:t>Data </a:t>
            </a:r>
            <a:r>
              <a:rPr lang="en-US" dirty="0"/>
              <a:t>auditing: by analyzing data to discover rules and relationship to detect violators (e.g., correlation and clustering to find outliers) </a:t>
            </a:r>
          </a:p>
          <a:p>
            <a:r>
              <a:rPr lang="en-US" b="1" dirty="0" smtClean="0"/>
              <a:t>Data </a:t>
            </a:r>
            <a:r>
              <a:rPr lang="en-US" b="1" dirty="0"/>
              <a:t>migration and integration </a:t>
            </a:r>
          </a:p>
          <a:p>
            <a:pPr lvl="1"/>
            <a:r>
              <a:rPr lang="en-US" dirty="0" smtClean="0"/>
              <a:t>Data </a:t>
            </a:r>
            <a:r>
              <a:rPr lang="en-US" dirty="0"/>
              <a:t>migration tools: allow transformations to be specified </a:t>
            </a:r>
          </a:p>
          <a:p>
            <a:pPr lvl="1"/>
            <a:r>
              <a:rPr lang="en-US" dirty="0" smtClean="0"/>
              <a:t>ETL </a:t>
            </a:r>
            <a:r>
              <a:rPr lang="en-US" dirty="0"/>
              <a:t>(Extraction/Transformation/Loading) tools: allow users to specify transformations through a graphical user interface </a:t>
            </a:r>
          </a:p>
          <a:p>
            <a:r>
              <a:rPr lang="en-US" b="1" dirty="0" smtClean="0"/>
              <a:t>Integration </a:t>
            </a:r>
            <a:r>
              <a:rPr lang="en-US" b="1" dirty="0"/>
              <a:t>of the two processes </a:t>
            </a:r>
          </a:p>
          <a:p>
            <a:pPr lvl="1"/>
            <a:r>
              <a:rPr lang="en-US" dirty="0" smtClean="0"/>
              <a:t>Iterative </a:t>
            </a:r>
            <a:r>
              <a:rPr lang="en-US" dirty="0"/>
              <a:t>and interactive (e.g., Potter’s Wheels)</a:t>
            </a:r>
          </a:p>
        </p:txBody>
      </p:sp>
    </p:spTree>
    <p:extLst>
      <p:ext uri="{BB962C8B-B14F-4D97-AF65-F5344CB8AC3E}">
        <p14:creationId xmlns:p14="http://schemas.microsoft.com/office/powerpoint/2010/main" val="3451056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Integration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5999"/>
            <a:ext cx="9601200" cy="4182035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Data </a:t>
            </a:r>
            <a:r>
              <a:rPr lang="en-US" b="1" dirty="0"/>
              <a:t>integration: </a:t>
            </a:r>
          </a:p>
          <a:p>
            <a:pPr lvl="1"/>
            <a:r>
              <a:rPr lang="en-US" dirty="0" smtClean="0"/>
              <a:t>Combines </a:t>
            </a:r>
            <a:r>
              <a:rPr lang="en-US" dirty="0"/>
              <a:t>data from multiple sources into a coherent store </a:t>
            </a:r>
          </a:p>
          <a:p>
            <a:r>
              <a:rPr lang="en-US" b="1" dirty="0" smtClean="0"/>
              <a:t>Schema </a:t>
            </a:r>
            <a:r>
              <a:rPr lang="en-US" b="1" dirty="0"/>
              <a:t>integration: </a:t>
            </a:r>
            <a:r>
              <a:rPr lang="en-US" dirty="0"/>
              <a:t>e.g., </a:t>
            </a:r>
            <a:r>
              <a:rPr lang="en-US" dirty="0" err="1"/>
              <a:t>A.cust</a:t>
            </a:r>
            <a:r>
              <a:rPr lang="en-US" dirty="0"/>
              <a:t>-id </a:t>
            </a:r>
            <a:r>
              <a:rPr lang="en-US" dirty="0" err="1" smtClean="0"/>
              <a:t>B.cust</a:t>
            </a:r>
            <a:r>
              <a:rPr lang="en-US" dirty="0" smtClean="0"/>
              <a:t>-</a:t>
            </a:r>
            <a:r>
              <a:rPr lang="en-US" dirty="0"/>
              <a:t># </a:t>
            </a:r>
          </a:p>
          <a:p>
            <a:pPr lvl="1"/>
            <a:r>
              <a:rPr lang="en-US" dirty="0" smtClean="0"/>
              <a:t>Integrate </a:t>
            </a:r>
            <a:r>
              <a:rPr lang="en-US" dirty="0"/>
              <a:t>metadata from different sources </a:t>
            </a:r>
            <a:endParaRPr lang="en-US" dirty="0" smtClean="0"/>
          </a:p>
          <a:p>
            <a:r>
              <a:rPr lang="en-US" b="1" dirty="0" smtClean="0"/>
              <a:t>Entity </a:t>
            </a:r>
            <a:r>
              <a:rPr lang="en-US" b="1" dirty="0"/>
              <a:t>identification problem: </a:t>
            </a:r>
          </a:p>
          <a:p>
            <a:pPr lvl="1"/>
            <a:r>
              <a:rPr lang="en-US" dirty="0" smtClean="0"/>
              <a:t>Identify </a:t>
            </a:r>
            <a:r>
              <a:rPr lang="en-US" dirty="0"/>
              <a:t>real world entities from multiple data sources, e.g., Bill Clinton = William Clinton </a:t>
            </a:r>
          </a:p>
          <a:p>
            <a:r>
              <a:rPr lang="en-US" b="1" dirty="0" smtClean="0"/>
              <a:t>Detecting </a:t>
            </a:r>
            <a:r>
              <a:rPr lang="en-US" b="1" dirty="0"/>
              <a:t>and resolving data value conflicts </a:t>
            </a:r>
          </a:p>
          <a:p>
            <a:pPr lvl="1"/>
            <a:r>
              <a:rPr lang="en-US" dirty="0" smtClean="0"/>
              <a:t>For </a:t>
            </a:r>
            <a:r>
              <a:rPr lang="en-US" dirty="0"/>
              <a:t>the same real world entity, attribute values from different sources are different </a:t>
            </a:r>
            <a:endParaRPr lang="en-US" dirty="0" smtClean="0"/>
          </a:p>
          <a:p>
            <a:pPr lvl="1"/>
            <a:r>
              <a:rPr lang="en-US" dirty="0" smtClean="0"/>
              <a:t>Possible </a:t>
            </a:r>
            <a:r>
              <a:rPr lang="en-US" dirty="0"/>
              <a:t>reasons: different representations, different scales, e.g., metric vs. British units</a:t>
            </a:r>
          </a:p>
        </p:txBody>
      </p:sp>
    </p:spTree>
    <p:extLst>
      <p:ext uri="{BB962C8B-B14F-4D97-AF65-F5344CB8AC3E}">
        <p14:creationId xmlns:p14="http://schemas.microsoft.com/office/powerpoint/2010/main" val="1729193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Handling Redundancy in Data Integration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Redundant </a:t>
            </a:r>
            <a:r>
              <a:rPr lang="en-US" dirty="0"/>
              <a:t>data occur often when integration of multiple databases </a:t>
            </a:r>
          </a:p>
          <a:p>
            <a:pPr lvl="1"/>
            <a:r>
              <a:rPr lang="en-US" dirty="0" smtClean="0"/>
              <a:t>Object </a:t>
            </a:r>
            <a:r>
              <a:rPr lang="en-US" dirty="0"/>
              <a:t>identification:  The same attribute or object may have different names in different databases </a:t>
            </a:r>
          </a:p>
          <a:p>
            <a:pPr lvl="1"/>
            <a:r>
              <a:rPr lang="en-US" dirty="0" smtClean="0"/>
              <a:t>Derivable </a:t>
            </a:r>
            <a:r>
              <a:rPr lang="en-US" dirty="0"/>
              <a:t>data: One attribute may be a “derived” attribute in another table, e.g., annual revenue </a:t>
            </a:r>
          </a:p>
          <a:p>
            <a:r>
              <a:rPr lang="en-US" dirty="0" smtClean="0"/>
              <a:t>Redundant </a:t>
            </a:r>
            <a:r>
              <a:rPr lang="en-US" dirty="0"/>
              <a:t>attributes may be able to be detected by correlation analysis and covariance analysis </a:t>
            </a:r>
          </a:p>
          <a:p>
            <a:r>
              <a:rPr lang="en-US" dirty="0" smtClean="0"/>
              <a:t>Careful </a:t>
            </a:r>
            <a:r>
              <a:rPr lang="en-US" dirty="0"/>
              <a:t>integration of the data from multiple sources may help reduce/avoid redundancies and inconsistencies and improve mining speed and quality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862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Correlation Analysis (Nominal Data</a:t>
            </a:r>
            <a:r>
              <a:rPr lang="en-US" dirty="0" smtClean="0"/>
              <a:t>)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29409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Correlation Analysis (Nominal Data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X</a:t>
            </a:r>
            <a:r>
              <a:rPr lang="en-US" baseline="30000" dirty="0"/>
              <a:t>2</a:t>
            </a:r>
            <a:r>
              <a:rPr lang="en-US" dirty="0" smtClean="0"/>
              <a:t> </a:t>
            </a:r>
            <a:r>
              <a:rPr lang="en-US" dirty="0"/>
              <a:t>(chi-square) test</a:t>
            </a:r>
          </a:p>
          <a:p>
            <a:r>
              <a:rPr lang="en-US" dirty="0" smtClean="0"/>
              <a:t>The larger the </a:t>
            </a:r>
            <a:r>
              <a:rPr lang="en-US" dirty="0"/>
              <a:t>X</a:t>
            </a:r>
            <a:r>
              <a:rPr lang="en-US" baseline="30000" dirty="0"/>
              <a:t>2</a:t>
            </a:r>
            <a:r>
              <a:rPr lang="en-US" dirty="0" smtClean="0"/>
              <a:t> </a:t>
            </a:r>
            <a:r>
              <a:rPr lang="en-US" dirty="0"/>
              <a:t>value, the more likely the variables are related </a:t>
            </a:r>
          </a:p>
          <a:p>
            <a:r>
              <a:rPr lang="en-US" dirty="0" smtClean="0"/>
              <a:t>The </a:t>
            </a:r>
            <a:r>
              <a:rPr lang="en-US" dirty="0"/>
              <a:t>cells that contribute the most to the X</a:t>
            </a:r>
            <a:r>
              <a:rPr lang="en-US" baseline="30000" dirty="0"/>
              <a:t>2</a:t>
            </a:r>
            <a:r>
              <a:rPr lang="en-US" dirty="0" smtClean="0"/>
              <a:t> </a:t>
            </a:r>
            <a:r>
              <a:rPr lang="en-US" dirty="0"/>
              <a:t>value are those whose actual count is very different from the expected </a:t>
            </a:r>
            <a:r>
              <a:rPr lang="en-US" dirty="0" smtClean="0"/>
              <a:t>count</a:t>
            </a:r>
          </a:p>
          <a:p>
            <a:r>
              <a:rPr lang="en-US" dirty="0" smtClean="0"/>
              <a:t>Correlation </a:t>
            </a:r>
            <a:r>
              <a:rPr lang="en-US" dirty="0"/>
              <a:t>does not imply causality </a:t>
            </a:r>
          </a:p>
          <a:p>
            <a:pPr lvl="1"/>
            <a:r>
              <a:rPr lang="en-US" dirty="0" smtClean="0"/>
              <a:t># </a:t>
            </a:r>
            <a:r>
              <a:rPr lang="en-US" dirty="0"/>
              <a:t>of hospitals and # of car-theft in a city are correlated </a:t>
            </a:r>
          </a:p>
          <a:p>
            <a:pPr lvl="1"/>
            <a:r>
              <a:rPr lang="en-US" dirty="0" smtClean="0"/>
              <a:t>Both </a:t>
            </a:r>
            <a:r>
              <a:rPr lang="en-US" dirty="0"/>
              <a:t>are causally linked to the third variable: population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117" y="2648230"/>
            <a:ext cx="5581650" cy="124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718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Chi-Square Calculation: An Example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506071"/>
            <a:ext cx="9601200" cy="4993341"/>
          </a:xfrm>
        </p:spPr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X</a:t>
            </a:r>
            <a:r>
              <a:rPr lang="en-US" baseline="30000" dirty="0" smtClean="0"/>
              <a:t>2</a:t>
            </a:r>
            <a:r>
              <a:rPr lang="en-US" dirty="0" smtClean="0"/>
              <a:t> </a:t>
            </a:r>
            <a:r>
              <a:rPr lang="en-US" dirty="0"/>
              <a:t>(chi-square) calculation (numbers in parenthesis are expected counts calculated based on the data distribution in the two categories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It </a:t>
            </a:r>
            <a:r>
              <a:rPr lang="en-US" dirty="0"/>
              <a:t>shows that </a:t>
            </a:r>
            <a:r>
              <a:rPr lang="en-US" dirty="0" err="1"/>
              <a:t>like_science_fictionand</a:t>
            </a:r>
            <a:r>
              <a:rPr lang="en-US" dirty="0"/>
              <a:t> </a:t>
            </a:r>
            <a:r>
              <a:rPr lang="en-US" dirty="0" err="1"/>
              <a:t>play_chessare</a:t>
            </a:r>
            <a:r>
              <a:rPr lang="en-US" dirty="0"/>
              <a:t> correlated in the group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807" y="1490383"/>
            <a:ext cx="7191375" cy="20103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091" y="4292693"/>
            <a:ext cx="887730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124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Analysis (Numeric </a:t>
            </a:r>
            <a:r>
              <a:rPr lang="en-US" dirty="0" smtClean="0"/>
              <a:t>Data)</a:t>
            </a:r>
            <a:br>
              <a:rPr lang="en-US" dirty="0" smtClean="0"/>
            </a:br>
            <a:endParaRPr lang="en-US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71600" y="2285999"/>
                <a:ext cx="9601200" cy="4352365"/>
              </a:xfrm>
            </p:spPr>
            <p:txBody>
              <a:bodyPr/>
              <a:lstStyle/>
              <a:p>
                <a:r>
                  <a:rPr lang="en-US" dirty="0" smtClean="0"/>
                  <a:t>Correlation </a:t>
                </a:r>
                <a:r>
                  <a:rPr lang="en-US" dirty="0"/>
                  <a:t>coefficient (also called Pearson’s product moment coefficient)</a:t>
                </a:r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where </a:t>
                </a:r>
                <a:r>
                  <a:rPr lang="en-US" dirty="0"/>
                  <a:t>n is the number of tuples,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i="1" dirty="0" smtClean="0">
                            <a:latin typeface="Cambria Math"/>
                          </a:rPr>
                        </m:ctrlPr>
                      </m:bar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i="1" dirty="0" smtClean="0">
                            <a:latin typeface="Cambria Math"/>
                          </a:rPr>
                        </m:ctrlPr>
                      </m:bar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are </a:t>
                </a:r>
                <a:r>
                  <a:rPr lang="en-US" dirty="0"/>
                  <a:t>the respective means of A and </a:t>
                </a:r>
                <a:r>
                  <a:rPr lang="en-US" dirty="0" smtClean="0"/>
                  <a:t>B</a:t>
                </a:r>
                <a:r>
                  <a:rPr lang="en-US" dirty="0"/>
                  <a:t>, </a:t>
                </a:r>
                <a:r>
                  <a:rPr lang="en-US" dirty="0" err="1"/>
                  <a:t>σ</a:t>
                </a:r>
                <a:r>
                  <a:rPr lang="en-US" baseline="-25000" dirty="0" err="1"/>
                  <a:t>A</a:t>
                </a:r>
                <a:r>
                  <a:rPr lang="en-US" dirty="0" smtClean="0"/>
                  <a:t> </a:t>
                </a:r>
                <a:r>
                  <a:rPr lang="en-US" dirty="0"/>
                  <a:t>and </a:t>
                </a:r>
                <a:r>
                  <a:rPr lang="en-US" dirty="0" err="1"/>
                  <a:t>σ</a:t>
                </a:r>
                <a:r>
                  <a:rPr lang="en-US" baseline="-25000" dirty="0" err="1"/>
                  <a:t>B</a:t>
                </a:r>
                <a:r>
                  <a:rPr lang="en-US" dirty="0" smtClean="0"/>
                  <a:t> </a:t>
                </a:r>
                <a:r>
                  <a:rPr lang="en-US" dirty="0"/>
                  <a:t>are the respective standard deviation of A and B, and Σ(</a:t>
                </a:r>
                <a:r>
                  <a:rPr lang="en-US" dirty="0" err="1"/>
                  <a:t>aibi</a:t>
                </a:r>
                <a:r>
                  <a:rPr lang="en-US" dirty="0"/>
                  <a:t>) is the </a:t>
                </a:r>
                <a:r>
                  <a:rPr lang="en-US" dirty="0" smtClean="0"/>
                  <a:t>sum </a:t>
                </a:r>
                <a:r>
                  <a:rPr lang="en-US" dirty="0"/>
                  <a:t>of the AB </a:t>
                </a:r>
                <a:r>
                  <a:rPr lang="en-US" dirty="0" smtClean="0"/>
                  <a:t>cross-product</a:t>
                </a:r>
                <a:r>
                  <a:rPr lang="en-US" dirty="0"/>
                  <a:t>. </a:t>
                </a:r>
              </a:p>
              <a:p>
                <a:pPr lvl="1"/>
                <a:r>
                  <a:rPr lang="en-US" dirty="0" smtClean="0"/>
                  <a:t>If </a:t>
                </a:r>
                <a:r>
                  <a:rPr lang="en-US" dirty="0" err="1" smtClean="0"/>
                  <a:t>r</a:t>
                </a:r>
                <a:r>
                  <a:rPr lang="en-US" baseline="-25000" dirty="0" err="1" smtClean="0"/>
                  <a:t>A,B</a:t>
                </a:r>
                <a:r>
                  <a:rPr lang="en-US" dirty="0" smtClean="0"/>
                  <a:t> </a:t>
                </a:r>
                <a:r>
                  <a:rPr lang="en-US" dirty="0"/>
                  <a:t>&gt; 0, A and B are positively correlated (A’s values increase as B’s).  The higher, the stronger correlation. </a:t>
                </a:r>
              </a:p>
              <a:p>
                <a:pPr lvl="1"/>
                <a:r>
                  <a:rPr lang="en-US" dirty="0" err="1" smtClean="0"/>
                  <a:t>r</a:t>
                </a:r>
                <a:r>
                  <a:rPr lang="en-US" baseline="-25000" dirty="0" err="1" smtClean="0"/>
                  <a:t>A,B</a:t>
                </a:r>
                <a:r>
                  <a:rPr lang="en-US" dirty="0" smtClean="0"/>
                  <a:t> </a:t>
                </a:r>
                <a:r>
                  <a:rPr lang="en-US" dirty="0"/>
                  <a:t>= 0: independent; </a:t>
                </a:r>
                <a:r>
                  <a:rPr lang="en-US" dirty="0" err="1"/>
                  <a:t>r</a:t>
                </a:r>
                <a:r>
                  <a:rPr lang="en-US" baseline="-25000" dirty="0" err="1" smtClean="0"/>
                  <a:t>AB</a:t>
                </a:r>
                <a:r>
                  <a:rPr lang="en-US" dirty="0" smtClean="0"/>
                  <a:t> </a:t>
                </a:r>
                <a:r>
                  <a:rPr lang="en-US" dirty="0"/>
                  <a:t>&lt; 0: negatively correlated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2285999"/>
                <a:ext cx="9601200" cy="4352365"/>
              </a:xfrm>
              <a:blipFill>
                <a:blip r:embed="rId2"/>
                <a:stretch>
                  <a:fillRect l="-635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9974" y="2688012"/>
            <a:ext cx="4585167" cy="794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599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Correlation (viewed as linear relationship)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Correlation measures the linear relationship between objects </a:t>
            </a:r>
          </a:p>
          <a:p>
            <a:r>
              <a:rPr lang="en-US" dirty="0" smtClean="0"/>
              <a:t>To </a:t>
            </a:r>
            <a:r>
              <a:rPr lang="en-US" dirty="0"/>
              <a:t>compute correlation, we standardize data objects, A and B, and then take their dot </a:t>
            </a:r>
            <a:r>
              <a:rPr lang="en-US" dirty="0" smtClean="0"/>
              <a:t>product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452" y="3725955"/>
            <a:ext cx="6267450" cy="2540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950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Covariance (Numeric Data)</a:t>
            </a:r>
            <a:endParaRPr lang="en-US" baseline="-25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5999"/>
            <a:ext cx="9601200" cy="4285129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Covariance is similar to </a:t>
            </a:r>
            <a:r>
              <a:rPr lang="en-US" dirty="0" smtClean="0"/>
              <a:t>correlation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Positive covariance: If </a:t>
            </a:r>
            <a:r>
              <a:rPr lang="en-US" dirty="0" err="1" smtClean="0"/>
              <a:t>Cov</a:t>
            </a:r>
            <a:r>
              <a:rPr lang="en-US" baseline="-25000" dirty="0" err="1" smtClean="0"/>
              <a:t>A,B</a:t>
            </a:r>
            <a:r>
              <a:rPr lang="en-US" dirty="0" smtClean="0"/>
              <a:t>&gt; </a:t>
            </a:r>
            <a:r>
              <a:rPr lang="en-US" dirty="0"/>
              <a:t>0, then A and B both tend to be larger than their expected values </a:t>
            </a:r>
          </a:p>
          <a:p>
            <a:r>
              <a:rPr lang="en-US" dirty="0" smtClean="0"/>
              <a:t>Negative </a:t>
            </a:r>
            <a:r>
              <a:rPr lang="en-US" dirty="0"/>
              <a:t>covariance: If </a:t>
            </a:r>
            <a:r>
              <a:rPr lang="en-US" dirty="0" err="1" smtClean="0"/>
              <a:t>C</a:t>
            </a:r>
            <a:r>
              <a:rPr lang="en-US" dirty="0" err="1"/>
              <a:t>ov</a:t>
            </a:r>
            <a:r>
              <a:rPr lang="en-US" baseline="-25000" dirty="0" err="1"/>
              <a:t>A,B</a:t>
            </a:r>
            <a:r>
              <a:rPr lang="en-US" dirty="0" smtClean="0"/>
              <a:t>&lt; </a:t>
            </a:r>
            <a:r>
              <a:rPr lang="en-US" dirty="0"/>
              <a:t>0 then if A is larger than its expected value, B is likely to be smaller than its expected value </a:t>
            </a:r>
          </a:p>
          <a:p>
            <a:r>
              <a:rPr lang="en-US" dirty="0" smtClean="0"/>
              <a:t>Independence</a:t>
            </a:r>
            <a:r>
              <a:rPr lang="en-US" dirty="0"/>
              <a:t>: </a:t>
            </a:r>
            <a:r>
              <a:rPr lang="en-US" dirty="0" err="1" smtClean="0"/>
              <a:t>C</a:t>
            </a:r>
            <a:r>
              <a:rPr lang="en-US" dirty="0" err="1"/>
              <a:t>ov</a:t>
            </a:r>
            <a:r>
              <a:rPr lang="en-US" baseline="-25000" dirty="0" err="1"/>
              <a:t>A,B</a:t>
            </a:r>
            <a:r>
              <a:rPr lang="en-US" dirty="0" smtClean="0"/>
              <a:t> </a:t>
            </a:r>
            <a:r>
              <a:rPr lang="en-US" dirty="0"/>
              <a:t>= 0 but the converse is not true: </a:t>
            </a:r>
          </a:p>
          <a:p>
            <a:pPr lvl="1"/>
            <a:r>
              <a:rPr lang="en-US" dirty="0" smtClean="0"/>
              <a:t>Some </a:t>
            </a:r>
            <a:r>
              <a:rPr lang="en-US" dirty="0"/>
              <a:t>pairs of random variables may have a covariance of 0 but are not independent.  Only under some additional assumptions (e.g., the data follow multivariate normal distributions) does a covariance of 0 imply independence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505" y="2904562"/>
            <a:ext cx="6732496" cy="132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176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Co-Variance: An Example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294094"/>
          </a:xfrm>
        </p:spPr>
        <p:txBody>
          <a:bodyPr>
            <a:normAutofit fontScale="92500" lnSpcReduction="20000"/>
          </a:bodyPr>
          <a:lstStyle/>
          <a:p>
            <a:endParaRPr lang="en-US" dirty="0" smtClean="0"/>
          </a:p>
          <a:p>
            <a:r>
              <a:rPr lang="en-US" dirty="0"/>
              <a:t> It can be simplified in computation as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 </a:t>
            </a:r>
            <a:r>
              <a:rPr lang="en-US" dirty="0"/>
              <a:t>Suppose two stocks A and B have the following values in one week:  (2, 5), (3, 8), (5, 10), (4, 11), (6, 14). </a:t>
            </a:r>
          </a:p>
          <a:p>
            <a:r>
              <a:rPr lang="en-US" dirty="0" smtClean="0"/>
              <a:t>Question</a:t>
            </a:r>
            <a:r>
              <a:rPr lang="en-US" dirty="0"/>
              <a:t>:  If the stocks are affected by the same industry trends, will their prices rise or fall together?</a:t>
            </a:r>
          </a:p>
          <a:p>
            <a:pPr lvl="1"/>
            <a:r>
              <a:rPr lang="en-US" dirty="0" smtClean="0"/>
              <a:t>E(A</a:t>
            </a:r>
            <a:r>
              <a:rPr lang="en-US" dirty="0"/>
              <a:t>) = (2 + 3 + 5 + 4 + 6)/ 5 = 20/5 = 4</a:t>
            </a:r>
          </a:p>
          <a:p>
            <a:pPr lvl="1"/>
            <a:r>
              <a:rPr lang="en-US" dirty="0" smtClean="0"/>
              <a:t>E(B</a:t>
            </a:r>
            <a:r>
              <a:rPr lang="en-US" dirty="0"/>
              <a:t>) = (5 + 8 + 10 + 11 + 14) /5 = 48/5 = 9.6</a:t>
            </a:r>
          </a:p>
          <a:p>
            <a:pPr lvl="1"/>
            <a:r>
              <a:rPr lang="en-US" dirty="0" err="1" smtClean="0"/>
              <a:t>Cov</a:t>
            </a:r>
            <a:r>
              <a:rPr lang="en-US" dirty="0" smtClean="0"/>
              <a:t>(A,B</a:t>
            </a:r>
            <a:r>
              <a:rPr lang="en-US" dirty="0"/>
              <a:t>) = (2×5+3×8+5×10+4×11+6×14)/5 − 4 ×9.6 = 4</a:t>
            </a:r>
          </a:p>
          <a:p>
            <a:r>
              <a:rPr lang="en-US" dirty="0" smtClean="0"/>
              <a:t>Thus</a:t>
            </a:r>
            <a:r>
              <a:rPr lang="en-US" dirty="0"/>
              <a:t>, A and B rise together since </a:t>
            </a:r>
            <a:r>
              <a:rPr lang="en-US" dirty="0" err="1"/>
              <a:t>Cov</a:t>
            </a:r>
            <a:r>
              <a:rPr lang="en-US" dirty="0"/>
              <a:t>(A, B) &gt; 0.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021" y="2020420"/>
            <a:ext cx="5666815" cy="53115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035" y="3218328"/>
            <a:ext cx="3650036" cy="489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85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7416" y="356287"/>
            <a:ext cx="9601200" cy="1485900"/>
          </a:xfrm>
        </p:spPr>
        <p:txBody>
          <a:bodyPr>
            <a:normAutofit/>
          </a:bodyPr>
          <a:lstStyle/>
          <a:p>
            <a:r>
              <a:rPr lang="en-US" sz="2400" dirty="0"/>
              <a:t>Data Reduction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2745" y="1486929"/>
            <a:ext cx="10746259" cy="4559644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Data </a:t>
            </a:r>
            <a:r>
              <a:rPr lang="en-US" dirty="0"/>
              <a:t>reduction: Obtain a reduced representation of the data set that is much smaller in volume but yet produces the same (or almost the same) analytical </a:t>
            </a:r>
            <a:r>
              <a:rPr lang="en-US" dirty="0" smtClean="0"/>
              <a:t>results</a:t>
            </a:r>
          </a:p>
          <a:p>
            <a:r>
              <a:rPr lang="en-US" dirty="0" smtClean="0"/>
              <a:t> Why </a:t>
            </a:r>
            <a:r>
              <a:rPr lang="en-US" dirty="0"/>
              <a:t>data reduction? — A database/data warehouse may store terabytes of data. Complex data analysis may take a very long time to run on the complete data set</a:t>
            </a:r>
            <a:r>
              <a:rPr lang="en-US" dirty="0" smtClean="0"/>
              <a:t>.</a:t>
            </a:r>
          </a:p>
          <a:p>
            <a:r>
              <a:rPr lang="en-US" dirty="0" smtClean="0"/>
              <a:t> Data </a:t>
            </a:r>
            <a:r>
              <a:rPr lang="en-US" dirty="0"/>
              <a:t>reduction strategies 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+ Dimensionality </a:t>
            </a:r>
            <a:r>
              <a:rPr lang="en-US" dirty="0"/>
              <a:t>reduction, e.g., remove unimportant attributes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+</a:t>
            </a:r>
            <a:r>
              <a:rPr lang="en-US" dirty="0" smtClean="0"/>
              <a:t> </a:t>
            </a:r>
            <a:r>
              <a:rPr lang="en-US" dirty="0"/>
              <a:t>Wavelet transforms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+ Principal Components Analysis (PCA) </a:t>
            </a:r>
          </a:p>
          <a:p>
            <a:pPr marL="0" indent="0">
              <a:buNone/>
            </a:pPr>
            <a:r>
              <a:rPr lang="en-US" dirty="0" smtClean="0"/>
              <a:t>+ Feature </a:t>
            </a:r>
            <a:r>
              <a:rPr lang="en-US" dirty="0"/>
              <a:t>subset selection, feature creation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+ </a:t>
            </a:r>
            <a:r>
              <a:rPr lang="en-US" dirty="0" err="1" smtClean="0"/>
              <a:t>Numerosity</a:t>
            </a:r>
            <a:r>
              <a:rPr lang="en-US" dirty="0" smtClean="0"/>
              <a:t> </a:t>
            </a:r>
            <a:r>
              <a:rPr lang="en-US" dirty="0"/>
              <a:t>reduction (some simply call it: Data Reduction)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+ Regression </a:t>
            </a:r>
            <a:r>
              <a:rPr lang="en-US" dirty="0"/>
              <a:t>and Log-Linear Models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+ Histograms</a:t>
            </a:r>
            <a:r>
              <a:rPr lang="en-US" dirty="0"/>
              <a:t>, clustering, sampling 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+ Data </a:t>
            </a:r>
            <a:r>
              <a:rPr lang="en-US" dirty="0"/>
              <a:t>cube aggregation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+</a:t>
            </a:r>
            <a:r>
              <a:rPr lang="en-US" dirty="0" smtClean="0"/>
              <a:t> </a:t>
            </a:r>
            <a:r>
              <a:rPr lang="en-US" dirty="0"/>
              <a:t>Data compression</a:t>
            </a:r>
          </a:p>
        </p:txBody>
      </p:sp>
    </p:spTree>
    <p:extLst>
      <p:ext uri="{BB962C8B-B14F-4D97-AF65-F5344CB8AC3E}">
        <p14:creationId xmlns:p14="http://schemas.microsoft.com/office/powerpoint/2010/main" val="28730194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72297"/>
          </a:xfrm>
        </p:spPr>
        <p:txBody>
          <a:bodyPr>
            <a:normAutofit/>
          </a:bodyPr>
          <a:lstStyle/>
          <a:p>
            <a:r>
              <a:rPr lang="en-US" sz="2400" dirty="0"/>
              <a:t>Data Reduction 1: Dimensionality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6270" y="1383956"/>
            <a:ext cx="10103707" cy="5016843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 </a:t>
            </a:r>
            <a:r>
              <a:rPr lang="en-US" b="1" dirty="0"/>
              <a:t>Curse of dimensionality </a:t>
            </a:r>
            <a:endParaRPr lang="en-US" b="1" dirty="0" smtClean="0"/>
          </a:p>
          <a:p>
            <a:pPr marL="0" indent="0">
              <a:buNone/>
            </a:pPr>
            <a:r>
              <a:rPr lang="en-US" dirty="0"/>
              <a:t>+</a:t>
            </a:r>
            <a:r>
              <a:rPr lang="en-US" dirty="0" smtClean="0"/>
              <a:t> </a:t>
            </a:r>
            <a:r>
              <a:rPr lang="en-US" dirty="0"/>
              <a:t>When dimensionality increases, data becomes increasingly sparse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+</a:t>
            </a:r>
            <a:r>
              <a:rPr lang="en-US" dirty="0" smtClean="0"/>
              <a:t> </a:t>
            </a:r>
            <a:r>
              <a:rPr lang="en-US" dirty="0"/>
              <a:t>Density and distance between points, which is critical to clustering, outlier analysis, becomes less meaningful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+ </a:t>
            </a:r>
            <a:r>
              <a:rPr lang="en-US" dirty="0"/>
              <a:t>The possible combinations of subspaces will grow exponentially 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 </a:t>
            </a:r>
            <a:r>
              <a:rPr lang="en-US" b="1" dirty="0"/>
              <a:t>Dimensionality reduction </a:t>
            </a:r>
            <a:endParaRPr lang="en-US" b="1" dirty="0" smtClean="0"/>
          </a:p>
          <a:p>
            <a:pPr marL="0" indent="0">
              <a:buNone/>
            </a:pPr>
            <a:r>
              <a:rPr lang="en-US" dirty="0"/>
              <a:t>+</a:t>
            </a:r>
            <a:r>
              <a:rPr lang="en-US" dirty="0" smtClean="0"/>
              <a:t> </a:t>
            </a:r>
            <a:r>
              <a:rPr lang="en-US" dirty="0"/>
              <a:t>Avoid the curse of dimensionality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+</a:t>
            </a:r>
            <a:r>
              <a:rPr lang="en-US" dirty="0" smtClean="0"/>
              <a:t> </a:t>
            </a:r>
            <a:r>
              <a:rPr lang="en-US" dirty="0"/>
              <a:t>Help eliminate irrelevant features and reduce noise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+</a:t>
            </a:r>
            <a:r>
              <a:rPr lang="en-US" dirty="0" smtClean="0"/>
              <a:t> </a:t>
            </a:r>
            <a:r>
              <a:rPr lang="en-US" dirty="0"/>
              <a:t>Reduce time and space required in data mining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+</a:t>
            </a:r>
            <a:r>
              <a:rPr lang="en-US" dirty="0" smtClean="0"/>
              <a:t> </a:t>
            </a:r>
            <a:r>
              <a:rPr lang="en-US" dirty="0"/>
              <a:t>Allow easier visualization 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 </a:t>
            </a:r>
            <a:r>
              <a:rPr lang="en-US" b="1" dirty="0"/>
              <a:t>Dimensionality reduction techniques </a:t>
            </a:r>
            <a:endParaRPr lang="en-US" b="1" dirty="0" smtClean="0"/>
          </a:p>
          <a:p>
            <a:pPr marL="0" indent="0">
              <a:buNone/>
            </a:pPr>
            <a:r>
              <a:rPr lang="en-US" dirty="0"/>
              <a:t>+</a:t>
            </a:r>
            <a:r>
              <a:rPr lang="en-US" dirty="0" smtClean="0"/>
              <a:t> </a:t>
            </a:r>
            <a:r>
              <a:rPr lang="en-US" dirty="0"/>
              <a:t>Wavelet transforms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+</a:t>
            </a:r>
            <a:r>
              <a:rPr lang="en-US" dirty="0" smtClean="0"/>
              <a:t> </a:t>
            </a:r>
            <a:r>
              <a:rPr lang="en-US" dirty="0"/>
              <a:t>Principal Component Analysis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+</a:t>
            </a:r>
            <a:r>
              <a:rPr lang="en-US" dirty="0" smtClean="0"/>
              <a:t> </a:t>
            </a:r>
            <a:r>
              <a:rPr lang="en-US" dirty="0"/>
              <a:t>Supervised and nonlinear techniques (e.g., feature selection)</a:t>
            </a:r>
          </a:p>
        </p:txBody>
      </p:sp>
    </p:spTree>
    <p:extLst>
      <p:ext uri="{BB962C8B-B14F-4D97-AF65-F5344CB8AC3E}">
        <p14:creationId xmlns:p14="http://schemas.microsoft.com/office/powerpoint/2010/main" val="22022450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Mapping Data to a New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561071"/>
            <a:ext cx="9601200" cy="3581400"/>
          </a:xfrm>
        </p:spPr>
        <p:txBody>
          <a:bodyPr/>
          <a:lstStyle/>
          <a:p>
            <a:r>
              <a:rPr lang="en-US" dirty="0"/>
              <a:t>Fourier transform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Wavelet transform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365" y="2673831"/>
            <a:ext cx="9564435" cy="35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192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What Is Wavelet Transform?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676400"/>
            <a:ext cx="3834714" cy="5045676"/>
          </a:xfrm>
        </p:spPr>
        <p:txBody>
          <a:bodyPr/>
          <a:lstStyle/>
          <a:p>
            <a:r>
              <a:rPr lang="en-US" dirty="0" smtClean="0"/>
              <a:t>Decomposes </a:t>
            </a:r>
            <a:r>
              <a:rPr lang="en-US" dirty="0"/>
              <a:t>a signal into different frequency </a:t>
            </a:r>
            <a:r>
              <a:rPr lang="en-US" dirty="0" err="1"/>
              <a:t>subbands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Applicable </a:t>
            </a:r>
            <a:r>
              <a:rPr lang="en-US" dirty="0"/>
              <a:t>to n-dimensional signals </a:t>
            </a:r>
            <a:endParaRPr lang="en-US" dirty="0" smtClean="0"/>
          </a:p>
          <a:p>
            <a:r>
              <a:rPr lang="en-US" dirty="0" smtClean="0"/>
              <a:t>Data </a:t>
            </a:r>
            <a:r>
              <a:rPr lang="en-US" dirty="0"/>
              <a:t>are transformed to preserve relative distance between objects at different levels of resolution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Allow natural clusters to become more distinguishable </a:t>
            </a:r>
            <a:endParaRPr lang="en-US" dirty="0" smtClean="0"/>
          </a:p>
          <a:p>
            <a:r>
              <a:rPr lang="en-US" dirty="0" smtClean="0"/>
              <a:t>Used </a:t>
            </a:r>
            <a:r>
              <a:rPr lang="en-US" dirty="0"/>
              <a:t>for image compression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34" y="1428750"/>
            <a:ext cx="3803327" cy="420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4474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740" y="446903"/>
            <a:ext cx="6528487" cy="904103"/>
          </a:xfrm>
        </p:spPr>
        <p:txBody>
          <a:bodyPr>
            <a:normAutofit/>
          </a:bodyPr>
          <a:lstStyle/>
          <a:p>
            <a:r>
              <a:rPr lang="en-US" sz="2800" dirty="0"/>
              <a:t>Wavelet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5740" y="2022389"/>
            <a:ext cx="9601200" cy="35814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 </a:t>
            </a:r>
            <a:r>
              <a:rPr lang="en-US" dirty="0"/>
              <a:t>Discrete wavelet transform (DWT) for linear signal processing, </a:t>
            </a:r>
            <a:r>
              <a:rPr lang="en-US" dirty="0" err="1"/>
              <a:t>multiresolution</a:t>
            </a:r>
            <a:r>
              <a:rPr lang="en-US" dirty="0"/>
              <a:t> analysis </a:t>
            </a:r>
            <a:r>
              <a:rPr lang="en-US" dirty="0" smtClean="0"/>
              <a:t> </a:t>
            </a:r>
          </a:p>
          <a:p>
            <a:r>
              <a:rPr lang="en-US" dirty="0" smtClean="0"/>
              <a:t>Compressed </a:t>
            </a:r>
            <a:r>
              <a:rPr lang="en-US" dirty="0"/>
              <a:t>approximation: store only a small fraction of the strongest of the wavelet coefficients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Similar to discrete Fourier transform (DFT), but better </a:t>
            </a:r>
            <a:r>
              <a:rPr lang="en-US" dirty="0" err="1"/>
              <a:t>lossy</a:t>
            </a:r>
            <a:r>
              <a:rPr lang="en-US" dirty="0"/>
              <a:t> compression, localized in space </a:t>
            </a:r>
            <a:r>
              <a:rPr lang="en-US" dirty="0" smtClean="0"/>
              <a:t> </a:t>
            </a:r>
          </a:p>
          <a:p>
            <a:r>
              <a:rPr lang="en-US" dirty="0" smtClean="0"/>
              <a:t>Method</a:t>
            </a:r>
            <a:r>
              <a:rPr lang="en-US" dirty="0"/>
              <a:t>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+ Length</a:t>
            </a:r>
            <a:r>
              <a:rPr lang="en-US" dirty="0"/>
              <a:t>, L, must be an integer power of 2 (padding with 0’s, when necessary)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+ Each transform has 2 functions: smoothing, difference  </a:t>
            </a:r>
          </a:p>
          <a:p>
            <a:pPr marL="0" indent="0">
              <a:buNone/>
            </a:pPr>
            <a:r>
              <a:rPr lang="en-US" dirty="0" smtClean="0"/>
              <a:t>+ Applies </a:t>
            </a:r>
            <a:r>
              <a:rPr lang="en-US" dirty="0"/>
              <a:t>to pairs of data, resulting in two set of data of length L/2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+ Applies </a:t>
            </a:r>
            <a:r>
              <a:rPr lang="en-US" dirty="0"/>
              <a:t>two functions recursively, until reaches the desired length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157" y="246400"/>
            <a:ext cx="2505425" cy="13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6725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72297"/>
          </a:xfrm>
        </p:spPr>
        <p:txBody>
          <a:bodyPr>
            <a:normAutofit/>
          </a:bodyPr>
          <a:lstStyle/>
          <a:p>
            <a:r>
              <a:rPr lang="en-US" sz="2800" dirty="0"/>
              <a:t>Wavelet 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248033" y="1832920"/>
                <a:ext cx="9601200" cy="2080054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mtClean="0"/>
                      <m:t>Wavelets</m:t>
                    </m:r>
                    <m:r>
                      <m:rPr>
                        <m:nor/>
                      </m:rPr>
                      <a:rPr lang="en-US" smtClean="0"/>
                      <m:t>: </m:t>
                    </m:r>
                    <m:r>
                      <m:rPr>
                        <m:nor/>
                      </m:rPr>
                      <a:rPr lang="en-US" smtClean="0"/>
                      <m:t>A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math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tool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for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space</m:t>
                    </m:r>
                    <m:r>
                      <m:rPr>
                        <m:nor/>
                      </m:rPr>
                      <a:rPr lang="en-US" smtClean="0"/>
                      <m:t>−</m:t>
                    </m:r>
                    <m:r>
                      <m:rPr>
                        <m:nor/>
                      </m:rPr>
                      <a:rPr lang="en-US" smtClean="0"/>
                      <m:t>efficient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hierarchical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decomposition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of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functions</m:t>
                    </m:r>
                  </m:oMath>
                </a14:m>
                <a:endParaRPr lang="en-US" dirty="0" smtClean="0"/>
              </a:p>
              <a:p>
                <a:r>
                  <a:rPr lang="en-US" dirty="0"/>
                  <a:t>S = [2, 2, 0, 2, 3, 5, 4, 4] can be transformed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^</m:t>
                        </m:r>
                      </m:sub>
                    </m:sSub>
                  </m:oMath>
                </a14:m>
                <a:r>
                  <a:rPr lang="en-US" dirty="0" smtClean="0"/>
                  <a:t>= 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type m:val="skw"/>
                        <m:ctrlPr>
                          <a:rPr lang="en-US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dirty="0" smtClean="0"/>
                  <a:t>, -1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, 0, 0, -1, -1, 0</a:t>
                </a:r>
                <a:r>
                  <a:rPr lang="en-US" dirty="0" smtClean="0"/>
                  <a:t>]</a:t>
                </a:r>
              </a:p>
              <a:p>
                <a:r>
                  <a:rPr lang="en-US" dirty="0"/>
                  <a:t>Compression: many small detail coefficients can be replaced by 0’s, and only the significant coefficients are </a:t>
                </a:r>
                <a:r>
                  <a:rPr lang="en-US" dirty="0" smtClean="0"/>
                  <a:t>retained	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48033" y="1832920"/>
                <a:ext cx="9601200" cy="2080054"/>
              </a:xfrm>
              <a:blipFill rotWithShape="0">
                <a:blip r:embed="rId2"/>
                <a:stretch>
                  <a:fillRect l="-571" t="-2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038" y="4195107"/>
            <a:ext cx="7401958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690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413952"/>
            <a:ext cx="9601200" cy="829962"/>
          </a:xfrm>
        </p:spPr>
        <p:txBody>
          <a:bodyPr>
            <a:normAutofit/>
          </a:bodyPr>
          <a:lstStyle/>
          <a:p>
            <a:r>
              <a:rPr lang="en-US" sz="2800" dirty="0"/>
              <a:t>Why Wavelet Transform?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7460" y="1243914"/>
            <a:ext cx="9601200" cy="5239265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 </a:t>
            </a:r>
            <a:r>
              <a:rPr lang="en-US" dirty="0"/>
              <a:t>Use hat-shape filters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+ Emphasize </a:t>
            </a:r>
            <a:r>
              <a:rPr lang="en-US" dirty="0"/>
              <a:t>region where points cluster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+ Suppress weaker information in their boundaries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Effective </a:t>
            </a:r>
            <a:r>
              <a:rPr lang="en-US" dirty="0"/>
              <a:t>removal of outliers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+ Insensitive </a:t>
            </a:r>
            <a:r>
              <a:rPr lang="en-US" dirty="0"/>
              <a:t>to noise, insensitive to input order 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Multi-resolution</a:t>
            </a:r>
          </a:p>
          <a:p>
            <a:pPr marL="0" indent="0">
              <a:buNone/>
            </a:pPr>
            <a:r>
              <a:rPr lang="en-US" dirty="0" smtClean="0"/>
              <a:t>	+ Detect </a:t>
            </a:r>
            <a:r>
              <a:rPr lang="en-US" dirty="0"/>
              <a:t>arbitrary shaped clusters at different scales 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Efficient </a:t>
            </a:r>
          </a:p>
          <a:p>
            <a:pPr marL="0" indent="0">
              <a:buNone/>
            </a:pPr>
            <a:r>
              <a:rPr lang="en-US" dirty="0" smtClean="0"/>
              <a:t>	+ Complexity O(N)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Only </a:t>
            </a:r>
            <a:r>
              <a:rPr lang="en-US" dirty="0"/>
              <a:t>applicable to low dimensional data</a:t>
            </a:r>
          </a:p>
        </p:txBody>
      </p:sp>
    </p:spTree>
    <p:extLst>
      <p:ext uri="{BB962C8B-B14F-4D97-AF65-F5344CB8AC3E}">
        <p14:creationId xmlns:p14="http://schemas.microsoft.com/office/powerpoint/2010/main" val="4199543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529281"/>
            <a:ext cx="9601200" cy="681681"/>
          </a:xfrm>
        </p:spPr>
        <p:txBody>
          <a:bodyPr>
            <a:normAutofit/>
          </a:bodyPr>
          <a:lstStyle/>
          <a:p>
            <a:r>
              <a:rPr lang="en-US" sz="2800" dirty="0"/>
              <a:t>Principal Component Analysis (PCA)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445741"/>
            <a:ext cx="9601200" cy="1882345"/>
          </a:xfrm>
        </p:spPr>
        <p:txBody>
          <a:bodyPr>
            <a:normAutofit/>
          </a:bodyPr>
          <a:lstStyle/>
          <a:p>
            <a:r>
              <a:rPr lang="en-US" sz="2400" dirty="0" smtClean="0"/>
              <a:t>Find </a:t>
            </a:r>
            <a:r>
              <a:rPr lang="en-US" sz="2400" dirty="0"/>
              <a:t>a projection that captures the largest amount of variation in data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original data are projected onto a much smaller space, resulting in dimensionality reduction. We find the eigenvectors of the covariance matrix, and these eigenvectors define the new space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3589" y="3328086"/>
            <a:ext cx="4094206" cy="3418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5440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446903"/>
            <a:ext cx="9601200" cy="714632"/>
          </a:xfrm>
        </p:spPr>
        <p:txBody>
          <a:bodyPr>
            <a:normAutofit/>
          </a:bodyPr>
          <a:lstStyle/>
          <a:p>
            <a:r>
              <a:rPr lang="en-US" sz="2800" dirty="0"/>
              <a:t>Principal Component Analysis (Steps)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9222" y="1050323"/>
            <a:ext cx="9601200" cy="5012725"/>
          </a:xfrm>
        </p:spPr>
        <p:txBody>
          <a:bodyPr>
            <a:normAutofit/>
          </a:bodyPr>
          <a:lstStyle/>
          <a:p>
            <a:r>
              <a:rPr lang="en-US" dirty="0"/>
              <a:t>Given N data vectors from n-dimensions, find k ≤ n orthogonal vectors (principal components) that can be best used to represent data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+ Normalize </a:t>
            </a:r>
            <a:r>
              <a:rPr lang="en-US" dirty="0"/>
              <a:t>input data: Each attribute falls within the same range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+ Compute </a:t>
            </a:r>
            <a:r>
              <a:rPr lang="en-US" dirty="0"/>
              <a:t>k orthonormal (unit) vectors, i.e., principal components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+ Each </a:t>
            </a:r>
            <a:r>
              <a:rPr lang="en-US" dirty="0"/>
              <a:t>input data (vector) is a linear combination of the k principal component 	</a:t>
            </a:r>
            <a:r>
              <a:rPr lang="en-US" dirty="0" smtClean="0"/>
              <a:t>vectors  </a:t>
            </a:r>
          </a:p>
          <a:p>
            <a:pPr marL="0" indent="0">
              <a:buNone/>
            </a:pPr>
            <a:r>
              <a:rPr lang="en-US" dirty="0" smtClean="0"/>
              <a:t>	+ The </a:t>
            </a:r>
            <a:r>
              <a:rPr lang="en-US" dirty="0"/>
              <a:t>principal components are sorted in order of decreasing “significance” or </a:t>
            </a:r>
            <a:r>
              <a:rPr lang="en-US" dirty="0" smtClean="0"/>
              <a:t>	strength </a:t>
            </a:r>
          </a:p>
          <a:p>
            <a:pPr marL="0" indent="0">
              <a:buNone/>
            </a:pPr>
            <a:r>
              <a:rPr lang="en-US" dirty="0" smtClean="0"/>
              <a:t>	+ Since </a:t>
            </a:r>
            <a:r>
              <a:rPr lang="en-US" dirty="0"/>
              <a:t>the components are sorted, the size of the data can be reduced by </a:t>
            </a:r>
            <a:r>
              <a:rPr lang="en-US" dirty="0" smtClean="0"/>
              <a:t>	eliminating the </a:t>
            </a:r>
            <a:r>
              <a:rPr lang="en-US" dirty="0"/>
              <a:t>weak components, i.e., those with low variance (i.e., using the </a:t>
            </a:r>
            <a:r>
              <a:rPr lang="en-US" dirty="0" smtClean="0"/>
              <a:t>	strongest </a:t>
            </a:r>
            <a:r>
              <a:rPr lang="en-US" dirty="0"/>
              <a:t>principal </a:t>
            </a:r>
            <a:r>
              <a:rPr lang="en-US" dirty="0" smtClean="0"/>
              <a:t>components</a:t>
            </a:r>
            <a:r>
              <a:rPr lang="en-US" dirty="0"/>
              <a:t>, it is possible to reconstruct a good </a:t>
            </a:r>
            <a:r>
              <a:rPr lang="en-US" dirty="0" smtClean="0"/>
              <a:t>	approximation </a:t>
            </a:r>
            <a:r>
              <a:rPr lang="en-US" dirty="0"/>
              <a:t>of the original data) </a:t>
            </a:r>
            <a:endParaRPr lang="en-US" dirty="0" smtClean="0"/>
          </a:p>
          <a:p>
            <a:r>
              <a:rPr lang="en-US" dirty="0" smtClean="0"/>
              <a:t>Works </a:t>
            </a:r>
            <a:r>
              <a:rPr lang="en-US" dirty="0"/>
              <a:t>for numeric data only</a:t>
            </a:r>
          </a:p>
        </p:txBody>
      </p:sp>
    </p:spTree>
    <p:extLst>
      <p:ext uri="{BB962C8B-B14F-4D97-AF65-F5344CB8AC3E}">
        <p14:creationId xmlns:p14="http://schemas.microsoft.com/office/powerpoint/2010/main" val="35091450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496330"/>
            <a:ext cx="9601200" cy="656968"/>
          </a:xfrm>
        </p:spPr>
        <p:txBody>
          <a:bodyPr>
            <a:normAutofit/>
          </a:bodyPr>
          <a:lstStyle/>
          <a:p>
            <a:r>
              <a:rPr lang="en-US" sz="2800" dirty="0"/>
              <a:t>Attribute Subset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552832"/>
            <a:ext cx="9601200" cy="3917092"/>
          </a:xfrm>
        </p:spPr>
        <p:txBody>
          <a:bodyPr/>
          <a:lstStyle/>
          <a:p>
            <a:r>
              <a:rPr lang="en-US" dirty="0"/>
              <a:t>Another way to reduce dimensionality of data </a:t>
            </a:r>
            <a:endParaRPr lang="en-US" dirty="0" smtClean="0"/>
          </a:p>
          <a:p>
            <a:r>
              <a:rPr lang="en-US" dirty="0" smtClean="0"/>
              <a:t>Redundant </a:t>
            </a:r>
            <a:r>
              <a:rPr lang="en-US" dirty="0"/>
              <a:t>attributes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+ Duplicate </a:t>
            </a:r>
            <a:r>
              <a:rPr lang="en-US" dirty="0"/>
              <a:t>much or all of the information contained in one or more other attributes 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	+ E.g</a:t>
            </a:r>
            <a:r>
              <a:rPr lang="en-US" dirty="0"/>
              <a:t>., purchase price of a product and the amount of sales tax paid </a:t>
            </a:r>
            <a:endParaRPr lang="en-US" dirty="0" smtClean="0"/>
          </a:p>
          <a:p>
            <a:r>
              <a:rPr lang="en-US" dirty="0" smtClean="0"/>
              <a:t>Irrelevant </a:t>
            </a:r>
            <a:r>
              <a:rPr lang="en-US" dirty="0"/>
              <a:t>attributes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+ Contain </a:t>
            </a:r>
            <a:r>
              <a:rPr lang="en-US" dirty="0"/>
              <a:t>no information that is useful for the data mining task at hand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+ E.g</a:t>
            </a:r>
            <a:r>
              <a:rPr lang="en-US" dirty="0"/>
              <a:t>., students' ID is often irrelevant to the task of predicting students' GPA</a:t>
            </a:r>
          </a:p>
        </p:txBody>
      </p:sp>
    </p:spTree>
    <p:extLst>
      <p:ext uri="{BB962C8B-B14F-4D97-AF65-F5344CB8AC3E}">
        <p14:creationId xmlns:p14="http://schemas.microsoft.com/office/powerpoint/2010/main" val="20978307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3935" y="339811"/>
            <a:ext cx="9601200" cy="665205"/>
          </a:xfrm>
        </p:spPr>
        <p:txBody>
          <a:bodyPr>
            <a:normAutofit/>
          </a:bodyPr>
          <a:lstStyle/>
          <a:p>
            <a:r>
              <a:rPr lang="en-US" sz="2800" dirty="0"/>
              <a:t>Heuristic Search in Attribute Selection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13935" y="1297459"/>
                <a:ext cx="9601200" cy="4872682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 smtClean="0"/>
                  <a:t>There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possible attribute combinations of d attributes </a:t>
                </a:r>
                <a:endParaRPr lang="en-US" dirty="0" smtClean="0"/>
              </a:p>
              <a:p>
                <a:r>
                  <a:rPr lang="en-US" dirty="0" smtClean="0"/>
                  <a:t> </a:t>
                </a:r>
                <a:r>
                  <a:rPr lang="en-US" dirty="0"/>
                  <a:t>Typical heuristic attribute selection methods: </a:t>
                </a: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	+  </a:t>
                </a:r>
                <a:r>
                  <a:rPr lang="en-US" dirty="0"/>
                  <a:t>Best single attribute under the attribute independence assumption: choose by </a:t>
                </a:r>
                <a:r>
                  <a:rPr lang="en-US" dirty="0" smtClean="0"/>
                  <a:t>	significance </a:t>
                </a:r>
                <a:r>
                  <a:rPr lang="en-US" dirty="0"/>
                  <a:t>tests </a:t>
                </a: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	+ Best </a:t>
                </a:r>
                <a:r>
                  <a:rPr lang="en-US" dirty="0"/>
                  <a:t>step-wise feature selection: </a:t>
                </a: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		</a:t>
                </a:r>
                <a:r>
                  <a:rPr lang="en-US" sz="1500" dirty="0" smtClean="0"/>
                  <a:t>* The </a:t>
                </a:r>
                <a:r>
                  <a:rPr lang="en-US" sz="1500" dirty="0"/>
                  <a:t>best single-attribute is picked first </a:t>
                </a:r>
                <a:endParaRPr lang="en-US" sz="1500" dirty="0" smtClean="0"/>
              </a:p>
              <a:p>
                <a:pPr marL="0" indent="0">
                  <a:buNone/>
                </a:pPr>
                <a:r>
                  <a:rPr lang="en-US" dirty="0" smtClean="0"/>
                  <a:t>		</a:t>
                </a:r>
                <a:r>
                  <a:rPr lang="en-US" sz="1500" dirty="0"/>
                  <a:t>*</a:t>
                </a:r>
                <a:r>
                  <a:rPr lang="en-US" sz="1500" dirty="0" smtClean="0"/>
                  <a:t> Then </a:t>
                </a:r>
                <a:r>
                  <a:rPr lang="en-US" sz="1500" dirty="0"/>
                  <a:t>next best attribute condition to the first, ... </a:t>
                </a:r>
                <a:endParaRPr lang="en-US" sz="1500" dirty="0" smtClean="0"/>
              </a:p>
              <a:p>
                <a:pPr marL="0" indent="0">
                  <a:buNone/>
                </a:pPr>
                <a:r>
                  <a:rPr lang="en-US" dirty="0" smtClean="0"/>
                  <a:t>	+  </a:t>
                </a:r>
                <a:r>
                  <a:rPr lang="en-US" dirty="0"/>
                  <a:t>Step-wise attribute elimination: </a:t>
                </a:r>
                <a:r>
                  <a:rPr lang="en-US" dirty="0" smtClean="0"/>
                  <a:t> </a:t>
                </a:r>
              </a:p>
              <a:p>
                <a:pPr marL="0" indent="0">
                  <a:buNone/>
                </a:pPr>
                <a:r>
                  <a:rPr lang="en-US" dirty="0" smtClean="0"/>
                  <a:t>		</a:t>
                </a:r>
                <a:r>
                  <a:rPr lang="en-US" sz="1500" dirty="0" smtClean="0"/>
                  <a:t>* Repeatedly </a:t>
                </a:r>
                <a:r>
                  <a:rPr lang="en-US" sz="1500" dirty="0"/>
                  <a:t>eliminate the worst attribute </a:t>
                </a:r>
                <a:endParaRPr lang="en-US" sz="1500" dirty="0" smtClean="0"/>
              </a:p>
              <a:p>
                <a:pPr marL="0" indent="0">
                  <a:buNone/>
                </a:pPr>
                <a:r>
                  <a:rPr lang="en-US" dirty="0" smtClean="0"/>
                  <a:t>	+ Best </a:t>
                </a:r>
                <a:r>
                  <a:rPr lang="en-US" dirty="0"/>
                  <a:t>combined attribute selection and elimination </a:t>
                </a: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	+ Optimal </a:t>
                </a:r>
                <a:r>
                  <a:rPr lang="en-US" dirty="0"/>
                  <a:t>branch and bound: </a:t>
                </a: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		</a:t>
                </a:r>
                <a:r>
                  <a:rPr lang="en-US" sz="1500" dirty="0" smtClean="0"/>
                  <a:t>* Use </a:t>
                </a:r>
                <a:r>
                  <a:rPr lang="en-US" sz="1500" dirty="0"/>
                  <a:t>attribute elimination and backtracking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3935" y="1297459"/>
                <a:ext cx="9601200" cy="4872682"/>
              </a:xfrm>
              <a:blipFill rotWithShape="0">
                <a:blip r:embed="rId2"/>
                <a:stretch>
                  <a:fillRect l="-571" t="-15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77172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31573"/>
            <a:ext cx="9601200" cy="846438"/>
          </a:xfrm>
        </p:spPr>
        <p:txBody>
          <a:bodyPr>
            <a:normAutofit/>
          </a:bodyPr>
          <a:lstStyle/>
          <a:p>
            <a:r>
              <a:rPr lang="en-US" sz="2800" dirty="0"/>
              <a:t>Attribute Creation (Feature Generation)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239794"/>
            <a:ext cx="9601200" cy="4773828"/>
          </a:xfrm>
        </p:spPr>
        <p:txBody>
          <a:bodyPr>
            <a:normAutofit/>
          </a:bodyPr>
          <a:lstStyle/>
          <a:p>
            <a:r>
              <a:rPr lang="en-US" dirty="0"/>
              <a:t>Create new attributes (features) that can capture the important information in a data set more effectively than the original ones </a:t>
            </a:r>
            <a:endParaRPr lang="en-US" dirty="0" smtClean="0"/>
          </a:p>
          <a:p>
            <a:r>
              <a:rPr lang="en-US" dirty="0" smtClean="0"/>
              <a:t>Three </a:t>
            </a:r>
            <a:r>
              <a:rPr lang="en-US" dirty="0"/>
              <a:t>general methodologies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+  </a:t>
            </a:r>
            <a:r>
              <a:rPr lang="en-US" dirty="0"/>
              <a:t>Attribute extraction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	</a:t>
            </a:r>
            <a:r>
              <a:rPr lang="en-US" sz="1400" dirty="0" smtClean="0"/>
              <a:t>* Domain-specific  </a:t>
            </a:r>
          </a:p>
          <a:p>
            <a:pPr marL="0" indent="0">
              <a:buNone/>
            </a:pPr>
            <a:r>
              <a:rPr lang="en-US" dirty="0" smtClean="0"/>
              <a:t>	+ Mapping </a:t>
            </a:r>
            <a:r>
              <a:rPr lang="en-US" dirty="0"/>
              <a:t>data to new space (see: data reduction) 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		</a:t>
            </a:r>
            <a:r>
              <a:rPr lang="en-US" sz="1400" dirty="0" smtClean="0"/>
              <a:t>* E.g</a:t>
            </a:r>
            <a:r>
              <a:rPr lang="en-US" sz="1400" dirty="0"/>
              <a:t>., Fourier transformation, wavelet transformation, manifold approaches (not covered) </a:t>
            </a:r>
            <a:endParaRPr lang="en-US" sz="1400" dirty="0" smtClean="0"/>
          </a:p>
          <a:p>
            <a:r>
              <a:rPr lang="en-US" dirty="0" smtClean="0"/>
              <a:t> </a:t>
            </a:r>
            <a:r>
              <a:rPr lang="en-US" dirty="0"/>
              <a:t>Attribute construction 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		</a:t>
            </a:r>
            <a:r>
              <a:rPr lang="en-US" sz="1400" dirty="0" smtClean="0"/>
              <a:t>* Combining </a:t>
            </a:r>
            <a:r>
              <a:rPr lang="en-US" sz="1400" dirty="0"/>
              <a:t>features (see: discriminative frequent patterns in Chapter on “Advanced Classification”) </a:t>
            </a:r>
            <a:endParaRPr lang="en-US" sz="1400" dirty="0" smtClean="0"/>
          </a:p>
          <a:p>
            <a:pPr marL="0" indent="0">
              <a:buNone/>
            </a:pPr>
            <a:r>
              <a:rPr lang="en-US" sz="1400" dirty="0" smtClean="0"/>
              <a:t>		* Data </a:t>
            </a:r>
            <a:r>
              <a:rPr lang="en-US" sz="1400" dirty="0"/>
              <a:t>discretization</a:t>
            </a:r>
          </a:p>
        </p:txBody>
      </p:sp>
    </p:spTree>
    <p:extLst>
      <p:ext uri="{BB962C8B-B14F-4D97-AF65-F5344CB8AC3E}">
        <p14:creationId xmlns:p14="http://schemas.microsoft.com/office/powerpoint/2010/main" val="20564702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488092"/>
            <a:ext cx="9601200" cy="714632"/>
          </a:xfrm>
        </p:spPr>
        <p:txBody>
          <a:bodyPr>
            <a:normAutofit/>
          </a:bodyPr>
          <a:lstStyle/>
          <a:p>
            <a:r>
              <a:rPr lang="en-US" sz="2800" dirty="0"/>
              <a:t>Data Reduction 2: </a:t>
            </a:r>
            <a:r>
              <a:rPr lang="en-US" sz="2800" dirty="0" err="1"/>
              <a:t>Numerosity</a:t>
            </a:r>
            <a:r>
              <a:rPr lang="en-US" sz="2800" dirty="0"/>
              <a:t>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412789"/>
            <a:ext cx="9601200" cy="4518454"/>
          </a:xfrm>
        </p:spPr>
        <p:txBody>
          <a:bodyPr/>
          <a:lstStyle/>
          <a:p>
            <a:r>
              <a:rPr lang="en-US" dirty="0"/>
              <a:t>Reduce data volume by choosing alternative, smaller forms of data representation </a:t>
            </a:r>
            <a:endParaRPr lang="en-US" dirty="0" smtClean="0"/>
          </a:p>
          <a:p>
            <a:r>
              <a:rPr lang="en-US" b="1" dirty="0" smtClean="0"/>
              <a:t>Parametric </a:t>
            </a:r>
            <a:r>
              <a:rPr lang="en-US" b="1" dirty="0"/>
              <a:t>methods </a:t>
            </a:r>
            <a:r>
              <a:rPr lang="en-US" dirty="0"/>
              <a:t>(e.g., regression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	+ Assume </a:t>
            </a:r>
            <a:r>
              <a:rPr lang="en-US" dirty="0"/>
              <a:t>the data fits some model, estimate model parameters, store only the parameters, and discard the data (except possible outliers)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+ Ex.: Log-linear models—obtain value at a point in m- D space as the product on appropriate marginal subspaces </a:t>
            </a:r>
          </a:p>
          <a:p>
            <a:r>
              <a:rPr lang="en-US" b="1" dirty="0" smtClean="0"/>
              <a:t>Non-parametric</a:t>
            </a:r>
            <a:r>
              <a:rPr lang="en-US" dirty="0" smtClean="0"/>
              <a:t> </a:t>
            </a:r>
            <a:r>
              <a:rPr lang="en-US" dirty="0"/>
              <a:t>methods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+ Do </a:t>
            </a:r>
            <a:r>
              <a:rPr lang="en-US" dirty="0"/>
              <a:t>not assume models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+ Major families: histograms, clustering, sampling, …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4762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06395"/>
          </a:xfrm>
        </p:spPr>
        <p:txBody>
          <a:bodyPr>
            <a:normAutofit/>
          </a:bodyPr>
          <a:lstStyle/>
          <a:p>
            <a:r>
              <a:rPr lang="en-US" sz="2800" dirty="0"/>
              <a:t>Parametric Data Reduction: Regression and Log-Linear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676400"/>
            <a:ext cx="9601200" cy="3581400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b="1" dirty="0"/>
              <a:t>Linear regression </a:t>
            </a:r>
            <a:endParaRPr lang="en-US" b="1" dirty="0" smtClean="0"/>
          </a:p>
          <a:p>
            <a:pPr marL="0" indent="0">
              <a:buNone/>
            </a:pPr>
            <a:r>
              <a:rPr lang="en-US" dirty="0" smtClean="0"/>
              <a:t>	+ Data </a:t>
            </a:r>
            <a:r>
              <a:rPr lang="en-US" dirty="0"/>
              <a:t>modeled to fit a straight line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+ Often </a:t>
            </a:r>
            <a:r>
              <a:rPr lang="en-US" dirty="0"/>
              <a:t>uses the least-square method to fit the line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b="1" dirty="0"/>
              <a:t>Multiple regression </a:t>
            </a:r>
            <a:endParaRPr lang="en-US" b="1" dirty="0" smtClean="0"/>
          </a:p>
          <a:p>
            <a:pPr marL="0" indent="0">
              <a:buNone/>
            </a:pPr>
            <a:r>
              <a:rPr lang="en-US" dirty="0" smtClean="0"/>
              <a:t>	+ Allows </a:t>
            </a:r>
            <a:r>
              <a:rPr lang="en-US" dirty="0"/>
              <a:t>a response variable Y to be modeled as a linear function of multidimensional feature </a:t>
            </a:r>
            <a:r>
              <a:rPr lang="en-US" dirty="0" smtClean="0"/>
              <a:t>vector</a:t>
            </a:r>
          </a:p>
          <a:p>
            <a:r>
              <a:rPr lang="en-US" dirty="0" smtClean="0"/>
              <a:t> </a:t>
            </a:r>
            <a:r>
              <a:rPr lang="en-US" b="1" dirty="0"/>
              <a:t>Log-linear model </a:t>
            </a:r>
            <a:endParaRPr lang="en-US" b="1" dirty="0" smtClean="0"/>
          </a:p>
          <a:p>
            <a:pPr marL="0" indent="0">
              <a:buNone/>
            </a:pPr>
            <a:r>
              <a:rPr lang="en-US" dirty="0" smtClean="0"/>
              <a:t>	+ Approximates </a:t>
            </a:r>
            <a:r>
              <a:rPr lang="en-US" dirty="0"/>
              <a:t>discrete multidimensional probability distributions</a:t>
            </a:r>
          </a:p>
        </p:txBody>
      </p:sp>
    </p:spTree>
    <p:extLst>
      <p:ext uri="{BB962C8B-B14F-4D97-AF65-F5344CB8AC3E}">
        <p14:creationId xmlns:p14="http://schemas.microsoft.com/office/powerpoint/2010/main" val="33759736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446903"/>
            <a:ext cx="9601200" cy="739346"/>
          </a:xfrm>
        </p:spPr>
        <p:txBody>
          <a:bodyPr>
            <a:normAutofit/>
          </a:bodyPr>
          <a:lstStyle/>
          <a:p>
            <a:r>
              <a:rPr lang="en-US" sz="2800" dirty="0"/>
              <a:t>Regression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186249"/>
            <a:ext cx="5622324" cy="5552301"/>
          </a:xfrm>
        </p:spPr>
        <p:txBody>
          <a:bodyPr>
            <a:normAutofit/>
          </a:bodyPr>
          <a:lstStyle/>
          <a:p>
            <a:r>
              <a:rPr lang="en-US" dirty="0"/>
              <a:t>Regression analysis: A collective name for techniques for the modeling and analysis of numerical data consisting of values of a </a:t>
            </a:r>
            <a:r>
              <a:rPr lang="en-US" b="1" dirty="0"/>
              <a:t>dependent variable </a:t>
            </a:r>
            <a:r>
              <a:rPr lang="en-US" dirty="0"/>
              <a:t>(also called </a:t>
            </a:r>
            <a:r>
              <a:rPr lang="en-US" b="1" dirty="0"/>
              <a:t>response variable </a:t>
            </a:r>
            <a:r>
              <a:rPr lang="en-US" dirty="0"/>
              <a:t>or measurement) and of one or more independent variables (aka. </a:t>
            </a:r>
            <a:r>
              <a:rPr lang="en-US" b="1" dirty="0"/>
              <a:t>explanatory variables </a:t>
            </a:r>
            <a:r>
              <a:rPr lang="en-US" dirty="0"/>
              <a:t>or </a:t>
            </a:r>
            <a:r>
              <a:rPr lang="en-US" b="1" dirty="0"/>
              <a:t>predictors) </a:t>
            </a:r>
            <a:endParaRPr lang="en-US" b="1" dirty="0" smtClean="0"/>
          </a:p>
          <a:p>
            <a:r>
              <a:rPr lang="en-US" dirty="0" smtClean="0"/>
              <a:t> </a:t>
            </a:r>
            <a:r>
              <a:rPr lang="en-US" dirty="0"/>
              <a:t>The parameters are estimated so as to give a "</a:t>
            </a:r>
            <a:r>
              <a:rPr lang="en-US" b="1" dirty="0"/>
              <a:t>best fit</a:t>
            </a:r>
            <a:r>
              <a:rPr lang="en-US" dirty="0"/>
              <a:t>" of the data </a:t>
            </a:r>
            <a:endParaRPr lang="en-US" dirty="0" smtClean="0"/>
          </a:p>
          <a:p>
            <a:r>
              <a:rPr lang="en-US" dirty="0" smtClean="0"/>
              <a:t>Most </a:t>
            </a:r>
            <a:r>
              <a:rPr lang="en-US" dirty="0"/>
              <a:t>commonly the best fit is evaluated by using the </a:t>
            </a:r>
            <a:r>
              <a:rPr lang="en-US" b="1" dirty="0"/>
              <a:t>least squares method</a:t>
            </a:r>
            <a:r>
              <a:rPr lang="en-US" dirty="0"/>
              <a:t>, but other criteria have also been used </a:t>
            </a:r>
            <a:endParaRPr lang="en-US" dirty="0" smtClean="0"/>
          </a:p>
          <a:p>
            <a:r>
              <a:rPr lang="en-US" dirty="0" smtClean="0"/>
              <a:t>Used </a:t>
            </a:r>
            <a:r>
              <a:rPr lang="en-US" dirty="0"/>
              <a:t>for prediction (including forecasting of time-series data), inference, hypothesis testing, and modeling of causal relationships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7754" y="1655806"/>
            <a:ext cx="3326895" cy="295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1054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3935" y="521043"/>
            <a:ext cx="9601200" cy="681681"/>
          </a:xfrm>
        </p:spPr>
        <p:txBody>
          <a:bodyPr>
            <a:normAutofit/>
          </a:bodyPr>
          <a:lstStyle/>
          <a:p>
            <a:r>
              <a:rPr lang="en-US" sz="2800" dirty="0"/>
              <a:t>Regress Analysis and Log-Linear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285103"/>
            <a:ext cx="9601200" cy="4794421"/>
          </a:xfrm>
        </p:spPr>
        <p:txBody>
          <a:bodyPr/>
          <a:lstStyle/>
          <a:p>
            <a:r>
              <a:rPr lang="en-US" b="1" dirty="0"/>
              <a:t>Linear regression</a:t>
            </a:r>
            <a:r>
              <a:rPr lang="en-US" dirty="0"/>
              <a:t>: Y = w X + b 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	+ Two regression coefficients, w and b, specify the line and are to be estimated by using the data at hand  </a:t>
            </a:r>
          </a:p>
          <a:p>
            <a:pPr marL="0" indent="0">
              <a:buNone/>
            </a:pPr>
            <a:r>
              <a:rPr lang="en-US" dirty="0" smtClean="0"/>
              <a:t>	+ Using </a:t>
            </a:r>
            <a:r>
              <a:rPr lang="en-US" dirty="0"/>
              <a:t>the least squares criterion to the known values of Y1 , Y2 , …, X1 , X2 , …. </a:t>
            </a:r>
            <a:r>
              <a:rPr lang="en-US" dirty="0" smtClean="0"/>
              <a:t> </a:t>
            </a:r>
          </a:p>
          <a:p>
            <a:r>
              <a:rPr lang="en-US" b="1" dirty="0" smtClean="0"/>
              <a:t>Multiple </a:t>
            </a:r>
            <a:r>
              <a:rPr lang="en-US" b="1" dirty="0"/>
              <a:t>regression</a:t>
            </a:r>
            <a:r>
              <a:rPr lang="en-US" dirty="0"/>
              <a:t>: Y = b0 + b1 X1 + b2 X2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+ </a:t>
            </a:r>
            <a:r>
              <a:rPr lang="en-US" dirty="0"/>
              <a:t>Many nonlinear functions can be transformed into the above </a:t>
            </a:r>
            <a:endParaRPr lang="en-US" dirty="0" smtClean="0"/>
          </a:p>
          <a:p>
            <a:r>
              <a:rPr lang="en-US" b="1" dirty="0" smtClean="0"/>
              <a:t>Log-linear </a:t>
            </a:r>
            <a:r>
              <a:rPr lang="en-US" b="1" dirty="0"/>
              <a:t>models: </a:t>
            </a:r>
            <a:endParaRPr lang="en-US" b="1" dirty="0" smtClean="0"/>
          </a:p>
          <a:p>
            <a:pPr marL="0" indent="0">
              <a:buNone/>
            </a:pPr>
            <a:r>
              <a:rPr lang="en-US" dirty="0" smtClean="0"/>
              <a:t> 	+ Approximate </a:t>
            </a:r>
            <a:r>
              <a:rPr lang="en-US" dirty="0"/>
              <a:t>discrete multidimensional probability distributions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+ Estimate </a:t>
            </a:r>
            <a:r>
              <a:rPr lang="en-US" dirty="0"/>
              <a:t>the probability of each point (tuple) in a multi-dimensional space for a set of discretized attributes, based on a smaller subset of dimensional combinations 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	+ Useful </a:t>
            </a:r>
            <a:r>
              <a:rPr lang="en-US" dirty="0"/>
              <a:t>for dimensionality reduction and data smoothing</a:t>
            </a:r>
          </a:p>
        </p:txBody>
      </p:sp>
    </p:spTree>
    <p:extLst>
      <p:ext uri="{BB962C8B-B14F-4D97-AF65-F5344CB8AC3E}">
        <p14:creationId xmlns:p14="http://schemas.microsoft.com/office/powerpoint/2010/main" val="584161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8075" y="488092"/>
            <a:ext cx="9601200" cy="689919"/>
          </a:xfrm>
        </p:spPr>
        <p:txBody>
          <a:bodyPr>
            <a:normAutofit/>
          </a:bodyPr>
          <a:lstStyle/>
          <a:p>
            <a:r>
              <a:rPr lang="en-US" sz="2800" dirty="0"/>
              <a:t>Histogram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2217" y="1371599"/>
            <a:ext cx="3900615" cy="4386650"/>
          </a:xfrm>
        </p:spPr>
        <p:txBody>
          <a:bodyPr/>
          <a:lstStyle/>
          <a:p>
            <a:r>
              <a:rPr lang="en-US" dirty="0"/>
              <a:t>Divide data into buckets and store average (sum) for each bucket </a:t>
            </a:r>
            <a:endParaRPr lang="en-US" dirty="0" smtClean="0"/>
          </a:p>
          <a:p>
            <a:r>
              <a:rPr lang="en-US" dirty="0" smtClean="0"/>
              <a:t>Partitioning </a:t>
            </a:r>
            <a:r>
              <a:rPr lang="en-US" dirty="0"/>
              <a:t>rules: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+ Equal-width</a:t>
            </a:r>
            <a:r>
              <a:rPr lang="en-US" dirty="0"/>
              <a:t>: equal </a:t>
            </a:r>
            <a:r>
              <a:rPr lang="en-US" dirty="0" smtClean="0"/>
              <a:t>	bucket </a:t>
            </a:r>
            <a:r>
              <a:rPr lang="en-US" dirty="0"/>
              <a:t>range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+ Equal-frequency </a:t>
            </a:r>
            <a:r>
              <a:rPr lang="en-US" dirty="0"/>
              <a:t>(or </a:t>
            </a:r>
            <a:r>
              <a:rPr lang="en-US" dirty="0" smtClean="0"/>
              <a:t>	equal-depth</a:t>
            </a:r>
            <a:r>
              <a:rPr lang="en-US" dirty="0"/>
              <a:t>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988" y="1000977"/>
            <a:ext cx="5239265" cy="475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9812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Partition data set into clusters based on similarity, and store cluster representation (e.g., centroid and diameter) only 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r>
              <a:rPr lang="en-US" dirty="0" smtClean="0"/>
              <a:t>Can </a:t>
            </a:r>
            <a:r>
              <a:rPr lang="en-US" dirty="0"/>
              <a:t>be very effective if data is clustered but not if data is “smeared” 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Can have hierarchical clustering and be stored in multidimensional index tree structures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There </a:t>
            </a:r>
            <a:r>
              <a:rPr lang="en-US" dirty="0"/>
              <a:t>are many choices of clustering definitions and clustering algorithms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 </a:t>
            </a:r>
            <a:r>
              <a:rPr lang="en-US" dirty="0"/>
              <a:t>Cluster analysis will be studied in depth in Chapter 10</a:t>
            </a:r>
          </a:p>
        </p:txBody>
      </p:sp>
    </p:spTree>
    <p:extLst>
      <p:ext uri="{BB962C8B-B14F-4D97-AF65-F5344CB8AC3E}">
        <p14:creationId xmlns:p14="http://schemas.microsoft.com/office/powerpoint/2010/main" val="10895981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Sampling</a:t>
            </a:r>
            <a:r>
              <a:rPr lang="en-US" dirty="0"/>
              <a:t>: obtaining a small sample s to represent the whole data set N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Allow a mining algorithm to run in complexity that is potentially sub-linear to the size of the data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Key principle: Choose a representative subset of the data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Simple random sampling may have very poor performance in the presence of skew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Develop adaptive sampling methods, e.g., stratified sampling: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Note: Sampling may not reduce database I/</a:t>
            </a:r>
            <a:r>
              <a:rPr lang="en-US" dirty="0" err="1"/>
              <a:t>Os</a:t>
            </a:r>
            <a:r>
              <a:rPr lang="en-US" dirty="0"/>
              <a:t> (page at a time)</a:t>
            </a:r>
          </a:p>
        </p:txBody>
      </p:sp>
    </p:spTree>
    <p:extLst>
      <p:ext uri="{BB962C8B-B14F-4D97-AF65-F5344CB8AC3E}">
        <p14:creationId xmlns:p14="http://schemas.microsoft.com/office/powerpoint/2010/main" val="19850497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 </a:t>
            </a:r>
            <a:r>
              <a:rPr lang="en-US" dirty="0"/>
              <a:t>Simple random sampling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There is an equal probability of selecting any particular item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Sampling without replacement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Once an object is selected, it is removed from the population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Sampling with replacement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A selected object is not removed from the population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Stratified sampling: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Partition the data set, and draw samples from each partition (proportionally, i.e., approximately the same percentage of the data)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Used in conjunction with skewed data</a:t>
            </a:r>
          </a:p>
        </p:txBody>
      </p:sp>
    </p:spTree>
    <p:extLst>
      <p:ext uri="{BB962C8B-B14F-4D97-AF65-F5344CB8AC3E}">
        <p14:creationId xmlns:p14="http://schemas.microsoft.com/office/powerpoint/2010/main" val="21408203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Sampling: With or without Replacement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531" y="1695367"/>
            <a:ext cx="8004355" cy="4462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50675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Sampling: Cluster or Stratified Sampling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580" y="1681725"/>
            <a:ext cx="3713258" cy="3867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196" y="1704086"/>
            <a:ext cx="3677714" cy="382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56574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Cube Aggregation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lowest level of a data cube (base cuboid) </a:t>
            </a:r>
            <a:endParaRPr lang="en-US" dirty="0" smtClean="0"/>
          </a:p>
          <a:p>
            <a:pPr lvl="1"/>
            <a:r>
              <a:rPr lang="en-US" dirty="0" smtClean="0"/>
              <a:t> The </a:t>
            </a:r>
            <a:r>
              <a:rPr lang="en-US" dirty="0"/>
              <a:t>aggregated data for an individual entity of interest </a:t>
            </a:r>
            <a:endParaRPr lang="en-US" dirty="0" smtClean="0"/>
          </a:p>
          <a:p>
            <a:pPr lvl="1"/>
            <a:r>
              <a:rPr lang="en-US" dirty="0" smtClean="0"/>
              <a:t> E.g</a:t>
            </a:r>
            <a:r>
              <a:rPr lang="en-US" dirty="0"/>
              <a:t>., a customer in a phone calling data warehouse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Multiple levels of aggregation in data cubes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Further reduce the size of data to deal with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Reference appropriate levels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Use the smallest representation which is enough to solve the task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Queries regarding aggregated information should be answered using data cube, when possible</a:t>
            </a:r>
          </a:p>
        </p:txBody>
      </p:sp>
    </p:spTree>
    <p:extLst>
      <p:ext uri="{BB962C8B-B14F-4D97-AF65-F5344CB8AC3E}">
        <p14:creationId xmlns:p14="http://schemas.microsoft.com/office/powerpoint/2010/main" val="37517959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Reduction 3: Data Compression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String compression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There are extensive theories and well-tuned algorithms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Typically lossless, but only limited manipulation is possible without expansion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Audio/video compression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Typically </a:t>
            </a:r>
            <a:r>
              <a:rPr lang="en-US" dirty="0" err="1"/>
              <a:t>lossy</a:t>
            </a:r>
            <a:r>
              <a:rPr lang="en-US" dirty="0"/>
              <a:t> compression, with progressive refinement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Sometimes small fragments of signal can be reconstructed without reconstructing the whole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Time sequence is not audio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Typically short and vary slowly with time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Dimensionality and </a:t>
            </a:r>
            <a:r>
              <a:rPr lang="en-US" dirty="0" err="1"/>
              <a:t>numerosity</a:t>
            </a:r>
            <a:r>
              <a:rPr lang="en-US" dirty="0"/>
              <a:t> reduction may also be considered as forms of data compression</a:t>
            </a:r>
          </a:p>
        </p:txBody>
      </p:sp>
    </p:spTree>
    <p:extLst>
      <p:ext uri="{BB962C8B-B14F-4D97-AF65-F5344CB8AC3E}">
        <p14:creationId xmlns:p14="http://schemas.microsoft.com/office/powerpoint/2010/main" val="817715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Compression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5788" y="1541144"/>
            <a:ext cx="7006507" cy="4697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03754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5999"/>
            <a:ext cx="9601200" cy="3804699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 </a:t>
            </a:r>
            <a:r>
              <a:rPr lang="en-US" dirty="0"/>
              <a:t>A function that maps the entire set of values of a given attribute to a new set of replacement values </a:t>
            </a:r>
            <a:r>
              <a:rPr lang="en-US" dirty="0" err="1"/>
              <a:t>s.t.</a:t>
            </a:r>
            <a:r>
              <a:rPr lang="en-US" dirty="0"/>
              <a:t> each old value can be identified with one of the new values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Methods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Smoothing: Remove noise from data </a:t>
            </a:r>
            <a:endParaRPr lang="en-US" dirty="0" smtClean="0"/>
          </a:p>
          <a:p>
            <a:pPr lvl="1"/>
            <a:r>
              <a:rPr lang="en-US" dirty="0" smtClean="0"/>
              <a:t> Attribute/feature construction </a:t>
            </a:r>
          </a:p>
          <a:p>
            <a:pPr lvl="2"/>
            <a:r>
              <a:rPr lang="en-US" dirty="0" smtClean="0"/>
              <a:t> </a:t>
            </a:r>
            <a:r>
              <a:rPr lang="en-US" dirty="0"/>
              <a:t>New attributes constructed from the given ones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Aggregation: Summarization, data cube construction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Normalization: Scaled to fall within a smaller, specified range </a:t>
            </a:r>
            <a:endParaRPr lang="en-US" dirty="0" smtClean="0"/>
          </a:p>
          <a:p>
            <a:pPr lvl="2"/>
            <a:r>
              <a:rPr lang="en-US" dirty="0" smtClean="0"/>
              <a:t> </a:t>
            </a:r>
            <a:r>
              <a:rPr lang="en-US" dirty="0"/>
              <a:t>min-max normalization </a:t>
            </a:r>
            <a:endParaRPr lang="en-US" dirty="0" smtClean="0"/>
          </a:p>
          <a:p>
            <a:pPr lvl="2"/>
            <a:r>
              <a:rPr lang="en-US" dirty="0" smtClean="0"/>
              <a:t> </a:t>
            </a:r>
            <a:r>
              <a:rPr lang="en-US" dirty="0"/>
              <a:t>z-score normalization </a:t>
            </a:r>
            <a:endParaRPr lang="en-US" dirty="0" smtClean="0"/>
          </a:p>
          <a:p>
            <a:pPr lvl="2"/>
            <a:r>
              <a:rPr lang="en-US" dirty="0" smtClean="0"/>
              <a:t> normalization </a:t>
            </a:r>
            <a:r>
              <a:rPr lang="en-US" dirty="0"/>
              <a:t>by decimal scaling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Discretization: Concept hierarchy climbing</a:t>
            </a:r>
          </a:p>
        </p:txBody>
      </p:sp>
    </p:spTree>
    <p:extLst>
      <p:ext uri="{BB962C8B-B14F-4D97-AF65-F5344CB8AC3E}">
        <p14:creationId xmlns:p14="http://schemas.microsoft.com/office/powerpoint/2010/main" val="22151505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5454" y="1530625"/>
            <a:ext cx="9601200" cy="4973541"/>
          </a:xfrm>
        </p:spPr>
        <p:txBody>
          <a:bodyPr/>
          <a:lstStyle/>
          <a:p>
            <a:r>
              <a:rPr lang="en-US" dirty="0"/>
              <a:t>Min-max normalization: to [</a:t>
            </a:r>
            <a:r>
              <a:rPr lang="en-US" dirty="0" err="1"/>
              <a:t>new_minA</a:t>
            </a:r>
            <a:r>
              <a:rPr lang="en-US" dirty="0"/>
              <a:t> , </a:t>
            </a:r>
            <a:r>
              <a:rPr lang="en-US" dirty="0" err="1"/>
              <a:t>new_maxA</a:t>
            </a:r>
            <a:r>
              <a:rPr lang="en-US" dirty="0"/>
              <a:t> ]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 </a:t>
            </a:r>
            <a:r>
              <a:rPr lang="en-US" dirty="0"/>
              <a:t>Ex. Let income range $12,000 to $98,000 normalized to [0.0, 1.0]. </a:t>
            </a:r>
          </a:p>
          <a:p>
            <a:pPr marL="0" indent="0">
              <a:buNone/>
            </a:pPr>
            <a:r>
              <a:rPr lang="en-US" dirty="0" smtClean="0"/>
              <a:t>	Then </a:t>
            </a:r>
            <a:r>
              <a:rPr lang="en-US" dirty="0"/>
              <a:t>$73,600 is mapped to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Z-score normalization (</a:t>
            </a:r>
            <a:r>
              <a:rPr lang="el-GR" dirty="0"/>
              <a:t>μ: </a:t>
            </a:r>
            <a:r>
              <a:rPr lang="en-US" dirty="0"/>
              <a:t>mean, </a:t>
            </a:r>
            <a:r>
              <a:rPr lang="el-GR" dirty="0"/>
              <a:t>σ: </a:t>
            </a:r>
            <a:r>
              <a:rPr lang="en-US" dirty="0"/>
              <a:t>standard deviation):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Ex. Let </a:t>
            </a:r>
            <a:r>
              <a:rPr lang="el-GR" dirty="0"/>
              <a:t>μ = 54,000, σ = 16,000. </a:t>
            </a:r>
            <a:r>
              <a:rPr lang="en-US" dirty="0"/>
              <a:t>Then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Normalization by decimal scaling </a:t>
            </a:r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                     Where </a:t>
            </a:r>
            <a:r>
              <a:rPr lang="en-US" dirty="0"/>
              <a:t>j is the smallest integer such that Max(|</a:t>
            </a:r>
            <a:r>
              <a:rPr lang="el-GR" dirty="0"/>
              <a:t>ν’|) &lt; 1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8288" y="1859164"/>
            <a:ext cx="3655778" cy="559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0713" y="2747258"/>
            <a:ext cx="462915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370" y="3651055"/>
            <a:ext cx="1875719" cy="548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1443" y="4617637"/>
            <a:ext cx="1011472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35396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Three types of attributes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Nominal—values from an unordered set, e.g., color, profession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Ordinal—values from an ordered set, e.g., military or academic rank </a:t>
            </a:r>
            <a:endParaRPr lang="en-US" dirty="0" smtClean="0"/>
          </a:p>
          <a:p>
            <a:pPr lvl="1"/>
            <a:r>
              <a:rPr lang="en-US" dirty="0" smtClean="0"/>
              <a:t> Numeric—real </a:t>
            </a:r>
            <a:r>
              <a:rPr lang="en-US" dirty="0"/>
              <a:t>numbers, e.g., integer or real numbers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Discretization: Divide the range of a continuous attribute into intervals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Interval labels can then be used to replace actual data values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Reduce data size by discretization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Supervised vs. unsupervised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Split (top-down) vs. merge (bottom-up)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Discretization can be performed recursively on an attribute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Prepare for further analysis, e.g.,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8494834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Discretization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3454842"/>
          </a:xfrm>
        </p:spPr>
        <p:txBody>
          <a:bodyPr/>
          <a:lstStyle/>
          <a:p>
            <a:r>
              <a:rPr lang="en-US" dirty="0"/>
              <a:t>Typical methods: All the methods can be applied recursively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Binning </a:t>
            </a:r>
            <a:endParaRPr lang="en-US" dirty="0" smtClean="0"/>
          </a:p>
          <a:p>
            <a:pPr lvl="2"/>
            <a:r>
              <a:rPr lang="en-US" dirty="0" smtClean="0"/>
              <a:t> </a:t>
            </a:r>
            <a:r>
              <a:rPr lang="en-US" dirty="0"/>
              <a:t>Top-down split, unsupervised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Histogram analysis </a:t>
            </a:r>
            <a:endParaRPr lang="en-US" dirty="0" smtClean="0"/>
          </a:p>
          <a:p>
            <a:pPr lvl="2"/>
            <a:r>
              <a:rPr lang="en-US" dirty="0" smtClean="0"/>
              <a:t> Top-down </a:t>
            </a:r>
            <a:r>
              <a:rPr lang="en-US" dirty="0"/>
              <a:t>split, unsupervised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Clustering analysis (unsupervised, top-down split or bottom-up merge)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Decision-tree analysis (supervised, top-down split)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Correlation (e.g., </a:t>
            </a:r>
            <a:r>
              <a:rPr lang="en-US" dirty="0" smtClean="0"/>
              <a:t>X</a:t>
            </a:r>
            <a:r>
              <a:rPr lang="en-US" baseline="30000" dirty="0" smtClean="0"/>
              <a:t>2</a:t>
            </a:r>
            <a:r>
              <a:rPr lang="en-US" dirty="0" smtClean="0"/>
              <a:t>) </a:t>
            </a:r>
            <a:r>
              <a:rPr lang="en-US" dirty="0"/>
              <a:t>analysis (unsupervised, bottom-up merge)</a:t>
            </a:r>
          </a:p>
        </p:txBody>
      </p:sp>
    </p:spTree>
    <p:extLst>
      <p:ext uri="{BB962C8B-B14F-4D97-AF65-F5344CB8AC3E}">
        <p14:creationId xmlns:p14="http://schemas.microsoft.com/office/powerpoint/2010/main" val="27193429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Discretization: Binning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Equal-width (distance) partitioning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Divides the range into N intervals of equal size: uniform grid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if A and B are the lowest and highest values of the attribute, the width of intervals will be: W = (B –A)/N.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The most straightforward, but outliers may dominate presentation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Skewed data is not handled well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Equal-depth (frequency) partitioning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Divides the range into N intervals, each containing approximately same number of samples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Good data scaling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Managing categorical attributes can be tricky</a:t>
            </a:r>
          </a:p>
        </p:txBody>
      </p:sp>
    </p:spTree>
    <p:extLst>
      <p:ext uri="{BB962C8B-B14F-4D97-AF65-F5344CB8AC3E}">
        <p14:creationId xmlns:p14="http://schemas.microsoft.com/office/powerpoint/2010/main" val="15495359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Binning Methods for Data Smoothing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7503" y="1952044"/>
            <a:ext cx="9601200" cy="432153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Sorted data for price (in dollars): 4, 8, 9, 15, 21, 21, 24, 25, 26, 28, 29, 34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* </a:t>
            </a:r>
            <a:r>
              <a:rPr lang="en-US" dirty="0" smtClean="0"/>
              <a:t>Partition </a:t>
            </a:r>
            <a:r>
              <a:rPr lang="en-US" dirty="0"/>
              <a:t>into equal-frequency (</a:t>
            </a:r>
            <a:r>
              <a:rPr lang="en-US" dirty="0" err="1"/>
              <a:t>equi</a:t>
            </a:r>
            <a:r>
              <a:rPr lang="en-US" dirty="0"/>
              <a:t>-depth) bins: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- </a:t>
            </a:r>
            <a:r>
              <a:rPr lang="en-US" dirty="0"/>
              <a:t>Bin 1: 4, 8, 9, 15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- </a:t>
            </a:r>
            <a:r>
              <a:rPr lang="en-US" dirty="0"/>
              <a:t>Bin 2: 21, 21, 24, 25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- </a:t>
            </a:r>
            <a:r>
              <a:rPr lang="en-US" dirty="0"/>
              <a:t>Bin 3: 26, 28, 29, 34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* </a:t>
            </a:r>
            <a:r>
              <a:rPr lang="en-US" dirty="0" smtClean="0"/>
              <a:t>Smoothing </a:t>
            </a:r>
            <a:r>
              <a:rPr lang="en-US" dirty="0"/>
              <a:t>by bin means: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- </a:t>
            </a:r>
            <a:r>
              <a:rPr lang="en-US" dirty="0"/>
              <a:t>Bin 1: 9, 9, 9, 9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- </a:t>
            </a:r>
            <a:r>
              <a:rPr lang="en-US" dirty="0"/>
              <a:t>Bin 2: 23, 23, 23, 23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- </a:t>
            </a:r>
            <a:r>
              <a:rPr lang="en-US" dirty="0"/>
              <a:t>Bin 3: 29, 29, 29, 29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* </a:t>
            </a:r>
            <a:r>
              <a:rPr lang="en-US" dirty="0" smtClean="0"/>
              <a:t>Smoothing </a:t>
            </a:r>
            <a:r>
              <a:rPr lang="en-US" dirty="0"/>
              <a:t>by bin boundaries: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- </a:t>
            </a:r>
            <a:r>
              <a:rPr lang="en-US" dirty="0"/>
              <a:t>Bin 1: 4, 4, 4, 15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- </a:t>
            </a:r>
            <a:r>
              <a:rPr lang="en-US" dirty="0"/>
              <a:t>Bin 2: 21, 21, 25, 25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- </a:t>
            </a:r>
            <a:r>
              <a:rPr lang="en-US" dirty="0"/>
              <a:t>Bin 3: 26, 26, 26, 34</a:t>
            </a:r>
          </a:p>
        </p:txBody>
      </p:sp>
    </p:spTree>
    <p:extLst>
      <p:ext uri="{BB962C8B-B14F-4D97-AF65-F5344CB8AC3E}">
        <p14:creationId xmlns:p14="http://schemas.microsoft.com/office/powerpoint/2010/main" val="29286290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Discretization by Classification &amp; 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Classification (e.g., decision tree analysis)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Supervised: Given class labels, e.g., cancerous vs. benign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Using entropy to determine split point (discretization point)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Top-down, recursive split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Details to be covered in Chapter “Classification”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Correlation analysis (e.g., Chi-merge: </a:t>
            </a:r>
            <a:r>
              <a:rPr lang="el-GR" dirty="0" smtClean="0"/>
              <a:t>χ2-</a:t>
            </a:r>
            <a:r>
              <a:rPr lang="en-US" dirty="0"/>
              <a:t>based discretization) </a:t>
            </a:r>
          </a:p>
          <a:p>
            <a:pPr lvl="1"/>
            <a:r>
              <a:rPr lang="en-US" dirty="0" smtClean="0"/>
              <a:t>Supervised</a:t>
            </a:r>
            <a:r>
              <a:rPr lang="en-US" dirty="0"/>
              <a:t>: use class information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Bottom-up merge: find the best neighboring intervals (those having similar distributions of classes, i.e., low </a:t>
            </a:r>
            <a:r>
              <a:rPr lang="el-GR" dirty="0"/>
              <a:t>χ2 </a:t>
            </a:r>
            <a:r>
              <a:rPr lang="en-US" dirty="0"/>
              <a:t>values) to merge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Merge performed recursively, until a predefined stopping condition</a:t>
            </a:r>
          </a:p>
        </p:txBody>
      </p:sp>
    </p:spTree>
    <p:extLst>
      <p:ext uri="{BB962C8B-B14F-4D97-AF65-F5344CB8AC3E}">
        <p14:creationId xmlns:p14="http://schemas.microsoft.com/office/powerpoint/2010/main" val="20823862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Hierarchy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 </a:t>
            </a:r>
            <a:r>
              <a:rPr lang="en-US" dirty="0"/>
              <a:t>Concept hierarchy organizes concepts (i.e., attribute values) hierarchically and is usually associated with each dimension in a data warehouse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Concept hierarchies facilitate drilling and rolling in data warehouses to view data in multiple granularity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Concept hierarchy formation: Recursively reduce the data by collecting and replacing low level concepts (such as numeric values for age) by higher level concepts (such as youth, adult, or senior)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Concept hierarchies can be explicitly specified by domain experts and/or data warehouse designers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Concept hierarchy can be automatically formed for both numeric and nominal data—For numeric data, use discretization methods shown</a:t>
            </a:r>
          </a:p>
        </p:txBody>
      </p:sp>
    </p:spTree>
    <p:extLst>
      <p:ext uri="{BB962C8B-B14F-4D97-AF65-F5344CB8AC3E}">
        <p14:creationId xmlns:p14="http://schemas.microsoft.com/office/powerpoint/2010/main" val="11848244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Hierarchy Generation for Nominal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 </a:t>
            </a:r>
            <a:r>
              <a:rPr lang="en-US" dirty="0"/>
              <a:t>Specification of a partial/total ordering of attributes explicitly at the schema level by users or experts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street &lt; city &lt; state &lt; country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Specification of a hierarchy for a set of values by explicit data grouping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{Urbana, Champaign, Chicago} &lt; Illinois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Specification of only a partial set of attributes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E.g., only street &lt; city, not others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Automatic generation of hierarchies (or attribute levels) by the analysis of the number of distinct values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E.g., for a set of attributes: {street, city, state, country}</a:t>
            </a:r>
          </a:p>
        </p:txBody>
      </p:sp>
    </p:spTree>
    <p:extLst>
      <p:ext uri="{BB962C8B-B14F-4D97-AF65-F5344CB8AC3E}">
        <p14:creationId xmlns:p14="http://schemas.microsoft.com/office/powerpoint/2010/main" val="2340518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Automatic Concept Hierarchy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hierarchies can be automatically generated based on the analysis of the number of distinct values per attribute in the data set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The attribute with the most distinct values is placed at the lowest level of the hierarchy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Exceptions, e.g., weekday, month, quarter, </a:t>
            </a:r>
            <a:r>
              <a:rPr lang="en-US" dirty="0" smtClean="0"/>
              <a:t>year</a:t>
            </a:r>
          </a:p>
          <a:p>
            <a:pPr lvl="1"/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9164" y="4121967"/>
            <a:ext cx="5949563" cy="2364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140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quality: accuracy, completeness, consistency, timeliness, believability, interpretability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Data cleaning: e.g. missing/noisy values, outliers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Data integration from multiple sources: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Entity identification problem; Remove redundancies; Detect inconsistencies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Data reduction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Dimensionality reduction; </a:t>
            </a:r>
            <a:r>
              <a:rPr lang="en-US" dirty="0" err="1"/>
              <a:t>Numerosity</a:t>
            </a:r>
            <a:r>
              <a:rPr lang="en-US" dirty="0"/>
              <a:t> reduction; Data compression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Data transformation and data discretization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Normalization; Concept hierarchy generation</a:t>
            </a:r>
          </a:p>
        </p:txBody>
      </p:sp>
    </p:spTree>
    <p:extLst>
      <p:ext uri="{BB962C8B-B14F-4D97-AF65-F5344CB8AC3E}">
        <p14:creationId xmlns:p14="http://schemas.microsoft.com/office/powerpoint/2010/main" val="3486835445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283</TotalTime>
  <Words>3447</Words>
  <Application>Microsoft Office PowerPoint</Application>
  <PresentationFormat>Custom</PresentationFormat>
  <Paragraphs>469</Paragraphs>
  <Slides>54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5" baseType="lpstr">
      <vt:lpstr>Crop</vt:lpstr>
      <vt:lpstr>Data preprocessing</vt:lpstr>
      <vt:lpstr>Content</vt:lpstr>
      <vt:lpstr>Data Quality: Why Preprocess the Data?</vt:lpstr>
      <vt:lpstr>Major Tasks in Data Preprocessing</vt:lpstr>
      <vt:lpstr>Data Cleaning</vt:lpstr>
      <vt:lpstr>Incomplete (Missing) Data </vt:lpstr>
      <vt:lpstr>How to Handle Missing Data?</vt:lpstr>
      <vt:lpstr>Noisy Data </vt:lpstr>
      <vt:lpstr>How to Handle Noisy Data? </vt:lpstr>
      <vt:lpstr>Data Cleaning as a Process</vt:lpstr>
      <vt:lpstr>Data Integration </vt:lpstr>
      <vt:lpstr>Handling Redundancy in Data Integration </vt:lpstr>
      <vt:lpstr>Correlation Analysis (Nominal Data)  </vt:lpstr>
      <vt:lpstr>Chi-Square Calculation: An Example </vt:lpstr>
      <vt:lpstr>Correlation Analysis (Numeric Data) </vt:lpstr>
      <vt:lpstr>Correlation (viewed as linear relationship) </vt:lpstr>
      <vt:lpstr>Covariance (Numeric Data)</vt:lpstr>
      <vt:lpstr>Co-Variance: An Example </vt:lpstr>
      <vt:lpstr>Data Reduction Strategies</vt:lpstr>
      <vt:lpstr>Data Reduction 1: Dimensionality Reduction</vt:lpstr>
      <vt:lpstr>Mapping Data to a New Space</vt:lpstr>
      <vt:lpstr>What Is Wavelet Transform?</vt:lpstr>
      <vt:lpstr>Wavelet Transformation</vt:lpstr>
      <vt:lpstr>Wavelet Decomposition</vt:lpstr>
      <vt:lpstr>Why Wavelet Transform?</vt:lpstr>
      <vt:lpstr>Principal Component Analysis (PCA)</vt:lpstr>
      <vt:lpstr>Principal Component Analysis (Steps)</vt:lpstr>
      <vt:lpstr>Attribute Subset Selection</vt:lpstr>
      <vt:lpstr>Heuristic Search in Attribute Selection</vt:lpstr>
      <vt:lpstr>Attribute Creation (Feature Generation)</vt:lpstr>
      <vt:lpstr>Data Reduction 2: Numerosity Reduction</vt:lpstr>
      <vt:lpstr>Parametric Data Reduction: Regression and Log-Linear Models</vt:lpstr>
      <vt:lpstr>Regression Analysis</vt:lpstr>
      <vt:lpstr>Regress Analysis and Log-Linear Models</vt:lpstr>
      <vt:lpstr>Histogram Analysis</vt:lpstr>
      <vt:lpstr>Clustering</vt:lpstr>
      <vt:lpstr>Sampling</vt:lpstr>
      <vt:lpstr>Types of Sampling</vt:lpstr>
      <vt:lpstr>Sampling: With or without Replacement</vt:lpstr>
      <vt:lpstr>Sampling: Cluster or Stratified Sampling</vt:lpstr>
      <vt:lpstr>Data Cube Aggregation</vt:lpstr>
      <vt:lpstr>Data Reduction 3: Data Compression</vt:lpstr>
      <vt:lpstr>Data Compression</vt:lpstr>
      <vt:lpstr>Data Transformation</vt:lpstr>
      <vt:lpstr>Normalization</vt:lpstr>
      <vt:lpstr>Discretization</vt:lpstr>
      <vt:lpstr>Data Discretization Methods</vt:lpstr>
      <vt:lpstr>Simple Discretization: Binning</vt:lpstr>
      <vt:lpstr>Binning Methods for Data Smoothing</vt:lpstr>
      <vt:lpstr>Discretization by Classification &amp; Correlation Analysis</vt:lpstr>
      <vt:lpstr>Concept Hierarchy Generation</vt:lpstr>
      <vt:lpstr>Concept Hierarchy Generation for Nominal Data</vt:lpstr>
      <vt:lpstr>Automatic Concept Hierarchy Generation</vt:lpstr>
      <vt:lpstr>Summary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preprocessing</dc:title>
  <dc:creator>Thịnh Phạm</dc:creator>
  <cp:lastModifiedBy>huy hoang</cp:lastModifiedBy>
  <cp:revision>44</cp:revision>
  <dcterms:created xsi:type="dcterms:W3CDTF">2019-05-23T03:17:00Z</dcterms:created>
  <dcterms:modified xsi:type="dcterms:W3CDTF">2019-05-23T13:52:52Z</dcterms:modified>
</cp:coreProperties>
</file>