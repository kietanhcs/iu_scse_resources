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319" r:id="rId3"/>
    <p:sldId id="263" r:id="rId4"/>
    <p:sldId id="324" r:id="rId5"/>
    <p:sldId id="325" r:id="rId6"/>
    <p:sldId id="320" r:id="rId7"/>
    <p:sldId id="326" r:id="rId8"/>
    <p:sldId id="327" r:id="rId9"/>
    <p:sldId id="329" r:id="rId10"/>
    <p:sldId id="330" r:id="rId11"/>
    <p:sldId id="331" r:id="rId12"/>
    <p:sldId id="328" r:id="rId13"/>
    <p:sldId id="349" r:id="rId14"/>
    <p:sldId id="342" r:id="rId15"/>
    <p:sldId id="343" r:id="rId16"/>
    <p:sldId id="344" r:id="rId17"/>
    <p:sldId id="333" r:id="rId18"/>
    <p:sldId id="334" r:id="rId19"/>
    <p:sldId id="335" r:id="rId20"/>
    <p:sldId id="336" r:id="rId21"/>
    <p:sldId id="338" r:id="rId22"/>
    <p:sldId id="337" r:id="rId23"/>
    <p:sldId id="339" r:id="rId24"/>
    <p:sldId id="322" r:id="rId25"/>
    <p:sldId id="340" r:id="rId26"/>
    <p:sldId id="345" r:id="rId27"/>
    <p:sldId id="346" r:id="rId28"/>
    <p:sldId id="347" r:id="rId29"/>
    <p:sldId id="323" r:id="rId30"/>
    <p:sldId id="34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GIN" id="{52828CFC-631C-46C1-9D71-D9E9AFE167E2}">
          <p14:sldIdLst>
            <p14:sldId id="257"/>
            <p14:sldId id="319"/>
          </p14:sldIdLst>
        </p14:section>
        <p14:section name="PART I" id="{38C1C141-3A7E-4839-AFAB-AF8E74E8A0E2}">
          <p14:sldIdLst>
            <p14:sldId id="263"/>
            <p14:sldId id="324"/>
            <p14:sldId id="325"/>
          </p14:sldIdLst>
        </p14:section>
        <p14:section name="PART II" id="{3FAD50CF-0E6B-4252-AD4E-BBDDA033F97D}">
          <p14:sldIdLst>
            <p14:sldId id="320"/>
            <p14:sldId id="326"/>
            <p14:sldId id="327"/>
            <p14:sldId id="329"/>
            <p14:sldId id="330"/>
            <p14:sldId id="331"/>
            <p14:sldId id="328"/>
            <p14:sldId id="349"/>
          </p14:sldIdLst>
        </p14:section>
        <p14:section name="PART III" id="{3B765F55-A0FF-4708-A905-18E9468182C6}">
          <p14:sldIdLst>
            <p14:sldId id="342"/>
            <p14:sldId id="343"/>
            <p14:sldId id="344"/>
            <p14:sldId id="333"/>
            <p14:sldId id="334"/>
            <p14:sldId id="335"/>
            <p14:sldId id="336"/>
            <p14:sldId id="338"/>
            <p14:sldId id="337"/>
            <p14:sldId id="339"/>
          </p14:sldIdLst>
        </p14:section>
        <p14:section name="PART IV" id="{47F816A0-F7B9-471C-B6AE-9E895065F02C}">
          <p14:sldIdLst>
            <p14:sldId id="322"/>
            <p14:sldId id="340"/>
            <p14:sldId id="345"/>
            <p14:sldId id="346"/>
            <p14:sldId id="347"/>
          </p14:sldIdLst>
        </p14:section>
        <p14:section name="PART V" id="{68DDDC4C-3900-41B0-9734-D31C76229374}">
          <p14:sldIdLst>
            <p14:sldId id="323"/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3431" autoAdjust="0"/>
  </p:normalViewPr>
  <p:slideViewPr>
    <p:cSldViewPr snapToGrid="0">
      <p:cViewPr varScale="1">
        <p:scale>
          <a:sx n="91" d="100"/>
          <a:sy n="91" d="100"/>
        </p:scale>
        <p:origin x="12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38C19-0D5C-49B1-A1C8-43C565675B0F}" type="datetimeFigureOut">
              <a:rPr lang="en-US" smtClean="0"/>
              <a:t>23/3/2019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6905E-8934-4956-B3BE-47BD0480A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60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5BBD8-B235-4B6C-8A11-2B193697DD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7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Our team has:</a:t>
            </a:r>
          </a:p>
          <a:p>
            <a:pPr marL="171450" indent="-171450" eaLnBrk="1" hangingPunct="1">
              <a:buFontTx/>
              <a:buChar char="-"/>
            </a:pPr>
            <a:r>
              <a:rPr lang="en-US" dirty="0">
                <a:latin typeface="Calibri" charset="0"/>
              </a:rPr>
              <a:t>Nguyễn Thanh Xuân Tùng</a:t>
            </a:r>
          </a:p>
          <a:p>
            <a:pPr marL="171450" indent="-171450" eaLnBrk="1" hangingPunct="1">
              <a:buFontTx/>
              <a:buChar char="-"/>
            </a:pPr>
            <a:r>
              <a:rPr lang="en-US" dirty="0" err="1">
                <a:latin typeface="Calibri" charset="0"/>
              </a:rPr>
              <a:t>Huỳnh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Thị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Yến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Nhí</a:t>
            </a:r>
            <a:endParaRPr lang="en-US" dirty="0">
              <a:latin typeface="Calibri" charset="0"/>
            </a:endParaRPr>
          </a:p>
          <a:p>
            <a:pPr marL="171450" indent="-171450" eaLnBrk="1" hangingPunct="1">
              <a:buFontTx/>
              <a:buChar char="-"/>
            </a:pPr>
            <a:r>
              <a:rPr lang="en-US" dirty="0">
                <a:latin typeface="Calibri" charset="0"/>
              </a:rPr>
              <a:t>Nguyễn Tr</a:t>
            </a:r>
            <a:r>
              <a:rPr lang="vi-VN" dirty="0">
                <a:latin typeface="Calibri" charset="0"/>
              </a:rPr>
              <a:t>ư</a:t>
            </a:r>
            <a:r>
              <a:rPr lang="en-US" dirty="0" err="1">
                <a:latin typeface="Calibri" charset="0"/>
              </a:rPr>
              <a:t>ơng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Đạt</a:t>
            </a:r>
            <a:endParaRPr lang="en-US" dirty="0">
              <a:latin typeface="Calibri" charset="0"/>
            </a:endParaRPr>
          </a:p>
          <a:p>
            <a:pPr marL="171450" indent="-171450" eaLnBrk="1" hangingPunct="1">
              <a:buFontTx/>
              <a:buChar char="-"/>
            </a:pPr>
            <a:r>
              <a:rPr lang="en-US" dirty="0">
                <a:latin typeface="Calibri" charset="0"/>
              </a:rPr>
              <a:t>Nguyễn </a:t>
            </a:r>
            <a:r>
              <a:rPr lang="en-US" dirty="0" err="1">
                <a:latin typeface="Calibri" charset="0"/>
              </a:rPr>
              <a:t>Thị</a:t>
            </a:r>
            <a:r>
              <a:rPr lang="en-US" dirty="0">
                <a:latin typeface="Calibri" charset="0"/>
              </a:rPr>
              <a:t> Thu </a:t>
            </a:r>
            <a:r>
              <a:rPr lang="en-US" dirty="0" err="1">
                <a:latin typeface="Calibri" charset="0"/>
              </a:rPr>
              <a:t>Xuyên</a:t>
            </a:r>
            <a:endParaRPr lang="en-US" dirty="0">
              <a:latin typeface="Calibri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5BBD8-B235-4B6C-8A11-2B193697DD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97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https://en.wikipedia.org/wiki/Heuristic</a:t>
            </a:r>
          </a:p>
          <a:p>
            <a:r>
              <a:rPr lang="en-US" dirty="0"/>
              <a:t>https://dictionary.cambridge.org/vi/dictionary/english/heuristic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6905E-8934-4956-B3BE-47BD0480A5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01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https://en.wikipedia.org/wiki/Heuristic_(computer_science)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6905E-8934-4956-B3BE-47BD0480A5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37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https://en.wikipedia.org/wiki/Hill_climbing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5BBD8-B235-4B6C-8A11-2B193697DD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8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6905E-8934-4956-B3BE-47BD0480A5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624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https://www.geeksforgeeks.org/introduction-hill-climbing-artificial-intelligence/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6905E-8934-4956-B3BE-47BD0480A54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91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https://www.geeksforgeeks.org/introduction-hill-climbing-artificial-intelligence/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6905E-8934-4956-B3BE-47BD0480A54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37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https://www.geeksforgeeks.org/introduction-hill-climbing-artificial-intelligence/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6905E-8934-4956-B3BE-47BD0480A54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67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from </a:t>
            </a:r>
            <a:r>
              <a:rPr lang="en-US" dirty="0" err="1"/>
              <a:t>Mr</a:t>
            </a:r>
            <a:r>
              <a:rPr lang="en-US" dirty="0"/>
              <a:t> </a:t>
            </a:r>
            <a:r>
              <a:rPr lang="en-US" dirty="0" err="1"/>
              <a:t>Synh</a:t>
            </a:r>
            <a:r>
              <a:rPr lang="en-US" dirty="0"/>
              <a:t> quiz!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6905E-8934-4956-B3BE-47BD0480A54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09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https://www.geeksforgeeks.org/best-first-search-informed-search/</a:t>
            </a:r>
          </a:p>
          <a:p>
            <a:pPr eaLnBrk="1" hangingPunct="1"/>
            <a:r>
              <a:rPr lang="en-US" dirty="0">
                <a:latin typeface="Calibri" charset="0"/>
              </a:rPr>
              <a:t>https://www.youtube.com/watch?v=iGEu2wab8y0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5BBD8-B235-4B6C-8A11-2B193697DD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70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6905E-8934-4956-B3BE-47BD0480A54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62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6905E-8934-4956-B3BE-47BD0480A54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348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>
              <a:latin typeface="Calibri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5BBD8-B235-4B6C-8A11-2B193697DD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91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https://en.wikipedia.org/wiki/Minimax</a:t>
            </a:r>
          </a:p>
          <a:p>
            <a:r>
              <a:rPr lang="en-US" dirty="0"/>
              <a:t>https://viblo.asia/p/thuat-toan-minimax-ai-trong-game-APqzeaVVzVe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6905E-8934-4956-B3BE-47BD0480A54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93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https://en.wikipedia.org/wiki/Minimax</a:t>
            </a:r>
          </a:p>
          <a:p>
            <a:r>
              <a:rPr lang="en-US" dirty="0"/>
              <a:t>https://viblo.asia/p/thuat-toan-minimax-ai-trong-game-APqzeaVVzVe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6905E-8934-4956-B3BE-47BD0480A54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21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https://en.wikipedia.org/wiki/Minimax</a:t>
            </a:r>
          </a:p>
          <a:p>
            <a:r>
              <a:rPr lang="en-US" dirty="0"/>
              <a:t>https://viblo.asia/p/thuat-toan-minimax-ai-trong-game-APqzeaVVzVe</a:t>
            </a:r>
          </a:p>
          <a:p>
            <a:r>
              <a:rPr lang="en-US" dirty="0"/>
              <a:t>https://medium.freecodecamp.org/simple-chess-ai-step-by-step-1d55a9266977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6905E-8934-4956-B3BE-47BD0480A54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10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https://en.wikipedia.org/wiki/Minimax</a:t>
            </a:r>
          </a:p>
          <a:p>
            <a:r>
              <a:rPr lang="en-US" dirty="0"/>
              <a:t>https://viblo.asia/p/thuat-toan-minimax-ai-trong-game-APqzeaVVzVe</a:t>
            </a:r>
          </a:p>
          <a:p>
            <a:r>
              <a:rPr lang="en-US"/>
              <a:t>https://medium.freecodecamp.org/simple-chess-ai-step-by-step-1d55a9266977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6905E-8934-4956-B3BE-47BD0480A54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795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>
              <a:latin typeface="Calibri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5BBD8-B235-4B6C-8A11-2B193697DD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20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https://en.wikipedia.org/wiki/Minimax</a:t>
            </a:r>
          </a:p>
          <a:p>
            <a:r>
              <a:rPr lang="en-US" dirty="0"/>
              <a:t>https://viblo.asia/p/thuat-toan-minimax-ai-trong-game-APqzeaVVzVe</a:t>
            </a:r>
          </a:p>
          <a:p>
            <a:r>
              <a:rPr lang="en-US"/>
              <a:t>https://medium.freecodecamp.org/simple-chess-ai-step-by-step-1d55a9266977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6905E-8934-4956-B3BE-47BD0480A54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72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B9A99-ABC2-42B6-8A11-C86A7D942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54C9C-B3AD-4F64-B63D-4FBE00109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806D6-2286-454E-BFDB-619F08E4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6AE0-2742-4784-AF5A-D1AC0AE5ACAD}" type="datetimeFigureOut">
              <a:rPr lang="en-US" smtClean="0"/>
              <a:t>23/3/2019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EC65B-AE42-46A9-AF0B-979B7C243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217DC-96D8-405C-B0C8-094B46151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03-D103-47D4-9DA4-D29F8EF08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7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FF03-35A2-4274-83D6-F2EAFD1B0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4F5B0-B70F-467F-84AA-19A795267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D666B-EAD5-4170-88D6-06EE6D490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6AE0-2742-4784-AF5A-D1AC0AE5ACAD}" type="datetimeFigureOut">
              <a:rPr lang="en-US" smtClean="0"/>
              <a:t>23/3/2019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6B263-88AC-49C7-87E3-D990AD32C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169A7-7F64-4764-ABCD-EC03C61A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03-D103-47D4-9DA4-D29F8EF08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0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F98-430A-47FE-9C8A-30BC5ED0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9779F-6596-478A-A287-906CF6A9E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DE6BC-D660-4859-9459-A8177F5B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6AE0-2742-4784-AF5A-D1AC0AE5ACAD}" type="datetimeFigureOut">
              <a:rPr lang="en-US" smtClean="0"/>
              <a:t>23/3/2019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94CAE-3BFE-4204-8E66-EF88262F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6BACC-3181-44CB-B6DA-699725FB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03-D103-47D4-9DA4-D29F8EF08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3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7AB5-C36B-49B0-A7F1-43DB7A75A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41178-F6E6-4225-9A71-0F721C3CC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6554-7D7A-4619-B6AB-544E01BCF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03CB8-4C1C-4F21-86EC-F6F26C9B1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6AE0-2742-4784-AF5A-D1AC0AE5ACAD}" type="datetimeFigureOut">
              <a:rPr lang="en-US" smtClean="0"/>
              <a:t>23/3/2019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21466-5811-4832-B857-C4C97EEEC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F2C5B-9FF2-4FB9-9DEB-10574839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03-D103-47D4-9DA4-D29F8EF08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2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A29DD-C690-4BF1-836C-AC5ECD28D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9ED5A-A172-40E1-A885-1A14AA4BD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75E88-86D5-4686-8CAA-43ABA977D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43C78-640B-4059-9CA3-18EC72437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C4DDA7-CA44-4BCF-967C-D3312B84D1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E40025-BD44-4711-95F1-C7CE2B995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6AE0-2742-4784-AF5A-D1AC0AE5ACAD}" type="datetimeFigureOut">
              <a:rPr lang="en-US" smtClean="0"/>
              <a:t>23/3/2019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1DB734-CD2A-4959-9A6D-2BA52D687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80D2A-E5C2-40D8-A959-FEF1B863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03-D103-47D4-9DA4-D29F8EF08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14353-AF6A-431E-9E33-7B4627D2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2E97F-3980-42C1-BE42-BE9F5226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6AE0-2742-4784-AF5A-D1AC0AE5ACAD}" type="datetimeFigureOut">
              <a:rPr lang="en-US" smtClean="0"/>
              <a:t>23/3/2019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7A02F1-845C-432A-974E-C050A43A8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67659-0F02-497D-AD88-5989EE3BE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03-D103-47D4-9DA4-D29F8EF08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0E93FB-DC01-48DD-A9AF-01B36509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6AE0-2742-4784-AF5A-D1AC0AE5ACAD}" type="datetimeFigureOut">
              <a:rPr lang="en-US" smtClean="0"/>
              <a:t>23/3/2019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B9872-3A97-4385-BE00-107DB0599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5E277-05EB-4508-B02A-693DB9F4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03-D103-47D4-9DA4-D29F8EF08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2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96C2F-881A-4F09-B6EF-4D602B4F6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D0FD9-AA20-42B2-92BE-75F9C4E2F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7D59C-8B15-4044-951F-E3433A971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A3854-6D66-4770-9BD4-20A78656F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6AE0-2742-4784-AF5A-D1AC0AE5ACAD}" type="datetimeFigureOut">
              <a:rPr lang="en-US" smtClean="0"/>
              <a:t>23/3/2019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4F581-A3C4-4C7C-AA52-1A7FBDEAB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EE4F7-B779-48B7-95FB-3AE874538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03-D103-47D4-9DA4-D29F8EF08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5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43833-A066-486C-8E3E-675FE177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493D99-1F9B-4687-8A45-2FDFEF0A8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42A42-08F6-48B9-87A9-A77AB045F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DC87D-567C-4A2F-A7BA-21F74D9B7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6AE0-2742-4784-AF5A-D1AC0AE5ACAD}" type="datetimeFigureOut">
              <a:rPr lang="en-US" smtClean="0"/>
              <a:t>23/3/2019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B50A5-522E-443E-B05E-1EDAD207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71A23-F26B-4514-A207-DF1435AE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03-D103-47D4-9DA4-D29F8EF08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CB3C2-BCE3-4675-BB85-0B13CD4CB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558A8-B4EB-478B-BAA8-8A3A08C21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35314-302B-4D82-A75F-E4F2694F3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6AE0-2742-4784-AF5A-D1AC0AE5ACAD}" type="datetimeFigureOut">
              <a:rPr lang="en-US" smtClean="0"/>
              <a:t>23/3/2019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2B722-BDCC-4B0D-87A5-E4D2C309D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058BE-9C5B-4C8D-A446-F387D303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03-D103-47D4-9DA4-D29F8EF08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7EC7B-5E54-46F3-81E8-0C41C1FD1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A7944-787F-44D9-8795-F40AA4378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0268C-1021-4D6B-AFA8-1A928D118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6AE0-2742-4784-AF5A-D1AC0AE5ACAD}" type="datetimeFigureOut">
              <a:rPr lang="en-US" smtClean="0"/>
              <a:t>23/3/2019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92BFB-A340-4293-BEA6-29D40243B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C188F-3D7E-4DF2-A158-CB4559330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0E03-D103-47D4-9DA4-D29F8EF08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8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imple Tit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11184" y="987465"/>
            <a:ext cx="10958709" cy="449571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algn="ctr">
              <a:defRPr sz="3333" cap="all">
                <a:solidFill>
                  <a:schemeClr val="tx1">
                    <a:lumMod val="75000"/>
                    <a:lumOff val="25000"/>
                  </a:schemeClr>
                </a:solidFill>
                <a:latin typeface="Lemon/Milk"/>
                <a:cs typeface="Lemon/Milk"/>
              </a:defRPr>
            </a:lvl1pPr>
          </a:lstStyle>
          <a:p>
            <a:r>
              <a:rPr lang="en-US" dirty="0"/>
              <a:t>title example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493360"/>
            <a:ext cx="10958701" cy="353459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ctr">
              <a:buNone/>
              <a:defRPr sz="1600" cap="all">
                <a:solidFill>
                  <a:schemeClr val="accent1"/>
                </a:solidFill>
                <a:latin typeface="Lato Black"/>
                <a:cs typeface="Lato Black"/>
              </a:defRPr>
            </a:lvl1pPr>
          </a:lstStyle>
          <a:p>
            <a:pPr lvl="0"/>
            <a:r>
              <a:rPr lang="en-US" dirty="0" err="1"/>
              <a:t>Subitle</a:t>
            </a:r>
            <a:r>
              <a:rPr lang="en-US" dirty="0"/>
              <a:t> Example here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231993" y="910980"/>
            <a:ext cx="3646311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olid"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85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963334" y="3680182"/>
            <a:ext cx="3623733" cy="1108879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>
              <a:lnSpc>
                <a:spcPct val="120000"/>
              </a:lnSpc>
              <a:buNone/>
              <a:defRPr lang="en-US" sz="1200" smtClean="0">
                <a:solidFill>
                  <a:schemeClr val="bg1"/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2963335" y="2574442"/>
            <a:ext cx="3623733" cy="1119596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algn="l">
              <a:defRPr sz="3333" cap="all">
                <a:solidFill>
                  <a:schemeClr val="bg1">
                    <a:lumMod val="95000"/>
                  </a:schemeClr>
                </a:solidFill>
                <a:latin typeface="Lemon/Milk"/>
                <a:cs typeface="Lemon/Milk"/>
              </a:defRPr>
            </a:lvl1pPr>
          </a:lstStyle>
          <a:p>
            <a:r>
              <a:rPr lang="en-US" dirty="0"/>
              <a:t>title example here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963334" y="2178737"/>
            <a:ext cx="2731911" cy="284793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  <a:latin typeface="Lato Black"/>
                <a:cs typeface="Lato Black"/>
              </a:defRPr>
            </a:lvl1pPr>
          </a:lstStyle>
          <a:p>
            <a:pPr lvl="0"/>
            <a:r>
              <a:rPr lang="en-US" dirty="0" err="1"/>
              <a:t>Subitle</a:t>
            </a:r>
            <a:r>
              <a:rPr lang="en-US" dirty="0"/>
              <a:t> Example here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270002" y="2178736"/>
            <a:ext cx="1388533" cy="1580464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 algn="r">
              <a:buNone/>
              <a:defRPr sz="10666" cap="all">
                <a:solidFill>
                  <a:schemeClr val="bg1">
                    <a:lumMod val="95000"/>
                  </a:schemeClr>
                </a:solidFill>
                <a:latin typeface="Lato Black"/>
                <a:cs typeface="Lato Black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80171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485C08-D005-4AB1-BBD7-73D510D0F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B796C-74C2-4656-8250-BF619F5DB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28D25-D2AE-490A-BF73-526C826D5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86AE0-2742-4784-AF5A-D1AC0AE5ACAD}" type="datetimeFigureOut">
              <a:rPr lang="en-US" smtClean="0"/>
              <a:t>23/3/2019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E802E-800E-4491-885F-51C388F4E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44BE4-6922-43E3-984D-2609A924B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0E03-D103-47D4-9DA4-D29F8EF08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33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freecodecamp.org/simple-chess-ai-step-by-step-1d55a9266977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553CA6-FA9A-4587-96FC-DC02E71C7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Heuristic Search</a:t>
            </a:r>
          </a:p>
        </p:txBody>
      </p:sp>
    </p:spTree>
    <p:extLst>
      <p:ext uri="{BB962C8B-B14F-4D97-AF65-F5344CB8AC3E}">
        <p14:creationId xmlns:p14="http://schemas.microsoft.com/office/powerpoint/2010/main" val="163011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6645" y="257623"/>
            <a:ext cx="10958709" cy="53834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CONTENTS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1654713" y="2052883"/>
            <a:ext cx="3205416" cy="284793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90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Lato Black"/>
                <a:ea typeface="Open Sans Light" panose="020B0306030504020204" pitchFamily="34" charset="0"/>
                <a:cs typeface="Lato Black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introduction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 rot="2700000">
            <a:off x="5361576" y="1727219"/>
            <a:ext cx="931324" cy="9361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id-ID" sz="2400"/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 rot="2700000">
            <a:off x="6169744" y="2387462"/>
            <a:ext cx="931324" cy="936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id-ID" sz="2400"/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 rot="2700000">
            <a:off x="5361577" y="4386662"/>
            <a:ext cx="931325" cy="9361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id-ID" sz="2400"/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 rot="2700000">
            <a:off x="5361576" y="3052765"/>
            <a:ext cx="931324" cy="9361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id-ID" sz="2400"/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 rot="2700000">
            <a:off x="6169744" y="3718063"/>
            <a:ext cx="931324" cy="93612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id-ID" sz="2400"/>
          </a:p>
        </p:txBody>
      </p:sp>
      <p:sp>
        <p:nvSpPr>
          <p:cNvPr id="7" name="TextBox 6"/>
          <p:cNvSpPr txBox="1"/>
          <p:nvPr/>
        </p:nvSpPr>
        <p:spPr>
          <a:xfrm>
            <a:off x="5564440" y="1940601"/>
            <a:ext cx="525595" cy="5027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667" dirty="0">
                <a:solidFill>
                  <a:schemeClr val="bg1"/>
                </a:solidFill>
                <a:latin typeface="FontAwesome"/>
                <a:ea typeface="FontAwesome"/>
                <a:cs typeface="FontAwesome"/>
                <a:sym typeface="FontAwesome"/>
              </a:rPr>
              <a:t>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30" name="Text Placeholder 5"/>
          <p:cNvSpPr txBox="1">
            <a:spLocks/>
          </p:cNvSpPr>
          <p:nvPr/>
        </p:nvSpPr>
        <p:spPr>
          <a:xfrm>
            <a:off x="7761455" y="2666911"/>
            <a:ext cx="3205416" cy="284793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90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Lato Black"/>
                <a:ea typeface="Open Sans Light" panose="020B0306030504020204" pitchFamily="34" charset="0"/>
                <a:cs typeface="Lato Black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Hill-climbing</a:t>
            </a:r>
          </a:p>
        </p:txBody>
      </p:sp>
      <p:sp>
        <p:nvSpPr>
          <p:cNvPr id="32" name="Text Placeholder 5"/>
          <p:cNvSpPr txBox="1">
            <a:spLocks/>
          </p:cNvSpPr>
          <p:nvPr/>
        </p:nvSpPr>
        <p:spPr>
          <a:xfrm>
            <a:off x="1654713" y="3378429"/>
            <a:ext cx="3205416" cy="284793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90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Lato Black"/>
                <a:ea typeface="Open Sans Light" panose="020B0306030504020204" pitchFamily="34" charset="0"/>
                <a:cs typeface="Lato Black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Best-first search algorithm</a:t>
            </a:r>
          </a:p>
        </p:txBody>
      </p:sp>
      <p:sp>
        <p:nvSpPr>
          <p:cNvPr id="34" name="Text Placeholder 5"/>
          <p:cNvSpPr txBox="1">
            <a:spLocks/>
          </p:cNvSpPr>
          <p:nvPr/>
        </p:nvSpPr>
        <p:spPr>
          <a:xfrm>
            <a:off x="7761455" y="4051729"/>
            <a:ext cx="3205416" cy="284793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90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Lato Black"/>
                <a:ea typeface="Open Sans Light" panose="020B0306030504020204" pitchFamily="34" charset="0"/>
                <a:cs typeface="Lato Black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Using heuristics in games</a:t>
            </a:r>
          </a:p>
        </p:txBody>
      </p:sp>
      <p:sp>
        <p:nvSpPr>
          <p:cNvPr id="38" name="Text Placeholder 5"/>
          <p:cNvSpPr txBox="1">
            <a:spLocks/>
          </p:cNvSpPr>
          <p:nvPr/>
        </p:nvSpPr>
        <p:spPr>
          <a:xfrm>
            <a:off x="1654713" y="4701271"/>
            <a:ext cx="3205416" cy="284793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90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Lato Black"/>
                <a:ea typeface="Open Sans Light" panose="020B0306030504020204" pitchFamily="34" charset="0"/>
                <a:cs typeface="Lato Black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The 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0404" y="3274355"/>
            <a:ext cx="525595" cy="5027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667" dirty="0">
                <a:solidFill>
                  <a:schemeClr val="bg1"/>
                </a:solidFill>
                <a:latin typeface="FontAwesome"/>
                <a:ea typeface="FontAwesome"/>
                <a:cs typeface="FontAwesome"/>
                <a:sym typeface="FontAwesome"/>
              </a:rPr>
              <a:t>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5296" y="3912929"/>
            <a:ext cx="525595" cy="5027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667" dirty="0">
                <a:solidFill>
                  <a:schemeClr val="bg1"/>
                </a:solidFill>
                <a:latin typeface="FontAwesome"/>
                <a:ea typeface="FontAwesome"/>
                <a:cs typeface="FontAwesome"/>
                <a:sym typeface="FontAwesome"/>
              </a:rPr>
              <a:t>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570404" y="4626973"/>
            <a:ext cx="525595" cy="5027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667" dirty="0">
                <a:solidFill>
                  <a:schemeClr val="bg1"/>
                </a:solidFill>
                <a:latin typeface="FontAwesome"/>
                <a:ea typeface="FontAwesome"/>
                <a:cs typeface="FontAwesome"/>
                <a:sym typeface="FontAwesome"/>
              </a:rPr>
              <a:t></a:t>
            </a:r>
            <a:endParaRPr lang="en-US" sz="2667" dirty="0">
              <a:solidFill>
                <a:schemeClr val="bg1"/>
              </a:solidFill>
            </a:endParaRP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F58B6F98-B3E2-43DD-811B-70E4DEF67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908" y="2523623"/>
            <a:ext cx="603470" cy="57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5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7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40" decel="100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7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40" decel="100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7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40" decel="100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37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40" decel="100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8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animBg="1"/>
      <p:bldP spid="26" grpId="0" animBg="1"/>
      <p:bldP spid="28" grpId="0" animBg="1"/>
      <p:bldP spid="29" grpId="0" animBg="1"/>
      <p:bldP spid="7" grpId="0"/>
      <p:bldP spid="30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37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/>
      <p:bldP spid="42" grpId="0"/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/>
          <p:cNvSpPr>
            <a:spLocks noGrp="1"/>
          </p:cNvSpPr>
          <p:nvPr>
            <p:ph type="title"/>
          </p:nvPr>
        </p:nvSpPr>
        <p:spPr>
          <a:xfrm>
            <a:off x="3240172" y="2800944"/>
            <a:ext cx="3623733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introduction</a:t>
            </a:r>
          </a:p>
        </p:txBody>
      </p:sp>
      <p:sp>
        <p:nvSpPr>
          <p:cNvPr id="36" name="Text Placeholder 35"/>
          <p:cNvSpPr>
            <a:spLocks noGrp="1"/>
          </p:cNvSpPr>
          <p:nvPr>
            <p:ph type="body" sz="quarter" idx="10"/>
          </p:nvPr>
        </p:nvSpPr>
        <p:spPr>
          <a:xfrm>
            <a:off x="3240171" y="2405239"/>
            <a:ext cx="2731911" cy="284793"/>
          </a:xfrm>
        </p:spPr>
        <p:txBody>
          <a:bodyPr/>
          <a:lstStyle/>
          <a:p>
            <a:r>
              <a:rPr lang="en-US" dirty="0"/>
              <a:t>Heuristics 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546839" y="2405238"/>
            <a:ext cx="1388533" cy="1580464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FontAwesome"/>
                <a:ea typeface="FontAwesome"/>
                <a:cs typeface="FontAwesome"/>
                <a:sym typeface="FontAwesome"/>
              </a:rPr>
              <a:t>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3336130" y="2800943"/>
            <a:ext cx="3646311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olid"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BD118E-1594-4DBF-A392-8F019BE412C3}"/>
              </a:ext>
            </a:extLst>
          </p:cNvPr>
          <p:cNvSpPr txBox="1">
            <a:spLocks/>
          </p:cNvSpPr>
          <p:nvPr/>
        </p:nvSpPr>
        <p:spPr>
          <a:xfrm>
            <a:off x="504977" y="1968759"/>
            <a:ext cx="10920829" cy="444137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Tx/>
              <a:buChar char="-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Is a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method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to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solve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a problem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,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not guaranteed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to be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optimal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,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perfect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,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logical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, or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rational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, but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fast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for reaching an immediate goal.</a:t>
            </a:r>
          </a:p>
          <a:p>
            <a:pPr marL="171450" indent="-171450">
              <a:buFontTx/>
              <a:buChar char="-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Is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familiar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to our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daily life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For example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Faced with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a lunch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menu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with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too many options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without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prepared?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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opt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for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what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you’ve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enjoyed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in the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past.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Finding path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to new location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based on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path you have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discovered before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Choose a chapter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which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most important and easy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on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recent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examination’s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question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to study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This presentation will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not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be a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“best”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that makes you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master the Heuristics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but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“good”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to makes you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understand it quickly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.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</p:txBody>
      </p:sp>
      <p:sp>
        <p:nvSpPr>
          <p:cNvPr id="8" name="Title 34">
            <a:extLst>
              <a:ext uri="{FF2B5EF4-FFF2-40B4-BE49-F238E27FC236}">
                <a16:creationId xmlns:a16="http://schemas.microsoft.com/office/drawing/2014/main" id="{8BC61582-8977-4A4A-96FD-5DECDB1B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7" y="344283"/>
            <a:ext cx="3781797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HEURISTICS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BDEDF5F-9E48-46B2-9467-2F90181CE0F1}"/>
              </a:ext>
            </a:extLst>
          </p:cNvPr>
          <p:cNvSpPr txBox="1">
            <a:spLocks/>
          </p:cNvSpPr>
          <p:nvPr/>
        </p:nvSpPr>
        <p:spPr>
          <a:xfrm>
            <a:off x="504976" y="1060878"/>
            <a:ext cx="6994781" cy="58336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UK: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/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hjʊəˈrɪs.tɪk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/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US: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/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hju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:ˈ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rɪs.tɪk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/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891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40" decel="100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40" decel="100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40" decel="100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40" decel="100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40" decel="100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BD118E-1594-4DBF-A392-8F019BE412C3}"/>
              </a:ext>
            </a:extLst>
          </p:cNvPr>
          <p:cNvSpPr txBox="1">
            <a:spLocks/>
          </p:cNvSpPr>
          <p:nvPr/>
        </p:nvSpPr>
        <p:spPr>
          <a:xfrm>
            <a:off x="504976" y="1735121"/>
            <a:ext cx="11186281" cy="456304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Tx/>
              <a:buChar char="-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Is a method that</a:t>
            </a:r>
          </a:p>
          <a:p>
            <a:pPr marL="685787" lvl="1" indent="-171450">
              <a:buFontTx/>
              <a:buChar char="-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might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not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always find the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best solution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.</a:t>
            </a:r>
          </a:p>
          <a:p>
            <a:pPr marL="685787" lvl="1" indent="-171450">
              <a:buFontTx/>
              <a:buChar char="-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but is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guaranteed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to find a good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solution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in reasonable time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(cost).</a:t>
            </a:r>
          </a:p>
          <a:p>
            <a:pPr marL="171450" indent="-171450">
              <a:buFontTx/>
              <a:buChar char="-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By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sacrificing completeness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it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increases efficiency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Useful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in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solving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tough problems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which</a:t>
            </a:r>
          </a:p>
          <a:p>
            <a:pPr marL="685787" lvl="1" indent="-171450">
              <a:buFontTx/>
              <a:buChar char="-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could not be solved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any other way.</a:t>
            </a:r>
          </a:p>
          <a:p>
            <a:pPr marL="685787" lvl="1" indent="-171450">
              <a:buFontTx/>
              <a:buChar char="-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solutions take an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infinite time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or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very long time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to compute.</a:t>
            </a:r>
          </a:p>
        </p:txBody>
      </p:sp>
      <p:sp>
        <p:nvSpPr>
          <p:cNvPr id="8" name="Title 34">
            <a:extLst>
              <a:ext uri="{FF2B5EF4-FFF2-40B4-BE49-F238E27FC236}">
                <a16:creationId xmlns:a16="http://schemas.microsoft.com/office/drawing/2014/main" id="{8BC61582-8977-4A4A-96FD-5DECDB1B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HEURISTICS SEARCH in computer science </a:t>
            </a:r>
          </a:p>
        </p:txBody>
      </p:sp>
    </p:spTree>
    <p:extLst>
      <p:ext uri="{BB962C8B-B14F-4D97-AF65-F5344CB8AC3E}">
        <p14:creationId xmlns:p14="http://schemas.microsoft.com/office/powerpoint/2010/main" val="336916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 nodePh="1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 nodePh="1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40" decel="100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40" decel="100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40" decel="100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0" nodeType="withEffect" nodePh="1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40" decel="100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/>
          <p:cNvSpPr>
            <a:spLocks noGrp="1"/>
          </p:cNvSpPr>
          <p:nvPr>
            <p:ph type="title"/>
          </p:nvPr>
        </p:nvSpPr>
        <p:spPr>
          <a:xfrm>
            <a:off x="3240172" y="2800944"/>
            <a:ext cx="6334752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Hill-climbing method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and dynamic programming</a:t>
            </a:r>
          </a:p>
        </p:txBody>
      </p:sp>
      <p:sp>
        <p:nvSpPr>
          <p:cNvPr id="36" name="Text Placeholder 35"/>
          <p:cNvSpPr>
            <a:spLocks noGrp="1"/>
          </p:cNvSpPr>
          <p:nvPr>
            <p:ph type="body" sz="quarter" idx="10"/>
          </p:nvPr>
        </p:nvSpPr>
        <p:spPr>
          <a:xfrm>
            <a:off x="3240171" y="2405239"/>
            <a:ext cx="2731911" cy="284793"/>
          </a:xfrm>
        </p:spPr>
        <p:txBody>
          <a:bodyPr/>
          <a:lstStyle/>
          <a:p>
            <a:r>
              <a:rPr lang="en-US" dirty="0"/>
              <a:t>Heuristics search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3336130" y="2800943"/>
            <a:ext cx="3646311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olid"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953EF92-B731-45EF-A0FF-82B7E1C3F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758" y="2084566"/>
            <a:ext cx="1956665" cy="194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5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BD118E-1594-4DBF-A392-8F019BE412C3}"/>
              </a:ext>
            </a:extLst>
          </p:cNvPr>
          <p:cNvSpPr txBox="1">
            <a:spLocks/>
          </p:cNvSpPr>
          <p:nvPr/>
        </p:nvSpPr>
        <p:spPr>
          <a:xfrm>
            <a:off x="504976" y="1735121"/>
            <a:ext cx="11189277" cy="455662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Hill-climbing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 is a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mathematical optimization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technique: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Belongs to the family of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local search.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Is an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iterative algorithm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that ..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How to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Starts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with an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arbitrary solution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to a problem, make a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change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 then: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Repeat: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[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If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the change produces a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better solution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, another incremental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change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is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made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to the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new solution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]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</a:b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Until    : No further improvements can be found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Got a “good” solution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For Example: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“Solve” function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in Casio Calculator</a:t>
            </a:r>
          </a:p>
        </p:txBody>
      </p:sp>
      <p:sp>
        <p:nvSpPr>
          <p:cNvPr id="8" name="Title 34">
            <a:extLst>
              <a:ext uri="{FF2B5EF4-FFF2-40B4-BE49-F238E27FC236}">
                <a16:creationId xmlns:a16="http://schemas.microsoft.com/office/drawing/2014/main" id="{8BC61582-8977-4A4A-96FD-5DECDB1B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02242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“Hill-climbing” method?</a:t>
            </a:r>
          </a:p>
        </p:txBody>
      </p:sp>
    </p:spTree>
    <p:extLst>
      <p:ext uri="{BB962C8B-B14F-4D97-AF65-F5344CB8AC3E}">
        <p14:creationId xmlns:p14="http://schemas.microsoft.com/office/powerpoint/2010/main" val="186461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40" decel="100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40" decel="100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40" decel="100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40" decel="100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40" decel="100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40" decel="100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31A0C0-2FFB-4222-87BC-024016A66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63" y="1722880"/>
            <a:ext cx="7400925" cy="4357591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1030AB2-40F0-47DD-9A26-F3151046C9D2}"/>
              </a:ext>
            </a:extLst>
          </p:cNvPr>
          <p:cNvSpPr txBox="1">
            <a:spLocks/>
          </p:cNvSpPr>
          <p:nvPr/>
        </p:nvSpPr>
        <p:spPr>
          <a:xfrm>
            <a:off x="7753739" y="1959266"/>
            <a:ext cx="4272060" cy="3884817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Start with an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arbitrary solution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, make an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incremental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change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</a:endParaRPr>
          </a:p>
          <a:p>
            <a:pPr marL="285750" indent="-285750">
              <a:buFontTx/>
              <a:buChar char="-"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Repeat: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[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If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the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change produces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a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better solution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,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make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another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incremental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change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to the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new solution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]</a:t>
            </a:r>
            <a:b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</a:b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Until    : No further improvements can be found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Got a “good” solution,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but..</a:t>
            </a:r>
            <a:endParaRPr lang="en-US" sz="1800" dirty="0">
              <a:solidFill>
                <a:schemeClr val="accent2">
                  <a:lumMod val="75000"/>
                </a:schemeClr>
              </a:solidFill>
              <a:latin typeface="Helvetica" pitchFamily="2" charset="0"/>
              <a:sym typeface="Wingdings" panose="05000000000000000000" pitchFamily="2" charset="2"/>
            </a:endParaRPr>
          </a:p>
        </p:txBody>
      </p:sp>
      <p:sp>
        <p:nvSpPr>
          <p:cNvPr id="10" name="Title 34">
            <a:extLst>
              <a:ext uri="{FF2B5EF4-FFF2-40B4-BE49-F238E27FC236}">
                <a16:creationId xmlns:a16="http://schemas.microsoft.com/office/drawing/2014/main" id="{367704DF-CD8B-4D88-8113-75F045016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Let’s give a try</a:t>
            </a:r>
          </a:p>
        </p:txBody>
      </p:sp>
    </p:spTree>
    <p:extLst>
      <p:ext uri="{BB962C8B-B14F-4D97-AF65-F5344CB8AC3E}">
        <p14:creationId xmlns:p14="http://schemas.microsoft.com/office/powerpoint/2010/main" val="285906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1030AB2-40F0-47DD-9A26-F3151046C9D2}"/>
              </a:ext>
            </a:extLst>
          </p:cNvPr>
          <p:cNvSpPr txBox="1">
            <a:spLocks/>
          </p:cNvSpPr>
          <p:nvPr/>
        </p:nvSpPr>
        <p:spPr>
          <a:xfrm>
            <a:off x="7753739" y="1306286"/>
            <a:ext cx="4272060" cy="464664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Local maxima problem: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At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a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local maximum,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all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neighboring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states have a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values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which is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worse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than the current state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but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still not as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best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as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global maximum.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Solve: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Backtracking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technique: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Maintain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a list of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visited states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. If the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search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reaches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an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undesirable state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, it can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backtrack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to the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previous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configuration and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explore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a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new path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Random walk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10" name="Title 34">
            <a:extLst>
              <a:ext uri="{FF2B5EF4-FFF2-40B4-BE49-F238E27FC236}">
                <a16:creationId xmlns:a16="http://schemas.microsoft.com/office/drawing/2014/main" id="{367704DF-CD8B-4D88-8113-75F045016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Problem #1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94C2D4-31E4-4553-8ED3-648583593C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8" t="2416" b="1882"/>
          <a:stretch/>
        </p:blipFill>
        <p:spPr>
          <a:xfrm>
            <a:off x="429208" y="1887904"/>
            <a:ext cx="7258049" cy="39561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431618-10EA-491B-A874-7332410B0B66}"/>
              </a:ext>
            </a:extLst>
          </p:cNvPr>
          <p:cNvSpPr txBox="1"/>
          <p:nvPr/>
        </p:nvSpPr>
        <p:spPr>
          <a:xfrm>
            <a:off x="1240221" y="3339073"/>
            <a:ext cx="264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Local maximum</a:t>
            </a:r>
          </a:p>
        </p:txBody>
      </p:sp>
    </p:spTree>
    <p:extLst>
      <p:ext uri="{BB962C8B-B14F-4D97-AF65-F5344CB8AC3E}">
        <p14:creationId xmlns:p14="http://schemas.microsoft.com/office/powerpoint/2010/main" val="121675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40" decel="100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1030AB2-40F0-47DD-9A26-F3151046C9D2}"/>
              </a:ext>
            </a:extLst>
          </p:cNvPr>
          <p:cNvSpPr txBox="1">
            <a:spLocks/>
          </p:cNvSpPr>
          <p:nvPr/>
        </p:nvSpPr>
        <p:spPr>
          <a:xfrm>
            <a:off x="7753739" y="1614196"/>
            <a:ext cx="4272060" cy="4229887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Plateau problem: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On plateau all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neighbors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have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same value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. Hence, it is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not possible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to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select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the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best direction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Solve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Make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a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big jump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Randomly select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a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state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far away from current state.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Chances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are that we will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land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at a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non-plateau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region</a:t>
            </a:r>
          </a:p>
        </p:txBody>
      </p:sp>
      <p:sp>
        <p:nvSpPr>
          <p:cNvPr id="10" name="Title 34">
            <a:extLst>
              <a:ext uri="{FF2B5EF4-FFF2-40B4-BE49-F238E27FC236}">
                <a16:creationId xmlns:a16="http://schemas.microsoft.com/office/drawing/2014/main" id="{367704DF-CD8B-4D88-8113-75F045016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Problem #2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73053C-C98C-4A54-A40D-9799FCE087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5" t="2257" b="2267"/>
          <a:stretch/>
        </p:blipFill>
        <p:spPr>
          <a:xfrm>
            <a:off x="438543" y="1877014"/>
            <a:ext cx="7248719" cy="39468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B28B7B-D5F0-4630-ADF7-0EF6E2A799D9}"/>
              </a:ext>
            </a:extLst>
          </p:cNvPr>
          <p:cNvSpPr txBox="1"/>
          <p:nvPr/>
        </p:nvSpPr>
        <p:spPr>
          <a:xfrm>
            <a:off x="1240221" y="3729139"/>
            <a:ext cx="264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Local plateau maximum</a:t>
            </a:r>
          </a:p>
        </p:txBody>
      </p:sp>
    </p:spTree>
    <p:extLst>
      <p:ext uri="{BB962C8B-B14F-4D97-AF65-F5344CB8AC3E}">
        <p14:creationId xmlns:p14="http://schemas.microsoft.com/office/powerpoint/2010/main" val="118871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40" decel="100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40" decel="100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1030AB2-40F0-47DD-9A26-F3151046C9D2}"/>
              </a:ext>
            </a:extLst>
          </p:cNvPr>
          <p:cNvSpPr txBox="1">
            <a:spLocks/>
          </p:cNvSpPr>
          <p:nvPr/>
        </p:nvSpPr>
        <p:spPr>
          <a:xfrm>
            <a:off x="7753739" y="1614196"/>
            <a:ext cx="4272060" cy="4229887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Ridge problem: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Any point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on a ridge can look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like peak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because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movement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in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all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possible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directions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is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downward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. Hence the algorithm stops when it reaches this state.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Solve: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Improve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incremental change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function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(make a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smaller step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, using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rate of change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, etc.)</a:t>
            </a:r>
            <a:endParaRPr lang="en-US" sz="18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sym typeface="Wingdings" panose="05000000000000000000" pitchFamily="2" charset="2"/>
            </a:endParaRPr>
          </a:p>
        </p:txBody>
      </p:sp>
      <p:sp>
        <p:nvSpPr>
          <p:cNvPr id="10" name="Title 34">
            <a:extLst>
              <a:ext uri="{FF2B5EF4-FFF2-40B4-BE49-F238E27FC236}">
                <a16:creationId xmlns:a16="http://schemas.microsoft.com/office/drawing/2014/main" id="{367704DF-CD8B-4D88-8113-75F045016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Problem #3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73053C-C98C-4A54-A40D-9799FCE087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" t="2560" b="2168"/>
          <a:stretch/>
        </p:blipFill>
        <p:spPr>
          <a:xfrm>
            <a:off x="486314" y="1867682"/>
            <a:ext cx="6934204" cy="376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37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4">
            <a:extLst>
              <a:ext uri="{FF2B5EF4-FFF2-40B4-BE49-F238E27FC236}">
                <a16:creationId xmlns:a16="http://schemas.microsoft.com/office/drawing/2014/main" id="{83FACA6A-2849-478A-8C11-25F1559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4AF42-8B8E-443B-A508-E08D68E19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87" y="1383889"/>
            <a:ext cx="5801535" cy="390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6A952B-B929-4443-B9F2-2080F2D04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87" y="1774469"/>
            <a:ext cx="3724795" cy="362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C6A630-4EDF-45B2-AEC4-3F3A14D2B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87" y="2136470"/>
            <a:ext cx="3591426" cy="1390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0956BC-569F-4A4A-83BA-270F749253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39" y="3704580"/>
            <a:ext cx="7144747" cy="21815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13061B-17FE-4CE4-B7CB-44286D4056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3486" y="658882"/>
            <a:ext cx="4316138" cy="554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636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BD118E-1594-4DBF-A392-8F019BE412C3}"/>
              </a:ext>
            </a:extLst>
          </p:cNvPr>
          <p:cNvSpPr txBox="1">
            <a:spLocks/>
          </p:cNvSpPr>
          <p:nvPr/>
        </p:nvSpPr>
        <p:spPr>
          <a:xfrm>
            <a:off x="504976" y="1735121"/>
            <a:ext cx="11189277" cy="455662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Hill-climbing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 is a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mathematical optimization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technique: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Belongs to the family of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local search.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Is an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iterative algorithm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that ..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How to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Starts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with an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arbitrary solution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to a problem, make a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change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 then: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Repeat: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[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If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the change produces a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better solution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, another incremental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change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is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made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to the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new solution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]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</a:b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Until    : No further improvements can be found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Got a “good” solution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For Example: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“Solve” function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in Casio Calculator</a:t>
            </a:r>
          </a:p>
        </p:txBody>
      </p:sp>
      <p:sp>
        <p:nvSpPr>
          <p:cNvPr id="8" name="Title 34">
            <a:extLst>
              <a:ext uri="{FF2B5EF4-FFF2-40B4-BE49-F238E27FC236}">
                <a16:creationId xmlns:a16="http://schemas.microsoft.com/office/drawing/2014/main" id="{8BC61582-8977-4A4A-96FD-5DECDB1B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02242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58803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40" decel="100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40" decel="100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40" decel="100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40" decel="100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40" decel="100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40" decel="100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/>
          <p:cNvSpPr>
            <a:spLocks noGrp="1"/>
          </p:cNvSpPr>
          <p:nvPr>
            <p:ph type="title"/>
          </p:nvPr>
        </p:nvSpPr>
        <p:spPr>
          <a:xfrm>
            <a:off x="3240172" y="2800944"/>
            <a:ext cx="7556459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Best-first search algorithm</a:t>
            </a:r>
          </a:p>
        </p:txBody>
      </p:sp>
      <p:sp>
        <p:nvSpPr>
          <p:cNvPr id="36" name="Text Placeholder 35"/>
          <p:cNvSpPr>
            <a:spLocks noGrp="1"/>
          </p:cNvSpPr>
          <p:nvPr>
            <p:ph type="body" sz="quarter" idx="10"/>
          </p:nvPr>
        </p:nvSpPr>
        <p:spPr>
          <a:xfrm>
            <a:off x="3240171" y="2405239"/>
            <a:ext cx="2731911" cy="284793"/>
          </a:xfrm>
        </p:spPr>
        <p:txBody>
          <a:bodyPr/>
          <a:lstStyle/>
          <a:p>
            <a:r>
              <a:rPr lang="en-US" dirty="0"/>
              <a:t>Heuristics 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546839" y="2405238"/>
            <a:ext cx="1388533" cy="1580464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FontAwesome"/>
                <a:ea typeface="FontAwesome"/>
                <a:cs typeface="FontAwesome"/>
                <a:sym typeface="FontAwesome"/>
              </a:rPr>
              <a:t>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3336130" y="2800943"/>
            <a:ext cx="3646311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olid"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34">
            <a:extLst>
              <a:ext uri="{FF2B5EF4-FFF2-40B4-BE49-F238E27FC236}">
                <a16:creationId xmlns:a16="http://schemas.microsoft.com/office/drawing/2014/main" id="{0ACFECEC-E648-43AF-9B1F-4A2912DB548B}"/>
              </a:ext>
            </a:extLst>
          </p:cNvPr>
          <p:cNvSpPr txBox="1">
            <a:spLocks/>
          </p:cNvSpPr>
          <p:nvPr/>
        </p:nvSpPr>
        <p:spPr>
          <a:xfrm>
            <a:off x="3250220" y="3920540"/>
            <a:ext cx="7556459" cy="111959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33" kern="1200" cap="all">
                <a:solidFill>
                  <a:schemeClr val="bg1">
                    <a:lumMod val="95000"/>
                  </a:schemeClr>
                </a:solidFill>
                <a:latin typeface="Lemon/Milk"/>
                <a:ea typeface="+mj-ea"/>
                <a:cs typeface="Lemon/Milk"/>
              </a:defRPr>
            </a:lvl1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Breadth-first search algorithm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B7BAED-B652-4E32-B963-F1849630E6F4}"/>
              </a:ext>
            </a:extLst>
          </p:cNvPr>
          <p:cNvCxnSpPr>
            <a:cxnSpLocks/>
          </p:cNvCxnSpPr>
          <p:nvPr/>
        </p:nvCxnSpPr>
        <p:spPr>
          <a:xfrm>
            <a:off x="3220075" y="4470290"/>
            <a:ext cx="6583680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70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4">
            <a:extLst>
              <a:ext uri="{FF2B5EF4-FFF2-40B4-BE49-F238E27FC236}">
                <a16:creationId xmlns:a16="http://schemas.microsoft.com/office/drawing/2014/main" id="{83FACA6A-2849-478A-8C11-25F1559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BEST-FIRST?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F14EDC-0380-4148-8A3F-8657A4E51554}"/>
              </a:ext>
            </a:extLst>
          </p:cNvPr>
          <p:cNvSpPr txBox="1">
            <a:spLocks/>
          </p:cNvSpPr>
          <p:nvPr/>
        </p:nvSpPr>
        <p:spPr>
          <a:xfrm>
            <a:off x="504976" y="1735121"/>
            <a:ext cx="11189277" cy="455662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Simple: choose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 what seem to be most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“best” first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Example:</a:t>
            </a:r>
          </a:p>
          <a:p>
            <a:pPr marL="857237" lvl="1" indent="-342900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Do the most valuable question first in examination.</a:t>
            </a:r>
          </a:p>
          <a:p>
            <a:pPr marL="857237" lvl="1" indent="-342900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Ship the package which has nearest location first.</a:t>
            </a:r>
          </a:p>
          <a:p>
            <a:pPr marL="857237" lvl="1" indent="-342900"/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sym typeface="Wingdings" panose="05000000000000000000" pitchFamily="2" charset="2"/>
            </a:endParaRPr>
          </a:p>
        </p:txBody>
      </p:sp>
      <p:pic>
        <p:nvPicPr>
          <p:cNvPr id="3074" name="Picture 2" descr="Kết quả hình ảnh cho SHIPPER BETWEEN NODE ALGO">
            <a:extLst>
              <a:ext uri="{FF2B5EF4-FFF2-40B4-BE49-F238E27FC236}">
                <a16:creationId xmlns:a16="http://schemas.microsoft.com/office/drawing/2014/main" id="{073EFE6B-2EAF-4B60-9D4F-7F2F498AA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418" y="1463879"/>
            <a:ext cx="39243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502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40" decel="100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4">
            <a:extLst>
              <a:ext uri="{FF2B5EF4-FFF2-40B4-BE49-F238E27FC236}">
                <a16:creationId xmlns:a16="http://schemas.microsoft.com/office/drawing/2014/main" id="{83FACA6A-2849-478A-8C11-25F1559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Review Dijkstra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9CF969-F320-4711-9F67-86F189AEBD03}"/>
                  </a:ext>
                </a:extLst>
              </p:cNvPr>
              <p:cNvSpPr txBox="1"/>
              <p:nvPr/>
            </p:nvSpPr>
            <p:spPr>
              <a:xfrm>
                <a:off x="3453853" y="1463879"/>
                <a:ext cx="528429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9CF969-F320-4711-9F67-86F189AEB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853" y="1463879"/>
                <a:ext cx="5284293" cy="369332"/>
              </a:xfrm>
              <a:prstGeom prst="rect">
                <a:avLst/>
              </a:prstGeom>
              <a:blipFill>
                <a:blip r:embed="rId2"/>
                <a:stretch>
                  <a:fillRect l="-1501" r="-2309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 descr="Dijkstra's algorithm runtime">
            <a:extLst>
              <a:ext uri="{FF2B5EF4-FFF2-40B4-BE49-F238E27FC236}">
                <a16:creationId xmlns:a16="http://schemas.microsoft.com/office/drawing/2014/main" id="{4A44C9C0-F19D-4431-88D0-775FEFDFFC3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872" y="2421968"/>
            <a:ext cx="4908253" cy="38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649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4">
            <a:extLst>
              <a:ext uri="{FF2B5EF4-FFF2-40B4-BE49-F238E27FC236}">
                <a16:creationId xmlns:a16="http://schemas.microsoft.com/office/drawing/2014/main" id="{83FACA6A-2849-478A-8C11-25F1559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BEST-FIRST search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F14EDC-0380-4148-8A3F-8657A4E51554}"/>
              </a:ext>
            </a:extLst>
          </p:cNvPr>
          <p:cNvSpPr txBox="1">
            <a:spLocks/>
          </p:cNvSpPr>
          <p:nvPr/>
        </p:nvSpPr>
        <p:spPr>
          <a:xfrm>
            <a:off x="504976" y="1735121"/>
            <a:ext cx="11189277" cy="455662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Is a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search algorithm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which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explores a graph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by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expanding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 the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most promising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node chosen according to a specified rule.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sym typeface="Wingdings" panose="05000000000000000000" pitchFamily="2" charset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861331-548B-4CB5-82A7-E28C95ECE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176" y="2499820"/>
            <a:ext cx="54578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0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4">
            <a:extLst>
              <a:ext uri="{FF2B5EF4-FFF2-40B4-BE49-F238E27FC236}">
                <a16:creationId xmlns:a16="http://schemas.microsoft.com/office/drawing/2014/main" id="{83FACA6A-2849-478A-8C11-25F1559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BEST-FIRST search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F14EDC-0380-4148-8A3F-8657A4E51554}"/>
              </a:ext>
            </a:extLst>
          </p:cNvPr>
          <p:cNvSpPr txBox="1">
            <a:spLocks/>
          </p:cNvSpPr>
          <p:nvPr/>
        </p:nvSpPr>
        <p:spPr>
          <a:xfrm>
            <a:off x="7178565" y="1735121"/>
            <a:ext cx="4515687" cy="455662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Example: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This is a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tree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Find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the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path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from S to I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. 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</a:b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Low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discovery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cost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is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required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!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Using Best-first Search.</a:t>
            </a:r>
          </a:p>
        </p:txBody>
      </p:sp>
      <p:pic>
        <p:nvPicPr>
          <p:cNvPr id="1026" name="Picture 2" descr="BFS">
            <a:extLst>
              <a:ext uri="{FF2B5EF4-FFF2-40B4-BE49-F238E27FC236}">
                <a16:creationId xmlns:a16="http://schemas.microsoft.com/office/drawing/2014/main" id="{45CC5941-7F8F-42FC-B2C3-84CB00692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7" r="2333"/>
          <a:stretch/>
        </p:blipFill>
        <p:spPr bwMode="auto">
          <a:xfrm>
            <a:off x="0" y="1566041"/>
            <a:ext cx="7008811" cy="419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4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40" decel="100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4">
            <a:extLst>
              <a:ext uri="{FF2B5EF4-FFF2-40B4-BE49-F238E27FC236}">
                <a16:creationId xmlns:a16="http://schemas.microsoft.com/office/drawing/2014/main" id="{83FACA6A-2849-478A-8C11-25F1559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example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F14EDC-0380-4148-8A3F-8657A4E51554}"/>
              </a:ext>
            </a:extLst>
          </p:cNvPr>
          <p:cNvSpPr txBox="1">
            <a:spLocks/>
          </p:cNvSpPr>
          <p:nvPr/>
        </p:nvSpPr>
        <p:spPr>
          <a:xfrm>
            <a:off x="7178565" y="903891"/>
            <a:ext cx="4515687" cy="5387852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#Pseudocode: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open = []; closed=[]; goal = I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evaluate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(node):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 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if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(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node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</a:t>
            </a:r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is not 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goal):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  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open.</a:t>
            </a:r>
            <a:r>
              <a:rPr lang="en-US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delete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(node);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  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closed.</a:t>
            </a:r>
            <a:r>
              <a:rPr lang="en-US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sortAdd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(node);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  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open.</a:t>
            </a:r>
            <a:r>
              <a:rPr lang="en-US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sortAdd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(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node.getChildList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());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   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for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(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Node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childNode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in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open):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     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evaluate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(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childNode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 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else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     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“Found it”</a:t>
            </a:r>
          </a:p>
          <a:p>
            <a:pPr>
              <a:lnSpc>
                <a:spcPct val="100000"/>
              </a:lnSpc>
            </a:pP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&gt;&gt; evaluate(s)</a:t>
            </a:r>
          </a:p>
        </p:txBody>
      </p:sp>
      <p:pic>
        <p:nvPicPr>
          <p:cNvPr id="1026" name="Picture 2" descr="BFS">
            <a:extLst>
              <a:ext uri="{FF2B5EF4-FFF2-40B4-BE49-F238E27FC236}">
                <a16:creationId xmlns:a16="http://schemas.microsoft.com/office/drawing/2014/main" id="{45CC5941-7F8F-42FC-B2C3-84CB00692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7" r="2333"/>
          <a:stretch/>
        </p:blipFill>
        <p:spPr bwMode="auto">
          <a:xfrm>
            <a:off x="0" y="1566041"/>
            <a:ext cx="7008811" cy="419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060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40" decel="100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40" decel="100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40" decel="100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40" decel="100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40" decel="100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40" decel="100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40" decel="100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40" decel="100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40" decel="100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4">
            <a:extLst>
              <a:ext uri="{FF2B5EF4-FFF2-40B4-BE49-F238E27FC236}">
                <a16:creationId xmlns:a16="http://schemas.microsoft.com/office/drawing/2014/main" id="{83FACA6A-2849-478A-8C11-25F1559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example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F14EDC-0380-4148-8A3F-8657A4E51554}"/>
              </a:ext>
            </a:extLst>
          </p:cNvPr>
          <p:cNvSpPr txBox="1">
            <a:spLocks/>
          </p:cNvSpPr>
          <p:nvPr/>
        </p:nvSpPr>
        <p:spPr>
          <a:xfrm>
            <a:off x="6758152" y="904081"/>
            <a:ext cx="5507420" cy="5387852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4163" indent="-284163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1712913" algn="l"/>
              </a:tabLst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open = [], closed = []</a:t>
            </a:r>
          </a:p>
          <a:p>
            <a:pPr marL="284163" indent="-284163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1712913" algn="l"/>
              </a:tabLst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evaluate(S0), open = [A3, C5, B6], </a:t>
            </a:r>
            <a:b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</a:b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	closed = [S0]</a:t>
            </a:r>
          </a:p>
          <a:p>
            <a:pPr marL="284163" indent="-284163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1712913" algn="l"/>
              </a:tabLst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evaluate(A3), open = [C5, B6 E8, D9], </a:t>
            </a:r>
            <a:b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</a:b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	closed = [S0, A3]</a:t>
            </a:r>
          </a:p>
          <a:p>
            <a:pPr marL="284163" indent="-284163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1712913" algn="l"/>
              </a:tabLst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evaluate(C5), open = [B6, H7, E8, D9], </a:t>
            </a:r>
            <a:b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</a:b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	closed = [S0, A3, C5]</a:t>
            </a:r>
          </a:p>
          <a:p>
            <a:pPr marL="284163" indent="-284163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1712913" algn="l"/>
              </a:tabLst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evaluate(B6), open = [H7, E8, D9, F12, G14], </a:t>
            </a:r>
            <a:b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</a:b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	closed = [S0, A3, C5, B6]</a:t>
            </a:r>
          </a:p>
          <a:p>
            <a:pPr marL="284163" indent="-284163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1712913" algn="l"/>
              </a:tabLst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evaluate(H7), open = [I5, E8, D9, F12, G14], </a:t>
            </a:r>
            <a:b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</a:b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	closed = [S0, A3, C5, B6. H7]</a:t>
            </a:r>
          </a:p>
          <a:p>
            <a:pPr marL="284163" indent="-284163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1712913" algn="l"/>
              </a:tabLst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evaluate(I5), 	the solution is found!</a:t>
            </a:r>
          </a:p>
        </p:txBody>
      </p:sp>
      <p:pic>
        <p:nvPicPr>
          <p:cNvPr id="1026" name="Picture 2" descr="BFS">
            <a:extLst>
              <a:ext uri="{FF2B5EF4-FFF2-40B4-BE49-F238E27FC236}">
                <a16:creationId xmlns:a16="http://schemas.microsoft.com/office/drawing/2014/main" id="{45CC5941-7F8F-42FC-B2C3-84CB00692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7" r="2333"/>
          <a:stretch/>
        </p:blipFill>
        <p:spPr bwMode="auto">
          <a:xfrm>
            <a:off x="1" y="1566041"/>
            <a:ext cx="6663558" cy="419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52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40" decel="100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40" decel="100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40" decel="100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40" decel="100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4">
            <a:extLst>
              <a:ext uri="{FF2B5EF4-FFF2-40B4-BE49-F238E27FC236}">
                <a16:creationId xmlns:a16="http://schemas.microsoft.com/office/drawing/2014/main" id="{83FACA6A-2849-478A-8C11-25F1559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What if?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F14EDC-0380-4148-8A3F-8657A4E51554}"/>
              </a:ext>
            </a:extLst>
          </p:cNvPr>
          <p:cNvSpPr txBox="1">
            <a:spLocks/>
          </p:cNvSpPr>
          <p:nvPr/>
        </p:nvSpPr>
        <p:spPr>
          <a:xfrm>
            <a:off x="6758152" y="904081"/>
            <a:ext cx="5507420" cy="5387852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00"/>
              </a:spcBef>
              <a:tabLst>
                <a:tab pos="1712913" algn="l"/>
              </a:tabLst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 Fall into worst case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3C21BE-6EB7-4986-A6F8-C2E10405E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76" y="1623027"/>
            <a:ext cx="54578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25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4">
            <a:extLst>
              <a:ext uri="{FF2B5EF4-FFF2-40B4-BE49-F238E27FC236}">
                <a16:creationId xmlns:a16="http://schemas.microsoft.com/office/drawing/2014/main" id="{83FACA6A-2849-478A-8C11-25F1559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Another Example - Greedy algorithm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F14EDC-0380-4148-8A3F-8657A4E51554}"/>
              </a:ext>
            </a:extLst>
          </p:cNvPr>
          <p:cNvSpPr txBox="1">
            <a:spLocks/>
          </p:cNvSpPr>
          <p:nvPr/>
        </p:nvSpPr>
        <p:spPr>
          <a:xfrm>
            <a:off x="5056938" y="1463879"/>
            <a:ext cx="6388828" cy="455662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Example: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An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ATM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has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-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5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banknotes of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20$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,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banknotes of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10$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,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banknotes of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5$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and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3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banknotes of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2$.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Require: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Withdraw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35$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with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minimum banknotes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!</a:t>
            </a:r>
          </a:p>
          <a:p>
            <a:pPr>
              <a:lnSpc>
                <a:spcPct val="100000"/>
              </a:lnSpc>
            </a:pP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sym typeface="Wingdings" panose="05000000000000000000" pitchFamily="2" charset="2"/>
            </a:endParaRPr>
          </a:p>
        </p:txBody>
      </p:sp>
      <p:pic>
        <p:nvPicPr>
          <p:cNvPr id="1028" name="Picture 4" descr="Realistic atm desgin">
            <a:extLst>
              <a:ext uri="{FF2B5EF4-FFF2-40B4-BE49-F238E27FC236}">
                <a16:creationId xmlns:a16="http://schemas.microsoft.com/office/drawing/2014/main" id="{7DDA079A-E858-4CEF-8119-78E4287CD6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8" r="18624"/>
          <a:stretch/>
        </p:blipFill>
        <p:spPr bwMode="auto">
          <a:xfrm>
            <a:off x="178675" y="1211810"/>
            <a:ext cx="4896361" cy="5301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58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40" decel="100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4">
            <a:extLst>
              <a:ext uri="{FF2B5EF4-FFF2-40B4-BE49-F238E27FC236}">
                <a16:creationId xmlns:a16="http://schemas.microsoft.com/office/drawing/2014/main" id="{83FACA6A-2849-478A-8C11-25F1559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Another Example - Greedy algorithm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F14EDC-0380-4148-8A3F-8657A4E51554}"/>
              </a:ext>
            </a:extLst>
          </p:cNvPr>
          <p:cNvSpPr txBox="1">
            <a:spLocks/>
          </p:cNvSpPr>
          <p:nvPr/>
        </p:nvSpPr>
        <p:spPr>
          <a:xfrm>
            <a:off x="5056937" y="1463879"/>
            <a:ext cx="6546483" cy="455662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Solution with greedy: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- Remain 35$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-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Withdraw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35 % 20 = 1 (banknote of 20$), remain 15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- Withdraw 15 % 10 = 1 (banknote of 10$), remain 5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- Withdraw 5 % 5 = 1 (banknote of 5$), remain 0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(Done)</a:t>
            </a:r>
          </a:p>
          <a:p>
            <a:pPr>
              <a:lnSpc>
                <a:spcPct val="100000"/>
              </a:lnSpc>
            </a:pP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sym typeface="Wingdings" panose="05000000000000000000" pitchFamily="2" charset="2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à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Result: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Withdraw 1 – 20$, 1 – 10$, 1 – 5$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à"/>
            </a:pP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HOW ABOUT 36$?</a:t>
            </a:r>
          </a:p>
        </p:txBody>
      </p:sp>
      <p:pic>
        <p:nvPicPr>
          <p:cNvPr id="1028" name="Picture 4" descr="Realistic atm desgin">
            <a:extLst>
              <a:ext uri="{FF2B5EF4-FFF2-40B4-BE49-F238E27FC236}">
                <a16:creationId xmlns:a16="http://schemas.microsoft.com/office/drawing/2014/main" id="{7DDA079A-E858-4CEF-8119-78E4287CD6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8" r="18624"/>
          <a:stretch/>
        </p:blipFill>
        <p:spPr bwMode="auto">
          <a:xfrm>
            <a:off x="178675" y="1211810"/>
            <a:ext cx="4896361" cy="5301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81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40" decel="100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40" decel="100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40" decel="100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/>
          <p:cNvSpPr>
            <a:spLocks noGrp="1"/>
          </p:cNvSpPr>
          <p:nvPr>
            <p:ph type="title"/>
          </p:nvPr>
        </p:nvSpPr>
        <p:spPr>
          <a:xfrm>
            <a:off x="3240172" y="2800944"/>
            <a:ext cx="7841685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Using heuristics in game</a:t>
            </a:r>
          </a:p>
        </p:txBody>
      </p:sp>
      <p:sp>
        <p:nvSpPr>
          <p:cNvPr id="36" name="Text Placeholder 35"/>
          <p:cNvSpPr>
            <a:spLocks noGrp="1"/>
          </p:cNvSpPr>
          <p:nvPr>
            <p:ph type="body" sz="quarter" idx="10"/>
          </p:nvPr>
        </p:nvSpPr>
        <p:spPr>
          <a:xfrm>
            <a:off x="3240171" y="2405239"/>
            <a:ext cx="2731911" cy="284793"/>
          </a:xfrm>
        </p:spPr>
        <p:txBody>
          <a:bodyPr/>
          <a:lstStyle/>
          <a:p>
            <a:r>
              <a:rPr lang="en-US" dirty="0"/>
              <a:t>Heuristics 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546839" y="2405238"/>
            <a:ext cx="1388533" cy="1580464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FontAwesome"/>
                <a:ea typeface="FontAwesome"/>
                <a:cs typeface="FontAwesome"/>
                <a:sym typeface="FontAwesome"/>
              </a:rPr>
              <a:t>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336130" y="2800943"/>
            <a:ext cx="3646311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olid"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48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4">
            <a:extLst>
              <a:ext uri="{FF2B5EF4-FFF2-40B4-BE49-F238E27FC236}">
                <a16:creationId xmlns:a16="http://schemas.microsoft.com/office/drawing/2014/main" id="{83FACA6A-2849-478A-8C11-25F1559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MINIMAX (MINMAX OR MM)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F14EDC-0380-4148-8A3F-8657A4E51554}"/>
              </a:ext>
            </a:extLst>
          </p:cNvPr>
          <p:cNvSpPr txBox="1">
            <a:spLocks/>
          </p:cNvSpPr>
          <p:nvPr/>
        </p:nvSpPr>
        <p:spPr>
          <a:xfrm>
            <a:off x="501361" y="1745632"/>
            <a:ext cx="11189277" cy="455662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Is a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decision rule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 used in artificial intelligence, decision theory, game theory…</a:t>
            </a:r>
          </a:p>
          <a:p>
            <a:pPr marL="800087" lvl="1" indent="-285750">
              <a:lnSpc>
                <a:spcPct val="100000"/>
              </a:lnSpc>
              <a:buFontTx/>
              <a:buChar char="-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For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minimizing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the possible loss for a maximum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loss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 scenario. When dealing with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gains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, it is referred to as "maximin"—to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maximize the minimum gain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..</a:t>
            </a:r>
          </a:p>
          <a:p>
            <a:pPr marL="800087" lvl="1" indent="-285750">
              <a:lnSpc>
                <a:spcPct val="100000"/>
              </a:lnSpc>
              <a:buFontTx/>
              <a:buChar char="-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Originally formulated for two-player zero-sum game theory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</a:b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7525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4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4">
            <a:extLst>
              <a:ext uri="{FF2B5EF4-FFF2-40B4-BE49-F238E27FC236}">
                <a16:creationId xmlns:a16="http://schemas.microsoft.com/office/drawing/2014/main" id="{83FACA6A-2849-478A-8C11-25F1559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Minimax in tic-tac-toe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D7516F-B888-4EE9-802D-A5B13EA02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20" y="1274236"/>
            <a:ext cx="5639587" cy="52394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34C361-1E98-40CE-968B-5996521AD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535" y="1463879"/>
            <a:ext cx="5134692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85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4">
            <a:extLst>
              <a:ext uri="{FF2B5EF4-FFF2-40B4-BE49-F238E27FC236}">
                <a16:creationId xmlns:a16="http://schemas.microsoft.com/office/drawing/2014/main" id="{83FACA6A-2849-478A-8C11-25F15596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76" y="344283"/>
            <a:ext cx="1031682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Minimax in tic-tac-toe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E353CF-E839-45EB-9B15-EA4485EEA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093" y="1463879"/>
            <a:ext cx="8152586" cy="493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817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EB3600-91B2-4C75-9DCC-B6BC213F5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209" y="1274693"/>
            <a:ext cx="6554115" cy="5277587"/>
          </a:xfrm>
          <a:prstGeom prst="rect">
            <a:avLst/>
          </a:prstGeom>
        </p:spPr>
      </p:pic>
      <p:sp>
        <p:nvSpPr>
          <p:cNvPr id="8" name="Title 34">
            <a:extLst>
              <a:ext uri="{FF2B5EF4-FFF2-40B4-BE49-F238E27FC236}">
                <a16:creationId xmlns:a16="http://schemas.microsoft.com/office/drawing/2014/main" id="{5A1AF01C-2B4C-4CD6-A451-18FB8E3ADE5D}"/>
              </a:ext>
            </a:extLst>
          </p:cNvPr>
          <p:cNvSpPr txBox="1">
            <a:spLocks/>
          </p:cNvSpPr>
          <p:nvPr/>
        </p:nvSpPr>
        <p:spPr>
          <a:xfrm>
            <a:off x="504976" y="344283"/>
            <a:ext cx="10316821" cy="111959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33" kern="1200" cap="all">
                <a:solidFill>
                  <a:schemeClr val="bg1">
                    <a:lumMod val="95000"/>
                  </a:schemeClr>
                </a:solidFill>
                <a:latin typeface="Lemon/Milk"/>
                <a:ea typeface="+mj-ea"/>
                <a:cs typeface="Lemon/Milk"/>
              </a:defRPr>
            </a:lvl1pPr>
          </a:lstStyle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Minimax in tic-tac-toe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53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/>
          <p:cNvSpPr>
            <a:spLocks noGrp="1"/>
          </p:cNvSpPr>
          <p:nvPr>
            <p:ph type="title"/>
          </p:nvPr>
        </p:nvSpPr>
        <p:spPr>
          <a:xfrm>
            <a:off x="3240172" y="2800944"/>
            <a:ext cx="5459211" cy="111959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end</a:t>
            </a:r>
          </a:p>
        </p:txBody>
      </p:sp>
      <p:sp>
        <p:nvSpPr>
          <p:cNvPr id="36" name="Text Placeholder 35"/>
          <p:cNvSpPr>
            <a:spLocks noGrp="1"/>
          </p:cNvSpPr>
          <p:nvPr>
            <p:ph type="body" sz="quarter" idx="10"/>
          </p:nvPr>
        </p:nvSpPr>
        <p:spPr>
          <a:xfrm>
            <a:off x="3240171" y="2405239"/>
            <a:ext cx="2731911" cy="284793"/>
          </a:xfrm>
        </p:spPr>
        <p:txBody>
          <a:bodyPr/>
          <a:lstStyle/>
          <a:p>
            <a:r>
              <a:rPr lang="en-US" dirty="0"/>
              <a:t>Heuristics 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546839" y="2405238"/>
            <a:ext cx="1388533" cy="1580464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FontAwesome"/>
                <a:ea typeface="FontAwesome"/>
                <a:cs typeface="FontAwesome"/>
                <a:sym typeface="FontAwesome"/>
              </a:rPr>
              <a:t>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3336130" y="2800943"/>
            <a:ext cx="3646311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solid"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17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4">
            <a:extLst>
              <a:ext uri="{FF2B5EF4-FFF2-40B4-BE49-F238E27FC236}">
                <a16:creationId xmlns:a16="http://schemas.microsoft.com/office/drawing/2014/main" id="{5A1AF01C-2B4C-4CD6-A451-18FB8E3ADE5D}"/>
              </a:ext>
            </a:extLst>
          </p:cNvPr>
          <p:cNvSpPr txBox="1">
            <a:spLocks/>
          </p:cNvSpPr>
          <p:nvPr/>
        </p:nvSpPr>
        <p:spPr>
          <a:xfrm>
            <a:off x="504976" y="344283"/>
            <a:ext cx="10316821" cy="111959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33" kern="1200" cap="all">
                <a:solidFill>
                  <a:schemeClr val="bg1">
                    <a:lumMod val="95000"/>
                  </a:schemeClr>
                </a:solidFill>
                <a:latin typeface="Lemon/Milk"/>
                <a:ea typeface="+mj-ea"/>
                <a:cs typeface="Lemon/Milk"/>
              </a:defRPr>
            </a:lvl1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AFTER CLASS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BE3C1B3-BE55-4C06-8F9E-0721FA6979E0}"/>
              </a:ext>
            </a:extLst>
          </p:cNvPr>
          <p:cNvSpPr txBox="1">
            <a:spLocks/>
          </p:cNvSpPr>
          <p:nvPr/>
        </p:nvSpPr>
        <p:spPr>
          <a:xfrm>
            <a:off x="501361" y="1463880"/>
            <a:ext cx="11189277" cy="483837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 defTabSz="685783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9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Open Sans Light" panose="020B0306030504020204" pitchFamily="34" charset="0"/>
                <a:cs typeface="Lato Regular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</a:rPr>
              <a:t>Try making a simple chess AI: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sym typeface="Wingdings" panose="05000000000000000000" pitchFamily="2" charset="2"/>
                <a:hlinkClick r:id="rId3"/>
              </a:rPr>
              <a:t>https://medium.freecodecamp.org/simple-chess-ai-step-by-step-1d55a9266977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8897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40" decel="100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>
        <p:tmplLst>
          <p:tmpl lvl="1">
            <p:tnLst>
              <p:par>
                <p:cTn presetID="37" presetClass="entr" presetSubtype="0" fill="hold" nodeType="withEffect" nodePh="1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600"/>
                        <p:tgtEl>
                          <p:spTgt spid="4"/>
                        </p:tgtEl>
                      </p:cBhvr>
                    </p:animEffect>
                    <p:anim calcmode="lin" valueType="num">
                      <p:cBhvr>
                        <p:cTn dur="6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40" decel="100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60" accel="100000" fill="hold">
                          <p:stCondLst>
                            <p:cond delay="540"/>
                          </p:stCondLst>
                        </p:cTn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</TotalTime>
  <Words>1269</Words>
  <Application>Microsoft Office PowerPoint</Application>
  <PresentationFormat>Widescreen</PresentationFormat>
  <Paragraphs>196</Paragraphs>
  <Slides>30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Consolas</vt:lpstr>
      <vt:lpstr>FontAwesome</vt:lpstr>
      <vt:lpstr>Helvetica</vt:lpstr>
      <vt:lpstr>Lato Black</vt:lpstr>
      <vt:lpstr>Lato Regular</vt:lpstr>
      <vt:lpstr>Lemon/Milk</vt:lpstr>
      <vt:lpstr>Wingdings</vt:lpstr>
      <vt:lpstr>Office Theme</vt:lpstr>
      <vt:lpstr>Heuristic Search</vt:lpstr>
      <vt:lpstr>CONTENTS</vt:lpstr>
      <vt:lpstr>introduction</vt:lpstr>
      <vt:lpstr>HEURISTICS</vt:lpstr>
      <vt:lpstr>HEURISTICS SEARCH in computer science </vt:lpstr>
      <vt:lpstr>Hill-climbing method and dynamic programming</vt:lpstr>
      <vt:lpstr>“Hill-climbing” method?</vt:lpstr>
      <vt:lpstr>Let’s give a try</vt:lpstr>
      <vt:lpstr>Problem #1</vt:lpstr>
      <vt:lpstr>Problem #2</vt:lpstr>
      <vt:lpstr>Problem #3</vt:lpstr>
      <vt:lpstr>example</vt:lpstr>
      <vt:lpstr>Dynamic programming</vt:lpstr>
      <vt:lpstr>Best-first search algorithm</vt:lpstr>
      <vt:lpstr>BEST-FIRST?</vt:lpstr>
      <vt:lpstr>Review Dijkstra</vt:lpstr>
      <vt:lpstr>BEST-FIRST search</vt:lpstr>
      <vt:lpstr>BEST-FIRST search</vt:lpstr>
      <vt:lpstr>example</vt:lpstr>
      <vt:lpstr>example</vt:lpstr>
      <vt:lpstr>What if?</vt:lpstr>
      <vt:lpstr>Another Example - Greedy algorithm</vt:lpstr>
      <vt:lpstr>Another Example - Greedy algorithm</vt:lpstr>
      <vt:lpstr>Using heuristics in game</vt:lpstr>
      <vt:lpstr>MINIMAX (MINMAX OR MM)</vt:lpstr>
      <vt:lpstr>Minimax in tic-tac-toe</vt:lpstr>
      <vt:lpstr>Minimax in tic-tac-toe</vt:lpstr>
      <vt:lpstr>PowerPoint Presentation</vt:lpstr>
      <vt:lpstr>The end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Heuristic Search</dc:title>
  <dc:creator>Xuân Tùng</dc:creator>
  <cp:lastModifiedBy>Xuân Tùng</cp:lastModifiedBy>
  <cp:revision>322</cp:revision>
  <dcterms:created xsi:type="dcterms:W3CDTF">2019-03-18T14:23:58Z</dcterms:created>
  <dcterms:modified xsi:type="dcterms:W3CDTF">2019-03-23T02:37:02Z</dcterms:modified>
</cp:coreProperties>
</file>