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1" r:id="rId1"/>
    <p:sldMasterId id="2147483709" r:id="rId2"/>
  </p:sldMasterIdLst>
  <p:notesMasterIdLst>
    <p:notesMasterId r:id="rId84"/>
  </p:notesMasterIdLst>
  <p:sldIdLst>
    <p:sldId id="256" r:id="rId3"/>
    <p:sldId id="257" r:id="rId4"/>
    <p:sldId id="259" r:id="rId5"/>
    <p:sldId id="261" r:id="rId6"/>
    <p:sldId id="262" r:id="rId7"/>
    <p:sldId id="263" r:id="rId8"/>
    <p:sldId id="264" r:id="rId9"/>
    <p:sldId id="265" r:id="rId10"/>
    <p:sldId id="266" r:id="rId11"/>
    <p:sldId id="267" r:id="rId12"/>
    <p:sldId id="275" r:id="rId13"/>
    <p:sldId id="276" r:id="rId14"/>
    <p:sldId id="258" r:id="rId15"/>
    <p:sldId id="260"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70"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268" r:id="rId67"/>
    <p:sldId id="269" r:id="rId68"/>
    <p:sldId id="271" r:id="rId69"/>
    <p:sldId id="272" r:id="rId70"/>
    <p:sldId id="273"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sldSz cx="9144000" cy="5143500" type="screen16x9"/>
  <p:notesSz cx="6858000" cy="9144000"/>
  <p:defaultTextStyle>
    <a:defPPr>
      <a:defRPr lang="es-E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1B2D44EA-C3ED-4FF9-8C66-EC0F9DA163FD}">
          <p14:sldIdLst>
            <p14:sldId id="256"/>
            <p14:sldId id="257"/>
            <p14:sldId id="259"/>
            <p14:sldId id="261"/>
            <p14:sldId id="262"/>
            <p14:sldId id="263"/>
            <p14:sldId id="264"/>
            <p14:sldId id="265"/>
            <p14:sldId id="266"/>
            <p14:sldId id="267"/>
            <p14:sldId id="275"/>
            <p14:sldId id="276"/>
            <p14:sldId id="258"/>
            <p14:sldId id="260"/>
            <p14:sldId id="277"/>
            <p14:sldId id="278"/>
            <p14:sldId id="279"/>
            <p14:sldId id="280"/>
            <p14:sldId id="281"/>
            <p14:sldId id="282"/>
            <p14:sldId id="283"/>
            <p14:sldId id="284"/>
            <p14:sldId id="285"/>
            <p14:sldId id="286"/>
            <p14:sldId id="287"/>
            <p14:sldId id="288"/>
            <p14:sldId id="289"/>
            <p14:sldId id="270"/>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268"/>
            <p14:sldId id="269"/>
            <p14:sldId id="271"/>
            <p14:sldId id="272"/>
            <p14:sldId id="273"/>
            <p14:sldId id="326"/>
            <p14:sldId id="327"/>
            <p14:sldId id="328"/>
            <p14:sldId id="329"/>
            <p14:sldId id="330"/>
            <p14:sldId id="331"/>
            <p14:sldId id="332"/>
            <p14:sldId id="333"/>
            <p14:sldId id="334"/>
            <p14:sldId id="335"/>
            <p14:sldId id="336"/>
            <p14:sldId id="33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35"/>
    <a:srgbClr val="CC3399"/>
    <a:srgbClr val="FCA82C"/>
    <a:srgbClr val="9EFF29"/>
    <a:srgbClr val="A4660C"/>
    <a:srgbClr val="952F69"/>
    <a:srgbClr val="FF856D"/>
    <a:srgbClr val="FF2549"/>
    <a:srgbClr val="005856"/>
    <a:srgbClr val="007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3096" autoAdjust="0"/>
  </p:normalViewPr>
  <p:slideViewPr>
    <p:cSldViewPr snapToGrid="0">
      <p:cViewPr>
        <p:scale>
          <a:sx n="75" d="100"/>
          <a:sy n="75" d="100"/>
        </p:scale>
        <p:origin x="288" y="1188"/>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9-03-27T17:26:48.889" idx="1">
    <p:pos x="10" y="10"/>
    <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19-03-27T17:26:48.889" idx="2">
    <p:pos x="10" y="10"/>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533E96-F078-4B3D-A8F4-F1AF21EBC357}" type="slidenum">
              <a:rPr lang="en-US" smtClean="0"/>
              <a:t>1</a:t>
            </a:fld>
            <a:endParaRPr lang="en-US"/>
          </a:p>
        </p:txBody>
      </p:sp>
    </p:spTree>
    <p:extLst>
      <p:ext uri="{BB962C8B-B14F-4D97-AF65-F5344CB8AC3E}">
        <p14:creationId xmlns:p14="http://schemas.microsoft.com/office/powerpoint/2010/main" val="2831383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35</a:t>
            </a:fld>
            <a:endParaRPr lang="en-US"/>
          </a:p>
        </p:txBody>
      </p:sp>
    </p:spTree>
    <p:extLst>
      <p:ext uri="{BB962C8B-B14F-4D97-AF65-F5344CB8AC3E}">
        <p14:creationId xmlns:p14="http://schemas.microsoft.com/office/powerpoint/2010/main" val="1228498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36</a:t>
            </a:fld>
            <a:endParaRPr lang="en-US"/>
          </a:p>
        </p:txBody>
      </p:sp>
    </p:spTree>
    <p:extLst>
      <p:ext uri="{BB962C8B-B14F-4D97-AF65-F5344CB8AC3E}">
        <p14:creationId xmlns:p14="http://schemas.microsoft.com/office/powerpoint/2010/main" val="391282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37</a:t>
            </a:fld>
            <a:endParaRPr lang="en-US"/>
          </a:p>
        </p:txBody>
      </p:sp>
    </p:spTree>
    <p:extLst>
      <p:ext uri="{BB962C8B-B14F-4D97-AF65-F5344CB8AC3E}">
        <p14:creationId xmlns:p14="http://schemas.microsoft.com/office/powerpoint/2010/main" val="2692353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38</a:t>
            </a:fld>
            <a:endParaRPr lang="en-US"/>
          </a:p>
        </p:txBody>
      </p:sp>
    </p:spTree>
    <p:extLst>
      <p:ext uri="{BB962C8B-B14F-4D97-AF65-F5344CB8AC3E}">
        <p14:creationId xmlns:p14="http://schemas.microsoft.com/office/powerpoint/2010/main" val="557095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39</a:t>
            </a:fld>
            <a:endParaRPr lang="en-US"/>
          </a:p>
        </p:txBody>
      </p:sp>
    </p:spTree>
    <p:extLst>
      <p:ext uri="{BB962C8B-B14F-4D97-AF65-F5344CB8AC3E}">
        <p14:creationId xmlns:p14="http://schemas.microsoft.com/office/powerpoint/2010/main" val="3011798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40</a:t>
            </a:fld>
            <a:endParaRPr lang="en-US"/>
          </a:p>
        </p:txBody>
      </p:sp>
    </p:spTree>
    <p:extLst>
      <p:ext uri="{BB962C8B-B14F-4D97-AF65-F5344CB8AC3E}">
        <p14:creationId xmlns:p14="http://schemas.microsoft.com/office/powerpoint/2010/main" val="2243256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41</a:t>
            </a:fld>
            <a:endParaRPr lang="en-US"/>
          </a:p>
        </p:txBody>
      </p:sp>
    </p:spTree>
    <p:extLst>
      <p:ext uri="{BB962C8B-B14F-4D97-AF65-F5344CB8AC3E}">
        <p14:creationId xmlns:p14="http://schemas.microsoft.com/office/powerpoint/2010/main" val="2543175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42</a:t>
            </a:fld>
            <a:endParaRPr lang="en-US"/>
          </a:p>
        </p:txBody>
      </p:sp>
    </p:spTree>
    <p:extLst>
      <p:ext uri="{BB962C8B-B14F-4D97-AF65-F5344CB8AC3E}">
        <p14:creationId xmlns:p14="http://schemas.microsoft.com/office/powerpoint/2010/main" val="1299680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is any single outcome or element of a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When two coins are tossed simultaneously, the possible outcomes are HH, HT, TH, and TT. Any one outcome like TT is called an </a:t>
            </a:r>
            <a:r>
              <a:rPr lang="en-US" sz="1200" b="1" i="0" kern="1200" dirty="0">
                <a:solidFill>
                  <a:schemeClr val="tx1"/>
                </a:solidFill>
                <a:effectLst/>
                <a:latin typeface="+mn-lt"/>
                <a:ea typeface="+mn-ea"/>
                <a:cs typeface="+mn-cs"/>
              </a:rPr>
              <a:t>elementary event</a:t>
            </a:r>
            <a:r>
              <a:rPr lang="en-US" sz="1200" b="0" i="0" kern="1200" dirty="0">
                <a:solidFill>
                  <a:schemeClr val="tx1"/>
                </a:solidFill>
                <a:effectLst/>
                <a:latin typeface="+mn-lt"/>
                <a:ea typeface="+mn-ea"/>
                <a:cs typeface="+mn-cs"/>
              </a:rPr>
              <a:t> of the </a:t>
            </a:r>
            <a:r>
              <a:rPr lang="en-US" sz="1200" b="1" i="0" kern="1200" dirty="0">
                <a:solidFill>
                  <a:schemeClr val="tx1"/>
                </a:solidFill>
                <a:effectLst/>
                <a:latin typeface="+mn-lt"/>
                <a:ea typeface="+mn-ea"/>
                <a:cs typeface="+mn-cs"/>
              </a:rPr>
              <a:t>sample</a:t>
            </a:r>
            <a:r>
              <a:rPr lang="en-US" sz="1200" b="0" i="0" kern="1200" dirty="0">
                <a:solidFill>
                  <a:schemeClr val="tx1"/>
                </a:solidFill>
                <a:effectLst/>
                <a:latin typeface="+mn-lt"/>
                <a:ea typeface="+mn-ea"/>
                <a:cs typeface="+mn-cs"/>
              </a:rPr>
              <a:t> space {HH, HT, TH, TT}.</a:t>
            </a:r>
          </a:p>
          <a:p>
            <a:r>
              <a:rPr lang="en-US" sz="1200" b="0" i="0" kern="1200" dirty="0">
                <a:solidFill>
                  <a:schemeClr val="tx1"/>
                </a:solidFill>
                <a:effectLst/>
                <a:latin typeface="+mn-lt"/>
                <a:ea typeface="+mn-ea"/>
                <a:cs typeface="+mn-cs"/>
              </a:rPr>
              <a:t>Two events, A and B, are </a:t>
            </a:r>
            <a:r>
              <a:rPr lang="en-US" sz="1200" b="1" i="0" kern="1200" dirty="0">
                <a:solidFill>
                  <a:schemeClr val="tx1"/>
                </a:solidFill>
                <a:effectLst/>
                <a:latin typeface="+mn-lt"/>
                <a:ea typeface="+mn-ea"/>
                <a:cs typeface="+mn-cs"/>
              </a:rPr>
              <a:t>independent</a:t>
            </a:r>
            <a:r>
              <a:rPr lang="en-US" sz="1200" b="0" i="0" kern="1200" dirty="0">
                <a:solidFill>
                  <a:schemeClr val="tx1"/>
                </a:solidFill>
                <a:effectLst/>
                <a:latin typeface="+mn-lt"/>
                <a:ea typeface="+mn-ea"/>
                <a:cs typeface="+mn-cs"/>
              </a:rPr>
              <a:t> if the fact that A occurs does not affect the probability of B occurring</a:t>
            </a:r>
            <a:endParaRPr lang="en-US" dirty="0"/>
          </a:p>
        </p:txBody>
      </p:sp>
      <p:sp>
        <p:nvSpPr>
          <p:cNvPr id="4" name="Slide Number Placeholder 3"/>
          <p:cNvSpPr>
            <a:spLocks noGrp="1"/>
          </p:cNvSpPr>
          <p:nvPr>
            <p:ph type="sldNum" sz="quarter" idx="10"/>
          </p:nvPr>
        </p:nvSpPr>
        <p:spPr/>
        <p:txBody>
          <a:bodyPr/>
          <a:lstStyle/>
          <a:p>
            <a:fld id="{1258B4B1-2236-427B-BF7B-5DF970136113}" type="slidenum">
              <a:rPr lang="en-US" smtClean="0"/>
              <a:t>43</a:t>
            </a:fld>
            <a:endParaRPr lang="en-US"/>
          </a:p>
        </p:txBody>
      </p:sp>
    </p:spTree>
    <p:extLst>
      <p:ext uri="{BB962C8B-B14F-4D97-AF65-F5344CB8AC3E}">
        <p14:creationId xmlns:p14="http://schemas.microsoft.com/office/powerpoint/2010/main" val="107350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533E96-F078-4B3D-A8F4-F1AF21EBC357}" type="slidenum">
              <a:rPr lang="en-US" smtClean="0"/>
              <a:t>56</a:t>
            </a:fld>
            <a:endParaRPr lang="en-US"/>
          </a:p>
        </p:txBody>
      </p:sp>
    </p:spTree>
    <p:extLst>
      <p:ext uri="{BB962C8B-B14F-4D97-AF65-F5344CB8AC3E}">
        <p14:creationId xmlns:p14="http://schemas.microsoft.com/office/powerpoint/2010/main" val="3404520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D3F16-1828-4646-8E2D-98A51342E7F6}"/>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3C87C57-EFC7-4B73-951D-3CD754A73B7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172D65D-3BD9-476A-BB08-C0BB956C0565}"/>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C61F7698-4FBD-46DF-B2A4-29E835A43810}"/>
              </a:ext>
            </a:extLst>
          </p:cNvPr>
          <p:cNvSpPr>
            <a:spLocks noGrp="1"/>
          </p:cNvSpPr>
          <p:nvPr>
            <p:ph type="ftr" sz="quarter" idx="11"/>
          </p:nvPr>
        </p:nvSpPr>
        <p:spPr/>
        <p:txBody>
          <a:bodyPr/>
          <a:lstStyle>
            <a:lvl1pPr>
              <a:defRPr/>
            </a:lvl1pPr>
          </a:lstStyle>
          <a:p>
            <a:endParaRPr lang="en-US" dirty="0"/>
          </a:p>
        </p:txBody>
      </p:sp>
      <p:sp>
        <p:nvSpPr>
          <p:cNvPr id="6" name="Slide Number Placeholder 5">
            <a:extLst>
              <a:ext uri="{FF2B5EF4-FFF2-40B4-BE49-F238E27FC236}">
                <a16:creationId xmlns:a16="http://schemas.microsoft.com/office/drawing/2014/main" id="{8236EC97-C4F9-460E-A0EF-985F5EA33BFD}"/>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439790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F50C-431E-4B2C-887F-33736F98B2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40372F-D62B-44AF-B803-9ACAEF2A9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9A50D1-D4A0-4C05-832E-9D45440632FA}"/>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9E74E649-0CE7-4BDD-9150-5AB96E104C74}"/>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60FCE778-747A-4D18-AB23-B47B322CE58A}"/>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589872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8803-B082-4E57-B942-55CEA10B380A}"/>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8FC66CD-D827-4214-A4E6-21E3DDFF6E2E}"/>
              </a:ext>
            </a:extLst>
          </p:cNvPr>
          <p:cNvSpPr>
            <a:spLocks noGrp="1"/>
          </p:cNvSpPr>
          <p:nvPr>
            <p:ph type="body" idx="1"/>
          </p:nvPr>
        </p:nvSpPr>
        <p:spPr>
          <a:xfrm>
            <a:off x="623888" y="3442098"/>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4" name="Date Placeholder 3">
            <a:extLst>
              <a:ext uri="{FF2B5EF4-FFF2-40B4-BE49-F238E27FC236}">
                <a16:creationId xmlns:a16="http://schemas.microsoft.com/office/drawing/2014/main" id="{A3A7C756-F03D-42FA-935D-653CA544B99F}"/>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1662684B-F50B-4D6B-BAFD-C4E92D51E9A8}"/>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16DFD567-E47B-4CF3-A981-EBDE1BA59E19}"/>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538959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65E13-D1AF-46F6-841B-CCAD37C51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EA270B-9560-498D-ACEA-A11EBDF96FDC}"/>
              </a:ext>
            </a:extLst>
          </p:cNvPr>
          <p:cNvSpPr>
            <a:spLocks noGrp="1"/>
          </p:cNvSpPr>
          <p:nvPr>
            <p:ph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044829-C660-45A9-BAC7-711AE443E849}"/>
              </a:ext>
            </a:extLst>
          </p:cNvPr>
          <p:cNvSpPr>
            <a:spLocks noGrp="1"/>
          </p:cNvSpPr>
          <p:nvPr>
            <p:ph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9D53F8-A58F-4E62-B27B-4C2B14203FFD}"/>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6" name="Footer Placeholder 5">
            <a:extLst>
              <a:ext uri="{FF2B5EF4-FFF2-40B4-BE49-F238E27FC236}">
                <a16:creationId xmlns:a16="http://schemas.microsoft.com/office/drawing/2014/main" id="{2B49F9CE-3918-4068-AB91-67A96E2A22D1}"/>
              </a:ext>
            </a:extLst>
          </p:cNvPr>
          <p:cNvSpPr>
            <a:spLocks noGrp="1"/>
          </p:cNvSpPr>
          <p:nvPr>
            <p:ph type="ftr" sz="quarter" idx="11"/>
          </p:nvPr>
        </p:nvSpPr>
        <p:spPr/>
        <p:txBody>
          <a:bodyPr/>
          <a:lstStyle>
            <a:lvl1pPr>
              <a:defRPr/>
            </a:lvl1pPr>
          </a:lstStyle>
          <a:p>
            <a:endParaRPr lang="en-US"/>
          </a:p>
        </p:txBody>
      </p:sp>
      <p:sp>
        <p:nvSpPr>
          <p:cNvPr id="7" name="Slide Number Placeholder 6">
            <a:extLst>
              <a:ext uri="{FF2B5EF4-FFF2-40B4-BE49-F238E27FC236}">
                <a16:creationId xmlns:a16="http://schemas.microsoft.com/office/drawing/2014/main" id="{3008D98A-454D-432F-8479-F60979F4924F}"/>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428098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7442-6F0F-4CBE-B75B-929C366A489A}"/>
              </a:ext>
            </a:extLst>
          </p:cNvPr>
          <p:cNvSpPr>
            <a:spLocks noGrp="1"/>
          </p:cNvSpPr>
          <p:nvPr>
            <p:ph type="title"/>
          </p:nvPr>
        </p:nvSpPr>
        <p:spPr>
          <a:xfrm>
            <a:off x="630238"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2BB4F5-A0E6-4F77-A8BB-9EBB5F1EA6E1}"/>
              </a:ext>
            </a:extLst>
          </p:cNvPr>
          <p:cNvSpPr>
            <a:spLocks noGrp="1"/>
          </p:cNvSpPr>
          <p:nvPr>
            <p:ph type="body" idx="1"/>
          </p:nvPr>
        </p:nvSpPr>
        <p:spPr>
          <a:xfrm>
            <a:off x="630239"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13F2D0A-70FC-4AFD-AA8B-28CB1490A71E}"/>
              </a:ext>
            </a:extLst>
          </p:cNvPr>
          <p:cNvSpPr>
            <a:spLocks noGrp="1"/>
          </p:cNvSpPr>
          <p:nvPr>
            <p:ph sz="half" idx="2"/>
          </p:nvPr>
        </p:nvSpPr>
        <p:spPr>
          <a:xfrm>
            <a:off x="630239" y="1878806"/>
            <a:ext cx="3868737"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E3FDD4-6DEB-4FB6-8107-858FDFC0959D}"/>
              </a:ext>
            </a:extLst>
          </p:cNvPr>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2EA462D-404E-4D3D-BDEB-9F68A5B3298C}"/>
              </a:ext>
            </a:extLst>
          </p:cNvPr>
          <p:cNvSpPr>
            <a:spLocks noGrp="1"/>
          </p:cNvSpPr>
          <p:nvPr>
            <p:ph sz="quarter" idx="4"/>
          </p:nvPr>
        </p:nvSpPr>
        <p:spPr>
          <a:xfrm>
            <a:off x="4629150" y="1878806"/>
            <a:ext cx="3887788"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01A370-AFB3-445F-921D-5242DB3A40B8}"/>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8" name="Footer Placeholder 7">
            <a:extLst>
              <a:ext uri="{FF2B5EF4-FFF2-40B4-BE49-F238E27FC236}">
                <a16:creationId xmlns:a16="http://schemas.microsoft.com/office/drawing/2014/main" id="{A7CAD5EE-05A1-406F-81A4-7778CBE0B139}"/>
              </a:ext>
            </a:extLst>
          </p:cNvPr>
          <p:cNvSpPr>
            <a:spLocks noGrp="1"/>
          </p:cNvSpPr>
          <p:nvPr>
            <p:ph type="ftr" sz="quarter" idx="11"/>
          </p:nvPr>
        </p:nvSpPr>
        <p:spPr/>
        <p:txBody>
          <a:bodyPr/>
          <a:lstStyle>
            <a:lvl1pPr>
              <a:defRPr/>
            </a:lvl1pPr>
          </a:lstStyle>
          <a:p>
            <a:endParaRPr lang="en-US"/>
          </a:p>
        </p:txBody>
      </p:sp>
      <p:sp>
        <p:nvSpPr>
          <p:cNvPr id="9" name="Slide Number Placeholder 8">
            <a:extLst>
              <a:ext uri="{FF2B5EF4-FFF2-40B4-BE49-F238E27FC236}">
                <a16:creationId xmlns:a16="http://schemas.microsoft.com/office/drawing/2014/main" id="{D2C19BB6-18A4-4A94-9A3B-D2CB108B2CF9}"/>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67027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3CFB2-D42E-42C3-A3AB-B00943133F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F45A9D-5B35-46F3-92F8-A9A61E7C57A3}"/>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4" name="Footer Placeholder 3">
            <a:extLst>
              <a:ext uri="{FF2B5EF4-FFF2-40B4-BE49-F238E27FC236}">
                <a16:creationId xmlns:a16="http://schemas.microsoft.com/office/drawing/2014/main" id="{B442846F-02BB-450A-9FE8-289A7563C772}"/>
              </a:ext>
            </a:extLst>
          </p:cNvPr>
          <p:cNvSpPr>
            <a:spLocks noGrp="1"/>
          </p:cNvSpPr>
          <p:nvPr>
            <p:ph type="ftr" sz="quarter" idx="11"/>
          </p:nvPr>
        </p:nvSpPr>
        <p:spPr/>
        <p:txBody>
          <a:bodyPr/>
          <a:lstStyle>
            <a:lvl1pPr>
              <a:defRPr/>
            </a:lvl1pPr>
          </a:lstStyle>
          <a:p>
            <a:endParaRPr lang="en-US"/>
          </a:p>
        </p:txBody>
      </p:sp>
      <p:sp>
        <p:nvSpPr>
          <p:cNvPr id="5" name="Slide Number Placeholder 4">
            <a:extLst>
              <a:ext uri="{FF2B5EF4-FFF2-40B4-BE49-F238E27FC236}">
                <a16:creationId xmlns:a16="http://schemas.microsoft.com/office/drawing/2014/main" id="{F7B71E14-8D91-4E6D-ABD9-87984E356E37}"/>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502278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C372E5-04BC-4092-8FC0-D22260DD0EB2}"/>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3" name="Footer Placeholder 2">
            <a:extLst>
              <a:ext uri="{FF2B5EF4-FFF2-40B4-BE49-F238E27FC236}">
                <a16:creationId xmlns:a16="http://schemas.microsoft.com/office/drawing/2014/main" id="{4C5C1EC4-231A-4DDD-9B29-141B48A8359F}"/>
              </a:ext>
            </a:extLst>
          </p:cNvPr>
          <p:cNvSpPr>
            <a:spLocks noGrp="1"/>
          </p:cNvSpPr>
          <p:nvPr>
            <p:ph type="ftr" sz="quarter" idx="11"/>
          </p:nvPr>
        </p:nvSpPr>
        <p:spPr/>
        <p:txBody>
          <a:bodyPr/>
          <a:lstStyle>
            <a:lvl1pPr>
              <a:defRPr/>
            </a:lvl1pPr>
          </a:lstStyle>
          <a:p>
            <a:endParaRPr lang="en-US"/>
          </a:p>
        </p:txBody>
      </p:sp>
      <p:sp>
        <p:nvSpPr>
          <p:cNvPr id="4" name="Slide Number Placeholder 3">
            <a:extLst>
              <a:ext uri="{FF2B5EF4-FFF2-40B4-BE49-F238E27FC236}">
                <a16:creationId xmlns:a16="http://schemas.microsoft.com/office/drawing/2014/main" id="{B516F8E5-79E2-4A3C-B16C-AAD413E3F918}"/>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798241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168A2-90FE-44AE-9B20-B817E196A6AE}"/>
              </a:ext>
            </a:extLst>
          </p:cNvPr>
          <p:cNvSpPr>
            <a:spLocks noGrp="1"/>
          </p:cNvSpPr>
          <p:nvPr>
            <p:ph type="title"/>
          </p:nvPr>
        </p:nvSpPr>
        <p:spPr>
          <a:xfrm>
            <a:off x="630239" y="342900"/>
            <a:ext cx="2949575"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E47EB5F-BA5E-412A-A5C4-4996152B9A8B}"/>
              </a:ext>
            </a:extLst>
          </p:cNvPr>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339181-6F54-41DA-9934-14F4B9AF9B6E}"/>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BD300DD-65F3-4B0A-B3CF-28F9396355B4}"/>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6" name="Footer Placeholder 5">
            <a:extLst>
              <a:ext uri="{FF2B5EF4-FFF2-40B4-BE49-F238E27FC236}">
                <a16:creationId xmlns:a16="http://schemas.microsoft.com/office/drawing/2014/main" id="{47A6D15D-02AB-49D4-AB30-6EB1718D149C}"/>
              </a:ext>
            </a:extLst>
          </p:cNvPr>
          <p:cNvSpPr>
            <a:spLocks noGrp="1"/>
          </p:cNvSpPr>
          <p:nvPr>
            <p:ph type="ftr" sz="quarter" idx="11"/>
          </p:nvPr>
        </p:nvSpPr>
        <p:spPr/>
        <p:txBody>
          <a:bodyPr/>
          <a:lstStyle>
            <a:lvl1pPr>
              <a:defRPr/>
            </a:lvl1pPr>
          </a:lstStyle>
          <a:p>
            <a:endParaRPr lang="en-US"/>
          </a:p>
        </p:txBody>
      </p:sp>
      <p:sp>
        <p:nvSpPr>
          <p:cNvPr id="7" name="Slide Number Placeholder 6">
            <a:extLst>
              <a:ext uri="{FF2B5EF4-FFF2-40B4-BE49-F238E27FC236}">
                <a16:creationId xmlns:a16="http://schemas.microsoft.com/office/drawing/2014/main" id="{495F67D7-DDF4-46D7-BB54-9A8E5BA3223B}"/>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804880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B4CF3-87B9-467B-9BA4-610300B5DB61}"/>
              </a:ext>
            </a:extLst>
          </p:cNvPr>
          <p:cNvSpPr>
            <a:spLocks noGrp="1"/>
          </p:cNvSpPr>
          <p:nvPr>
            <p:ph type="title"/>
          </p:nvPr>
        </p:nvSpPr>
        <p:spPr>
          <a:xfrm>
            <a:off x="630239" y="342900"/>
            <a:ext cx="2949575"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09D067E-D5A4-404D-9A7F-2C00CF2DC2F6}"/>
              </a:ext>
            </a:extLst>
          </p:cNvPr>
          <p:cNvSpPr>
            <a:spLocks noGrp="1"/>
          </p:cNvSpPr>
          <p:nvPr>
            <p:ph type="pic" idx="1"/>
          </p:nvPr>
        </p:nvSpPr>
        <p:spPr>
          <a:xfrm>
            <a:off x="3887788"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a:t>
            </a:r>
            <a:r>
              <a:rPr lang="en-US"/>
              <a:t>to add </a:t>
            </a:r>
            <a:r>
              <a:rPr lang="en-US" dirty="0"/>
              <a:t>picture</a:t>
            </a:r>
          </a:p>
        </p:txBody>
      </p:sp>
      <p:sp>
        <p:nvSpPr>
          <p:cNvPr id="4" name="Text Placeholder 3">
            <a:extLst>
              <a:ext uri="{FF2B5EF4-FFF2-40B4-BE49-F238E27FC236}">
                <a16:creationId xmlns:a16="http://schemas.microsoft.com/office/drawing/2014/main" id="{80B02D1A-6019-4087-B1FB-4A9BA6A60309}"/>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D5219FC-0865-43CC-9959-E6FE212A7AE6}"/>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6" name="Footer Placeholder 5">
            <a:extLst>
              <a:ext uri="{FF2B5EF4-FFF2-40B4-BE49-F238E27FC236}">
                <a16:creationId xmlns:a16="http://schemas.microsoft.com/office/drawing/2014/main" id="{D0FEC2B8-4C6C-424D-AF2C-BFC24E5F10CA}"/>
              </a:ext>
            </a:extLst>
          </p:cNvPr>
          <p:cNvSpPr>
            <a:spLocks noGrp="1"/>
          </p:cNvSpPr>
          <p:nvPr>
            <p:ph type="ftr" sz="quarter" idx="11"/>
          </p:nvPr>
        </p:nvSpPr>
        <p:spPr/>
        <p:txBody>
          <a:bodyPr/>
          <a:lstStyle>
            <a:lvl1pPr>
              <a:defRPr/>
            </a:lvl1pPr>
          </a:lstStyle>
          <a:p>
            <a:endParaRPr lang="en-US"/>
          </a:p>
        </p:txBody>
      </p:sp>
      <p:sp>
        <p:nvSpPr>
          <p:cNvPr id="7" name="Slide Number Placeholder 6">
            <a:extLst>
              <a:ext uri="{FF2B5EF4-FFF2-40B4-BE49-F238E27FC236}">
                <a16:creationId xmlns:a16="http://schemas.microsoft.com/office/drawing/2014/main" id="{BD02C47A-284B-492A-8318-2E8F2DCC01ED}"/>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739402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EAED-5155-407B-89C4-D40B8BF114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15A05B-AEF0-44E6-91C9-29D21FED9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2960B-DE7D-486A-8753-6F44C9CF9E07}"/>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08E41151-596C-4734-988C-C8913265C69C}"/>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2FD7C15B-C6D8-4349-AC6F-5C8589E7F0DD}"/>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533746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D6DC7-370E-41DD-8D6F-1B3AE0F41415}"/>
              </a:ext>
            </a:extLst>
          </p:cNvPr>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8DDD7E-09AF-47C1-8A0E-1201EF15D43F}"/>
              </a:ext>
            </a:extLst>
          </p:cNvPr>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CDEEB-B097-4026-B781-1D643FA1BBCD}"/>
              </a:ext>
            </a:extLst>
          </p:cNvPr>
          <p:cNvSpPr>
            <a:spLocks noGrp="1"/>
          </p:cNvSpPr>
          <p:nvPr>
            <p:ph type="dt" sz="half" idx="10"/>
          </p:nvPr>
        </p:nvSpPr>
        <p:spPr/>
        <p:txBody>
          <a:bodyPr/>
          <a:lstStyle>
            <a:lvl1pPr>
              <a:defRPr/>
            </a:lvl1p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B8BC9A61-2DBB-4588-93CE-333C2121B6D7}"/>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205D598F-C73E-4D89-A8C9-EFBF650CCE98}"/>
              </a:ext>
            </a:extLst>
          </p:cNvPr>
          <p:cNvSpPr>
            <a:spLocks noGrp="1"/>
          </p:cNvSpPr>
          <p:nvPr>
            <p:ph type="sldNum" sz="quarter" idx="12"/>
          </p:nvPr>
        </p:nvSpPr>
        <p:spPr/>
        <p:txBody>
          <a:bodyPr/>
          <a:lstStyle>
            <a:lvl1pPr>
              <a:defRPr/>
            </a:lvl1p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BB50647D-E388-4E5A-ADE4-48F86E07EE6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453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7BF78-EBA0-42D5-879E-B2C668B0641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4693F2E2-B056-400E-8589-7637A40524F9}"/>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C4DE285-A324-499D-A9BA-DA52CB0FABF1}"/>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8A57A4AA-F907-43A7-BDEF-D4209F7ED8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D76897-5F05-4C03-89DB-D02EEBC099A6}"/>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108759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AB55F-0E0A-4FD3-9F75-435CE4801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579E3C-DB2D-4CB7-BE92-F66908D845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30CA97-546D-4DFF-9753-73D6D9C44DFA}"/>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B6AF4B33-8A7B-49CB-B3CA-F45C8AF436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6E2ED-FFF8-4ABF-BF16-7A6C0ECF8A3A}"/>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10083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B23F-6F85-4982-BB4F-1F0FE8F3C899}"/>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F831AC0-DF01-4403-9C15-C2676AE24AC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71489D-FBAE-4E51-B819-6B7AC29C2DDB}"/>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F50815E1-D961-4091-B2E4-73A4AE6EE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EFCCFB-A898-4B38-9A9F-AFDB4CFC80D0}"/>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86073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5C37D-0FDE-4F2E-912C-40EA748909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7B8287-2443-4839-A386-E687236C9E1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DB97C-D442-4DB6-9505-E2F4B26B6C71}"/>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16C0CF-ABFE-416F-A51F-FEDB18FD812D}"/>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6" name="Footer Placeholder 5">
            <a:extLst>
              <a:ext uri="{FF2B5EF4-FFF2-40B4-BE49-F238E27FC236}">
                <a16:creationId xmlns:a16="http://schemas.microsoft.com/office/drawing/2014/main" id="{119BC89C-DA11-47DE-8488-A5F70D88D4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E0B85E-6E09-476A-81B4-C047F1495D20}"/>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41150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33025-CD62-4A33-BF58-DC6368DFB3D7}"/>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C37F64-F2FB-4656-983D-1C3989507F1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43138C9-4A53-4737-BD9F-66FECC642A78}"/>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7B8457-9389-4D77-B07D-371098EF293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95DDC3B-67C7-4FC7-9F4A-B0D8C7F16C9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470B60-1080-4C6B-A45A-665C7AA06DDF}"/>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8" name="Footer Placeholder 7">
            <a:extLst>
              <a:ext uri="{FF2B5EF4-FFF2-40B4-BE49-F238E27FC236}">
                <a16:creationId xmlns:a16="http://schemas.microsoft.com/office/drawing/2014/main" id="{342A22D1-64D6-407A-B06B-11CF19E0E4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D1A0F2-99B2-4605-B956-8EB3EB0D38E8}"/>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602013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18185-8680-4B57-9910-BEB229B434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FE3000-7EA7-4AC2-B1AB-40E8A6592C3E}"/>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4" name="Footer Placeholder 3">
            <a:extLst>
              <a:ext uri="{FF2B5EF4-FFF2-40B4-BE49-F238E27FC236}">
                <a16:creationId xmlns:a16="http://schemas.microsoft.com/office/drawing/2014/main" id="{6CFCD5DA-4CC7-4363-9383-3B56A03017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6F7459-0351-47A1-81CE-FBB3B0CADC55}"/>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327414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4F877-AFB2-4F7B-8E7A-2D638169A79D}"/>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3" name="Footer Placeholder 2">
            <a:extLst>
              <a:ext uri="{FF2B5EF4-FFF2-40B4-BE49-F238E27FC236}">
                <a16:creationId xmlns:a16="http://schemas.microsoft.com/office/drawing/2014/main" id="{296FF4CA-7B75-4448-BAC5-494B139DFE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EE19C1-A505-4850-B49B-B13E3DD72D95}"/>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7695691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826D-A079-4C7E-AD18-6B4289C645E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6A2BF53-05F0-4979-9D03-4AFF42FF1C6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03F3AE-A922-4E8E-88E5-3EFF2035496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D6BAD4D-7292-44A8-9227-82F0E6806B6E}"/>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6" name="Footer Placeholder 5">
            <a:extLst>
              <a:ext uri="{FF2B5EF4-FFF2-40B4-BE49-F238E27FC236}">
                <a16:creationId xmlns:a16="http://schemas.microsoft.com/office/drawing/2014/main" id="{E36B53A5-1B12-45FC-B836-F61AE47ACF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CF0BA2-6FB4-4E12-9355-11FB0D0C4E5C}"/>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72530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EA441-B56F-45EB-A9F5-2C8AF88F7CA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9D5D6A32-4E1D-44BB-9DF8-C866A3E6B033}"/>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692C9CF-D0A6-4ED8-9AC1-D666A322716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92B87CE-E7BC-422F-9316-2B98AB463417}"/>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6" name="Footer Placeholder 5">
            <a:extLst>
              <a:ext uri="{FF2B5EF4-FFF2-40B4-BE49-F238E27FC236}">
                <a16:creationId xmlns:a16="http://schemas.microsoft.com/office/drawing/2014/main" id="{B4CA8CB0-18AA-4AAC-B972-595A30538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F9E7B-4411-4D22-A896-5FF98624AEE1}"/>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4939813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44D06-8403-41CB-B2C5-E0B57A8D59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DFC15F-BC41-461E-94CE-7FE065EB30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D2A26C-5089-4769-A22D-22FAF74A368A}"/>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BBF045D3-1AAA-45FA-821E-819294CB3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A36FC-081B-4338-B75F-7DD1AE5B764B}"/>
              </a:ext>
            </a:extLst>
          </p:cNvPr>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614350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BB56A7-A771-47C7-9683-446DACCB38A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AA0AD9-EA1B-4B1E-95C8-6FDF6C7FB31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1539F4-348F-44A2-B691-E12562D842DE}"/>
              </a:ext>
            </a:extLst>
          </p:cNvPr>
          <p:cNvSpPr>
            <a:spLocks noGrp="1"/>
          </p:cNvSpPr>
          <p:nvPr>
            <p:ph type="dt" sz="half" idx="10"/>
          </p:nvPr>
        </p:nvSpPr>
        <p:spPr/>
        <p:txBody>
          <a:body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BD5D0293-41EE-4F7A-817C-4633557B4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BA777-EBC6-4FCC-B9EB-84FE8C53E7C4}"/>
              </a:ext>
            </a:extLst>
          </p:cNvPr>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9B7DE75D-786F-4132-B3F7-BCFB8142898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186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79D5137-6F17-4DF1-9A26-C053CD08FC12}"/>
              </a:ext>
            </a:extLst>
          </p:cNvPr>
          <p:cNvSpPr>
            <a:spLocks noGrp="1" noChangeArrowheads="1"/>
          </p:cNvSpPr>
          <p:nvPr>
            <p:ph type="title"/>
          </p:nvPr>
        </p:nvSpPr>
        <p:spPr bwMode="auto">
          <a:xfrm>
            <a:off x="457200" y="205979"/>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n-US"/>
              <a:t>Haga clic para cambiar el estilo de título	</a:t>
            </a:r>
          </a:p>
        </p:txBody>
      </p:sp>
      <p:sp>
        <p:nvSpPr>
          <p:cNvPr id="1027" name="Rectangle 3">
            <a:extLst>
              <a:ext uri="{FF2B5EF4-FFF2-40B4-BE49-F238E27FC236}">
                <a16:creationId xmlns:a16="http://schemas.microsoft.com/office/drawing/2014/main" id="{221405F4-A830-486B-8937-6C72404DDD3A}"/>
              </a:ext>
            </a:extLst>
          </p:cNvPr>
          <p:cNvSpPr>
            <a:spLocks noGrp="1" noChangeArrowheads="1"/>
          </p:cNvSpPr>
          <p:nvPr>
            <p:ph type="body" idx="1"/>
          </p:nvPr>
        </p:nvSpPr>
        <p:spPr bwMode="auto">
          <a:xfrm>
            <a:off x="457200" y="1200151"/>
            <a:ext cx="8229600" cy="3394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n-US"/>
              <a:t>Haga clic para modificar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p>
        </p:txBody>
      </p:sp>
      <p:sp>
        <p:nvSpPr>
          <p:cNvPr id="1028" name="Rectangle 4">
            <a:extLst>
              <a:ext uri="{FF2B5EF4-FFF2-40B4-BE49-F238E27FC236}">
                <a16:creationId xmlns:a16="http://schemas.microsoft.com/office/drawing/2014/main" id="{507B9F69-FEBE-4E14-9E9A-D696DCAC2AE4}"/>
              </a:ext>
            </a:extLst>
          </p:cNvPr>
          <p:cNvSpPr>
            <a:spLocks noGrp="1" noChangeArrowheads="1"/>
          </p:cNvSpPr>
          <p:nvPr>
            <p:ph type="dt" sz="half" idx="2"/>
          </p:nvPr>
        </p:nvSpPr>
        <p:spPr bwMode="auto">
          <a:xfrm>
            <a:off x="457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50"/>
            </a:lvl1pPr>
          </a:lstStyle>
          <a:p>
            <a:fld id="{53074F12-AA26-4AC8-9962-C36BB8F32554}" type="datetimeFigureOut">
              <a:rPr lang="en-US" smtClean="0"/>
              <a:pPr/>
              <a:t>3/28/2019</a:t>
            </a:fld>
            <a:endParaRPr lang="en-US"/>
          </a:p>
        </p:txBody>
      </p:sp>
      <p:sp>
        <p:nvSpPr>
          <p:cNvPr id="1029" name="Rectangle 5">
            <a:extLst>
              <a:ext uri="{FF2B5EF4-FFF2-40B4-BE49-F238E27FC236}">
                <a16:creationId xmlns:a16="http://schemas.microsoft.com/office/drawing/2014/main" id="{3E3223F0-8F22-4FBA-BA3F-FFC142F9FD63}"/>
              </a:ext>
            </a:extLst>
          </p:cNvPr>
          <p:cNvSpPr>
            <a:spLocks noGrp="1" noChangeArrowheads="1"/>
          </p:cNvSpPr>
          <p:nvPr>
            <p:ph type="ftr" sz="quarter" idx="3"/>
          </p:nvPr>
        </p:nvSpPr>
        <p:spPr bwMode="auto">
          <a:xfrm>
            <a:off x="3124200" y="4683919"/>
            <a:ext cx="2895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50"/>
            </a:lvl1pPr>
          </a:lstStyle>
          <a:p>
            <a:endParaRPr lang="en-US"/>
          </a:p>
        </p:txBody>
      </p:sp>
      <p:sp>
        <p:nvSpPr>
          <p:cNvPr id="1030" name="Rectangle 6">
            <a:extLst>
              <a:ext uri="{FF2B5EF4-FFF2-40B4-BE49-F238E27FC236}">
                <a16:creationId xmlns:a16="http://schemas.microsoft.com/office/drawing/2014/main" id="{F507D870-8A7D-4182-B1B5-20914E067D67}"/>
              </a:ext>
            </a:extLst>
          </p:cNvPr>
          <p:cNvSpPr>
            <a:spLocks noGrp="1" noChangeArrowheads="1"/>
          </p:cNvSpPr>
          <p:nvPr>
            <p:ph type="sldNum" sz="quarter" idx="4"/>
          </p:nvPr>
        </p:nvSpPr>
        <p:spPr bwMode="auto">
          <a:xfrm>
            <a:off x="6553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50"/>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8AC8929F-0A44-4B06-8652-E4CA8893B91E}"/>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a:t>
            </a:r>
            <a:r>
              <a:rPr lang="en-US" sz="1400" dirty="0">
                <a:solidFill>
                  <a:schemeClr val="bg1">
                    <a:lumMod val="65000"/>
                  </a:schemeClr>
                </a:solidFill>
              </a:rPr>
              <a:t>provided by FPPT.com</a:t>
            </a:r>
          </a:p>
          <a:p>
            <a:r>
              <a:rPr lang="en-US" sz="1400" dirty="0">
                <a:solidFill>
                  <a:schemeClr val="bg1">
                    <a:lumMod val="65000"/>
                  </a:schemeClr>
                </a:solidFill>
              </a:rPr>
              <a:t>www</a:t>
            </a:r>
            <a:r>
              <a:rPr lang="en-US" sz="1400">
                <a:solidFill>
                  <a:schemeClr val="bg1">
                    <a:lumMod val="65000"/>
                  </a:schemeClr>
                </a:solidFill>
              </a:rPr>
              <a:t>.free-power-point-templates</a:t>
            </a:r>
            <a:r>
              <a:rPr lang="en-US" sz="1400" dirty="0">
                <a:solidFill>
                  <a:schemeClr val="bg1">
                    <a:lumMod val="65000"/>
                  </a:schemeClr>
                </a:solidFill>
              </a:rPr>
              <a:t>.com</a:t>
            </a:r>
          </a:p>
        </p:txBody>
      </p:sp>
    </p:spTree>
    <p:extLst>
      <p:ext uri="{BB962C8B-B14F-4D97-AF65-F5344CB8AC3E}">
        <p14:creationId xmlns:p14="http://schemas.microsoft.com/office/powerpoint/2010/main" val="257096762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5pPr>
      <a:lvl6pPr marL="3429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6pPr>
      <a:lvl7pPr marL="6858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7pPr>
      <a:lvl8pPr marL="10287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8pPr>
      <a:lvl9pPr marL="13716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9pPr>
    </p:titleStyle>
    <p:body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0A05F1-954F-4FD9-8454-DF961F04AF4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8B901C-1CEE-47C0-8E9F-D6F1BBF651C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CA74E-C636-4264-842D-02F76BAE159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3074F12-AA26-4AC8-9962-C36BB8F32554}" type="datetimeFigureOut">
              <a:rPr lang="en-US" smtClean="0"/>
              <a:pPr/>
              <a:t>3/28/2019</a:t>
            </a:fld>
            <a:endParaRPr lang="en-US"/>
          </a:p>
        </p:txBody>
      </p:sp>
      <p:sp>
        <p:nvSpPr>
          <p:cNvPr id="5" name="Footer Placeholder 4">
            <a:extLst>
              <a:ext uri="{FF2B5EF4-FFF2-40B4-BE49-F238E27FC236}">
                <a16:creationId xmlns:a16="http://schemas.microsoft.com/office/drawing/2014/main" id="{AEEC63B0-5B3B-492A-B3CC-8DD156CC8C9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FFC59A-776E-4482-9631-CF1191A1260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CC65F88F-A17B-4AA7-B43F-05B13DBE6032}"/>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a:t>
            </a:r>
            <a:r>
              <a:rPr lang="en-US" sz="1400" dirty="0">
                <a:solidFill>
                  <a:schemeClr val="bg1">
                    <a:lumMod val="65000"/>
                  </a:schemeClr>
                </a:solidFill>
              </a:rPr>
              <a:t>provided by FPPT.com</a:t>
            </a:r>
          </a:p>
          <a:p>
            <a:r>
              <a:rPr lang="en-US" sz="1400" dirty="0">
                <a:solidFill>
                  <a:schemeClr val="bg1">
                    <a:lumMod val="65000"/>
                  </a:schemeClr>
                </a:solidFill>
              </a:rPr>
              <a:t>www</a:t>
            </a:r>
            <a:r>
              <a:rPr lang="en-US" sz="1400">
                <a:solidFill>
                  <a:schemeClr val="bg1">
                    <a:lumMod val="65000"/>
                  </a:schemeClr>
                </a:solidFill>
              </a:rPr>
              <a:t>.free-power-point-templates</a:t>
            </a:r>
            <a:r>
              <a:rPr lang="en-US" sz="1400" dirty="0">
                <a:solidFill>
                  <a:schemeClr val="bg1">
                    <a:lumMod val="65000"/>
                  </a:schemeClr>
                </a:solidFill>
              </a:rPr>
              <a:t>.com</a:t>
            </a:r>
          </a:p>
        </p:txBody>
      </p:sp>
    </p:spTree>
    <p:extLst>
      <p:ext uri="{BB962C8B-B14F-4D97-AF65-F5344CB8AC3E}">
        <p14:creationId xmlns:p14="http://schemas.microsoft.com/office/powerpoint/2010/main" val="1336501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image" Target="../media/image140.png"/><Relationship Id="rId7" Type="http://schemas.openxmlformats.org/officeDocument/2006/relationships/image" Target="../media/image18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0.png"/><Relationship Id="rId4" Type="http://schemas.openxmlformats.org/officeDocument/2006/relationships/image" Target="../media/image150.png"/></Relationships>
</file>

<file path=ppt/slides/_rels/slide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616" y="0"/>
            <a:ext cx="818271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2282552" y="1576531"/>
            <a:ext cx="4578895" cy="1990438"/>
          </a:xfrm>
        </p:spPr>
        <p:txBody>
          <a:bodyPr>
            <a:noAutofit/>
          </a:bodyPr>
          <a:lstStyle/>
          <a:p>
            <a:pPr>
              <a:lnSpc>
                <a:spcPct val="90000"/>
              </a:lnSpc>
            </a:pPr>
            <a:r>
              <a:rPr lang="en-US" sz="3200" b="1">
                <a:solidFill>
                  <a:schemeClr val="bg1"/>
                </a:solidFill>
              </a:rPr>
              <a:t>Artificial </a:t>
            </a:r>
            <a:r>
              <a:rPr lang="en-US" sz="3200" b="1" dirty="0">
                <a:solidFill>
                  <a:schemeClr val="bg1"/>
                </a:solidFill>
              </a:rPr>
              <a:t>Intelligence</a:t>
            </a:r>
            <a:br>
              <a:rPr lang="en-US" sz="3200" b="1" dirty="0">
                <a:solidFill>
                  <a:schemeClr val="bg1"/>
                </a:solidFill>
              </a:rPr>
            </a:br>
            <a:r>
              <a:rPr lang="en-US" sz="3200" b="1">
                <a:solidFill>
                  <a:schemeClr val="bg1"/>
                </a:solidFill>
              </a:rPr>
              <a:t> Chapter </a:t>
            </a:r>
            <a:r>
              <a:rPr lang="en-US" sz="3200" b="1" dirty="0">
                <a:solidFill>
                  <a:schemeClr val="bg1"/>
                </a:solidFill>
              </a:rPr>
              <a:t>5</a:t>
            </a:r>
            <a:r>
              <a:rPr lang="en-US" sz="3200" b="1">
                <a:solidFill>
                  <a:schemeClr val="bg1"/>
                </a:solidFill>
              </a:rPr>
              <a:t>: STOCHASTIC </a:t>
            </a:r>
            <a:r>
              <a:rPr lang="en-US" sz="3200" b="1" dirty="0">
                <a:solidFill>
                  <a:schemeClr val="bg1"/>
                </a:solidFill>
              </a:rPr>
              <a:t>METHODS</a:t>
            </a:r>
          </a:p>
        </p:txBody>
      </p:sp>
    </p:spTree>
    <p:extLst>
      <p:ext uri="{BB962C8B-B14F-4D97-AF65-F5344CB8AC3E}">
        <p14:creationId xmlns:p14="http://schemas.microsoft.com/office/powerpoint/2010/main" val="363920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a:solidFill>
                  <a:srgbClr val="FFFFFF"/>
                </a:solidFill>
              </a:rPr>
              <a:t>OutLine</a:t>
            </a:r>
          </a:p>
        </p:txBody>
      </p:sp>
      <p:sp>
        <p:nvSpPr>
          <p:cNvPr id="3" name="Content Placeholder 2"/>
          <p:cNvSpPr>
            <a:spLocks noGrp="1"/>
          </p:cNvSpPr>
          <p:nvPr>
            <p:ph idx="1"/>
          </p:nvPr>
        </p:nvSpPr>
        <p:spPr>
          <a:xfrm>
            <a:off x="884304" y="1884782"/>
            <a:ext cx="7375161" cy="3289073"/>
          </a:xfrm>
        </p:spPr>
        <p:txBody>
          <a:bodyPr>
            <a:noAutofit/>
          </a:bodyPr>
          <a:lstStyle/>
          <a:p>
            <a:r>
              <a:rPr lang="en-US" sz="2200" dirty="0">
                <a:solidFill>
                  <a:schemeClr val="accent6">
                    <a:lumMod val="75000"/>
                  </a:schemeClr>
                </a:solidFill>
              </a:rPr>
              <a:t>5.0 Introduction</a:t>
            </a:r>
          </a:p>
          <a:p>
            <a:r>
              <a:rPr lang="en-US" sz="2200" dirty="0">
                <a:solidFill>
                  <a:schemeClr val="accent6">
                    <a:lumMod val="75000"/>
                  </a:schemeClr>
                </a:solidFill>
              </a:rPr>
              <a:t>5.1 The Elements of Counting</a:t>
            </a:r>
          </a:p>
          <a:p>
            <a:r>
              <a:rPr lang="en-US" sz="2200" dirty="0">
                <a:solidFill>
                  <a:schemeClr val="accent6">
                    <a:lumMod val="75000"/>
                  </a:schemeClr>
                </a:solidFill>
              </a:rPr>
              <a:t>5.2 Elements </a:t>
            </a:r>
            <a:r>
              <a:rPr lang="en-US" sz="2200">
                <a:solidFill>
                  <a:schemeClr val="accent6">
                    <a:lumMod val="75000"/>
                  </a:schemeClr>
                </a:solidFill>
              </a:rPr>
              <a:t>of Probability Theory Capture Audience Attention</a:t>
            </a:r>
            <a:endParaRPr lang="en-US" sz="2200" dirty="0">
              <a:solidFill>
                <a:schemeClr val="accent6">
                  <a:lumMod val="75000"/>
                </a:schemeClr>
              </a:solidFill>
            </a:endParaRPr>
          </a:p>
          <a:p>
            <a:r>
              <a:rPr lang="en-US" sz="2200">
                <a:solidFill>
                  <a:schemeClr val="accent6">
                    <a:lumMod val="75000"/>
                  </a:schemeClr>
                </a:solidFill>
              </a:rPr>
              <a:t>5.3 Bayes</a:t>
            </a:r>
            <a:r>
              <a:rPr lang="en-US" sz="2200" dirty="0">
                <a:solidFill>
                  <a:schemeClr val="accent6">
                    <a:lumMod val="75000"/>
                  </a:schemeClr>
                </a:solidFill>
              </a:rPr>
              <a:t>’ Theorem</a:t>
            </a:r>
          </a:p>
          <a:p>
            <a:r>
              <a:rPr lang="en-US" sz="2200">
                <a:solidFill>
                  <a:schemeClr val="accent6">
                    <a:lumMod val="75000"/>
                  </a:schemeClr>
                </a:solidFill>
              </a:rPr>
              <a:t>5.4 Applications </a:t>
            </a:r>
            <a:r>
              <a:rPr lang="en-US" sz="2200" dirty="0">
                <a:solidFill>
                  <a:schemeClr val="accent6">
                    <a:lumMod val="75000"/>
                  </a:schemeClr>
                </a:solidFill>
              </a:rPr>
              <a:t>of </a:t>
            </a:r>
            <a:r>
              <a:rPr lang="en-US" sz="2200">
                <a:solidFill>
                  <a:schemeClr val="accent6">
                    <a:lumMod val="75000"/>
                  </a:schemeClr>
                </a:solidFill>
              </a:rPr>
              <a:t>the Stochastic </a:t>
            </a:r>
            <a:r>
              <a:rPr lang="en-US" sz="2200" dirty="0">
                <a:solidFill>
                  <a:schemeClr val="accent6">
                    <a:lumMod val="75000"/>
                  </a:schemeClr>
                </a:solidFill>
              </a:rPr>
              <a:t>Methodology</a:t>
            </a:r>
          </a:p>
          <a:p>
            <a:r>
              <a:rPr lang="en-US" sz="2200" dirty="0">
                <a:solidFill>
                  <a:schemeClr val="accent6">
                    <a:lumMod val="75000"/>
                  </a:schemeClr>
                </a:solidFill>
              </a:rPr>
              <a:t>5.5 </a:t>
            </a:r>
            <a:r>
              <a:rPr lang="en-US" sz="2200">
                <a:solidFill>
                  <a:schemeClr val="accent6">
                    <a:lumMod val="75000"/>
                  </a:schemeClr>
                </a:solidFill>
              </a:rPr>
              <a:t>Epilogue and </a:t>
            </a:r>
            <a:r>
              <a:rPr lang="en-US" sz="2200" dirty="0">
                <a:solidFill>
                  <a:schemeClr val="accent6">
                    <a:lumMod val="75000"/>
                  </a:schemeClr>
                </a:solidFill>
              </a:rPr>
              <a:t>References</a:t>
            </a:r>
          </a:p>
          <a:p>
            <a:r>
              <a:rPr lang="en-US" sz="2200" dirty="0">
                <a:solidFill>
                  <a:schemeClr val="accent6">
                    <a:lumMod val="75000"/>
                  </a:schemeClr>
                </a:solidFill>
              </a:rPr>
              <a:t>5.6 Exercises</a:t>
            </a:r>
          </a:p>
          <a:p>
            <a:endParaRPr lang="en-US" sz="2200" dirty="0">
              <a:solidFill>
                <a:schemeClr val="accent6">
                  <a:lumMod val="75000"/>
                </a:schemeClr>
              </a:solidFill>
            </a:endParaRPr>
          </a:p>
          <a:p>
            <a:endParaRPr lang="en-US" sz="2200" dirty="0">
              <a:solidFill>
                <a:schemeClr val="accent6">
                  <a:lumMod val="75000"/>
                </a:schemeClr>
              </a:solidFill>
            </a:endParaRP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Title 3"/>
          <p:cNvSpPr>
            <a:spLocks noGrp="1"/>
          </p:cNvSpPr>
          <p:nvPr>
            <p:ph type="title"/>
          </p:nvPr>
        </p:nvSpPr>
        <p:spPr>
          <a:xfrm>
            <a:off x="480059" y="1540230"/>
            <a:ext cx="2751871" cy="2070074"/>
          </a:xfrm>
        </p:spPr>
        <p:txBody>
          <a:bodyPr>
            <a:normAutofit/>
          </a:bodyPr>
          <a:lstStyle/>
          <a:p>
            <a:r>
              <a:rPr lang="en-US">
                <a:solidFill>
                  <a:srgbClr val="FFFFFF"/>
                </a:solidFill>
              </a:rPr>
              <a:t>I. Introduction </a:t>
            </a:r>
          </a:p>
        </p:txBody>
      </p:sp>
      <p:sp>
        <p:nvSpPr>
          <p:cNvPr id="5" name="Content Placeholder 4"/>
          <p:cNvSpPr>
            <a:spLocks noGrp="1"/>
          </p:cNvSpPr>
          <p:nvPr>
            <p:ph idx="1"/>
          </p:nvPr>
        </p:nvSpPr>
        <p:spPr>
          <a:xfrm>
            <a:off x="4240800" y="601399"/>
            <a:ext cx="4903199" cy="3922976"/>
          </a:xfrm>
        </p:spPr>
        <p:txBody>
          <a:bodyPr anchor="ctr">
            <a:normAutofit/>
          </a:bodyPr>
          <a:lstStyle/>
          <a:p>
            <a:pPr marL="0" indent="0">
              <a:lnSpc>
                <a:spcPct val="90000"/>
              </a:lnSpc>
              <a:buNone/>
            </a:pPr>
            <a:r>
              <a:rPr lang="en-US" sz="1700">
                <a:solidFill>
                  <a:schemeClr val="accent6">
                    <a:lumMod val="75000"/>
                  </a:schemeClr>
                </a:solidFill>
              </a:rPr>
              <a:t>- Chapter </a:t>
            </a:r>
            <a:r>
              <a:rPr lang="en-US" sz="1700" dirty="0">
                <a:solidFill>
                  <a:schemeClr val="accent6">
                    <a:lumMod val="75000"/>
                  </a:schemeClr>
                </a:solidFill>
              </a:rPr>
              <a:t>4 introduced </a:t>
            </a:r>
            <a:r>
              <a:rPr lang="en-US" sz="1700">
                <a:solidFill>
                  <a:schemeClr val="accent6">
                    <a:lumMod val="75000"/>
                  </a:schemeClr>
                </a:solidFill>
              </a:rPr>
              <a:t>heuristic search as an approach </a:t>
            </a:r>
            <a:r>
              <a:rPr lang="en-US" sz="1700" dirty="0">
                <a:solidFill>
                  <a:schemeClr val="accent6">
                    <a:lumMod val="75000"/>
                  </a:schemeClr>
                </a:solidFill>
              </a:rPr>
              <a:t>to problem solving </a:t>
            </a:r>
            <a:r>
              <a:rPr lang="en-US" sz="1700">
                <a:solidFill>
                  <a:schemeClr val="accent6">
                    <a:lumMod val="75000"/>
                  </a:schemeClr>
                </a:solidFill>
              </a:rPr>
              <a:t>in domains </a:t>
            </a:r>
            <a:r>
              <a:rPr lang="en-US" sz="1700" dirty="0">
                <a:solidFill>
                  <a:schemeClr val="accent6">
                    <a:lumMod val="75000"/>
                  </a:schemeClr>
                </a:solidFill>
              </a:rPr>
              <a:t>where </a:t>
            </a:r>
            <a:r>
              <a:rPr lang="en-US" sz="1700">
                <a:solidFill>
                  <a:schemeClr val="accent6">
                    <a:lumMod val="75000"/>
                  </a:schemeClr>
                </a:solidFill>
              </a:rPr>
              <a:t>either a </a:t>
            </a:r>
            <a:r>
              <a:rPr lang="en-US" sz="1700" dirty="0">
                <a:solidFill>
                  <a:schemeClr val="accent6">
                    <a:lumMod val="75000"/>
                  </a:schemeClr>
                </a:solidFill>
              </a:rPr>
              <a:t>problem does </a:t>
            </a:r>
            <a:r>
              <a:rPr lang="en-US" sz="1700">
                <a:solidFill>
                  <a:schemeClr val="accent6">
                    <a:lumMod val="75000"/>
                  </a:schemeClr>
                </a:solidFill>
              </a:rPr>
              <a:t>not have an exact </a:t>
            </a:r>
            <a:r>
              <a:rPr lang="en-US" sz="1700" dirty="0">
                <a:solidFill>
                  <a:schemeClr val="accent6">
                    <a:lumMod val="75000"/>
                  </a:schemeClr>
                </a:solidFill>
              </a:rPr>
              <a:t>solution or where the </a:t>
            </a:r>
            <a:r>
              <a:rPr lang="en-US" sz="1700">
                <a:solidFill>
                  <a:schemeClr val="accent6">
                    <a:lumMod val="75000"/>
                  </a:schemeClr>
                </a:solidFill>
              </a:rPr>
              <a:t>full state space may </a:t>
            </a:r>
            <a:r>
              <a:rPr lang="en-US" sz="1700" dirty="0">
                <a:solidFill>
                  <a:schemeClr val="accent6">
                    <a:lumMod val="75000"/>
                  </a:schemeClr>
                </a:solidFill>
              </a:rPr>
              <a:t>be too costly </a:t>
            </a:r>
            <a:r>
              <a:rPr lang="en-US" sz="1700">
                <a:solidFill>
                  <a:schemeClr val="accent6">
                    <a:lumMod val="75000"/>
                  </a:schemeClr>
                </a:solidFill>
              </a:rPr>
              <a:t>to calculate</a:t>
            </a:r>
            <a:r>
              <a:rPr lang="en-US" sz="1700" dirty="0">
                <a:solidFill>
                  <a:schemeClr val="accent6">
                    <a:lumMod val="75000"/>
                  </a:schemeClr>
                </a:solidFill>
              </a:rPr>
              <a:t>.</a:t>
            </a:r>
            <a:br>
              <a:rPr lang="en-US" sz="1700" dirty="0">
                <a:solidFill>
                  <a:schemeClr val="accent6">
                    <a:lumMod val="75000"/>
                  </a:schemeClr>
                </a:solidFill>
              </a:rPr>
            </a:br>
            <a:r>
              <a:rPr lang="en-US" sz="1700" dirty="0">
                <a:solidFill>
                  <a:schemeClr val="accent6">
                    <a:lumMod val="75000"/>
                  </a:schemeClr>
                </a:solidFill>
              </a:rPr>
              <a:t/>
            </a:r>
            <a:br>
              <a:rPr lang="en-US" sz="1700" dirty="0">
                <a:solidFill>
                  <a:schemeClr val="accent6">
                    <a:lumMod val="75000"/>
                  </a:schemeClr>
                </a:solidFill>
              </a:rPr>
            </a:br>
            <a:r>
              <a:rPr lang="en-US" sz="1700" dirty="0">
                <a:solidFill>
                  <a:schemeClr val="accent6">
                    <a:lumMod val="75000"/>
                  </a:schemeClr>
                </a:solidFill>
              </a:rPr>
              <a:t>- In </a:t>
            </a:r>
            <a:r>
              <a:rPr lang="en-US" sz="1700">
                <a:solidFill>
                  <a:schemeClr val="accent6">
                    <a:lumMod val="75000"/>
                  </a:schemeClr>
                </a:solidFill>
              </a:rPr>
              <a:t>this chapter </a:t>
            </a:r>
            <a:r>
              <a:rPr lang="en-US" sz="1700" dirty="0">
                <a:solidFill>
                  <a:schemeClr val="accent6">
                    <a:lumMod val="75000"/>
                  </a:schemeClr>
                </a:solidFill>
              </a:rPr>
              <a:t>we propose </a:t>
            </a:r>
            <a:r>
              <a:rPr lang="en-US" sz="1700">
                <a:solidFill>
                  <a:schemeClr val="accent6">
                    <a:lumMod val="75000"/>
                  </a:schemeClr>
                </a:solidFill>
              </a:rPr>
              <a:t>the stochastic methodology as     appropriate </a:t>
            </a:r>
            <a:r>
              <a:rPr lang="en-US" sz="1700" dirty="0">
                <a:solidFill>
                  <a:schemeClr val="accent6">
                    <a:lumMod val="75000"/>
                  </a:schemeClr>
                </a:solidFill>
              </a:rPr>
              <a:t>or </a:t>
            </a:r>
            <a:r>
              <a:rPr lang="en-US" sz="1700">
                <a:solidFill>
                  <a:schemeClr val="accent6">
                    <a:lumMod val="75000"/>
                  </a:schemeClr>
                </a:solidFill>
              </a:rPr>
              <a:t>these situations. Probabilistic reasoning is also suitable for situations where state information </a:t>
            </a:r>
            <a:r>
              <a:rPr lang="en-US" sz="1700" dirty="0">
                <a:solidFill>
                  <a:schemeClr val="accent6">
                    <a:lumMod val="75000"/>
                  </a:schemeClr>
                </a:solidFill>
              </a:rPr>
              <a:t>is found </a:t>
            </a:r>
            <a:r>
              <a:rPr lang="en-US" sz="1700">
                <a:solidFill>
                  <a:schemeClr val="accent6">
                    <a:lumMod val="75000"/>
                  </a:schemeClr>
                </a:solidFill>
              </a:rPr>
              <a:t>from sampling an information base and causal models are learned from data.</a:t>
            </a:r>
            <a:endParaRPr lang="en-US" sz="1700" dirty="0">
              <a:solidFill>
                <a:schemeClr val="accent6">
                  <a:lumMod val="75000"/>
                </a:schemeClr>
              </a:solidFill>
            </a:endParaRPr>
          </a:p>
        </p:txBody>
      </p:sp>
    </p:spTree>
    <p:extLst>
      <p:ext uri="{BB962C8B-B14F-4D97-AF65-F5344CB8AC3E}">
        <p14:creationId xmlns:p14="http://schemas.microsoft.com/office/powerpoint/2010/main" val="1101633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540000" y="2065452"/>
            <a:ext cx="8013599" cy="3078048"/>
          </a:xfrm>
        </p:spPr>
        <p:txBody>
          <a:bodyPr>
            <a:normAutofit/>
          </a:bodyPr>
          <a:lstStyle/>
          <a:p>
            <a:pPr marL="0" indent="0">
              <a:buNone/>
            </a:pPr>
            <a:r>
              <a:rPr lang="en-US" sz="1800" dirty="0">
                <a:solidFill>
                  <a:schemeClr val="accent6">
                    <a:lumMod val="75000"/>
                  </a:schemeClr>
                </a:solidFill>
              </a:rPr>
              <a:t>- </a:t>
            </a:r>
            <a:r>
              <a:rPr lang="en-US" sz="1800">
                <a:solidFill>
                  <a:schemeClr val="accent6">
                    <a:lumMod val="75000"/>
                  </a:schemeClr>
                </a:solidFill>
              </a:rPr>
              <a:t>One important application domain </a:t>
            </a:r>
            <a:r>
              <a:rPr lang="en-US" sz="1800" dirty="0">
                <a:solidFill>
                  <a:schemeClr val="accent6">
                    <a:lumMod val="75000"/>
                  </a:schemeClr>
                </a:solidFill>
              </a:rPr>
              <a:t>for the use of </a:t>
            </a:r>
            <a:r>
              <a:rPr lang="en-US" sz="1800">
                <a:solidFill>
                  <a:schemeClr val="accent6">
                    <a:lumMod val="75000"/>
                  </a:schemeClr>
                </a:solidFill>
              </a:rPr>
              <a:t>the stochastic </a:t>
            </a:r>
            <a:r>
              <a:rPr lang="en-US" sz="1800" dirty="0">
                <a:solidFill>
                  <a:schemeClr val="accent6">
                    <a:lumMod val="75000"/>
                  </a:schemeClr>
                </a:solidFill>
              </a:rPr>
              <a:t>methodology </a:t>
            </a:r>
            <a:r>
              <a:rPr lang="en-US" sz="1800">
                <a:solidFill>
                  <a:schemeClr val="accent6">
                    <a:lumMod val="75000"/>
                  </a:schemeClr>
                </a:solidFill>
              </a:rPr>
              <a:t>is diagnostic reasoning where cause</a:t>
            </a:r>
            <a:r>
              <a:rPr lang="en-US" sz="1800" dirty="0">
                <a:solidFill>
                  <a:schemeClr val="accent6">
                    <a:lumMod val="75000"/>
                  </a:schemeClr>
                </a:solidFill>
              </a:rPr>
              <a:t>/</a:t>
            </a:r>
            <a:r>
              <a:rPr lang="en-US" sz="1800">
                <a:solidFill>
                  <a:schemeClr val="accent6">
                    <a:lumMod val="75000"/>
                  </a:schemeClr>
                </a:solidFill>
              </a:rPr>
              <a:t>effect relationships are not always captured in a </a:t>
            </a:r>
            <a:r>
              <a:rPr lang="en-US" sz="1800" dirty="0">
                <a:solidFill>
                  <a:schemeClr val="accent6">
                    <a:lumMod val="75000"/>
                  </a:schemeClr>
                </a:solidFill>
              </a:rPr>
              <a:t>purely </a:t>
            </a:r>
            <a:r>
              <a:rPr lang="en-US" sz="1800">
                <a:solidFill>
                  <a:schemeClr val="accent6">
                    <a:lumMod val="75000"/>
                  </a:schemeClr>
                </a:solidFill>
              </a:rPr>
              <a:t>deterministic fashion</a:t>
            </a:r>
            <a:r>
              <a:rPr lang="en-US" sz="1800" dirty="0">
                <a:solidFill>
                  <a:schemeClr val="accent6">
                    <a:lumMod val="75000"/>
                  </a:schemeClr>
                </a:solidFill>
              </a:rPr>
              <a:t>,</a:t>
            </a:r>
          </a:p>
          <a:p>
            <a:pPr marL="0" indent="0">
              <a:buNone/>
            </a:pPr>
            <a:r>
              <a:rPr lang="en-US" sz="1800" dirty="0">
                <a:solidFill>
                  <a:schemeClr val="accent6">
                    <a:lumMod val="75000"/>
                  </a:schemeClr>
                </a:solidFill>
              </a:rPr>
              <a:t> </a:t>
            </a:r>
            <a:r>
              <a:rPr lang="en-US" sz="1800">
                <a:solidFill>
                  <a:schemeClr val="accent6">
                    <a:lumMod val="75000"/>
                  </a:schemeClr>
                </a:solidFill>
              </a:rPr>
              <a:t>- Another interesting application </a:t>
            </a:r>
            <a:r>
              <a:rPr lang="en-US" sz="1800" dirty="0">
                <a:solidFill>
                  <a:schemeClr val="accent6">
                    <a:lumMod val="75000"/>
                  </a:schemeClr>
                </a:solidFill>
              </a:rPr>
              <a:t>for </a:t>
            </a:r>
            <a:r>
              <a:rPr lang="en-US" sz="1800">
                <a:solidFill>
                  <a:schemeClr val="accent6">
                    <a:lumMod val="75000"/>
                  </a:schemeClr>
                </a:solidFill>
              </a:rPr>
              <a:t>the stochastic </a:t>
            </a:r>
            <a:r>
              <a:rPr lang="en-US" sz="1800" dirty="0">
                <a:solidFill>
                  <a:schemeClr val="accent6">
                    <a:lumMod val="75000"/>
                  </a:schemeClr>
                </a:solidFill>
              </a:rPr>
              <a:t>methodology </a:t>
            </a:r>
            <a:r>
              <a:rPr lang="en-US" sz="1800">
                <a:solidFill>
                  <a:schemeClr val="accent6">
                    <a:lumMod val="75000"/>
                  </a:schemeClr>
                </a:solidFill>
              </a:rPr>
              <a:t>is gambling</a:t>
            </a:r>
            <a:r>
              <a:rPr lang="en-US" sz="1800" dirty="0">
                <a:solidFill>
                  <a:schemeClr val="accent6">
                    <a:lumMod val="75000"/>
                  </a:schemeClr>
                </a:solidFill>
              </a:rPr>
              <a:t>, where </a:t>
            </a:r>
            <a:r>
              <a:rPr lang="en-US" sz="1800">
                <a:solidFill>
                  <a:schemeClr val="accent6">
                    <a:lumMod val="75000"/>
                  </a:schemeClr>
                </a:solidFill>
              </a:rPr>
              <a:t>supposedly random </a:t>
            </a:r>
            <a:r>
              <a:rPr lang="en-US" sz="1800" dirty="0">
                <a:solidFill>
                  <a:schemeClr val="accent6">
                    <a:lumMod val="75000"/>
                  </a:schemeClr>
                </a:solidFill>
              </a:rPr>
              <a:t>events </a:t>
            </a:r>
            <a:r>
              <a:rPr lang="en-US" sz="1800">
                <a:solidFill>
                  <a:schemeClr val="accent6">
                    <a:lumMod val="75000"/>
                  </a:schemeClr>
                </a:solidFill>
              </a:rPr>
              <a:t>such as </a:t>
            </a:r>
            <a:r>
              <a:rPr lang="en-US" sz="1800" dirty="0">
                <a:solidFill>
                  <a:schemeClr val="accent6">
                    <a:lumMod val="75000"/>
                  </a:schemeClr>
                </a:solidFill>
              </a:rPr>
              <a:t>the roll of dice, </a:t>
            </a:r>
            <a:r>
              <a:rPr lang="en-US" sz="1800">
                <a:solidFill>
                  <a:schemeClr val="accent6">
                    <a:lumMod val="75000"/>
                  </a:schemeClr>
                </a:solidFill>
              </a:rPr>
              <a:t>the dealing </a:t>
            </a:r>
            <a:r>
              <a:rPr lang="en-US" sz="1800" dirty="0">
                <a:solidFill>
                  <a:schemeClr val="accent6">
                    <a:lumMod val="75000"/>
                  </a:schemeClr>
                </a:solidFill>
              </a:rPr>
              <a:t>of </a:t>
            </a:r>
            <a:r>
              <a:rPr lang="en-US" sz="1800">
                <a:solidFill>
                  <a:schemeClr val="accent6">
                    <a:lumMod val="75000"/>
                  </a:schemeClr>
                </a:solidFill>
              </a:rPr>
              <a:t>shuffled cards</a:t>
            </a:r>
            <a:r>
              <a:rPr lang="en-US" sz="1800" dirty="0">
                <a:solidFill>
                  <a:schemeClr val="accent6">
                    <a:lumMod val="75000"/>
                  </a:schemeClr>
                </a:solidFill>
              </a:rPr>
              <a:t>. </a:t>
            </a:r>
            <a:r>
              <a:rPr lang="en-US" sz="1800">
                <a:solidFill>
                  <a:schemeClr val="accent6">
                    <a:lumMod val="75000"/>
                  </a:schemeClr>
                </a:solidFill>
              </a:rPr>
              <a:t>In fact</a:t>
            </a:r>
            <a:r>
              <a:rPr lang="en-US" sz="1800" dirty="0">
                <a:solidFill>
                  <a:schemeClr val="accent6">
                    <a:lumMod val="75000"/>
                  </a:schemeClr>
                </a:solidFill>
              </a:rPr>
              <a:t>, in the 18th century, </a:t>
            </a:r>
            <a:r>
              <a:rPr lang="en-US" sz="1800">
                <a:solidFill>
                  <a:schemeClr val="accent6">
                    <a:lumMod val="75000"/>
                  </a:schemeClr>
                </a:solidFill>
              </a:rPr>
              <a:t>the attempt </a:t>
            </a:r>
            <a:r>
              <a:rPr lang="en-US" sz="1800" dirty="0">
                <a:solidFill>
                  <a:schemeClr val="accent6">
                    <a:lumMod val="75000"/>
                  </a:schemeClr>
                </a:solidFill>
              </a:rPr>
              <a:t>to </a:t>
            </a:r>
            <a:r>
              <a:rPr lang="en-US" sz="1800">
                <a:solidFill>
                  <a:schemeClr val="accent6">
                    <a:lumMod val="75000"/>
                  </a:schemeClr>
                </a:solidFill>
              </a:rPr>
              <a:t>provide a mathematical foundation for gambling was an important motivation for Pascal (and later Laplace</a:t>
            </a:r>
            <a:r>
              <a:rPr lang="en-US" sz="1800" dirty="0">
                <a:solidFill>
                  <a:schemeClr val="accent6">
                    <a:lumMod val="75000"/>
                  </a:schemeClr>
                </a:solidFill>
              </a:rPr>
              <a:t>) to </a:t>
            </a:r>
            <a:r>
              <a:rPr lang="en-US" sz="1800">
                <a:solidFill>
                  <a:schemeClr val="accent6">
                    <a:lumMod val="75000"/>
                  </a:schemeClr>
                </a:solidFill>
              </a:rPr>
              <a:t>develop a probabilistic calculus</a:t>
            </a:r>
            <a:r>
              <a:rPr lang="en-US" sz="1800" dirty="0">
                <a:solidFill>
                  <a:schemeClr val="accent6">
                    <a:lumMod val="75000"/>
                  </a:schemeClr>
                </a:solidFill>
              </a:rPr>
              <a:t>.</a:t>
            </a:r>
          </a:p>
          <a:p>
            <a:pPr marL="0" indent="0">
              <a:buNone/>
            </a:pPr>
            <a:r>
              <a:rPr lang="en-US" sz="1800" dirty="0">
                <a:solidFill>
                  <a:schemeClr val="accent6">
                    <a:lumMod val="75000"/>
                  </a:schemeClr>
                </a:solidFill>
              </a:rPr>
              <a:t>	</a:t>
            </a:r>
          </a:p>
          <a:p>
            <a:pPr marL="0" indent="0">
              <a:buNone/>
            </a:pPr>
            <a:endParaRPr lang="en-US" sz="1800" dirty="0">
              <a:solidFill>
                <a:schemeClr val="accent6">
                  <a:lumMod val="75000"/>
                </a:schemeClr>
              </a:solidFill>
            </a:endParaRPr>
          </a:p>
          <a:p>
            <a:pPr marL="0" indent="0">
              <a:buNone/>
            </a:pPr>
            <a:endParaRPr lang="en-US" sz="1800" dirty="0">
              <a:solidFill>
                <a:schemeClr val="accent6">
                  <a:lumMod val="75000"/>
                </a:schemeClr>
              </a:solidFill>
            </a:endParaRPr>
          </a:p>
        </p:txBody>
      </p:sp>
    </p:spTree>
    <p:extLst>
      <p:ext uri="{BB962C8B-B14F-4D97-AF65-F5344CB8AC3E}">
        <p14:creationId xmlns:p14="http://schemas.microsoft.com/office/powerpoint/2010/main" val="11219759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597600" y="2319727"/>
            <a:ext cx="7970399" cy="2020482"/>
          </a:xfrm>
        </p:spPr>
        <p:txBody>
          <a:bodyPr>
            <a:normAutofit/>
          </a:bodyPr>
          <a:lstStyle/>
          <a:p>
            <a:pPr marL="0" indent="0">
              <a:buNone/>
            </a:pPr>
            <a:r>
              <a:rPr lang="en-US" sz="1800">
                <a:solidFill>
                  <a:schemeClr val="accent6">
                    <a:lumMod val="75000"/>
                  </a:schemeClr>
                </a:solidFill>
              </a:rPr>
              <a:t>- Finally, human </a:t>
            </a:r>
            <a:r>
              <a:rPr lang="en-US" sz="1800" dirty="0">
                <a:solidFill>
                  <a:schemeClr val="accent6">
                    <a:lumMod val="75000"/>
                  </a:schemeClr>
                </a:solidFill>
              </a:rPr>
              <a:t>decisions often emerge from complex</a:t>
            </a:r>
            <a:r>
              <a:rPr lang="en-US" sz="1800">
                <a:solidFill>
                  <a:schemeClr val="accent6">
                    <a:lumMod val="75000"/>
                  </a:schemeClr>
                </a:solidFill>
              </a:rPr>
              <a:t>, time-critical, and </a:t>
            </a:r>
            <a:r>
              <a:rPr lang="en-US" sz="1800" dirty="0">
                <a:solidFill>
                  <a:schemeClr val="accent6">
                    <a:lumMod val="75000"/>
                  </a:schemeClr>
                </a:solidFill>
              </a:rPr>
              <a:t>embodied environments </a:t>
            </a:r>
            <a:r>
              <a:rPr lang="en-US" sz="1800">
                <a:solidFill>
                  <a:schemeClr val="accent6">
                    <a:lumMod val="75000"/>
                  </a:schemeClr>
                </a:solidFill>
              </a:rPr>
              <a:t>where a fully mechanistic calculus may </a:t>
            </a:r>
            <a:r>
              <a:rPr lang="en-US" sz="1800" dirty="0">
                <a:solidFill>
                  <a:schemeClr val="accent6">
                    <a:lumMod val="75000"/>
                  </a:schemeClr>
                </a:solidFill>
              </a:rPr>
              <a:t>simply</a:t>
            </a:r>
          </a:p>
          <a:p>
            <a:pPr marL="0" indent="0">
              <a:buNone/>
            </a:pPr>
            <a:endParaRPr lang="en-US" sz="1800" dirty="0">
              <a:solidFill>
                <a:schemeClr val="accent6">
                  <a:lumMod val="75000"/>
                </a:schemeClr>
              </a:solidFill>
            </a:endParaRPr>
          </a:p>
          <a:p>
            <a:pPr marL="0" indent="0">
              <a:buNone/>
            </a:pPr>
            <a:r>
              <a:rPr lang="en-US" sz="1800" dirty="0">
                <a:solidFill>
                  <a:schemeClr val="accent6">
                    <a:lumMod val="75000"/>
                  </a:schemeClr>
                </a:solidFill>
              </a:rPr>
              <a:t>- We next </a:t>
            </a:r>
            <a:r>
              <a:rPr lang="en-US" sz="1800">
                <a:solidFill>
                  <a:schemeClr val="accent6">
                    <a:lumMod val="75000"/>
                  </a:schemeClr>
                </a:solidFill>
              </a:rPr>
              <a:t>describe several problem areas, among many</a:t>
            </a:r>
            <a:r>
              <a:rPr lang="en-US" sz="1800" dirty="0">
                <a:solidFill>
                  <a:schemeClr val="accent6">
                    <a:lumMod val="75000"/>
                  </a:schemeClr>
                </a:solidFill>
              </a:rPr>
              <a:t>, where </a:t>
            </a:r>
            <a:r>
              <a:rPr lang="en-US" sz="1800">
                <a:solidFill>
                  <a:schemeClr val="accent6">
                    <a:lumMod val="75000"/>
                  </a:schemeClr>
                </a:solidFill>
              </a:rPr>
              <a:t>the stochastic </a:t>
            </a:r>
            <a:r>
              <a:rPr lang="en-US" sz="1800" dirty="0">
                <a:solidFill>
                  <a:schemeClr val="accent6">
                    <a:lumMod val="75000"/>
                  </a:schemeClr>
                </a:solidFill>
              </a:rPr>
              <a:t>methodology is often used in </a:t>
            </a:r>
            <a:r>
              <a:rPr lang="en-US" sz="1800">
                <a:solidFill>
                  <a:schemeClr val="accent6">
                    <a:lumMod val="75000"/>
                  </a:schemeClr>
                </a:solidFill>
              </a:rPr>
              <a:t>the computational implementation </a:t>
            </a:r>
            <a:r>
              <a:rPr lang="en-US" sz="1800" dirty="0">
                <a:solidFill>
                  <a:schemeClr val="accent6">
                    <a:lumMod val="75000"/>
                  </a:schemeClr>
                </a:solidFill>
              </a:rPr>
              <a:t>of intelligence; </a:t>
            </a:r>
            <a:r>
              <a:rPr lang="en-US" sz="1800">
                <a:solidFill>
                  <a:schemeClr val="accent6">
                    <a:lumMod val="75000"/>
                  </a:schemeClr>
                </a:solidFill>
              </a:rPr>
              <a:t>these areas </a:t>
            </a:r>
            <a:r>
              <a:rPr lang="en-US" sz="1800" dirty="0">
                <a:solidFill>
                  <a:schemeClr val="accent6">
                    <a:lumMod val="75000"/>
                  </a:schemeClr>
                </a:solidFill>
              </a:rPr>
              <a:t>will </a:t>
            </a:r>
            <a:r>
              <a:rPr lang="en-US" sz="1800">
                <a:solidFill>
                  <a:schemeClr val="accent6">
                    <a:lumMod val="75000"/>
                  </a:schemeClr>
                </a:solidFill>
              </a:rPr>
              <a:t>be major </a:t>
            </a:r>
            <a:r>
              <a:rPr lang="en-US" sz="1800" dirty="0">
                <a:solidFill>
                  <a:schemeClr val="accent6">
                    <a:lumMod val="75000"/>
                  </a:schemeClr>
                </a:solidFill>
              </a:rPr>
              <a:t>topics </a:t>
            </a:r>
            <a:r>
              <a:rPr lang="en-US" sz="1800">
                <a:solidFill>
                  <a:schemeClr val="accent6">
                    <a:lumMod val="75000"/>
                  </a:schemeClr>
                </a:solidFill>
              </a:rPr>
              <a:t>in later chapters</a:t>
            </a:r>
            <a:r>
              <a:rPr lang="en-US" sz="1800" dirty="0">
                <a:solidFill>
                  <a:schemeClr val="accent6">
                    <a:lumMod val="75000"/>
                  </a:schemeClr>
                </a:solidFill>
              </a:rPr>
              <a:t>.</a:t>
            </a:r>
          </a:p>
        </p:txBody>
      </p:sp>
    </p:spTree>
    <p:extLst>
      <p:ext uri="{BB962C8B-B14F-4D97-AF65-F5344CB8AC3E}">
        <p14:creationId xmlns:p14="http://schemas.microsoft.com/office/powerpoint/2010/main" val="91824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884419" y="2319727"/>
            <a:ext cx="7375161" cy="2020482"/>
          </a:xfrm>
        </p:spPr>
        <p:txBody>
          <a:bodyPr>
            <a:noAutofit/>
          </a:bodyPr>
          <a:lstStyle/>
          <a:p>
            <a:r>
              <a:rPr lang="en-US" sz="1800" b="1">
                <a:solidFill>
                  <a:schemeClr val="accent6">
                    <a:lumMod val="75000"/>
                  </a:schemeClr>
                </a:solidFill>
              </a:rPr>
              <a:t>Diagnostic reasoning</a:t>
            </a:r>
            <a:endParaRPr lang="en-US" sz="1800" b="1" dirty="0">
              <a:solidFill>
                <a:schemeClr val="accent6">
                  <a:lumMod val="75000"/>
                </a:schemeClr>
              </a:solidFill>
            </a:endParaRPr>
          </a:p>
          <a:p>
            <a:pPr marL="0" indent="0">
              <a:buNone/>
            </a:pPr>
            <a:r>
              <a:rPr lang="en-US" sz="1800" dirty="0">
                <a:solidFill>
                  <a:schemeClr val="accent6">
                    <a:lumMod val="75000"/>
                  </a:schemeClr>
                </a:solidFill>
              </a:rPr>
              <a:t>- </a:t>
            </a:r>
            <a:r>
              <a:rPr lang="en-US" sz="1800">
                <a:solidFill>
                  <a:schemeClr val="accent6">
                    <a:lumMod val="75000"/>
                  </a:schemeClr>
                </a:solidFill>
              </a:rPr>
              <a:t>In medical diagnosis</a:t>
            </a:r>
            <a:r>
              <a:rPr lang="en-US" sz="1800" dirty="0">
                <a:solidFill>
                  <a:schemeClr val="accent6">
                    <a:lumMod val="75000"/>
                  </a:schemeClr>
                </a:solidFill>
              </a:rPr>
              <a:t>, </a:t>
            </a:r>
            <a:r>
              <a:rPr lang="en-US" sz="1800">
                <a:solidFill>
                  <a:schemeClr val="accent6">
                    <a:lumMod val="75000"/>
                  </a:schemeClr>
                </a:solidFill>
              </a:rPr>
              <a:t>for example</a:t>
            </a:r>
            <a:r>
              <a:rPr lang="en-US" sz="1800" dirty="0">
                <a:solidFill>
                  <a:schemeClr val="accent6">
                    <a:lumMod val="75000"/>
                  </a:schemeClr>
                </a:solidFill>
              </a:rPr>
              <a:t>, there is </a:t>
            </a:r>
            <a:r>
              <a:rPr lang="en-US" sz="1800">
                <a:solidFill>
                  <a:schemeClr val="accent6">
                    <a:lumMod val="75000"/>
                  </a:schemeClr>
                </a:solidFill>
              </a:rPr>
              <a:t>not always an obvious cause</a:t>
            </a:r>
            <a:r>
              <a:rPr lang="en-US" sz="1800" dirty="0">
                <a:solidFill>
                  <a:schemeClr val="accent6">
                    <a:lumMod val="75000"/>
                  </a:schemeClr>
                </a:solidFill>
              </a:rPr>
              <a:t>/</a:t>
            </a:r>
            <a:r>
              <a:rPr lang="en-US" sz="1800">
                <a:solidFill>
                  <a:schemeClr val="accent6">
                    <a:lumMod val="75000"/>
                  </a:schemeClr>
                </a:solidFill>
              </a:rPr>
              <a:t>effect relationship </a:t>
            </a:r>
            <a:r>
              <a:rPr lang="en-US" sz="1800" dirty="0">
                <a:solidFill>
                  <a:schemeClr val="accent6">
                    <a:lumMod val="75000"/>
                  </a:schemeClr>
                </a:solidFill>
              </a:rPr>
              <a:t>between the set of symptoms presented by </a:t>
            </a:r>
            <a:r>
              <a:rPr lang="en-US" sz="1800">
                <a:solidFill>
                  <a:schemeClr val="accent6">
                    <a:lumMod val="75000"/>
                  </a:schemeClr>
                </a:solidFill>
              </a:rPr>
              <a:t>the patient and the causes </a:t>
            </a:r>
            <a:r>
              <a:rPr lang="en-US" sz="1800" dirty="0">
                <a:solidFill>
                  <a:schemeClr val="accent6">
                    <a:lumMod val="75000"/>
                  </a:schemeClr>
                </a:solidFill>
              </a:rPr>
              <a:t>of these symptoms., </a:t>
            </a:r>
            <a:r>
              <a:rPr lang="en-US" sz="1800">
                <a:solidFill>
                  <a:schemeClr val="accent6">
                    <a:lumMod val="75000"/>
                  </a:schemeClr>
                </a:solidFill>
              </a:rPr>
              <a:t>such as monitoring aircraft </a:t>
            </a:r>
            <a:r>
              <a:rPr lang="en-US" sz="1800" dirty="0">
                <a:solidFill>
                  <a:schemeClr val="accent6">
                    <a:lumMod val="75000"/>
                  </a:schemeClr>
                </a:solidFill>
              </a:rPr>
              <a:t>or helicopter flight </a:t>
            </a:r>
            <a:r>
              <a:rPr lang="en-US" sz="1800">
                <a:solidFill>
                  <a:schemeClr val="accent6">
                    <a:lumMod val="75000"/>
                  </a:schemeClr>
                </a:solidFill>
              </a:rPr>
              <a:t>systems Rule-based and probabilistic systems have </a:t>
            </a:r>
            <a:r>
              <a:rPr lang="en-US" sz="1800" dirty="0">
                <a:solidFill>
                  <a:schemeClr val="accent6">
                    <a:lumMod val="75000"/>
                  </a:schemeClr>
                </a:solidFill>
              </a:rPr>
              <a:t>both </a:t>
            </a:r>
            <a:r>
              <a:rPr lang="en-US" sz="1800">
                <a:solidFill>
                  <a:schemeClr val="accent6">
                    <a:lumMod val="75000"/>
                  </a:schemeClr>
                </a:solidFill>
              </a:rPr>
              <a:t>been applied </a:t>
            </a:r>
            <a:r>
              <a:rPr lang="en-US" sz="1800" dirty="0">
                <a:solidFill>
                  <a:schemeClr val="accent6">
                    <a:lumMod val="75000"/>
                  </a:schemeClr>
                </a:solidFill>
              </a:rPr>
              <a:t>in </a:t>
            </a:r>
            <a:r>
              <a:rPr lang="en-US" sz="1800">
                <a:solidFill>
                  <a:schemeClr val="accent6">
                    <a:lumMod val="75000"/>
                  </a:schemeClr>
                </a:solidFill>
              </a:rPr>
              <a:t>these and other diagnostic domains</a:t>
            </a:r>
            <a:r>
              <a:rPr lang="en-US" sz="1800" dirty="0">
                <a:solidFill>
                  <a:schemeClr val="accent6">
                    <a:lumMod val="75000"/>
                  </a:schemeClr>
                </a:solidFill>
              </a:rPr>
              <a:t>.</a:t>
            </a:r>
          </a:p>
        </p:txBody>
      </p:sp>
    </p:spTree>
    <p:extLst>
      <p:ext uri="{BB962C8B-B14F-4D97-AF65-F5344CB8AC3E}">
        <p14:creationId xmlns:p14="http://schemas.microsoft.com/office/powerpoint/2010/main" val="3828978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612000" y="2319727"/>
            <a:ext cx="7948799" cy="2020482"/>
          </a:xfrm>
        </p:spPr>
        <p:txBody>
          <a:bodyPr>
            <a:noAutofit/>
          </a:bodyPr>
          <a:lstStyle/>
          <a:p>
            <a:r>
              <a:rPr lang="en-US" sz="1800" b="1">
                <a:solidFill>
                  <a:schemeClr val="accent6">
                    <a:lumMod val="75000"/>
                  </a:schemeClr>
                </a:solidFill>
              </a:rPr>
              <a:t>Natural language understanding</a:t>
            </a:r>
            <a:r>
              <a:rPr lang="en-US" sz="1800" dirty="0">
                <a:solidFill>
                  <a:schemeClr val="accent6">
                    <a:lumMod val="75000"/>
                  </a:schemeClr>
                </a:solidFill>
              </a:rPr>
              <a:t>.</a:t>
            </a:r>
          </a:p>
          <a:p>
            <a:pPr marL="0" indent="0">
              <a:buNone/>
            </a:pPr>
            <a:r>
              <a:rPr lang="en-US" sz="1800" dirty="0">
                <a:solidFill>
                  <a:schemeClr val="accent6">
                    <a:lumMod val="75000"/>
                  </a:schemeClr>
                </a:solidFill>
              </a:rPr>
              <a:t>- </a:t>
            </a:r>
            <a:r>
              <a:rPr lang="en-US" sz="1800">
                <a:solidFill>
                  <a:schemeClr val="accent6">
                    <a:lumMod val="75000"/>
                  </a:schemeClr>
                </a:solidFill>
              </a:rPr>
              <a:t>If a </a:t>
            </a:r>
            <a:r>
              <a:rPr lang="en-US" sz="1800" dirty="0">
                <a:solidFill>
                  <a:schemeClr val="accent6">
                    <a:lumMod val="75000"/>
                  </a:schemeClr>
                </a:solidFill>
              </a:rPr>
              <a:t>computer is </a:t>
            </a:r>
            <a:r>
              <a:rPr lang="en-US" sz="1800">
                <a:solidFill>
                  <a:schemeClr val="accent6">
                    <a:lumMod val="75000"/>
                  </a:schemeClr>
                </a:solidFill>
              </a:rPr>
              <a:t>to understand and use a human language, that </a:t>
            </a:r>
            <a:r>
              <a:rPr lang="en-US" sz="1800" dirty="0">
                <a:solidFill>
                  <a:schemeClr val="accent6">
                    <a:lumMod val="75000"/>
                  </a:schemeClr>
                </a:solidFill>
              </a:rPr>
              <a:t>computer must </a:t>
            </a:r>
            <a:r>
              <a:rPr lang="en-US" sz="1800">
                <a:solidFill>
                  <a:schemeClr val="accent6">
                    <a:lumMod val="75000"/>
                  </a:schemeClr>
                </a:solidFill>
              </a:rPr>
              <a:t>be able to characterize how humans </a:t>
            </a:r>
            <a:r>
              <a:rPr lang="en-US" sz="1800" dirty="0">
                <a:solidFill>
                  <a:schemeClr val="accent6">
                    <a:lumMod val="75000"/>
                  </a:schemeClr>
                </a:solidFill>
              </a:rPr>
              <a:t>themselves </a:t>
            </a:r>
            <a:r>
              <a:rPr lang="en-US" sz="1800">
                <a:solidFill>
                  <a:schemeClr val="accent6">
                    <a:lumMod val="75000"/>
                  </a:schemeClr>
                </a:solidFill>
              </a:rPr>
              <a:t>use that language</a:t>
            </a:r>
            <a:r>
              <a:rPr lang="en-US" sz="1800" dirty="0">
                <a:solidFill>
                  <a:schemeClr val="accent6">
                    <a:lumMod val="75000"/>
                  </a:schemeClr>
                </a:solidFill>
              </a:rPr>
              <a:t>. Words, expressions</a:t>
            </a:r>
            <a:r>
              <a:rPr lang="en-US" sz="1800">
                <a:solidFill>
                  <a:schemeClr val="accent6">
                    <a:lumMod val="75000"/>
                  </a:schemeClr>
                </a:solidFill>
              </a:rPr>
              <a:t>, and metaphors are learned</a:t>
            </a:r>
            <a:r>
              <a:rPr lang="en-US" sz="1800" dirty="0">
                <a:solidFill>
                  <a:schemeClr val="accent6">
                    <a:lumMod val="75000"/>
                  </a:schemeClr>
                </a:solidFill>
              </a:rPr>
              <a:t>, </a:t>
            </a:r>
            <a:r>
              <a:rPr lang="en-US" sz="1800">
                <a:solidFill>
                  <a:schemeClr val="accent6">
                    <a:lumMod val="75000"/>
                  </a:schemeClr>
                </a:solidFill>
              </a:rPr>
              <a:t>but also change and evolve as they are </a:t>
            </a:r>
            <a:r>
              <a:rPr lang="en-US" sz="1800" dirty="0">
                <a:solidFill>
                  <a:schemeClr val="accent6">
                    <a:lumMod val="75000"/>
                  </a:schemeClr>
                </a:solidFill>
              </a:rPr>
              <a:t>used over time. </a:t>
            </a:r>
            <a:r>
              <a:rPr lang="en-US" sz="1800">
                <a:solidFill>
                  <a:schemeClr val="accent6">
                    <a:lumMod val="75000"/>
                  </a:schemeClr>
                </a:solidFill>
              </a:rPr>
              <a:t>The stochastic </a:t>
            </a:r>
            <a:r>
              <a:rPr lang="en-US" sz="1800" dirty="0">
                <a:solidFill>
                  <a:schemeClr val="accent6">
                    <a:lumMod val="75000"/>
                  </a:schemeClr>
                </a:solidFill>
              </a:rPr>
              <a:t>methodology supports </a:t>
            </a:r>
            <a:r>
              <a:rPr lang="en-US" sz="1800">
                <a:solidFill>
                  <a:schemeClr val="accent6">
                    <a:lumMod val="75000"/>
                  </a:schemeClr>
                </a:solidFill>
              </a:rPr>
              <a:t>the understanding of language</a:t>
            </a:r>
            <a:r>
              <a:rPr lang="en-US" sz="1800" dirty="0">
                <a:solidFill>
                  <a:schemeClr val="accent6">
                    <a:lumMod val="75000"/>
                  </a:schemeClr>
                </a:solidFill>
              </a:rPr>
              <a:t>; </a:t>
            </a:r>
            <a:r>
              <a:rPr lang="en-US" sz="1800">
                <a:solidFill>
                  <a:schemeClr val="accent6">
                    <a:lumMod val="75000"/>
                  </a:schemeClr>
                </a:solidFill>
              </a:rPr>
              <a:t>for example</a:t>
            </a:r>
            <a:r>
              <a:rPr lang="en-US" sz="1800" dirty="0">
                <a:solidFill>
                  <a:schemeClr val="accent6">
                    <a:lumMod val="75000"/>
                  </a:schemeClr>
                </a:solidFill>
              </a:rPr>
              <a:t>, </a:t>
            </a:r>
            <a:r>
              <a:rPr lang="en-US" sz="1800">
                <a:solidFill>
                  <a:schemeClr val="accent6">
                    <a:lumMod val="75000"/>
                  </a:schemeClr>
                </a:solidFill>
              </a:rPr>
              <a:t>when a computational </a:t>
            </a:r>
            <a:r>
              <a:rPr lang="en-US" sz="1800" dirty="0">
                <a:solidFill>
                  <a:schemeClr val="accent6">
                    <a:lumMod val="75000"/>
                  </a:schemeClr>
                </a:solidFill>
              </a:rPr>
              <a:t>system </a:t>
            </a:r>
            <a:r>
              <a:rPr lang="en-US" sz="1800">
                <a:solidFill>
                  <a:schemeClr val="accent6">
                    <a:lumMod val="75000"/>
                  </a:schemeClr>
                </a:solidFill>
              </a:rPr>
              <a:t>is trained on a database </a:t>
            </a:r>
            <a:r>
              <a:rPr lang="en-US" sz="1800" dirty="0">
                <a:solidFill>
                  <a:schemeClr val="accent6">
                    <a:lumMod val="75000"/>
                  </a:schemeClr>
                </a:solidFill>
              </a:rPr>
              <a:t>of </a:t>
            </a:r>
            <a:r>
              <a:rPr lang="en-US" sz="1800">
                <a:solidFill>
                  <a:schemeClr val="accent6">
                    <a:lumMod val="75000"/>
                  </a:schemeClr>
                </a:solidFill>
              </a:rPr>
              <a:t>specific language </a:t>
            </a:r>
            <a:r>
              <a:rPr lang="en-US" sz="1800" dirty="0">
                <a:solidFill>
                  <a:schemeClr val="accent6">
                    <a:lumMod val="75000"/>
                  </a:schemeClr>
                </a:solidFill>
              </a:rPr>
              <a:t>use </a:t>
            </a:r>
            <a:r>
              <a:rPr lang="en-US" sz="1800">
                <a:solidFill>
                  <a:schemeClr val="accent6">
                    <a:lumMod val="75000"/>
                  </a:schemeClr>
                </a:solidFill>
              </a:rPr>
              <a:t>(called a </a:t>
            </a:r>
            <a:r>
              <a:rPr lang="en-US" sz="1800" dirty="0">
                <a:solidFill>
                  <a:schemeClr val="accent6">
                    <a:lumMod val="75000"/>
                  </a:schemeClr>
                </a:solidFill>
              </a:rPr>
              <a:t>corpus linguistics)</a:t>
            </a:r>
          </a:p>
        </p:txBody>
      </p:sp>
    </p:spTree>
    <p:extLst>
      <p:ext uri="{BB962C8B-B14F-4D97-AF65-F5344CB8AC3E}">
        <p14:creationId xmlns:p14="http://schemas.microsoft.com/office/powerpoint/2010/main" val="4061287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619200" y="2319727"/>
            <a:ext cx="7977599" cy="2020482"/>
          </a:xfrm>
        </p:spPr>
        <p:txBody>
          <a:bodyPr>
            <a:noAutofit/>
          </a:bodyPr>
          <a:lstStyle/>
          <a:p>
            <a:r>
              <a:rPr lang="en-US" sz="1800" b="1">
                <a:solidFill>
                  <a:schemeClr val="accent6">
                    <a:lumMod val="75000"/>
                  </a:schemeClr>
                </a:solidFill>
              </a:rPr>
              <a:t>Planning and </a:t>
            </a:r>
            <a:r>
              <a:rPr lang="en-US" sz="1800" b="1" dirty="0">
                <a:solidFill>
                  <a:schemeClr val="accent6">
                    <a:lumMod val="75000"/>
                  </a:schemeClr>
                </a:solidFill>
              </a:rPr>
              <a:t>scheduling</a:t>
            </a:r>
            <a:r>
              <a:rPr lang="en-US" sz="1800" dirty="0">
                <a:solidFill>
                  <a:schemeClr val="accent6">
                    <a:lumMod val="75000"/>
                  </a:schemeClr>
                </a:solidFill>
              </a:rPr>
              <a:t>.</a:t>
            </a:r>
          </a:p>
          <a:p>
            <a:pPr marL="0" indent="0">
              <a:buNone/>
            </a:pPr>
            <a:r>
              <a:rPr lang="en-US" sz="1800" dirty="0">
                <a:solidFill>
                  <a:schemeClr val="accent6">
                    <a:lumMod val="75000"/>
                  </a:schemeClr>
                </a:solidFill>
              </a:rPr>
              <a:t>- </a:t>
            </a:r>
            <a:r>
              <a:rPr lang="en-US" sz="1800">
                <a:solidFill>
                  <a:schemeClr val="accent6">
                    <a:lumMod val="75000"/>
                  </a:schemeClr>
                </a:solidFill>
              </a:rPr>
              <a:t>When an agent forms a plan</a:t>
            </a:r>
            <a:r>
              <a:rPr lang="en-US" sz="1800" dirty="0">
                <a:solidFill>
                  <a:schemeClr val="accent6">
                    <a:lumMod val="75000"/>
                  </a:schemeClr>
                </a:solidFill>
              </a:rPr>
              <a:t>, </a:t>
            </a:r>
            <a:r>
              <a:rPr lang="en-US" sz="1800">
                <a:solidFill>
                  <a:schemeClr val="accent6">
                    <a:lumMod val="75000"/>
                  </a:schemeClr>
                </a:solidFill>
              </a:rPr>
              <a:t>for example, a vacation </a:t>
            </a:r>
            <a:r>
              <a:rPr lang="en-US" sz="1800" dirty="0">
                <a:solidFill>
                  <a:schemeClr val="accent6">
                    <a:lumMod val="75000"/>
                  </a:schemeClr>
                </a:solidFill>
              </a:rPr>
              <a:t>trip </a:t>
            </a:r>
            <a:r>
              <a:rPr lang="en-US" sz="1800">
                <a:solidFill>
                  <a:schemeClr val="accent6">
                    <a:lumMod val="75000"/>
                  </a:schemeClr>
                </a:solidFill>
              </a:rPr>
              <a:t>by automobile</a:t>
            </a:r>
            <a:r>
              <a:rPr lang="en-US" sz="1800" dirty="0">
                <a:solidFill>
                  <a:schemeClr val="accent6">
                    <a:lumMod val="75000"/>
                  </a:schemeClr>
                </a:solidFill>
              </a:rPr>
              <a:t>, it is often </a:t>
            </a:r>
            <a:r>
              <a:rPr lang="en-US" sz="1800">
                <a:solidFill>
                  <a:schemeClr val="accent6">
                    <a:lumMod val="75000"/>
                  </a:schemeClr>
                </a:solidFill>
              </a:rPr>
              <a:t>the case that </a:t>
            </a:r>
            <a:r>
              <a:rPr lang="en-US" sz="1800" dirty="0">
                <a:solidFill>
                  <a:schemeClr val="accent6">
                    <a:lumMod val="75000"/>
                  </a:schemeClr>
                </a:solidFill>
              </a:rPr>
              <a:t>no deterministic sequence </a:t>
            </a:r>
            <a:r>
              <a:rPr lang="en-US" sz="1800">
                <a:solidFill>
                  <a:schemeClr val="accent6">
                    <a:lumMod val="75000"/>
                  </a:schemeClr>
                </a:solidFill>
              </a:rPr>
              <a:t>of operations is guaranteed </a:t>
            </a:r>
            <a:r>
              <a:rPr lang="en-US" sz="1800" dirty="0">
                <a:solidFill>
                  <a:schemeClr val="accent6">
                    <a:lumMod val="75000"/>
                  </a:schemeClr>
                </a:solidFill>
              </a:rPr>
              <a:t>to succeed</a:t>
            </a:r>
            <a:r>
              <a:rPr lang="en-US" sz="1800">
                <a:solidFill>
                  <a:schemeClr val="accent6">
                    <a:lumMod val="75000"/>
                  </a:schemeClr>
                </a:solidFill>
              </a:rPr>
              <a:t>. What happens </a:t>
            </a:r>
            <a:r>
              <a:rPr lang="en-US" sz="1800" dirty="0">
                <a:solidFill>
                  <a:schemeClr val="accent6">
                    <a:lumMod val="75000"/>
                  </a:schemeClr>
                </a:solidFill>
              </a:rPr>
              <a:t>if </a:t>
            </a:r>
            <a:r>
              <a:rPr lang="en-US" sz="1800">
                <a:solidFill>
                  <a:schemeClr val="accent6">
                    <a:lumMod val="75000"/>
                  </a:schemeClr>
                </a:solidFill>
              </a:rPr>
              <a:t>the car breaks </a:t>
            </a:r>
            <a:r>
              <a:rPr lang="en-US" sz="1800" dirty="0">
                <a:solidFill>
                  <a:schemeClr val="accent6">
                    <a:lumMod val="75000"/>
                  </a:schemeClr>
                </a:solidFill>
              </a:rPr>
              <a:t>down, if </a:t>
            </a:r>
            <a:r>
              <a:rPr lang="en-US" sz="1800">
                <a:solidFill>
                  <a:schemeClr val="accent6">
                    <a:lumMod val="75000"/>
                  </a:schemeClr>
                </a:solidFill>
              </a:rPr>
              <a:t>the car </a:t>
            </a:r>
            <a:r>
              <a:rPr lang="en-US" sz="1800" dirty="0">
                <a:solidFill>
                  <a:schemeClr val="accent6">
                    <a:lumMod val="75000"/>
                  </a:schemeClr>
                </a:solidFill>
              </a:rPr>
              <a:t>ferry </a:t>
            </a:r>
            <a:r>
              <a:rPr lang="en-US" sz="1800">
                <a:solidFill>
                  <a:schemeClr val="accent6">
                    <a:lumMod val="75000"/>
                  </a:schemeClr>
                </a:solidFill>
              </a:rPr>
              <a:t>is cancelled on a specific day</a:t>
            </a:r>
            <a:r>
              <a:rPr lang="en-US" sz="1800" dirty="0">
                <a:solidFill>
                  <a:schemeClr val="accent6">
                    <a:lumMod val="75000"/>
                  </a:schemeClr>
                </a:solidFill>
              </a:rPr>
              <a:t>, </a:t>
            </a:r>
            <a:r>
              <a:rPr lang="en-US" sz="1800">
                <a:solidFill>
                  <a:schemeClr val="accent6">
                    <a:lumMod val="75000"/>
                  </a:schemeClr>
                </a:solidFill>
              </a:rPr>
              <a:t>if a </a:t>
            </a:r>
            <a:r>
              <a:rPr lang="en-US" sz="1800" dirty="0">
                <a:solidFill>
                  <a:schemeClr val="accent6">
                    <a:lumMod val="75000"/>
                  </a:schemeClr>
                </a:solidFill>
              </a:rPr>
              <a:t>hotel is fully booked, even </a:t>
            </a:r>
            <a:r>
              <a:rPr lang="en-US" sz="1800">
                <a:solidFill>
                  <a:schemeClr val="accent6">
                    <a:lumMod val="75000"/>
                  </a:schemeClr>
                </a:solidFill>
              </a:rPr>
              <a:t>though a reservation was made</a:t>
            </a:r>
            <a:r>
              <a:rPr lang="en-US" sz="1800" dirty="0">
                <a:solidFill>
                  <a:schemeClr val="accent6">
                    <a:lumMod val="75000"/>
                  </a:schemeClr>
                </a:solidFill>
              </a:rPr>
              <a:t>? </a:t>
            </a:r>
            <a:r>
              <a:rPr lang="en-US" sz="1800">
                <a:solidFill>
                  <a:schemeClr val="accent6">
                    <a:lumMod val="75000"/>
                  </a:schemeClr>
                </a:solidFill>
              </a:rPr>
              <a:t>Specific plans</a:t>
            </a:r>
            <a:r>
              <a:rPr lang="en-US" sz="1800" dirty="0">
                <a:solidFill>
                  <a:schemeClr val="accent6">
                    <a:lumMod val="75000"/>
                  </a:schemeClr>
                </a:solidFill>
              </a:rPr>
              <a:t>, whether </a:t>
            </a:r>
            <a:r>
              <a:rPr lang="en-US" sz="1800">
                <a:solidFill>
                  <a:schemeClr val="accent6">
                    <a:lumMod val="75000"/>
                  </a:schemeClr>
                </a:solidFill>
              </a:rPr>
              <a:t>for humans </a:t>
            </a:r>
            <a:r>
              <a:rPr lang="en-US" sz="1800" dirty="0">
                <a:solidFill>
                  <a:schemeClr val="accent6">
                    <a:lumMod val="75000"/>
                  </a:schemeClr>
                </a:solidFill>
              </a:rPr>
              <a:t>or robots</a:t>
            </a:r>
            <a:r>
              <a:rPr lang="en-US" sz="1800">
                <a:solidFill>
                  <a:schemeClr val="accent6">
                    <a:lumMod val="75000"/>
                  </a:schemeClr>
                </a:solidFill>
              </a:rPr>
              <a:t>, are </a:t>
            </a:r>
            <a:r>
              <a:rPr lang="en-US" sz="1800" dirty="0">
                <a:solidFill>
                  <a:schemeClr val="accent6">
                    <a:lumMod val="75000"/>
                  </a:schemeClr>
                </a:solidFill>
              </a:rPr>
              <a:t>often expressed </a:t>
            </a:r>
            <a:r>
              <a:rPr lang="en-US" sz="1800">
                <a:solidFill>
                  <a:schemeClr val="accent6">
                    <a:lumMod val="75000"/>
                  </a:schemeClr>
                </a:solidFill>
              </a:rPr>
              <a:t>in probabilistic language</a:t>
            </a:r>
            <a:r>
              <a:rPr lang="en-US" sz="1800" dirty="0">
                <a:solidFill>
                  <a:schemeClr val="accent6">
                    <a:lumMod val="75000"/>
                  </a:schemeClr>
                </a:solidFill>
              </a:rPr>
              <a:t>.</a:t>
            </a:r>
          </a:p>
        </p:txBody>
      </p:sp>
    </p:spTree>
    <p:extLst>
      <p:ext uri="{BB962C8B-B14F-4D97-AF65-F5344CB8AC3E}">
        <p14:creationId xmlns:p14="http://schemas.microsoft.com/office/powerpoint/2010/main" val="322762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612000" y="2319727"/>
            <a:ext cx="7948799" cy="2020482"/>
          </a:xfrm>
        </p:spPr>
        <p:txBody>
          <a:bodyPr>
            <a:normAutofit/>
          </a:bodyPr>
          <a:lstStyle/>
          <a:p>
            <a:r>
              <a:rPr lang="en-US" sz="1800" b="1">
                <a:solidFill>
                  <a:schemeClr val="accent6">
                    <a:lumMod val="75000"/>
                  </a:schemeClr>
                </a:solidFill>
              </a:rPr>
              <a:t>Learning</a:t>
            </a:r>
            <a:endParaRPr lang="en-US" sz="1800" b="1" dirty="0">
              <a:solidFill>
                <a:schemeClr val="accent6">
                  <a:lumMod val="75000"/>
                </a:schemeClr>
              </a:solidFill>
            </a:endParaRPr>
          </a:p>
          <a:p>
            <a:pPr marL="0" indent="0">
              <a:buNone/>
            </a:pPr>
            <a:r>
              <a:rPr lang="en-US" sz="1800" b="1">
                <a:solidFill>
                  <a:schemeClr val="accent6">
                    <a:lumMod val="75000"/>
                  </a:schemeClr>
                </a:solidFill>
              </a:rPr>
              <a:t>- </a:t>
            </a:r>
            <a:r>
              <a:rPr lang="en-US" sz="1800">
                <a:solidFill>
                  <a:schemeClr val="accent6">
                    <a:lumMod val="75000"/>
                  </a:schemeClr>
                </a:solidFill>
              </a:rPr>
              <a:t> An important </a:t>
            </a:r>
            <a:r>
              <a:rPr lang="en-US" sz="1800" dirty="0">
                <a:solidFill>
                  <a:schemeClr val="accent6">
                    <a:lumMod val="75000"/>
                  </a:schemeClr>
                </a:solidFill>
              </a:rPr>
              <a:t>component </a:t>
            </a:r>
            <a:r>
              <a:rPr lang="en-US" sz="1800">
                <a:solidFill>
                  <a:schemeClr val="accent6">
                    <a:lumMod val="75000"/>
                  </a:schemeClr>
                </a:solidFill>
              </a:rPr>
              <a:t>of many stochastic </a:t>
            </a:r>
            <a:r>
              <a:rPr lang="en-US" sz="1800" dirty="0">
                <a:solidFill>
                  <a:schemeClr val="accent6">
                    <a:lumMod val="75000"/>
                  </a:schemeClr>
                </a:solidFill>
              </a:rPr>
              <a:t>systems </a:t>
            </a:r>
            <a:r>
              <a:rPr lang="en-US" sz="1800">
                <a:solidFill>
                  <a:schemeClr val="accent6">
                    <a:lumMod val="75000"/>
                  </a:schemeClr>
                </a:solidFill>
              </a:rPr>
              <a:t>is that they have the ability to sample situations and learn </a:t>
            </a:r>
            <a:r>
              <a:rPr lang="en-US" sz="1800" dirty="0">
                <a:solidFill>
                  <a:schemeClr val="accent6">
                    <a:lumMod val="75000"/>
                  </a:schemeClr>
                </a:solidFill>
              </a:rPr>
              <a:t>over time. </a:t>
            </a:r>
            <a:r>
              <a:rPr lang="en-US" sz="1800">
                <a:solidFill>
                  <a:schemeClr val="accent6">
                    <a:lumMod val="75000"/>
                  </a:schemeClr>
                </a:solidFill>
              </a:rPr>
              <a:t>Some sophisticated systems are able </a:t>
            </a:r>
            <a:r>
              <a:rPr lang="en-US" sz="1800" dirty="0">
                <a:solidFill>
                  <a:schemeClr val="accent6">
                    <a:lumMod val="75000"/>
                  </a:schemeClr>
                </a:solidFill>
              </a:rPr>
              <a:t>to </a:t>
            </a:r>
            <a:r>
              <a:rPr lang="en-US" sz="1800">
                <a:solidFill>
                  <a:schemeClr val="accent6">
                    <a:lumMod val="75000"/>
                  </a:schemeClr>
                </a:solidFill>
              </a:rPr>
              <a:t>both sample data and </a:t>
            </a:r>
            <a:r>
              <a:rPr lang="en-US" sz="1800" dirty="0">
                <a:solidFill>
                  <a:schemeClr val="accent6">
                    <a:lumMod val="75000"/>
                  </a:schemeClr>
                </a:solidFill>
              </a:rPr>
              <a:t>predict </a:t>
            </a:r>
            <a:r>
              <a:rPr lang="en-US" sz="1800">
                <a:solidFill>
                  <a:schemeClr val="accent6">
                    <a:lumMod val="75000"/>
                  </a:schemeClr>
                </a:solidFill>
              </a:rPr>
              <a:t>outcomes as well as learn new probabilistic relationships based on data and </a:t>
            </a:r>
            <a:r>
              <a:rPr lang="en-US" sz="1800" dirty="0">
                <a:solidFill>
                  <a:schemeClr val="accent6">
                    <a:lumMod val="75000"/>
                  </a:schemeClr>
                </a:solidFill>
              </a:rPr>
              <a:t>outcomes. We </a:t>
            </a:r>
            <a:r>
              <a:rPr lang="en-US" sz="1800">
                <a:solidFill>
                  <a:schemeClr val="accent6">
                    <a:lumMod val="75000"/>
                  </a:schemeClr>
                </a:solidFill>
              </a:rPr>
              <a:t>consider learning in Part </a:t>
            </a:r>
            <a:r>
              <a:rPr lang="en-US" sz="1800" dirty="0">
                <a:solidFill>
                  <a:schemeClr val="accent6">
                    <a:lumMod val="75000"/>
                  </a:schemeClr>
                </a:solidFill>
              </a:rPr>
              <a:t>IV</a:t>
            </a:r>
          </a:p>
        </p:txBody>
      </p:sp>
    </p:spTree>
    <p:extLst>
      <p:ext uri="{BB962C8B-B14F-4D97-AF65-F5344CB8AC3E}">
        <p14:creationId xmlns:p14="http://schemas.microsoft.com/office/powerpoint/2010/main" val="679225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884419" y="620010"/>
            <a:ext cx="7375161" cy="994172"/>
          </a:xfrm>
        </p:spPr>
        <p:txBody>
          <a:bodyPr>
            <a:normAutofit/>
          </a:bodyPr>
          <a:lstStyle/>
          <a:p>
            <a:r>
              <a:rPr lang="en-US" sz="3000" dirty="0">
                <a:solidFill>
                  <a:srgbClr val="FFFFFF"/>
                </a:solidFill>
              </a:rPr>
              <a:t>Introduction</a:t>
            </a:r>
          </a:p>
        </p:txBody>
      </p:sp>
      <p:sp>
        <p:nvSpPr>
          <p:cNvPr id="3" name="Content Placeholder 2"/>
          <p:cNvSpPr>
            <a:spLocks noGrp="1"/>
          </p:cNvSpPr>
          <p:nvPr>
            <p:ph idx="1"/>
          </p:nvPr>
        </p:nvSpPr>
        <p:spPr>
          <a:xfrm>
            <a:off x="475200" y="2065452"/>
            <a:ext cx="8035199" cy="2713073"/>
          </a:xfrm>
        </p:spPr>
        <p:txBody>
          <a:bodyPr>
            <a:noAutofit/>
          </a:bodyPr>
          <a:lstStyle/>
          <a:p>
            <a:pPr>
              <a:lnSpc>
                <a:spcPct val="90000"/>
              </a:lnSpc>
            </a:pPr>
            <a:r>
              <a:rPr lang="en-US" sz="1800" dirty="0">
                <a:solidFill>
                  <a:schemeClr val="accent6">
                    <a:lumMod val="75000"/>
                  </a:schemeClr>
                </a:solidFill>
              </a:rPr>
              <a:t>In Section 5.1 we </a:t>
            </a:r>
            <a:r>
              <a:rPr lang="en-US" sz="1800">
                <a:solidFill>
                  <a:schemeClr val="accent6">
                    <a:lumMod val="75000"/>
                  </a:schemeClr>
                </a:solidFill>
              </a:rPr>
              <a:t>introduce basic </a:t>
            </a:r>
            <a:r>
              <a:rPr lang="en-US" sz="1800" dirty="0">
                <a:solidFill>
                  <a:schemeClr val="accent6">
                    <a:lumMod val="75000"/>
                  </a:schemeClr>
                </a:solidFill>
              </a:rPr>
              <a:t>counting techniques, including the </a:t>
            </a:r>
            <a:r>
              <a:rPr lang="en-US" sz="1800">
                <a:solidFill>
                  <a:schemeClr val="accent6">
                    <a:lumMod val="75000"/>
                  </a:schemeClr>
                </a:solidFill>
              </a:rPr>
              <a:t>sum and </a:t>
            </a:r>
            <a:r>
              <a:rPr lang="en-US" sz="1800" dirty="0">
                <a:solidFill>
                  <a:schemeClr val="accent6">
                    <a:lumMod val="75000"/>
                  </a:schemeClr>
                </a:solidFill>
              </a:rPr>
              <a:t>product rules.</a:t>
            </a:r>
          </a:p>
          <a:p>
            <a:pPr>
              <a:lnSpc>
                <a:spcPct val="90000"/>
              </a:lnSpc>
            </a:pPr>
            <a:r>
              <a:rPr lang="en-US" sz="1800" dirty="0">
                <a:solidFill>
                  <a:schemeClr val="accent6">
                    <a:lumMod val="75000"/>
                  </a:schemeClr>
                </a:solidFill>
              </a:rPr>
              <a:t>In Section 5.2, we </a:t>
            </a:r>
            <a:r>
              <a:rPr lang="en-US" sz="1800">
                <a:solidFill>
                  <a:schemeClr val="accent6">
                    <a:lumMod val="75000"/>
                  </a:schemeClr>
                </a:solidFill>
              </a:rPr>
              <a:t>introduce a formal language for reasoning </a:t>
            </a:r>
            <a:r>
              <a:rPr lang="en-US" sz="1800" dirty="0">
                <a:solidFill>
                  <a:schemeClr val="accent6">
                    <a:lumMod val="75000"/>
                  </a:schemeClr>
                </a:solidFill>
              </a:rPr>
              <a:t>with </a:t>
            </a:r>
            <a:r>
              <a:rPr lang="en-US" sz="1800">
                <a:solidFill>
                  <a:schemeClr val="accent6">
                    <a:lumMod val="75000"/>
                  </a:schemeClr>
                </a:solidFill>
              </a:rPr>
              <a:t>the stochastic </a:t>
            </a:r>
            <a:r>
              <a:rPr lang="en-US" sz="1800" dirty="0">
                <a:solidFill>
                  <a:schemeClr val="accent6">
                    <a:lumMod val="75000"/>
                  </a:schemeClr>
                </a:solidFill>
              </a:rPr>
              <a:t>methodology.</a:t>
            </a:r>
          </a:p>
          <a:p>
            <a:pPr>
              <a:lnSpc>
                <a:spcPct val="90000"/>
              </a:lnSpc>
            </a:pPr>
            <a:r>
              <a:rPr lang="en-US" sz="1800" dirty="0">
                <a:solidFill>
                  <a:schemeClr val="accent6">
                    <a:lumMod val="75000"/>
                  </a:schemeClr>
                </a:solidFill>
              </a:rPr>
              <a:t>In Section 5.3, we </a:t>
            </a:r>
            <a:r>
              <a:rPr lang="en-US" sz="1800">
                <a:solidFill>
                  <a:schemeClr val="accent6">
                    <a:lumMod val="75000"/>
                  </a:schemeClr>
                </a:solidFill>
              </a:rPr>
              <a:t>present Bayes</a:t>
            </a:r>
            <a:r>
              <a:rPr lang="en-US" sz="1800" dirty="0">
                <a:solidFill>
                  <a:schemeClr val="accent6">
                    <a:lumMod val="75000"/>
                  </a:schemeClr>
                </a:solidFill>
              </a:rPr>
              <a:t>’ theorem which supports </a:t>
            </a:r>
            <a:r>
              <a:rPr lang="en-US" sz="1800">
                <a:solidFill>
                  <a:schemeClr val="accent6">
                    <a:lumMod val="75000"/>
                  </a:schemeClr>
                </a:solidFill>
              </a:rPr>
              <a:t>most approaches to stochastic modeling and learning. Bayes</a:t>
            </a:r>
            <a:r>
              <a:rPr lang="en-US" sz="1800" dirty="0">
                <a:solidFill>
                  <a:schemeClr val="accent6">
                    <a:lumMod val="75000"/>
                  </a:schemeClr>
                </a:solidFill>
              </a:rPr>
              <a:t>’ rule </a:t>
            </a:r>
            <a:r>
              <a:rPr lang="en-US" sz="1800">
                <a:solidFill>
                  <a:schemeClr val="accent6">
                    <a:lumMod val="75000"/>
                  </a:schemeClr>
                </a:solidFill>
              </a:rPr>
              <a:t>is important </a:t>
            </a:r>
            <a:r>
              <a:rPr lang="en-US" sz="1800" dirty="0">
                <a:solidFill>
                  <a:schemeClr val="accent6">
                    <a:lumMod val="75000"/>
                  </a:schemeClr>
                </a:solidFill>
              </a:rPr>
              <a:t>for interpreting new evidence in the context of the prior knowledge or experience.</a:t>
            </a:r>
          </a:p>
          <a:p>
            <a:pPr>
              <a:lnSpc>
                <a:spcPct val="90000"/>
              </a:lnSpc>
            </a:pPr>
            <a:r>
              <a:rPr lang="en-US" sz="1800" dirty="0">
                <a:solidFill>
                  <a:schemeClr val="accent6">
                    <a:lumMod val="75000"/>
                  </a:schemeClr>
                </a:solidFill>
              </a:rPr>
              <a:t>In Section 5.4 we present </a:t>
            </a:r>
            <a:r>
              <a:rPr lang="en-US" sz="1800">
                <a:solidFill>
                  <a:schemeClr val="accent6">
                    <a:lumMod val="75000"/>
                  </a:schemeClr>
                </a:solidFill>
              </a:rPr>
              <a:t>two applications of stochastic </a:t>
            </a:r>
            <a:r>
              <a:rPr lang="en-US" sz="1800" dirty="0">
                <a:solidFill>
                  <a:schemeClr val="accent6">
                    <a:lumMod val="75000"/>
                  </a:schemeClr>
                </a:solidFill>
              </a:rPr>
              <a:t>methods, </a:t>
            </a:r>
            <a:r>
              <a:rPr lang="en-US" sz="1800">
                <a:solidFill>
                  <a:schemeClr val="accent6">
                    <a:lumMod val="75000"/>
                  </a:schemeClr>
                </a:solidFill>
              </a:rPr>
              <a:t>including probabilistic finite state automata and a </a:t>
            </a:r>
            <a:r>
              <a:rPr lang="en-US" sz="1800" dirty="0">
                <a:solidFill>
                  <a:schemeClr val="accent6">
                    <a:lumMod val="75000"/>
                  </a:schemeClr>
                </a:solidFill>
              </a:rPr>
              <a:t>methodology</a:t>
            </a:r>
          </a:p>
          <a:p>
            <a:pPr>
              <a:lnSpc>
                <a:spcPct val="90000"/>
              </a:lnSpc>
            </a:pPr>
            <a:endParaRPr lang="en-US" sz="1800" dirty="0">
              <a:solidFill>
                <a:schemeClr val="accent6">
                  <a:lumMod val="75000"/>
                </a:schemeClr>
              </a:solidFill>
            </a:endParaRPr>
          </a:p>
          <a:p>
            <a:pPr>
              <a:lnSpc>
                <a:spcPct val="90000"/>
              </a:lnSpc>
            </a:pPr>
            <a:endParaRPr lang="en-US" sz="1800" dirty="0">
              <a:solidFill>
                <a:schemeClr val="accent6">
                  <a:lumMod val="75000"/>
                </a:schemeClr>
              </a:solidFill>
            </a:endParaRPr>
          </a:p>
        </p:txBody>
      </p:sp>
    </p:spTree>
    <p:extLst>
      <p:ext uri="{BB962C8B-B14F-4D97-AF65-F5344CB8AC3E}">
        <p14:creationId xmlns:p14="http://schemas.microsoft.com/office/powerpoint/2010/main" val="2813728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82A7D0-DB09-4EBA-8D52-E6A5934B66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1A3688C8-DFCE-4CCD-BCF0-5FB239E5072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22807"/>
            <a:ext cx="5253850" cy="3620693"/>
          </a:xfrm>
          <a:custGeom>
            <a:avLst/>
            <a:gdLst>
              <a:gd name="connsiteX0" fmla="*/ 1974535 w 7005134"/>
              <a:gd name="connsiteY0" fmla="*/ 0 h 4827590"/>
              <a:gd name="connsiteX1" fmla="*/ 7003848 w 7005134"/>
              <a:gd name="connsiteY1" fmla="*/ 4776721 h 4827590"/>
              <a:gd name="connsiteX2" fmla="*/ 7005134 w 7005134"/>
              <a:gd name="connsiteY2" fmla="*/ 4827590 h 4827590"/>
              <a:gd name="connsiteX3" fmla="*/ 0 w 7005134"/>
              <a:gd name="connsiteY3" fmla="*/ 4827590 h 4827590"/>
              <a:gd name="connsiteX4" fmla="*/ 0 w 7005134"/>
              <a:gd name="connsiteY4" fmla="*/ 402231 h 4827590"/>
              <a:gd name="connsiteX5" fmla="*/ 14349 w 7005134"/>
              <a:gd name="connsiteY5" fmla="*/ 395744 h 4827590"/>
              <a:gd name="connsiteX6" fmla="*/ 1974535 w 7005134"/>
              <a:gd name="connsiteY6" fmla="*/ 0 h 482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5134" h="4827590">
                <a:moveTo>
                  <a:pt x="1974535" y="0"/>
                </a:moveTo>
                <a:cubicBezTo>
                  <a:pt x="4668853" y="0"/>
                  <a:pt x="6868971" y="2115921"/>
                  <a:pt x="7003848" y="4776721"/>
                </a:cubicBezTo>
                <a:lnTo>
                  <a:pt x="7005134" y="4827590"/>
                </a:lnTo>
                <a:lnTo>
                  <a:pt x="0" y="4827590"/>
                </a:lnTo>
                <a:lnTo>
                  <a:pt x="0" y="402231"/>
                </a:lnTo>
                <a:lnTo>
                  <a:pt x="14349" y="395744"/>
                </a:lnTo>
                <a:cubicBezTo>
                  <a:pt x="616832" y="140915"/>
                  <a:pt x="1279227" y="0"/>
                  <a:pt x="1974535" y="0"/>
                </a:cubicBezTo>
                <a:close/>
              </a:path>
            </a:pathLst>
          </a:cu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868680" y="841772"/>
            <a:ext cx="4754880" cy="1790700"/>
          </a:xfrm>
        </p:spPr>
        <p:txBody>
          <a:bodyPr>
            <a:normAutofit/>
          </a:bodyPr>
          <a:lstStyle/>
          <a:p>
            <a:pPr algn="l">
              <a:lnSpc>
                <a:spcPct val="90000"/>
              </a:lnSpc>
            </a:pPr>
            <a:r>
              <a:rPr lang="en-US" sz="4300" b="1">
                <a:solidFill>
                  <a:schemeClr val="tx1">
                    <a:lumMod val="85000"/>
                    <a:lumOff val="15000"/>
                  </a:schemeClr>
                </a:solidFill>
              </a:rPr>
              <a:t>5.1 The Elements of Counting</a:t>
            </a:r>
          </a:p>
        </p:txBody>
      </p:sp>
      <p:sp>
        <p:nvSpPr>
          <p:cNvPr id="3" name="Subtitle 2"/>
          <p:cNvSpPr>
            <a:spLocks noGrp="1"/>
          </p:cNvSpPr>
          <p:nvPr>
            <p:ph type="subTitle" idx="1"/>
          </p:nvPr>
        </p:nvSpPr>
        <p:spPr>
          <a:xfrm>
            <a:off x="868680" y="3525441"/>
            <a:ext cx="3939216" cy="1241821"/>
          </a:xfrm>
        </p:spPr>
        <p:txBody>
          <a:bodyPr>
            <a:normAutofit/>
          </a:bodyPr>
          <a:lstStyle/>
          <a:p>
            <a:pPr algn="l"/>
            <a:r>
              <a:rPr lang="en-US" sz="1700">
                <a:solidFill>
                  <a:schemeClr val="tx1">
                    <a:lumMod val="85000"/>
                    <a:lumOff val="15000"/>
                  </a:schemeClr>
                </a:solidFill>
              </a:rPr>
              <a:t>5.1.1 The Addition and Multiplication Rules </a:t>
            </a:r>
            <a:br>
              <a:rPr lang="en-US" sz="1700">
                <a:solidFill>
                  <a:schemeClr val="tx1">
                    <a:lumMod val="85000"/>
                    <a:lumOff val="15000"/>
                  </a:schemeClr>
                </a:solidFill>
              </a:rPr>
            </a:br>
            <a:r>
              <a:rPr lang="en-US" sz="1700">
                <a:solidFill>
                  <a:schemeClr val="tx1">
                    <a:lumMod val="85000"/>
                    <a:lumOff val="15000"/>
                  </a:schemeClr>
                </a:solidFill>
              </a:rPr>
              <a:t>5.1.2 Permutations and Combinations </a:t>
            </a:r>
            <a:br>
              <a:rPr lang="en-US" sz="1700">
                <a:solidFill>
                  <a:schemeClr val="tx1">
                    <a:lumMod val="85000"/>
                    <a:lumOff val="15000"/>
                  </a:schemeClr>
                </a:solidFill>
              </a:rPr>
            </a:br>
            <a:endParaRPr lang="en-US" sz="1700">
              <a:solidFill>
                <a:schemeClr val="tx1">
                  <a:lumMod val="85000"/>
                  <a:lumOff val="15000"/>
                </a:schemeClr>
              </a:solidFill>
            </a:endParaRPr>
          </a:p>
        </p:txBody>
      </p:sp>
      <p:cxnSp>
        <p:nvCxnSpPr>
          <p:cNvPr id="12" name="Straight Connector 11">
            <a:extLst>
              <a:ext uri="{FF2B5EF4-FFF2-40B4-BE49-F238E27FC236}">
                <a16:creationId xmlns:a16="http://schemas.microsoft.com/office/drawing/2014/main" id="{D598FBE3-48D2-40A2-B7E6-F485834C821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4405" y="3337560"/>
            <a:ext cx="925830"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8482FDCF-45F3-40F1-8751-19B7AFB3CF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0761" y="754379"/>
            <a:ext cx="2583177" cy="2583177"/>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51736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480059" y="1540230"/>
            <a:ext cx="2751871" cy="2070074"/>
          </a:xfrm>
        </p:spPr>
        <p:txBody>
          <a:bodyPr>
            <a:normAutofit/>
          </a:bodyPr>
          <a:lstStyle/>
          <a:p>
            <a:pPr>
              <a:lnSpc>
                <a:spcPct val="90000"/>
              </a:lnSpc>
            </a:pPr>
            <a:r>
              <a:rPr lang="en-US" sz="2800">
                <a:solidFill>
                  <a:srgbClr val="FFFFFF"/>
                </a:solidFill>
              </a:rPr>
              <a:t>5.1.1 The Addition and Multiplication Rules </a:t>
            </a:r>
            <a:br>
              <a:rPr lang="en-US" sz="2800">
                <a:solidFill>
                  <a:srgbClr val="FFFFFF"/>
                </a:solidFill>
              </a:rPr>
            </a:br>
            <a:endParaRPr lang="en-US" sz="2800">
              <a:solidFill>
                <a:srgbClr val="FFFFFF"/>
              </a:solidFill>
            </a:endParaRPr>
          </a:p>
        </p:txBody>
      </p:sp>
      <p:sp>
        <p:nvSpPr>
          <p:cNvPr id="4" name="Content Placeholder 3"/>
          <p:cNvSpPr>
            <a:spLocks noGrp="1"/>
          </p:cNvSpPr>
          <p:nvPr>
            <p:ph idx="1"/>
          </p:nvPr>
        </p:nvSpPr>
        <p:spPr>
          <a:xfrm>
            <a:off x="4567930" y="601399"/>
            <a:ext cx="3979563" cy="3922976"/>
          </a:xfrm>
        </p:spPr>
        <p:txBody>
          <a:bodyPr anchor="ctr">
            <a:normAutofit/>
          </a:bodyPr>
          <a:lstStyle/>
          <a:p>
            <a:pPr marL="0" indent="0">
              <a:buNone/>
            </a:pPr>
            <a:r>
              <a:rPr lang="en-US" sz="1800">
                <a:solidFill>
                  <a:srgbClr val="000000"/>
                </a:solidFill>
              </a:rPr>
              <a:t>If we have set A:</a:t>
            </a:r>
          </a:p>
          <a:p>
            <a:pPr marL="0" indent="0">
              <a:buNone/>
            </a:pPr>
            <a:endParaRPr lang="en-US" sz="1800">
              <a:solidFill>
                <a:srgbClr val="000000"/>
              </a:solidFill>
            </a:endParaRPr>
          </a:p>
          <a:p>
            <a:r>
              <a:rPr lang="en-US" sz="1800">
                <a:solidFill>
                  <a:srgbClr val="000000"/>
                </a:solidFill>
              </a:rPr>
              <a:t> The number of elements in set A is denoted by |A|.</a:t>
            </a:r>
          </a:p>
          <a:p>
            <a:r>
              <a:rPr lang="en-US" sz="1800">
                <a:solidFill>
                  <a:srgbClr val="000000"/>
                </a:solidFill>
              </a:rPr>
              <a:t>|A| called the </a:t>
            </a:r>
            <a:r>
              <a:rPr lang="en-US" sz="1800" b="1" i="1">
                <a:solidFill>
                  <a:srgbClr val="000000"/>
                </a:solidFill>
              </a:rPr>
              <a:t>cardinality</a:t>
            </a:r>
            <a:r>
              <a:rPr lang="en-US" sz="1800">
                <a:solidFill>
                  <a:srgbClr val="000000"/>
                </a:solidFill>
              </a:rPr>
              <a:t> of A.</a:t>
            </a:r>
          </a:p>
          <a:p>
            <a:r>
              <a:rPr lang="en-US" sz="1800">
                <a:solidFill>
                  <a:srgbClr val="000000"/>
                </a:solidFill>
              </a:rPr>
              <a:t>A maybe empty, finite, countably infinite, or uncountably infinite.</a:t>
            </a:r>
          </a:p>
        </p:txBody>
      </p:sp>
    </p:spTree>
    <p:extLst>
      <p:ext uri="{BB962C8B-B14F-4D97-AF65-F5344CB8AC3E}">
        <p14:creationId xmlns:p14="http://schemas.microsoft.com/office/powerpoint/2010/main" val="2102691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1"/>
          <p:cNvSpPr txBox="1">
            <a:spLocks/>
          </p:cNvSpPr>
          <p:nvPr/>
        </p:nvSpPr>
        <p:spPr>
          <a:xfrm>
            <a:off x="884419" y="620010"/>
            <a:ext cx="7375161"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000" kern="1200">
                <a:solidFill>
                  <a:srgbClr val="FFFFFF"/>
                </a:solidFill>
                <a:latin typeface="+mj-lt"/>
                <a:ea typeface="+mj-ea"/>
                <a:cs typeface="+mj-cs"/>
              </a:rPr>
              <a:t>5.1.1 The Addition and Multiplication Rules </a:t>
            </a:r>
            <a:br>
              <a:rPr lang="en-US" sz="3000" kern="1200">
                <a:solidFill>
                  <a:srgbClr val="FFFFFF"/>
                </a:solidFill>
                <a:latin typeface="+mj-lt"/>
                <a:ea typeface="+mj-ea"/>
                <a:cs typeface="+mj-cs"/>
              </a:rPr>
            </a:br>
            <a:endParaRPr lang="en-US" sz="3000" kern="1200">
              <a:solidFill>
                <a:srgbClr val="FFFFFF"/>
              </a:solidFill>
              <a:latin typeface="+mj-lt"/>
              <a:ea typeface="+mj-ea"/>
              <a:cs typeface="+mj-cs"/>
            </a:endParaRPr>
          </a:p>
        </p:txBody>
      </p:sp>
      <p:sp>
        <p:nvSpPr>
          <p:cNvPr id="6" name="Content Placeholder 5"/>
          <p:cNvSpPr>
            <a:spLocks noGrp="1"/>
          </p:cNvSpPr>
          <p:nvPr>
            <p:ph idx="1"/>
          </p:nvPr>
        </p:nvSpPr>
        <p:spPr>
          <a:xfrm>
            <a:off x="884419" y="2319727"/>
            <a:ext cx="7375161" cy="2020482"/>
          </a:xfrm>
        </p:spPr>
        <p:txBody>
          <a:bodyPr vert="horz" lIns="91440" tIns="45720" rIns="91440" bIns="45720" rtlCol="0">
            <a:normAutofit/>
          </a:bodyPr>
          <a:lstStyle/>
          <a:p>
            <a:pPr marL="0" indent="-228600">
              <a:lnSpc>
                <a:spcPct val="90000"/>
              </a:lnSpc>
              <a:buFont typeface="Arial" panose="020B0604020202020204" pitchFamily="34" charset="0"/>
              <a:buChar char="•"/>
            </a:pPr>
            <a:r>
              <a:rPr lang="en-US" sz="1500">
                <a:solidFill>
                  <a:srgbClr val="000000"/>
                </a:solidFill>
              </a:rPr>
              <a:t>Example:</a:t>
            </a:r>
          </a:p>
          <a:p>
            <a:pPr indent="-228600">
              <a:lnSpc>
                <a:spcPct val="90000"/>
              </a:lnSpc>
              <a:buFont typeface="Arial" panose="020B0604020202020204" pitchFamily="34" charset="0"/>
              <a:buChar char="•"/>
            </a:pPr>
            <a:r>
              <a:rPr lang="en-US" sz="1500" b="1" i="1">
                <a:solidFill>
                  <a:srgbClr val="000000"/>
                </a:solidFill>
              </a:rPr>
              <a:t>Empty set: </a:t>
            </a:r>
            <a:r>
              <a:rPr lang="en-US" sz="1500">
                <a:solidFill>
                  <a:srgbClr val="000000"/>
                </a:solidFill>
              </a:rPr>
              <a:t>The set of people in class who was born in 2018.</a:t>
            </a:r>
          </a:p>
          <a:p>
            <a:pPr indent="-228600">
              <a:lnSpc>
                <a:spcPct val="90000"/>
              </a:lnSpc>
              <a:buFont typeface="Arial" panose="020B0604020202020204" pitchFamily="34" charset="0"/>
              <a:buChar char="•"/>
            </a:pPr>
            <a:r>
              <a:rPr lang="en-US" sz="1500" b="1" i="1">
                <a:solidFill>
                  <a:srgbClr val="000000"/>
                </a:solidFill>
              </a:rPr>
              <a:t>Finite set:  </a:t>
            </a:r>
            <a:r>
              <a:rPr lang="en-US" sz="1500">
                <a:solidFill>
                  <a:srgbClr val="000000"/>
                </a:solidFill>
              </a:rPr>
              <a:t>The set of integer positive numbers is smaller than 10 and divide by 2 equal 0. B = {0, 2, 4, 6, 8}</a:t>
            </a:r>
          </a:p>
          <a:p>
            <a:pPr indent="-228600">
              <a:lnSpc>
                <a:spcPct val="90000"/>
              </a:lnSpc>
              <a:buFont typeface="Arial" panose="020B0604020202020204" pitchFamily="34" charset="0"/>
              <a:buChar char="•"/>
            </a:pPr>
            <a:r>
              <a:rPr lang="en-US" sz="1500" b="1" i="1">
                <a:solidFill>
                  <a:srgbClr val="000000"/>
                </a:solidFill>
              </a:rPr>
              <a:t>Countably infinite: </a:t>
            </a:r>
            <a:r>
              <a:rPr lang="en-US" sz="1500">
                <a:solidFill>
                  <a:srgbClr val="000000"/>
                </a:solidFill>
              </a:rPr>
              <a:t>The set of natural number.</a:t>
            </a:r>
          </a:p>
          <a:p>
            <a:pPr indent="-228600">
              <a:lnSpc>
                <a:spcPct val="90000"/>
              </a:lnSpc>
              <a:buFont typeface="Arial" panose="020B0604020202020204" pitchFamily="34" charset="0"/>
              <a:buChar char="•"/>
            </a:pPr>
            <a:r>
              <a:rPr lang="en-US" sz="1500" b="1" i="1">
                <a:solidFill>
                  <a:srgbClr val="000000"/>
                </a:solidFill>
              </a:rPr>
              <a:t>Uncountable infinite: </a:t>
            </a:r>
            <a:r>
              <a:rPr lang="en-US" sz="1500">
                <a:solidFill>
                  <a:srgbClr val="000000"/>
                </a:solidFill>
              </a:rPr>
              <a:t>The set of real number. </a:t>
            </a:r>
          </a:p>
          <a:p>
            <a:pPr marL="0" indent="-228600">
              <a:lnSpc>
                <a:spcPct val="90000"/>
              </a:lnSpc>
              <a:buFont typeface="Arial" panose="020B0604020202020204" pitchFamily="34" charset="0"/>
              <a:buChar char="•"/>
            </a:pPr>
            <a:r>
              <a:rPr lang="en-US" sz="1500">
                <a:solidFill>
                  <a:srgbClr val="000000"/>
                </a:solidFill>
              </a:rPr>
              <a:t> </a:t>
            </a:r>
            <a:br>
              <a:rPr lang="en-US" sz="1500">
                <a:solidFill>
                  <a:srgbClr val="000000"/>
                </a:solidFill>
              </a:rPr>
            </a:br>
            <a:endParaRPr lang="en-US" sz="1500">
              <a:solidFill>
                <a:srgbClr val="000000"/>
              </a:solidFill>
            </a:endParaRPr>
          </a:p>
          <a:p>
            <a:pPr indent="-228600">
              <a:lnSpc>
                <a:spcPct val="90000"/>
              </a:lnSpc>
              <a:buFont typeface="Arial" panose="020B0604020202020204" pitchFamily="34" charset="0"/>
              <a:buChar char="•"/>
            </a:pPr>
            <a:endParaRPr lang="en-US" sz="1500">
              <a:solidFill>
                <a:srgbClr val="000000"/>
              </a:solidFill>
            </a:endParaRPr>
          </a:p>
        </p:txBody>
      </p:sp>
    </p:spTree>
    <p:extLst>
      <p:ext uri="{BB962C8B-B14F-4D97-AF65-F5344CB8AC3E}">
        <p14:creationId xmlns:p14="http://schemas.microsoft.com/office/powerpoint/2010/main" val="39336820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1"/>
          <p:cNvSpPr txBox="1">
            <a:spLocks/>
          </p:cNvSpPr>
          <p:nvPr/>
        </p:nvSpPr>
        <p:spPr>
          <a:xfrm>
            <a:off x="884419" y="620010"/>
            <a:ext cx="7375161"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000" kern="1200">
                <a:solidFill>
                  <a:srgbClr val="FFFFFF"/>
                </a:solidFill>
                <a:latin typeface="+mj-lt"/>
                <a:ea typeface="+mj-ea"/>
                <a:cs typeface="+mj-cs"/>
              </a:rPr>
              <a:t>5.1.1 The Addition and Multiplication Rules </a:t>
            </a:r>
            <a:br>
              <a:rPr lang="en-US" sz="3000" kern="1200">
                <a:solidFill>
                  <a:srgbClr val="FFFFFF"/>
                </a:solidFill>
                <a:latin typeface="+mj-lt"/>
                <a:ea typeface="+mj-ea"/>
                <a:cs typeface="+mj-cs"/>
              </a:rPr>
            </a:br>
            <a:endParaRPr lang="en-US" sz="3000" kern="1200">
              <a:solidFill>
                <a:srgbClr val="FFFFFF"/>
              </a:solidFill>
              <a:latin typeface="+mj-lt"/>
              <a:ea typeface="+mj-ea"/>
              <a:cs typeface="+mj-cs"/>
            </a:endParaRPr>
          </a:p>
        </p:txBody>
      </p:sp>
      <p:sp>
        <p:nvSpPr>
          <p:cNvPr id="6" name="Content Placeholder 5"/>
          <p:cNvSpPr>
            <a:spLocks noGrp="1"/>
          </p:cNvSpPr>
          <p:nvPr>
            <p:ph idx="1"/>
          </p:nvPr>
        </p:nvSpPr>
        <p:spPr>
          <a:xfrm>
            <a:off x="884419" y="2319727"/>
            <a:ext cx="7375161" cy="2020482"/>
          </a:xfrm>
        </p:spPr>
        <p:txBody>
          <a:bodyPr vert="horz" lIns="91440" tIns="45720" rIns="91440" bIns="45720" rtlCol="0">
            <a:normAutofit/>
          </a:bodyPr>
          <a:lstStyle/>
          <a:p>
            <a:pPr indent="-228600">
              <a:lnSpc>
                <a:spcPct val="90000"/>
              </a:lnSpc>
              <a:buFont typeface="Arial" panose="020B0604020202020204" pitchFamily="34" charset="0"/>
              <a:buChar char="•"/>
            </a:pPr>
            <a:r>
              <a:rPr lang="en-US" sz="1400" dirty="0">
                <a:solidFill>
                  <a:srgbClr val="000000"/>
                </a:solidFill>
              </a:rPr>
              <a:t>Each set is defined in terms of a domain of interest or </a:t>
            </a:r>
            <a:r>
              <a:rPr lang="en-US" sz="1400" b="1" i="1" dirty="0">
                <a:solidFill>
                  <a:srgbClr val="000000"/>
                </a:solidFill>
              </a:rPr>
              <a:t>universe</a:t>
            </a:r>
            <a:r>
              <a:rPr lang="en-US" sz="1400" dirty="0">
                <a:solidFill>
                  <a:srgbClr val="000000"/>
                </a:solidFill>
              </a:rPr>
              <a:t>, U, of elements that might be in that set. </a:t>
            </a:r>
            <a:br>
              <a:rPr lang="en-US" sz="1400" dirty="0">
                <a:solidFill>
                  <a:srgbClr val="000000"/>
                </a:solidFill>
              </a:rPr>
            </a:br>
            <a:endParaRPr lang="en-US" sz="1400" dirty="0">
              <a:solidFill>
                <a:srgbClr val="000000"/>
              </a:solidFill>
            </a:endParaRPr>
          </a:p>
          <a:p>
            <a:pPr marL="0" indent="-228600">
              <a:lnSpc>
                <a:spcPct val="90000"/>
              </a:lnSpc>
              <a:buFont typeface="Arial" panose="020B0604020202020204" pitchFamily="34" charset="0"/>
              <a:buChar char="•"/>
            </a:pPr>
            <a:r>
              <a:rPr lang="en-US" sz="1400" dirty="0">
                <a:solidFill>
                  <a:srgbClr val="000000"/>
                </a:solidFill>
              </a:rPr>
              <a:t>Example:</a:t>
            </a:r>
          </a:p>
          <a:p>
            <a:pPr indent="-228600">
              <a:lnSpc>
                <a:spcPct val="90000"/>
              </a:lnSpc>
              <a:buFont typeface="Arial" panose="020B0604020202020204" pitchFamily="34" charset="0"/>
              <a:buChar char="•"/>
            </a:pPr>
            <a:r>
              <a:rPr lang="en-US" sz="1400" dirty="0">
                <a:solidFill>
                  <a:srgbClr val="000000"/>
                </a:solidFill>
              </a:rPr>
              <a:t>The set of male people in a classroom may be defined in the context, or in the universe, of all the people in that room.</a:t>
            </a:r>
          </a:p>
          <a:p>
            <a:pPr indent="-228600">
              <a:lnSpc>
                <a:spcPct val="90000"/>
              </a:lnSpc>
              <a:buFont typeface="Arial" panose="020B0604020202020204" pitchFamily="34" charset="0"/>
              <a:buChar char="•"/>
            </a:pPr>
            <a:r>
              <a:rPr lang="en-US" sz="1400" dirty="0">
                <a:solidFill>
                  <a:srgbClr val="000000"/>
                </a:solidFill>
              </a:rPr>
              <a:t>Similarly, the roll of a 3 on a fair die may be seen as one of a set of six possible outcomes. </a:t>
            </a:r>
            <a:br>
              <a:rPr lang="en-US" sz="1400" dirty="0">
                <a:solidFill>
                  <a:srgbClr val="000000"/>
                </a:solidFill>
              </a:rPr>
            </a:br>
            <a:endParaRPr lang="en-US" sz="1400" dirty="0">
              <a:solidFill>
                <a:srgbClr val="000000"/>
              </a:solidFill>
            </a:endParaRPr>
          </a:p>
        </p:txBody>
      </p:sp>
      <p:pic>
        <p:nvPicPr>
          <p:cNvPr id="7" name="Picture 6">
            <a:extLst>
              <a:ext uri="{FF2B5EF4-FFF2-40B4-BE49-F238E27FC236}">
                <a16:creationId xmlns:a16="http://schemas.microsoft.com/office/drawing/2014/main" id="{D20BBAD4-A181-4F50-A5F5-8EBA2C331C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27101" y="3910712"/>
            <a:ext cx="459799" cy="367839"/>
          </a:xfrm>
          <a:prstGeom prst="rect">
            <a:avLst/>
          </a:prstGeom>
        </p:spPr>
      </p:pic>
    </p:spTree>
    <p:extLst>
      <p:ext uri="{BB962C8B-B14F-4D97-AF65-F5344CB8AC3E}">
        <p14:creationId xmlns:p14="http://schemas.microsoft.com/office/powerpoint/2010/main" val="321318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heel(1)">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heel(1)">
                                      <p:cBhvr>
                                        <p:cTn id="12" dur="2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heel(1)">
                                      <p:cBhvr>
                                        <p:cTn id="17" dur="2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heel(1)">
                                      <p:cBhvr>
                                        <p:cTn id="22" dur="2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sp>
        <p:nvSpPr>
          <p:cNvPr id="6" name="Content Placeholder 5"/>
          <p:cNvSpPr>
            <a:spLocks noGrp="1"/>
          </p:cNvSpPr>
          <p:nvPr>
            <p:ph idx="1"/>
          </p:nvPr>
        </p:nvSpPr>
        <p:spPr/>
        <p:txBody>
          <a:bodyPr/>
          <a:lstStyle/>
          <a:p>
            <a:r>
              <a:rPr lang="en-US" dirty="0"/>
              <a:t>The domain or universe of a set A is thus also a set and is used to determine the </a:t>
            </a:r>
            <a:r>
              <a:rPr lang="en-US" i="1" dirty="0"/>
              <a:t>complement </a:t>
            </a:r>
            <a:r>
              <a:rPr lang="en-US" dirty="0"/>
              <a:t>of that set.</a:t>
            </a:r>
          </a:p>
          <a:p>
            <a:r>
              <a:rPr lang="en-US" dirty="0"/>
              <a:t>Complement A is denoted by A.</a:t>
            </a:r>
          </a:p>
          <a:p>
            <a:pPr marL="0" indent="0">
              <a:buNone/>
            </a:pPr>
            <a:endParaRPr lang="en-US" dirty="0"/>
          </a:p>
          <a:p>
            <a:pPr marL="0" indent="0">
              <a:buNone/>
            </a:pPr>
            <a:r>
              <a:rPr lang="en-US" dirty="0"/>
              <a:t/>
            </a:r>
            <a:br>
              <a:rPr lang="en-US" dirty="0"/>
            </a:br>
            <a:r>
              <a:rPr lang="en-US" dirty="0"/>
              <a:t/>
            </a:r>
            <a:br>
              <a:rPr lang="en-US" dirty="0"/>
            </a:br>
            <a:endParaRPr lang="en-US" dirty="0"/>
          </a:p>
        </p:txBody>
      </p:sp>
      <p:cxnSp>
        <p:nvCxnSpPr>
          <p:cNvPr id="4" name="Straight Connector 3"/>
          <p:cNvCxnSpPr/>
          <p:nvPr/>
        </p:nvCxnSpPr>
        <p:spPr>
          <a:xfrm>
            <a:off x="4052455" y="2069869"/>
            <a:ext cx="18080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282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1000"/>
                                        <p:tgtEl>
                                          <p:spTgt spid="6">
                                            <p:txEl>
                                              <p:pRg st="3" end="3"/>
                                            </p:txEl>
                                          </p:spTgt>
                                        </p:tgtEl>
                                      </p:cBhvr>
                                    </p:animEffect>
                                    <p:anim calcmode="lin" valueType="num">
                                      <p:cBhvr>
                                        <p:cTn id="2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5.1.1 The Addition and Multiplication Rules </a:t>
            </a:r>
            <a:br>
              <a:rPr lang="en-US" dirty="0"/>
            </a:br>
            <a:endParaRPr lang="en-US" dirty="0"/>
          </a:p>
        </p:txBody>
      </p:sp>
      <p:sp>
        <p:nvSpPr>
          <p:cNvPr id="3" name="Content Placeholder 2"/>
          <p:cNvSpPr>
            <a:spLocks noGrp="1"/>
          </p:cNvSpPr>
          <p:nvPr>
            <p:ph idx="1"/>
          </p:nvPr>
        </p:nvSpPr>
        <p:spPr>
          <a:xfrm>
            <a:off x="628650" y="1072342"/>
            <a:ext cx="7886700" cy="3560381"/>
          </a:xfrm>
        </p:spPr>
        <p:txBody>
          <a:bodyPr/>
          <a:lstStyle/>
          <a:p>
            <a:pPr marL="0" indent="0">
              <a:buNone/>
            </a:pPr>
            <a:r>
              <a:rPr lang="en-US" dirty="0"/>
              <a:t>Example: Let A is the set of all male classroom</a:t>
            </a:r>
          </a:p>
          <a:p>
            <a:pPr marL="0" indent="0">
              <a:buNone/>
            </a:pPr>
            <a:r>
              <a:rPr lang="en-US" dirty="0"/>
              <a:t>                 Complement of A is??? All female in classroom</a:t>
            </a:r>
          </a:p>
          <a:p>
            <a:pPr marL="0" indent="0">
              <a:buNone/>
            </a:pPr>
            <a:endParaRPr lang="en-US" dirty="0"/>
          </a:p>
        </p:txBody>
      </p:sp>
      <p:sp>
        <p:nvSpPr>
          <p:cNvPr id="5" name="Right Arrow 4"/>
          <p:cNvSpPr/>
          <p:nvPr/>
        </p:nvSpPr>
        <p:spPr>
          <a:xfrm>
            <a:off x="846860" y="1590405"/>
            <a:ext cx="817765" cy="149629"/>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58420" y="2347067"/>
            <a:ext cx="4605251" cy="2590454"/>
          </a:xfrm>
          <a:prstGeom prst="rect">
            <a:avLst/>
          </a:prstGeom>
        </p:spPr>
      </p:pic>
    </p:spTree>
    <p:extLst>
      <p:ext uri="{BB962C8B-B14F-4D97-AF65-F5344CB8AC3E}">
        <p14:creationId xmlns:p14="http://schemas.microsoft.com/office/powerpoint/2010/main" val="176524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486696" y="471949"/>
            <a:ext cx="3845274" cy="12574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800"/>
              <a:t>5.1.1 The Addition and Multiplication Rules </a:t>
            </a:r>
            <a:br>
              <a:rPr lang="en-US" sz="2800"/>
            </a:br>
            <a:endParaRPr lang="en-US" sz="2800"/>
          </a:p>
        </p:txBody>
      </p:sp>
      <p:sp>
        <p:nvSpPr>
          <p:cNvPr id="3" name="Content Placeholder 2"/>
          <p:cNvSpPr>
            <a:spLocks noGrp="1"/>
          </p:cNvSpPr>
          <p:nvPr>
            <p:ph idx="1"/>
          </p:nvPr>
        </p:nvSpPr>
        <p:spPr>
          <a:xfrm>
            <a:off x="486697" y="1828800"/>
            <a:ext cx="3845272" cy="2839064"/>
          </a:xfrm>
        </p:spPr>
        <p:txBody>
          <a:bodyPr vert="horz" lIns="91440" tIns="45720" rIns="91440" bIns="45720" rtlCol="0">
            <a:normAutofit/>
          </a:bodyPr>
          <a:lstStyle/>
          <a:p>
            <a:pPr indent="-228600">
              <a:lnSpc>
                <a:spcPct val="90000"/>
              </a:lnSpc>
              <a:buFont typeface="Arial" panose="020B0604020202020204" pitchFamily="34" charset="0"/>
              <a:buChar char="•"/>
            </a:pPr>
            <a:r>
              <a:rPr lang="en-US" b="1" i="1"/>
              <a:t>Subset: </a:t>
            </a:r>
          </a:p>
          <a:p>
            <a:pPr lvl="1" indent="-228600">
              <a:lnSpc>
                <a:spcPct val="90000"/>
              </a:lnSpc>
              <a:buFont typeface="Arial" panose="020B0604020202020204" pitchFamily="34" charset="0"/>
              <a:buChar char="•"/>
            </a:pPr>
            <a:r>
              <a:rPr lang="en-US" dirty="0"/>
              <a:t>A is a subset of B when all element in A is also an element of set B.</a:t>
            </a:r>
            <a:endParaRPr lang="en-US"/>
          </a:p>
          <a:p>
            <a:pPr lvl="1" indent="-228600">
              <a:lnSpc>
                <a:spcPct val="90000"/>
              </a:lnSpc>
              <a:buFont typeface="Arial" panose="020B0604020202020204" pitchFamily="34" charset="0"/>
              <a:buChar char="•"/>
            </a:pPr>
            <a:endParaRPr lang="en-US"/>
          </a:p>
          <a:p>
            <a:pPr marL="342900" lvl="1" indent="-228600">
              <a:lnSpc>
                <a:spcPct val="90000"/>
              </a:lnSpc>
              <a:buFont typeface="Arial" panose="020B0604020202020204" pitchFamily="34" charset="0"/>
              <a:buChar char="•"/>
            </a:pPr>
            <a:endParaRPr lang="en-US"/>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25" r="7782" b="-1"/>
          <a:stretch/>
        </p:blipFill>
        <p:spPr>
          <a:xfrm>
            <a:off x="4567959" y="480061"/>
            <a:ext cx="4096293" cy="4183378"/>
          </a:xfrm>
          <a:prstGeom prst="rect">
            <a:avLst/>
          </a:prstGeom>
          <a:effectLst/>
        </p:spPr>
      </p:pic>
    </p:spTree>
    <p:extLst>
      <p:ext uri="{BB962C8B-B14F-4D97-AF65-F5344CB8AC3E}">
        <p14:creationId xmlns:p14="http://schemas.microsoft.com/office/powerpoint/2010/main" val="275214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Title 1"/>
          <p:cNvSpPr txBox="1">
            <a:spLocks/>
          </p:cNvSpPr>
          <p:nvPr/>
        </p:nvSpPr>
        <p:spPr>
          <a:xfrm>
            <a:off x="884419" y="620010"/>
            <a:ext cx="7375161"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2800" kern="1200">
                <a:solidFill>
                  <a:srgbClr val="FFFFFF"/>
                </a:solidFill>
                <a:latin typeface="+mj-lt"/>
                <a:ea typeface="+mj-ea"/>
                <a:cs typeface="+mj-cs"/>
              </a:rPr>
              <a:t>5.1.1 The Addition and Multiplication Rules </a:t>
            </a:r>
            <a:br>
              <a:rPr lang="en-US" sz="2800" kern="1200">
                <a:solidFill>
                  <a:srgbClr val="FFFFFF"/>
                </a:solidFill>
                <a:latin typeface="+mj-lt"/>
                <a:ea typeface="+mj-ea"/>
                <a:cs typeface="+mj-cs"/>
              </a:rPr>
            </a:br>
            <a:endParaRPr lang="en-US" sz="2800" kern="1200">
              <a:solidFill>
                <a:srgbClr val="FFFFFF"/>
              </a:solidFill>
              <a:latin typeface="+mj-lt"/>
              <a:ea typeface="+mj-ea"/>
              <a:cs typeface="+mj-cs"/>
            </a:endParaRPr>
          </a:p>
        </p:txBody>
      </p:sp>
      <p:sp>
        <p:nvSpPr>
          <p:cNvPr id="3" name="Content Placeholder 2"/>
          <p:cNvSpPr>
            <a:spLocks noGrp="1"/>
          </p:cNvSpPr>
          <p:nvPr>
            <p:ph idx="1"/>
          </p:nvPr>
        </p:nvSpPr>
        <p:spPr>
          <a:xfrm>
            <a:off x="884419" y="2319727"/>
            <a:ext cx="7375161" cy="2020482"/>
          </a:xfrm>
        </p:spPr>
        <p:txBody>
          <a:bodyPr vert="horz" lIns="91440" tIns="45720" rIns="91440" bIns="45720" rtlCol="0">
            <a:normAutofit/>
          </a:bodyPr>
          <a:lstStyle/>
          <a:p>
            <a:pPr indent="-228600">
              <a:lnSpc>
                <a:spcPct val="90000"/>
              </a:lnSpc>
              <a:buFont typeface="Arial" panose="020B0604020202020204" pitchFamily="34" charset="0"/>
              <a:buChar char="•"/>
            </a:pPr>
            <a:r>
              <a:rPr lang="en-US" sz="1500" b="1" i="1">
                <a:solidFill>
                  <a:srgbClr val="000000"/>
                </a:solidFill>
              </a:rPr>
              <a:t>Subset: </a:t>
            </a:r>
          </a:p>
          <a:p>
            <a:pPr lvl="1" indent="-228600">
              <a:lnSpc>
                <a:spcPct val="90000"/>
              </a:lnSpc>
              <a:buFont typeface="Arial" panose="020B0604020202020204" pitchFamily="34" charset="0"/>
              <a:buChar char="•"/>
            </a:pPr>
            <a:r>
              <a:rPr lang="en-US" sz="1500">
                <a:solidFill>
                  <a:srgbClr val="000000"/>
                </a:solidFill>
              </a:rPr>
              <a:t>A is a subset of B when all element in A is also an element of set B. </a:t>
            </a:r>
          </a:p>
          <a:p>
            <a:pPr lvl="1" indent="-228600">
              <a:lnSpc>
                <a:spcPct val="90000"/>
              </a:lnSpc>
              <a:buFont typeface="Arial" panose="020B0604020202020204" pitchFamily="34" charset="0"/>
              <a:buChar char="•"/>
            </a:pPr>
            <a:r>
              <a:rPr lang="en-US" sz="1500">
                <a:solidFill>
                  <a:srgbClr val="000000"/>
                </a:solidFill>
              </a:rPr>
              <a:t>It is denoted: A ⊆ B.</a:t>
            </a:r>
          </a:p>
          <a:p>
            <a:pPr lvl="1" indent="-228600">
              <a:lnSpc>
                <a:spcPct val="90000"/>
              </a:lnSpc>
              <a:buFont typeface="Arial" panose="020B0604020202020204" pitchFamily="34" charset="0"/>
              <a:buChar char="•"/>
            </a:pPr>
            <a:r>
              <a:rPr lang="en-US" sz="1500">
                <a:solidFill>
                  <a:srgbClr val="000000"/>
                </a:solidFill>
              </a:rPr>
              <a:t>Every set is a subset of itself.</a:t>
            </a:r>
          </a:p>
          <a:p>
            <a:pPr lvl="1" indent="-228600">
              <a:lnSpc>
                <a:spcPct val="90000"/>
              </a:lnSpc>
              <a:buFont typeface="Arial" panose="020B0604020202020204" pitchFamily="34" charset="0"/>
              <a:buChar char="•"/>
            </a:pPr>
            <a:r>
              <a:rPr lang="en-US" sz="1500">
                <a:solidFill>
                  <a:srgbClr val="000000"/>
                </a:solidFill>
              </a:rPr>
              <a:t>Any set A is a subset of its universe.</a:t>
            </a:r>
          </a:p>
          <a:p>
            <a:pPr lvl="1" indent="-228600">
              <a:lnSpc>
                <a:spcPct val="90000"/>
              </a:lnSpc>
              <a:buFont typeface="Arial" panose="020B0604020202020204" pitchFamily="34" charset="0"/>
              <a:buChar char="•"/>
            </a:pPr>
            <a:r>
              <a:rPr lang="en-US" sz="1500">
                <a:solidFill>
                  <a:srgbClr val="000000"/>
                </a:solidFill>
              </a:rPr>
              <a:t>An empty set is a subset of every set and it is denoted { } or Ø.</a:t>
            </a:r>
          </a:p>
          <a:p>
            <a:pPr marL="342900" lvl="1" indent="-228600">
              <a:lnSpc>
                <a:spcPct val="90000"/>
              </a:lnSpc>
              <a:buFont typeface="Arial" panose="020B0604020202020204" pitchFamily="34" charset="0"/>
              <a:buChar char="•"/>
            </a:pPr>
            <a:endParaRPr lang="en-US" sz="1500">
              <a:solidFill>
                <a:srgbClr val="000000"/>
              </a:solidFill>
            </a:endParaRPr>
          </a:p>
          <a:p>
            <a:pPr lvl="1" indent="-228600">
              <a:lnSpc>
                <a:spcPct val="90000"/>
              </a:lnSpc>
              <a:buFont typeface="Arial" panose="020B0604020202020204" pitchFamily="34" charset="0"/>
              <a:buChar char="•"/>
            </a:pPr>
            <a:endParaRPr lang="en-US" sz="1500">
              <a:solidFill>
                <a:srgbClr val="000000"/>
              </a:solidFill>
            </a:endParaRPr>
          </a:p>
          <a:p>
            <a:pPr marL="342900" lvl="1" indent="-228600">
              <a:lnSpc>
                <a:spcPct val="90000"/>
              </a:lnSpc>
              <a:buFont typeface="Arial" panose="020B0604020202020204" pitchFamily="34" charset="0"/>
              <a:buChar char="•"/>
            </a:pPr>
            <a:endParaRPr lang="en-US" sz="1500">
              <a:solidFill>
                <a:srgbClr val="000000"/>
              </a:solidFill>
            </a:endParaRPr>
          </a:p>
        </p:txBody>
      </p:sp>
    </p:spTree>
    <p:extLst>
      <p:ext uri="{BB962C8B-B14F-4D97-AF65-F5344CB8AC3E}">
        <p14:creationId xmlns:p14="http://schemas.microsoft.com/office/powerpoint/2010/main" val="173661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486696" y="471949"/>
            <a:ext cx="3845274" cy="12574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800"/>
              <a:t>5.1.1 The Addition and Multiplication Rules </a:t>
            </a:r>
            <a:br>
              <a:rPr lang="en-US" sz="2800"/>
            </a:br>
            <a:endParaRPr lang="en-US" sz="2800"/>
          </a:p>
        </p:txBody>
      </p:sp>
      <p:sp>
        <p:nvSpPr>
          <p:cNvPr id="3" name="Content Placeholder 2"/>
          <p:cNvSpPr>
            <a:spLocks noGrp="1"/>
          </p:cNvSpPr>
          <p:nvPr>
            <p:ph idx="1"/>
          </p:nvPr>
        </p:nvSpPr>
        <p:spPr>
          <a:xfrm>
            <a:off x="486697" y="1828800"/>
            <a:ext cx="3845272" cy="2839064"/>
          </a:xfrm>
        </p:spPr>
        <p:txBody>
          <a:bodyPr vert="horz" lIns="91440" tIns="45720" rIns="91440" bIns="45720" rtlCol="0">
            <a:normAutofit/>
          </a:bodyPr>
          <a:lstStyle/>
          <a:p>
            <a:pPr indent="-228600">
              <a:lnSpc>
                <a:spcPct val="90000"/>
              </a:lnSpc>
              <a:buFont typeface="Arial" panose="020B0604020202020204" pitchFamily="34" charset="0"/>
              <a:buChar char="•"/>
            </a:pPr>
            <a:r>
              <a:rPr lang="en-US" b="1" i="1"/>
              <a:t>Union:</a:t>
            </a:r>
          </a:p>
          <a:p>
            <a:pPr lvl="1" indent="-228600">
              <a:lnSpc>
                <a:spcPct val="90000"/>
              </a:lnSpc>
              <a:buFont typeface="Arial" panose="020B0604020202020204" pitchFamily="34" charset="0"/>
              <a:buChar char="•"/>
            </a:pPr>
            <a:r>
              <a:rPr lang="en-US"/>
              <a:t> The union of two sets </a:t>
            </a:r>
            <a:r>
              <a:rPr lang="en-US" i="1"/>
              <a:t>A</a:t>
            </a:r>
            <a:r>
              <a:rPr lang="en-US"/>
              <a:t> and </a:t>
            </a:r>
            <a:r>
              <a:rPr lang="en-US" i="1"/>
              <a:t>B</a:t>
            </a:r>
            <a:r>
              <a:rPr lang="en-US"/>
              <a:t> is the set of elements which are in </a:t>
            </a:r>
            <a:r>
              <a:rPr lang="en-US" i="1"/>
              <a:t>A</a:t>
            </a:r>
            <a:r>
              <a:rPr lang="en-US"/>
              <a:t>, in </a:t>
            </a:r>
            <a:r>
              <a:rPr lang="en-US" i="1"/>
              <a:t>B</a:t>
            </a:r>
            <a:r>
              <a:rPr lang="en-US"/>
              <a:t>, or in both </a:t>
            </a:r>
            <a:r>
              <a:rPr lang="en-US" i="1"/>
              <a:t>A</a:t>
            </a:r>
            <a:r>
              <a:rPr lang="en-US"/>
              <a:t> and </a:t>
            </a:r>
            <a:r>
              <a:rPr lang="en-US" i="1"/>
              <a:t>B</a:t>
            </a:r>
            <a:r>
              <a:rPr lang="en-US"/>
              <a:t> </a:t>
            </a:r>
          </a:p>
          <a:p>
            <a:pPr lvl="1" indent="-228600">
              <a:lnSpc>
                <a:spcPct val="90000"/>
              </a:lnSpc>
              <a:buFont typeface="Arial" panose="020B0604020202020204" pitchFamily="34" charset="0"/>
              <a:buChar char="•"/>
            </a:pPr>
            <a:endParaRPr lang="en-US"/>
          </a:p>
          <a:p>
            <a:pPr marL="0" indent="-228600">
              <a:lnSpc>
                <a:spcPct val="90000"/>
              </a:lnSpc>
              <a:buFont typeface="Arial" panose="020B0604020202020204" pitchFamily="34" charset="0"/>
              <a:buChar char="•"/>
            </a:pPr>
            <a:endParaRPr lang="en-US"/>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1760" r="33442"/>
          <a:stretch/>
        </p:blipFill>
        <p:spPr>
          <a:xfrm>
            <a:off x="4567959" y="480061"/>
            <a:ext cx="4096293" cy="4183378"/>
          </a:xfrm>
          <a:prstGeom prst="rect">
            <a:avLst/>
          </a:prstGeom>
          <a:effectLst/>
        </p:spPr>
      </p:pic>
    </p:spTree>
    <p:extLst>
      <p:ext uri="{BB962C8B-B14F-4D97-AF65-F5344CB8AC3E}">
        <p14:creationId xmlns:p14="http://schemas.microsoft.com/office/powerpoint/2010/main" val="241599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i="1" dirty="0">
                <a:solidFill>
                  <a:srgbClr val="FF0000"/>
                </a:solidFill>
              </a:rPr>
              <a:t>Union:</a:t>
            </a:r>
          </a:p>
          <a:p>
            <a:pPr lvl="1">
              <a:buFont typeface="Courier New" panose="02070309020205020404" pitchFamily="49" charset="0"/>
              <a:buChar char="o"/>
            </a:pPr>
            <a:r>
              <a:rPr lang="en-US" dirty="0"/>
              <a:t> The union of two sets </a:t>
            </a:r>
            <a:r>
              <a:rPr lang="en-US" i="1" dirty="0"/>
              <a:t>A</a:t>
            </a:r>
            <a:r>
              <a:rPr lang="en-US" dirty="0"/>
              <a:t> and </a:t>
            </a:r>
            <a:r>
              <a:rPr lang="en-US" i="1" dirty="0"/>
              <a:t>B, (A</a:t>
            </a:r>
            <a:r>
              <a:rPr lang="en-US" dirty="0"/>
              <a:t> ∪ B) is the set of elements which are in </a:t>
            </a:r>
            <a:r>
              <a:rPr lang="en-US" i="1" dirty="0"/>
              <a:t>A</a:t>
            </a:r>
            <a:r>
              <a:rPr lang="en-US" dirty="0"/>
              <a:t>, in </a:t>
            </a:r>
            <a:r>
              <a:rPr lang="en-US" i="1" dirty="0"/>
              <a:t>B</a:t>
            </a:r>
            <a:r>
              <a:rPr lang="en-US" dirty="0"/>
              <a:t>, or in both </a:t>
            </a:r>
            <a:r>
              <a:rPr lang="en-US" i="1" dirty="0"/>
              <a:t>A</a:t>
            </a:r>
            <a:r>
              <a:rPr lang="en-US" dirty="0"/>
              <a:t> and </a:t>
            </a:r>
            <a:r>
              <a:rPr lang="en-US" i="1" dirty="0"/>
              <a:t>B.</a:t>
            </a:r>
          </a:p>
          <a:p>
            <a:pPr lvl="1">
              <a:buFont typeface="Courier New" panose="02070309020205020404" pitchFamily="49" charset="0"/>
              <a:buChar char="o"/>
            </a:pPr>
            <a:r>
              <a:rPr lang="en-US" dirty="0"/>
              <a:t>The number of elements in the union of two sets is the total of all the elements in each of the sets minus the number of elements that are in both sets.</a:t>
            </a:r>
            <a:endParaRPr lang="en-US" i="1" dirty="0"/>
          </a:p>
          <a:p>
            <a:pPr lvl="1">
              <a:buFont typeface="Courier New" panose="02070309020205020404" pitchFamily="49" charset="0"/>
              <a:buChar char="o"/>
            </a:pPr>
            <a:r>
              <a:rPr lang="en-US" dirty="0"/>
              <a:t>A = {1, 2, 3, 4, 5}, |A| = 5</a:t>
            </a:r>
          </a:p>
          <a:p>
            <a:pPr lvl="1">
              <a:buFont typeface="Courier New" panose="02070309020205020404" pitchFamily="49" charset="0"/>
              <a:buChar char="o"/>
            </a:pPr>
            <a:r>
              <a:rPr lang="en-US" dirty="0"/>
              <a:t>B = {5, 6, 7, 8},      |B|= 4 </a:t>
            </a:r>
          </a:p>
          <a:p>
            <a:pPr lvl="1">
              <a:buFont typeface="Courier New" panose="02070309020205020404" pitchFamily="49" charset="0"/>
              <a:buChar char="o"/>
            </a:pPr>
            <a:r>
              <a:rPr lang="en-US" dirty="0"/>
              <a:t>C is union of two sets A and B             |C| = 5 + 4 – 1 = 8 </a:t>
            </a:r>
          </a:p>
          <a:p>
            <a:pPr lvl="1">
              <a:buFont typeface="Courier New" panose="02070309020205020404" pitchFamily="49" charset="0"/>
              <a:buChar char="o"/>
            </a:pPr>
            <a:r>
              <a:rPr lang="en-US" dirty="0"/>
              <a:t>C = A ∪ B = {1, 2, 3, 4, 5, 6, 7, 8} </a:t>
            </a:r>
            <a:br>
              <a:rPr lang="en-US" dirty="0"/>
            </a:br>
            <a:endParaRPr lang="en-US" dirty="0"/>
          </a:p>
          <a:p>
            <a:pPr lvl="1">
              <a:buFont typeface="Courier New" panose="02070309020205020404" pitchFamily="49" charset="0"/>
              <a:buChar char="o"/>
            </a:pP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sp>
        <p:nvSpPr>
          <p:cNvPr id="5" name="Right Arrow 4"/>
          <p:cNvSpPr/>
          <p:nvPr/>
        </p:nvSpPr>
        <p:spPr>
          <a:xfrm>
            <a:off x="4572000" y="3683253"/>
            <a:ext cx="461357" cy="155864"/>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011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anim calcmode="lin" valueType="num">
                                      <p:cBhvr>
                                        <p:cTn id="50" dur="1000" fill="hold"/>
                                        <p:tgtEl>
                                          <p:spTgt spid="5"/>
                                        </p:tgtEl>
                                        <p:attrNameLst>
                                          <p:attrName>ppt_x</p:attrName>
                                        </p:attrNameLst>
                                      </p:cBhvr>
                                      <p:tavLst>
                                        <p:tav tm="0">
                                          <p:val>
                                            <p:strVal val="#ppt_x"/>
                                          </p:val>
                                        </p:tav>
                                        <p:tav tm="100000">
                                          <p:val>
                                            <p:strVal val="#ppt_x"/>
                                          </p:val>
                                        </p:tav>
                                      </p:tavLst>
                                    </p:anim>
                                    <p:anim calcmode="lin" valueType="num">
                                      <p:cBhvr>
                                        <p:cTn id="5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i="1" dirty="0">
                <a:solidFill>
                  <a:srgbClr val="FF0000"/>
                </a:solidFill>
              </a:rPr>
              <a:t>Intersection:</a:t>
            </a:r>
          </a:p>
          <a:p>
            <a:pPr lvl="1">
              <a:buFont typeface="Courier New" panose="02070309020205020404" pitchFamily="49" charset="0"/>
              <a:buChar char="o"/>
            </a:pPr>
            <a:r>
              <a:rPr lang="en-US" dirty="0"/>
              <a:t>The </a:t>
            </a:r>
            <a:r>
              <a:rPr lang="en-US" i="1" dirty="0"/>
              <a:t>intersection </a:t>
            </a:r>
            <a:r>
              <a:rPr lang="en-US" dirty="0"/>
              <a:t>of two sets A and B, A ∩ B, is the set of all elements common to both sets. </a:t>
            </a:r>
            <a:br>
              <a:rPr lang="en-US" dirty="0"/>
            </a:b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63989" y="2237561"/>
            <a:ext cx="5644622" cy="2575508"/>
          </a:xfrm>
          <a:prstGeom prst="rect">
            <a:avLst/>
          </a:prstGeom>
        </p:spPr>
      </p:pic>
    </p:spTree>
    <p:extLst>
      <p:ext uri="{BB962C8B-B14F-4D97-AF65-F5344CB8AC3E}">
        <p14:creationId xmlns:p14="http://schemas.microsoft.com/office/powerpoint/2010/main" val="247067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09502"/>
            <a:ext cx="7886700" cy="3933998"/>
          </a:xfrm>
        </p:spPr>
        <p:txBody>
          <a:bodyPr>
            <a:normAutofit fontScale="77500" lnSpcReduction="20000"/>
          </a:bodyPr>
          <a:lstStyle/>
          <a:p>
            <a:pPr marL="0" indent="0">
              <a:lnSpc>
                <a:spcPct val="120000"/>
              </a:lnSpc>
              <a:buNone/>
            </a:pPr>
            <a:r>
              <a:rPr lang="en-US" dirty="0"/>
              <a:t>We now give examples of a number of the concepts just defined:</a:t>
            </a:r>
          </a:p>
          <a:p>
            <a:pPr>
              <a:lnSpc>
                <a:spcPct val="120000"/>
              </a:lnSpc>
              <a:buFont typeface="Wingdings" panose="05000000000000000000" pitchFamily="2" charset="2"/>
              <a:buChar char="v"/>
            </a:pPr>
            <a:r>
              <a:rPr lang="en-US" dirty="0"/>
              <a:t> Suppose the universe, U, is the set {0, 1, 2, 3, 4, 5, 6, 7, 8, 9} </a:t>
            </a:r>
          </a:p>
          <a:p>
            <a:pPr>
              <a:lnSpc>
                <a:spcPct val="120000"/>
              </a:lnSpc>
              <a:buFont typeface="Wingdings" panose="05000000000000000000" pitchFamily="2" charset="2"/>
              <a:buChar char="v"/>
            </a:pPr>
            <a:r>
              <a:rPr lang="en-US" dirty="0"/>
              <a:t> Let A be the set {1, 3, 5, 7, 9}</a:t>
            </a:r>
          </a:p>
          <a:p>
            <a:pPr>
              <a:lnSpc>
                <a:spcPct val="120000"/>
              </a:lnSpc>
              <a:buFont typeface="Wingdings" panose="05000000000000000000" pitchFamily="2" charset="2"/>
              <a:buChar char="v"/>
            </a:pPr>
            <a:r>
              <a:rPr lang="en-US" dirty="0"/>
              <a:t> Let B be the set {0, 2, 4, 6, 8}</a:t>
            </a:r>
          </a:p>
          <a:p>
            <a:pPr>
              <a:lnSpc>
                <a:spcPct val="120000"/>
              </a:lnSpc>
              <a:buFont typeface="Wingdings" panose="05000000000000000000" pitchFamily="2" charset="2"/>
              <a:buChar char="v"/>
            </a:pPr>
            <a:r>
              <a:rPr lang="en-US" dirty="0"/>
              <a:t> Let C be the set {4, 5, 6}</a:t>
            </a:r>
          </a:p>
          <a:p>
            <a:pPr>
              <a:lnSpc>
                <a:spcPct val="120000"/>
              </a:lnSpc>
              <a:buFont typeface="Wingdings" panose="05000000000000000000" pitchFamily="2" charset="2"/>
              <a:buChar char="v"/>
            </a:pPr>
            <a:r>
              <a:rPr lang="en-US" dirty="0"/>
              <a:t> |A| = 5, |B| = 5, C = |3| and |U| = 10</a:t>
            </a:r>
          </a:p>
          <a:p>
            <a:pPr>
              <a:lnSpc>
                <a:spcPct val="120000"/>
              </a:lnSpc>
              <a:buFont typeface="Wingdings" panose="05000000000000000000" pitchFamily="2" charset="2"/>
              <a:buChar char="v"/>
            </a:pPr>
            <a:r>
              <a:rPr lang="en-US" dirty="0"/>
              <a:t> Also, A ⊆ U, B ⊆ U, and A ∪ B = U, |B| = |A|, A = B</a:t>
            </a:r>
          </a:p>
          <a:p>
            <a:pPr>
              <a:lnSpc>
                <a:spcPct val="120000"/>
              </a:lnSpc>
              <a:buFont typeface="Wingdings" panose="05000000000000000000" pitchFamily="2" charset="2"/>
              <a:buChar char="v"/>
            </a:pPr>
            <a:r>
              <a:rPr lang="en-US" dirty="0"/>
              <a:t> Further, |A ∪ B| = |A| + |B| = 10, since A ∩ B = { }</a:t>
            </a:r>
          </a:p>
          <a:p>
            <a:pPr>
              <a:lnSpc>
                <a:spcPct val="120000"/>
              </a:lnSpc>
              <a:buFont typeface="Wingdings" panose="05000000000000000000" pitchFamily="2" charset="2"/>
              <a:buChar char="v"/>
            </a:pPr>
            <a:r>
              <a:rPr lang="en-US" dirty="0"/>
              <a:t> But A ∩ C = {5} so |A ∪ C| = |A| + |C| - | A ∩ C | = 5 + 3 – 1 = 7</a:t>
            </a:r>
            <a:br>
              <a:rPr lang="en-US" dirty="0"/>
            </a:br>
            <a:r>
              <a:rPr lang="en-US" dirty="0"/>
              <a:t/>
            </a:r>
            <a:br>
              <a:rPr lang="en-US" dirty="0"/>
            </a:br>
            <a:r>
              <a:rPr lang="en-US" dirty="0"/>
              <a:t/>
            </a:r>
            <a:br>
              <a:rPr lang="en-US" dirty="0"/>
            </a:b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cxnSp>
        <p:nvCxnSpPr>
          <p:cNvPr id="6" name="Straight Connector 5"/>
          <p:cNvCxnSpPr/>
          <p:nvPr/>
        </p:nvCxnSpPr>
        <p:spPr>
          <a:xfrm>
            <a:off x="5081155" y="3341717"/>
            <a:ext cx="1433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281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1000"/>
                                        <p:tgtEl>
                                          <p:spTgt spid="6"/>
                                        </p:tgtEl>
                                      </p:cBhvr>
                                    </p:animEffect>
                                    <p:anim calcmode="lin" valueType="num">
                                      <p:cBhvr>
                                        <p:cTn id="57" dur="1000" fill="hold"/>
                                        <p:tgtEl>
                                          <p:spTgt spid="6"/>
                                        </p:tgtEl>
                                        <p:attrNameLst>
                                          <p:attrName>ppt_x</p:attrName>
                                        </p:attrNameLst>
                                      </p:cBhvr>
                                      <p:tavLst>
                                        <p:tav tm="0">
                                          <p:val>
                                            <p:strVal val="#ppt_x"/>
                                          </p:val>
                                        </p:tav>
                                        <p:tav tm="100000">
                                          <p:val>
                                            <p:strVal val="#ppt_x"/>
                                          </p:val>
                                        </p:tav>
                                      </p:tavLst>
                                    </p:anim>
                                    <p:anim calcmode="lin" valueType="num">
                                      <p:cBhvr>
                                        <p:cTn id="5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Effect transition="in" filter="fade">
                                      <p:cBhvr>
                                        <p:cTn id="70" dur="1000"/>
                                        <p:tgtEl>
                                          <p:spTgt spid="3">
                                            <p:txEl>
                                              <p:pRg st="8" end="8"/>
                                            </p:txEl>
                                          </p:spTgt>
                                        </p:tgtEl>
                                      </p:cBhvr>
                                    </p:animEffect>
                                    <p:anim calcmode="lin" valueType="num">
                                      <p:cBhvr>
                                        <p:cTn id="7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09502"/>
            <a:ext cx="8137121" cy="3933998"/>
          </a:xfrm>
        </p:spPr>
        <p:txBody>
          <a:bodyPr>
            <a:normAutofit fontScale="92500"/>
          </a:bodyPr>
          <a:lstStyle/>
          <a:p>
            <a:pPr>
              <a:lnSpc>
                <a:spcPct val="120000"/>
              </a:lnSpc>
            </a:pPr>
            <a:r>
              <a:rPr lang="en-US" dirty="0"/>
              <a:t>We have just presented the major components for the </a:t>
            </a:r>
            <a:r>
              <a:rPr lang="en-US" i="1" dirty="0"/>
              <a:t>addition rule </a:t>
            </a:r>
            <a:r>
              <a:rPr lang="en-US" dirty="0"/>
              <a:t>for combining two sets. For any two sets A and C, the number of elements in the union of these sets is:</a:t>
            </a:r>
            <a:br>
              <a:rPr lang="en-US" dirty="0"/>
            </a:br>
            <a:r>
              <a:rPr lang="en-US" dirty="0"/>
              <a:t>			|A ∪ C| = |A| + |C| - |A ∩ C| </a:t>
            </a:r>
          </a:p>
          <a:p>
            <a:pPr>
              <a:lnSpc>
                <a:spcPct val="120000"/>
              </a:lnSpc>
            </a:pPr>
            <a:r>
              <a:rPr lang="en-US" dirty="0"/>
              <a:t>A similar addition rule holds for three sets A, B, and C </a:t>
            </a:r>
            <a:br>
              <a:rPr lang="en-US" dirty="0"/>
            </a:br>
            <a:r>
              <a:rPr lang="en-US" dirty="0"/>
              <a:t>|A ∪ B ∪ C| = |A| + |B| + |C| - |A ∩ B| - |A ∩ C| - |B ∩ C| + |A ∩ B ∩ C| </a:t>
            </a:r>
            <a:br>
              <a:rPr lang="en-US" dirty="0"/>
            </a:br>
            <a:r>
              <a:rPr lang="en-US" dirty="0"/>
              <a:t/>
            </a:r>
            <a:br>
              <a:rPr lang="en-US" dirty="0"/>
            </a:br>
            <a:r>
              <a:rPr lang="en-US" dirty="0"/>
              <a:t/>
            </a:r>
            <a:br>
              <a:rPr lang="en-US" dirty="0"/>
            </a:br>
            <a:r>
              <a:rPr lang="en-US" dirty="0"/>
              <a:t/>
            </a:r>
            <a:br>
              <a:rPr lang="en-US" dirty="0"/>
            </a:b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spTree>
    <p:extLst>
      <p:ext uri="{BB962C8B-B14F-4D97-AF65-F5344CB8AC3E}">
        <p14:creationId xmlns:p14="http://schemas.microsoft.com/office/powerpoint/2010/main" val="335175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09501"/>
            <a:ext cx="8137121" cy="4632268"/>
          </a:xfrm>
        </p:spPr>
        <p:txBody>
          <a:bodyPr>
            <a:normAutofit fontScale="77500" lnSpcReduction="20000"/>
          </a:bodyPr>
          <a:lstStyle/>
          <a:p>
            <a:pPr>
              <a:lnSpc>
                <a:spcPct val="120000"/>
              </a:lnSpc>
              <a:buFont typeface="Wingdings" panose="05000000000000000000" pitchFamily="2" charset="2"/>
              <a:buChar char="v"/>
            </a:pPr>
            <a:r>
              <a:rPr lang="en-US" dirty="0"/>
              <a:t>The </a:t>
            </a:r>
            <a:r>
              <a:rPr lang="en-US" b="1" i="1" dirty="0">
                <a:solidFill>
                  <a:srgbClr val="FF0000"/>
                </a:solidFill>
              </a:rPr>
              <a:t>multiplication principle for counting </a:t>
            </a:r>
            <a:r>
              <a:rPr lang="en-US" dirty="0"/>
              <a:t>states that if we have two sets of elements A and B of size a and b respectively, then there are a x b unique ways of combining the elements of the sets together. </a:t>
            </a:r>
          </a:p>
          <a:p>
            <a:pPr>
              <a:lnSpc>
                <a:spcPct val="120000"/>
              </a:lnSpc>
              <a:buFont typeface="Wingdings" panose="05000000000000000000" pitchFamily="2" charset="2"/>
              <a:buChar char="v"/>
            </a:pPr>
            <a:r>
              <a:rPr lang="en-US" dirty="0"/>
              <a:t> Example: A company puts a code on each different product they sell. The code is made up of 3 numbers and 2 letters. How many different codes are possible?</a:t>
            </a:r>
          </a:p>
          <a:p>
            <a:pPr>
              <a:lnSpc>
                <a:spcPct val="120000"/>
              </a:lnSpc>
              <a:buFont typeface="Wingdings" panose="05000000000000000000" pitchFamily="2" charset="2"/>
              <a:buChar char="v"/>
            </a:pPr>
            <a:r>
              <a:rPr lang="en-US" dirty="0"/>
              <a:t> Answer: </a:t>
            </a:r>
          </a:p>
          <a:p>
            <a:pPr marL="0" indent="0">
              <a:lnSpc>
                <a:spcPct val="120000"/>
              </a:lnSpc>
              <a:buNone/>
            </a:pPr>
            <a:r>
              <a:rPr lang="en-US" dirty="0"/>
              <a:t>	There are 5 stages (number 1, number 2, number 3, letter 1 and letter 2).</a:t>
            </a:r>
            <a:br>
              <a:rPr lang="en-US" dirty="0"/>
            </a:br>
            <a:r>
              <a:rPr lang="en-US" dirty="0"/>
              <a:t>	There are 10 possible numbers: 0 – 9.</a:t>
            </a:r>
            <a:br>
              <a:rPr lang="en-US" dirty="0"/>
            </a:br>
            <a:r>
              <a:rPr lang="en-US" dirty="0"/>
              <a:t>	There are 26 possible letters: A – Z.</a:t>
            </a:r>
            <a:br>
              <a:rPr lang="en-US" dirty="0"/>
            </a:br>
            <a:r>
              <a:rPr lang="en-US" dirty="0"/>
              <a:t>	So we have:</a:t>
            </a:r>
            <a:br>
              <a:rPr lang="en-US" dirty="0"/>
            </a:br>
            <a:r>
              <a:rPr lang="en-US" dirty="0"/>
              <a:t>	10 * 10 * 10 * 26 * 26 = 676000 possible codes.</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spTree>
    <p:extLst>
      <p:ext uri="{BB962C8B-B14F-4D97-AF65-F5344CB8AC3E}">
        <p14:creationId xmlns:p14="http://schemas.microsoft.com/office/powerpoint/2010/main" val="220481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96891"/>
            <a:ext cx="8137121" cy="3646609"/>
          </a:xfrm>
        </p:spPr>
        <p:txBody>
          <a:bodyPr>
            <a:normAutofit fontScale="92500" lnSpcReduction="10000"/>
          </a:bodyPr>
          <a:lstStyle/>
          <a:p>
            <a:pPr>
              <a:lnSpc>
                <a:spcPct val="120000"/>
              </a:lnSpc>
              <a:buFont typeface="Wingdings" panose="05000000000000000000" pitchFamily="2" charset="2"/>
              <a:buChar char="v"/>
            </a:pPr>
            <a:r>
              <a:rPr lang="en-US" dirty="0"/>
              <a:t>The </a:t>
            </a:r>
            <a:r>
              <a:rPr lang="en-US" b="1" i="1" dirty="0">
                <a:solidFill>
                  <a:srgbClr val="FF0000"/>
                </a:solidFill>
              </a:rPr>
              <a:t>Cartesian product</a:t>
            </a:r>
            <a:r>
              <a:rPr lang="en-US" i="1" dirty="0"/>
              <a:t> </a:t>
            </a:r>
            <a:r>
              <a:rPr lang="en-US" dirty="0"/>
              <a:t>of two sets A and B, denoted A X B, is the set of all ordered pairs (a, b) where a is an element of set A and b is an element of set B; or more formally:</a:t>
            </a:r>
            <a:br>
              <a:rPr lang="en-US" dirty="0"/>
            </a:br>
            <a:r>
              <a:rPr lang="en-US" dirty="0"/>
              <a:t>			A X B = {(a, b) | (a ∈ A) ∧ (b ∈ B)} </a:t>
            </a:r>
          </a:p>
          <a:p>
            <a:pPr marL="0" indent="0">
              <a:lnSpc>
                <a:spcPct val="120000"/>
              </a:lnSpc>
              <a:buNone/>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spTree>
    <p:extLst>
      <p:ext uri="{BB962C8B-B14F-4D97-AF65-F5344CB8AC3E}">
        <p14:creationId xmlns:p14="http://schemas.microsoft.com/office/powerpoint/2010/main" val="76733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09502"/>
            <a:ext cx="8137121" cy="3933998"/>
          </a:xfrm>
        </p:spPr>
        <p:txBody>
          <a:bodyPr>
            <a:normAutofit fontScale="55000" lnSpcReduction="20000"/>
          </a:bodyPr>
          <a:lstStyle/>
          <a:p>
            <a:pPr marL="0" indent="0">
              <a:lnSpc>
                <a:spcPct val="120000"/>
              </a:lnSpc>
              <a:buNone/>
            </a:pPr>
            <a:endParaRPr lang="en-US" dirty="0"/>
          </a:p>
          <a:p>
            <a:pPr>
              <a:lnSpc>
                <a:spcPct val="120000"/>
              </a:lnSpc>
              <a:buFont typeface="Wingdings" panose="05000000000000000000" pitchFamily="2" charset="2"/>
              <a:buChar char="v"/>
            </a:pPr>
            <a:r>
              <a:rPr lang="en-US" sz="2550" dirty="0"/>
              <a:t> Example: </a:t>
            </a:r>
          </a:p>
          <a:p>
            <a:pPr marL="0" indent="0">
              <a:lnSpc>
                <a:spcPct val="120000"/>
              </a:lnSpc>
              <a:buNone/>
            </a:pPr>
            <a:r>
              <a:rPr lang="en-US" sz="2550" dirty="0"/>
              <a:t>Ex1:	If A = {7, 8} and B = {2, 4, 6}, find A × B. </a:t>
            </a:r>
          </a:p>
          <a:p>
            <a:pPr marL="0" indent="0">
              <a:lnSpc>
                <a:spcPct val="120000"/>
              </a:lnSpc>
              <a:buNone/>
            </a:pPr>
            <a:r>
              <a:rPr lang="en-US" sz="2550" dirty="0"/>
              <a:t>	A × B = {(7, 2); (7, 4); (7, 6); (8, 2); (8, 4); (8, 6)} </a:t>
            </a:r>
            <a:br>
              <a:rPr lang="en-US" sz="2550" dirty="0"/>
            </a:br>
            <a:r>
              <a:rPr lang="en-US" sz="2550" dirty="0"/>
              <a:t>	The 6 ordered pairs thus formed can represent the position of points in a plane, if A and B are 	subsets of a set of real numbers. </a:t>
            </a:r>
          </a:p>
          <a:p>
            <a:pPr marL="0" indent="0">
              <a:lnSpc>
                <a:spcPct val="120000"/>
              </a:lnSpc>
              <a:buNone/>
            </a:pPr>
            <a:r>
              <a:rPr lang="en-US" sz="2550" dirty="0"/>
              <a:t>Ex2:  	If A × B = {(p, x); (p, y); (q, x); (q, y)}, find A and B. </a:t>
            </a:r>
          </a:p>
          <a:p>
            <a:pPr marL="0" indent="0">
              <a:lnSpc>
                <a:spcPct val="120000"/>
              </a:lnSpc>
              <a:buNone/>
            </a:pPr>
            <a:r>
              <a:rPr lang="en-US" sz="2550" dirty="0"/>
              <a:t>	A is a set of all first entries in ordered pairs in A × B. </a:t>
            </a:r>
            <a:br>
              <a:rPr lang="en-US" sz="2550" dirty="0"/>
            </a:br>
            <a:r>
              <a:rPr lang="en-US" sz="2550" dirty="0"/>
              <a:t>	B is a set of all second entries in ordered pairs in A × B. </a:t>
            </a:r>
            <a:br>
              <a:rPr lang="en-US" sz="2550" dirty="0"/>
            </a:br>
            <a:r>
              <a:rPr lang="en-US" sz="2550" dirty="0"/>
              <a:t>	Thus A = {p, q} and B = {x, y}</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a:p>
            <a:pPr marL="0" indent="0">
              <a:buNone/>
            </a:pPr>
            <a:endParaRPr lang="en-US" dirty="0"/>
          </a:p>
        </p:txBody>
      </p:sp>
      <p:sp>
        <p:nvSpPr>
          <p:cNvPr id="4" name="Title 1"/>
          <p:cNvSpPr txBox="1">
            <a:spLocks/>
          </p:cNvSpPr>
          <p:nvPr/>
        </p:nvSpPr>
        <p:spPr>
          <a:xfrm>
            <a:off x="742950" y="388144"/>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5.1.1 The Addition and Multiplication Rules </a:t>
            </a:r>
            <a:br>
              <a:rPr lang="en-US" sz="3300" dirty="0"/>
            </a:br>
            <a:endParaRPr lang="en-US" sz="3300" dirty="0"/>
          </a:p>
        </p:txBody>
      </p:sp>
    </p:spTree>
    <p:extLst>
      <p:ext uri="{BB962C8B-B14F-4D97-AF65-F5344CB8AC3E}">
        <p14:creationId xmlns:p14="http://schemas.microsoft.com/office/powerpoint/2010/main" val="144519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291" y="1342065"/>
            <a:ext cx="8849457" cy="1790700"/>
          </a:xfrm>
        </p:spPr>
        <p:txBody>
          <a:bodyPr anchor="ctr"/>
          <a:lstStyle/>
          <a:p>
            <a:r>
              <a:rPr lang="en-US" dirty="0"/>
              <a:t>5.1.2 Permutations and Combinations</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766224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5.1.2 The Permutations and Combinations </a:t>
            </a:r>
            <a:br>
              <a:rPr lang="en-US" dirty="0"/>
            </a:br>
            <a:endParaRPr lang="en-US" dirty="0"/>
          </a:p>
        </p:txBody>
      </p:sp>
      <p:sp>
        <p:nvSpPr>
          <p:cNvPr id="3" name="Content Placeholder 2"/>
          <p:cNvSpPr>
            <a:spLocks noGrp="1"/>
          </p:cNvSpPr>
          <p:nvPr>
            <p:ph idx="1"/>
          </p:nvPr>
        </p:nvSpPr>
        <p:spPr>
          <a:xfrm>
            <a:off x="628650" y="1061672"/>
            <a:ext cx="7886700" cy="3571051"/>
          </a:xfrm>
        </p:spPr>
        <p:txBody>
          <a:bodyPr>
            <a:normAutofit fontScale="92500" lnSpcReduction="10000"/>
          </a:bodyPr>
          <a:lstStyle/>
          <a:p>
            <a:r>
              <a:rPr lang="en-US" dirty="0"/>
              <a:t>A </a:t>
            </a:r>
            <a:r>
              <a:rPr lang="en-US" b="1" i="1" dirty="0">
                <a:solidFill>
                  <a:srgbClr val="FF0000"/>
                </a:solidFill>
              </a:rPr>
              <a:t>permutation</a:t>
            </a:r>
            <a:r>
              <a:rPr lang="en-US" i="1" dirty="0"/>
              <a:t> </a:t>
            </a:r>
            <a:r>
              <a:rPr lang="en-US" dirty="0"/>
              <a:t>of a set of elements is an arranged sequence of the elements of that set. </a:t>
            </a:r>
          </a:p>
          <a:p>
            <a:pPr marL="0" indent="0">
              <a:buNone/>
            </a:pPr>
            <a:endParaRPr lang="en-US" dirty="0"/>
          </a:p>
          <a:p>
            <a:pPr marL="0" indent="0">
              <a:buNone/>
            </a:pPr>
            <a:r>
              <a:rPr lang="en-US" dirty="0"/>
              <a:t>Example: </a:t>
            </a:r>
          </a:p>
          <a:p>
            <a:pPr>
              <a:buFont typeface="Courier New" panose="02070309020205020404" pitchFamily="49" charset="0"/>
              <a:buChar char="o"/>
            </a:pPr>
            <a:r>
              <a:rPr lang="en-US" dirty="0"/>
              <a:t> An example permutation is an arrangement or ordering of a set of ten books on a shelf that can hold all ten.</a:t>
            </a:r>
          </a:p>
          <a:p>
            <a:pPr>
              <a:buFont typeface="Courier New" panose="02070309020205020404" pitchFamily="49" charset="0"/>
              <a:buChar char="o"/>
            </a:pPr>
            <a:r>
              <a:rPr lang="en-US" dirty="0"/>
              <a:t> Another example is the assignment of specific tasks to four of a group of six children. </a:t>
            </a:r>
          </a:p>
          <a:p>
            <a:pPr>
              <a:buFont typeface="Courier New" panose="02070309020205020404" pitchFamily="49" charset="0"/>
              <a:buChar char="o"/>
            </a:pPr>
            <a:r>
              <a:rPr lang="en-US" dirty="0"/>
              <a:t>Question???</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818057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5.1.2 The Permutations and Combinations </a:t>
            </a:r>
            <a:br>
              <a:rPr lang="en-US" dirty="0"/>
            </a:br>
            <a:endParaRPr lang="en-US" dirty="0"/>
          </a:p>
        </p:txBody>
      </p:sp>
      <p:sp>
        <p:nvSpPr>
          <p:cNvPr id="3" name="Content Placeholder 2"/>
          <p:cNvSpPr>
            <a:spLocks noGrp="1"/>
          </p:cNvSpPr>
          <p:nvPr>
            <p:ph idx="1"/>
          </p:nvPr>
        </p:nvSpPr>
        <p:spPr>
          <a:xfrm>
            <a:off x="628650" y="1061672"/>
            <a:ext cx="7886700" cy="3571051"/>
          </a:xfrm>
        </p:spPr>
        <p:txBody>
          <a:bodyPr>
            <a:normAutofit/>
          </a:bodyPr>
          <a:lstStyle/>
          <a:p>
            <a:r>
              <a:rPr lang="en-US" dirty="0"/>
              <a:t>The number of permutations of </a:t>
            </a:r>
            <a:r>
              <a:rPr lang="en-US" b="1" i="1" dirty="0">
                <a:solidFill>
                  <a:srgbClr val="FF0000"/>
                </a:solidFill>
              </a:rPr>
              <a:t>n</a:t>
            </a:r>
            <a:r>
              <a:rPr lang="en-US" dirty="0"/>
              <a:t> objects taken </a:t>
            </a:r>
            <a:r>
              <a:rPr lang="en-US" b="1" i="1" dirty="0">
                <a:solidFill>
                  <a:srgbClr val="FF0000"/>
                </a:solidFill>
              </a:rPr>
              <a:t>r</a:t>
            </a:r>
            <a:r>
              <a:rPr lang="en-US" dirty="0"/>
              <a:t> at a time is </a:t>
            </a:r>
            <a:br>
              <a:rPr lang="en-US" dirty="0"/>
            </a:br>
            <a:r>
              <a:rPr lang="en-US" dirty="0"/>
              <a:t>	 </a:t>
            </a:r>
            <a:r>
              <a:rPr lang="pt-BR" baseline="-25000" dirty="0"/>
              <a:t>n</a:t>
            </a:r>
            <a:r>
              <a:rPr lang="pt-BR" dirty="0"/>
              <a:t>P</a:t>
            </a:r>
            <a:r>
              <a:rPr lang="pt-BR" baseline="-25000" dirty="0"/>
              <a:t>r</a:t>
            </a:r>
            <a:r>
              <a:rPr lang="pt-BR" dirty="0"/>
              <a:t> = n(n - 1)(n - 2) ... (n - r + 1) = n! / (n - r)!</a:t>
            </a:r>
          </a:p>
          <a:p>
            <a:pPr marL="0" indent="0">
              <a:buNone/>
            </a:pPr>
            <a:endParaRPr lang="pt-BR" dirty="0"/>
          </a:p>
          <a:p>
            <a:r>
              <a:rPr lang="pt-BR" dirty="0"/>
              <a:t>Example:</a:t>
            </a:r>
          </a:p>
          <a:p>
            <a:pPr marL="0" indent="0">
              <a:buNone/>
            </a:pPr>
            <a:r>
              <a:rPr lang="en-US" dirty="0"/>
              <a:t>Suppose we have a set of three letters: A, B, and C. We might ask how many ways we can arrange 2 letters from that set. Each possible arrangement would be an example of a permutation. The complete list of possible permutations would be: AB, AC, BA, BC, CA, and CB.</a:t>
            </a:r>
            <a:br>
              <a:rPr lang="en-US" dirty="0"/>
            </a:br>
            <a:r>
              <a:rPr lang="en-US" dirty="0"/>
              <a:t/>
            </a:r>
            <a:br>
              <a:rPr lang="en-US" dirty="0"/>
            </a:br>
            <a:endParaRPr lang="en-US" dirty="0"/>
          </a:p>
        </p:txBody>
      </p:sp>
    </p:spTree>
    <p:extLst>
      <p:ext uri="{BB962C8B-B14F-4D97-AF65-F5344CB8AC3E}">
        <p14:creationId xmlns:p14="http://schemas.microsoft.com/office/powerpoint/2010/main" val="5307513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5.1.2 The Permutations and Combinations </a:t>
            </a:r>
            <a:br>
              <a:rPr lang="en-US" dirty="0"/>
            </a:br>
            <a:endParaRPr lang="en-US" dirty="0"/>
          </a:p>
        </p:txBody>
      </p:sp>
      <p:sp>
        <p:nvSpPr>
          <p:cNvPr id="3" name="Content Placeholder 2"/>
          <p:cNvSpPr>
            <a:spLocks noGrp="1"/>
          </p:cNvSpPr>
          <p:nvPr>
            <p:ph idx="1"/>
          </p:nvPr>
        </p:nvSpPr>
        <p:spPr>
          <a:xfrm>
            <a:off x="628650" y="1061672"/>
            <a:ext cx="7886700" cy="3571051"/>
          </a:xfrm>
        </p:spPr>
        <p:txBody>
          <a:bodyPr>
            <a:normAutofit/>
          </a:bodyPr>
          <a:lstStyle/>
          <a:p>
            <a:r>
              <a:rPr lang="en-US" dirty="0"/>
              <a:t>The </a:t>
            </a:r>
            <a:r>
              <a:rPr lang="en-US" b="1" i="1" dirty="0">
                <a:solidFill>
                  <a:srgbClr val="FF0000"/>
                </a:solidFill>
              </a:rPr>
              <a:t>combination</a:t>
            </a:r>
            <a:r>
              <a:rPr lang="en-US" i="1" dirty="0"/>
              <a:t> </a:t>
            </a:r>
            <a:r>
              <a:rPr lang="en-US" dirty="0"/>
              <a:t>of a set of n elements is any </a:t>
            </a:r>
            <a:r>
              <a:rPr lang="en-US" i="1" dirty="0"/>
              <a:t>subset </a:t>
            </a:r>
            <a:r>
              <a:rPr lang="en-US" dirty="0"/>
              <a:t>of these elements that can be formed. </a:t>
            </a:r>
          </a:p>
          <a:p>
            <a:r>
              <a:rPr lang="en-US" dirty="0"/>
              <a:t>As with permutations, we often want to count </a:t>
            </a:r>
            <a:r>
              <a:rPr lang="en-US" i="1" dirty="0">
                <a:solidFill>
                  <a:srgbClr val="FF0000"/>
                </a:solidFill>
              </a:rPr>
              <a:t>the number of combinations of items </a:t>
            </a:r>
            <a:r>
              <a:rPr lang="en-US" dirty="0"/>
              <a:t>that can be formed, given a set of items. </a:t>
            </a:r>
          </a:p>
          <a:p>
            <a:r>
              <a:rPr lang="en-US" dirty="0"/>
              <a:t>The key idea here is that the number of combinations represents </a:t>
            </a:r>
            <a:r>
              <a:rPr lang="en-US" i="1" dirty="0">
                <a:solidFill>
                  <a:srgbClr val="FF0000"/>
                </a:solidFill>
              </a:rPr>
              <a:t>the number of subsets of the full set of elements </a:t>
            </a:r>
            <a:r>
              <a:rPr lang="en-US" dirty="0"/>
              <a:t>that can be created.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4244289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5.1.2 The Permutations and Combinations </a:t>
            </a:r>
            <a:br>
              <a:rPr lang="en-US" dirty="0"/>
            </a:br>
            <a:endParaRPr lang="en-US" dirty="0"/>
          </a:p>
        </p:txBody>
      </p:sp>
      <p:sp>
        <p:nvSpPr>
          <p:cNvPr id="3" name="Content Placeholder 2"/>
          <p:cNvSpPr>
            <a:spLocks noGrp="1"/>
          </p:cNvSpPr>
          <p:nvPr>
            <p:ph idx="1"/>
          </p:nvPr>
        </p:nvSpPr>
        <p:spPr>
          <a:xfrm>
            <a:off x="628650" y="1061671"/>
            <a:ext cx="7886700" cy="5255602"/>
          </a:xfrm>
        </p:spPr>
        <p:txBody>
          <a:bodyPr>
            <a:normAutofit/>
          </a:bodyPr>
          <a:lstStyle/>
          <a:p>
            <a:r>
              <a:rPr lang="en-US" dirty="0"/>
              <a:t>The number of Combinations of </a:t>
            </a:r>
            <a:r>
              <a:rPr lang="en-US" b="1" i="1" dirty="0">
                <a:solidFill>
                  <a:srgbClr val="FF0000"/>
                </a:solidFill>
              </a:rPr>
              <a:t>n</a:t>
            </a:r>
            <a:r>
              <a:rPr lang="en-US" dirty="0"/>
              <a:t> objects taken </a:t>
            </a:r>
            <a:r>
              <a:rPr lang="en-US" b="1" i="1" dirty="0">
                <a:solidFill>
                  <a:srgbClr val="FF0000"/>
                </a:solidFill>
              </a:rPr>
              <a:t>r</a:t>
            </a:r>
            <a:r>
              <a:rPr lang="en-US" dirty="0"/>
              <a:t> at a time is: </a:t>
            </a:r>
          </a:p>
          <a:p>
            <a:pPr marL="0" indent="0">
              <a:buNone/>
            </a:pPr>
            <a:r>
              <a:rPr lang="pt-BR" baseline="-25000" dirty="0"/>
              <a:t>	n</a:t>
            </a:r>
            <a:r>
              <a:rPr lang="pt-BR" dirty="0"/>
              <a:t>C</a:t>
            </a:r>
            <a:r>
              <a:rPr lang="pt-BR" baseline="-25000" dirty="0"/>
              <a:t>r</a:t>
            </a:r>
            <a:r>
              <a:rPr lang="pt-BR" dirty="0"/>
              <a:t> = n(n - 1)(n - 2) ... (n - r + 1)/r! = n! / r!(n - r)! = </a:t>
            </a:r>
            <a:r>
              <a:rPr lang="pt-BR" baseline="-25000" dirty="0"/>
              <a:t>n</a:t>
            </a:r>
            <a:r>
              <a:rPr lang="pt-BR" dirty="0"/>
              <a:t>P</a:t>
            </a:r>
            <a:r>
              <a:rPr lang="pt-BR" baseline="-25000" dirty="0"/>
              <a:t>r</a:t>
            </a:r>
            <a:r>
              <a:rPr lang="pt-BR" dirty="0"/>
              <a:t> / r!</a:t>
            </a:r>
          </a:p>
          <a:p>
            <a:endParaRPr lang="pt-BR" dirty="0"/>
          </a:p>
          <a:p>
            <a:r>
              <a:rPr lang="pt-BR" dirty="0"/>
              <a:t>Example:</a:t>
            </a:r>
          </a:p>
          <a:p>
            <a:pPr marL="0" indent="0">
              <a:buNone/>
            </a:pPr>
            <a:r>
              <a:rPr lang="en-US" dirty="0"/>
              <a:t>Suppose we have a set of three letters: A, B, and C. We might ask how many ways we can select 2 letters from that set. Each possible selection would be an example of a combination. The complete list of possible selections would be: AB, AC, and BC.</a:t>
            </a:r>
            <a:endParaRPr lang="pt-BR" dirty="0"/>
          </a:p>
          <a:p>
            <a:endParaRPr lang="pt-BR" dirty="0"/>
          </a:p>
          <a:p>
            <a:pPr marL="0" indent="0">
              <a:buNone/>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23944495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291" y="1342065"/>
            <a:ext cx="8849457" cy="1790700"/>
          </a:xfrm>
        </p:spPr>
        <p:txBody>
          <a:bodyPr anchor="ctr"/>
          <a:lstStyle/>
          <a:p>
            <a:r>
              <a:rPr lang="en-US" b="1" dirty="0"/>
              <a:t>5.2 </a:t>
            </a:r>
            <a:r>
              <a:rPr lang="en-US" dirty="0"/>
              <a:t>Elements of Probability Theory </a:t>
            </a:r>
            <a:br>
              <a:rPr lang="en-US" dirty="0"/>
            </a:br>
            <a:endParaRPr lang="en-US" b="1"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6143132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xfrm>
            <a:off x="628650" y="158261"/>
            <a:ext cx="8181242" cy="1140803"/>
          </a:xfrm>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5.2.1 The Sample Space, Probabilities, and Independence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Definition:</a:t>
            </a:r>
          </a:p>
          <a:p>
            <a:pPr lvl="1">
              <a:buFont typeface="Courier New" panose="02070309020205020404" pitchFamily="49" charset="0"/>
              <a:buChar char="o"/>
            </a:pPr>
            <a:r>
              <a:rPr lang="en-US" b="1" i="1" dirty="0">
                <a:solidFill>
                  <a:srgbClr val="FF0000"/>
                </a:solidFill>
              </a:rPr>
              <a:t>ELEMENTARY EVENT:</a:t>
            </a:r>
            <a:r>
              <a:rPr lang="en-US" dirty="0"/>
              <a:t>  An </a:t>
            </a:r>
            <a:r>
              <a:rPr lang="en-US" i="1" dirty="0"/>
              <a:t>elementary </a:t>
            </a:r>
            <a:r>
              <a:rPr lang="en-US" dirty="0"/>
              <a:t>or </a:t>
            </a:r>
            <a:r>
              <a:rPr lang="en-US" i="1" dirty="0"/>
              <a:t>atomic event </a:t>
            </a:r>
            <a:r>
              <a:rPr lang="en-US" dirty="0"/>
              <a:t>is a happening or occurrence that cannot be made up of other events. </a:t>
            </a:r>
          </a:p>
          <a:p>
            <a:pPr marL="342900" lvl="1" indent="0">
              <a:buNone/>
            </a:pPr>
            <a:r>
              <a:rPr lang="en-US" b="1" i="1" dirty="0">
                <a:solidFill>
                  <a:schemeClr val="accent5">
                    <a:lumMod val="50000"/>
                  </a:schemeClr>
                </a:solidFill>
              </a:rPr>
              <a:t>   Example: </a:t>
            </a:r>
            <a:r>
              <a:rPr lang="en-US" dirty="0"/>
              <a:t>When a coin is tossed, the elementary events are:</a:t>
            </a:r>
          </a:p>
          <a:p>
            <a:pPr marL="342900" lvl="1" indent="0">
              <a:buNone/>
            </a:pPr>
            <a:r>
              <a:rPr lang="en-US" dirty="0"/>
              <a:t>			An event of obtaining a head. </a:t>
            </a:r>
          </a:p>
          <a:p>
            <a:pPr marL="342900" lvl="1" indent="0">
              <a:buNone/>
            </a:pPr>
            <a:r>
              <a:rPr lang="en-US" dirty="0"/>
              <a:t>			An event of obtaining a tail.</a:t>
            </a:r>
          </a:p>
          <a:p>
            <a:pPr lvl="1">
              <a:buFont typeface="Courier New" panose="02070309020205020404" pitchFamily="49" charset="0"/>
              <a:buChar char="o"/>
            </a:pPr>
            <a:r>
              <a:rPr lang="en-US" b="1" i="1" dirty="0">
                <a:solidFill>
                  <a:srgbClr val="FF0000"/>
                </a:solidFill>
              </a:rPr>
              <a:t>EVENT, E: </a:t>
            </a:r>
            <a:r>
              <a:rPr lang="en-US" dirty="0"/>
              <a:t>An </a:t>
            </a:r>
            <a:r>
              <a:rPr lang="en-US" i="1" dirty="0"/>
              <a:t>event </a:t>
            </a:r>
            <a:r>
              <a:rPr lang="en-US" dirty="0"/>
              <a:t>is a set of elementary events. </a:t>
            </a:r>
            <a:br>
              <a:rPr lang="en-US" dirty="0"/>
            </a:br>
            <a:r>
              <a:rPr lang="en-US" b="1" i="1" dirty="0">
                <a:solidFill>
                  <a:schemeClr val="accent5">
                    <a:lumMod val="50000"/>
                  </a:schemeClr>
                </a:solidFill>
              </a:rPr>
              <a:t>Example:</a:t>
            </a:r>
            <a:r>
              <a:rPr lang="en-US" dirty="0">
                <a:solidFill>
                  <a:schemeClr val="accent5">
                    <a:lumMod val="50000"/>
                  </a:schemeClr>
                </a:solidFill>
              </a:rPr>
              <a:t> </a:t>
            </a:r>
            <a:r>
              <a:rPr lang="en-US" dirty="0"/>
              <a:t>Set of students have GPA is greater than 80</a:t>
            </a:r>
          </a:p>
          <a:p>
            <a:pPr marL="342900" lvl="1" indent="0">
              <a:buNone/>
            </a:pP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1208196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xfrm>
            <a:off x="628650" y="158261"/>
            <a:ext cx="8181242" cy="1140803"/>
          </a:xfrm>
          <a:prstGeom prst="rect">
            <a:avLst/>
          </a:prstGeom>
        </p:spPr>
        <p:txBody>
          <a:bodyPr vert="horz" wrap="square" lIns="68580" tIns="34290" rIns="68580" bIns="34290" numCol="1" rtlCol="0" anchor="ctr" anchorCtr="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5.2.1 The Sample Space, Probabilities, and Independence </a:t>
            </a:r>
            <a:br>
              <a:rPr lang="en-US" dirty="0"/>
            </a:br>
            <a:endParaRPr lang="en-US" dirty="0"/>
          </a:p>
        </p:txBody>
      </p:sp>
      <p:sp>
        <p:nvSpPr>
          <p:cNvPr id="3" name="Content Placeholder 2"/>
          <p:cNvSpPr>
            <a:spLocks noGrp="1"/>
          </p:cNvSpPr>
          <p:nvPr>
            <p:ph idx="1"/>
          </p:nvPr>
        </p:nvSpPr>
        <p:spPr>
          <a:xfrm>
            <a:off x="628650" y="1369219"/>
            <a:ext cx="7886700" cy="4605155"/>
          </a:xfrm>
        </p:spPr>
        <p:txBody>
          <a:bodyPr>
            <a:normAutofit fontScale="92500" lnSpcReduction="10000"/>
          </a:bodyPr>
          <a:lstStyle/>
          <a:p>
            <a:r>
              <a:rPr lang="en-US" sz="1950" dirty="0"/>
              <a:t>Definition:</a:t>
            </a:r>
          </a:p>
          <a:p>
            <a:pPr lvl="1">
              <a:buFont typeface="Courier New" panose="02070309020205020404" pitchFamily="49" charset="0"/>
              <a:buChar char="o"/>
            </a:pPr>
            <a:r>
              <a:rPr lang="en-US" sz="1950" b="1" i="1" dirty="0">
                <a:solidFill>
                  <a:srgbClr val="FF0000"/>
                </a:solidFill>
              </a:rPr>
              <a:t>SAMPLE SPACE, S: </a:t>
            </a:r>
            <a:r>
              <a:rPr lang="en-US" sz="1950" dirty="0"/>
              <a:t>The set of all possible outcomes of an event E is the </a:t>
            </a:r>
            <a:r>
              <a:rPr lang="en-US" sz="1950" i="1" dirty="0"/>
              <a:t>sample space </a:t>
            </a:r>
            <a:r>
              <a:rPr lang="en-US" sz="1950" dirty="0"/>
              <a:t>S or </a:t>
            </a:r>
            <a:r>
              <a:rPr lang="en-US" sz="1950" i="1" dirty="0"/>
              <a:t>universe </a:t>
            </a:r>
            <a:r>
              <a:rPr lang="en-US" sz="1950" dirty="0"/>
              <a:t>for that event. </a:t>
            </a:r>
          </a:p>
          <a:p>
            <a:pPr marL="342900" lvl="1" indent="0">
              <a:buNone/>
            </a:pPr>
            <a:r>
              <a:rPr lang="en-US" sz="1950" dirty="0"/>
              <a:t>   </a:t>
            </a:r>
            <a:r>
              <a:rPr lang="en-US" sz="1950" b="1" i="1" dirty="0">
                <a:solidFill>
                  <a:schemeClr val="accent5">
                    <a:lumMod val="50000"/>
                  </a:schemeClr>
                </a:solidFill>
              </a:rPr>
              <a:t>Example: </a:t>
            </a:r>
            <a:r>
              <a:rPr lang="en-US" sz="1950" dirty="0"/>
              <a:t>When you toss a coin, sample space is head and tail.</a:t>
            </a:r>
          </a:p>
          <a:p>
            <a:pPr lvl="1">
              <a:buFont typeface="Courier New" panose="02070309020205020404" pitchFamily="49" charset="0"/>
              <a:buChar char="o"/>
            </a:pPr>
            <a:r>
              <a:rPr lang="en-US" sz="1950" b="1" i="1" dirty="0">
                <a:solidFill>
                  <a:srgbClr val="FF0000"/>
                </a:solidFill>
              </a:rPr>
              <a:t>PROBABILITY, p: </a:t>
            </a:r>
            <a:r>
              <a:rPr lang="en-US" sz="1950" dirty="0"/>
              <a:t>The </a:t>
            </a:r>
            <a:r>
              <a:rPr lang="en-US" sz="1950" i="1" dirty="0"/>
              <a:t>probability </a:t>
            </a:r>
            <a:r>
              <a:rPr lang="en-US" sz="1950" dirty="0"/>
              <a:t>of an event E in a sample space S is the ratio of the number of elements in E to the total number of possible outcomes of the sample space S of E. Thus,</a:t>
            </a:r>
            <a:br>
              <a:rPr lang="en-US" sz="1950" dirty="0"/>
            </a:br>
            <a:r>
              <a:rPr lang="en-US" sz="1950" dirty="0"/>
              <a:t>p(E) = |E| / |S|. </a:t>
            </a:r>
          </a:p>
          <a:p>
            <a:pPr marL="0" indent="0">
              <a:buNone/>
            </a:pPr>
            <a:r>
              <a:rPr lang="en-US" sz="1950" b="1" i="1" dirty="0">
                <a:solidFill>
                  <a:schemeClr val="accent5">
                    <a:lumMod val="50000"/>
                  </a:schemeClr>
                </a:solidFill>
              </a:rPr>
              <a:t>         Example: </a:t>
            </a:r>
            <a:r>
              <a:rPr lang="en-US" sz="1950" dirty="0"/>
              <a:t>We say that the probability of the coin landing </a:t>
            </a:r>
            <a:r>
              <a:rPr lang="en-US" sz="1950" b="1" dirty="0"/>
              <a:t>H</a:t>
            </a:r>
            <a:r>
              <a:rPr lang="en-US" sz="1950" dirty="0"/>
              <a:t> is ½</a:t>
            </a:r>
          </a:p>
          <a:p>
            <a:pPr marL="0" indent="0">
              <a:buNone/>
            </a:pPr>
            <a:r>
              <a:rPr lang="en-US" sz="1950" dirty="0"/>
              <a:t>         And the probability of the coin landing </a:t>
            </a:r>
            <a:r>
              <a:rPr lang="en-US" sz="1950" b="1" dirty="0"/>
              <a:t>T</a:t>
            </a:r>
            <a:r>
              <a:rPr lang="en-US" sz="1950" dirty="0"/>
              <a:t> is ½</a:t>
            </a:r>
          </a:p>
          <a:p>
            <a:pPr marL="342900" lvl="1" indent="0">
              <a:buNone/>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8769788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52904"/>
            <a:ext cx="7886700" cy="3379819"/>
          </a:xfrm>
        </p:spPr>
        <p:txBody>
          <a:bodyPr/>
          <a:lstStyle/>
          <a:p>
            <a:r>
              <a:rPr lang="en-US" dirty="0"/>
              <a:t>The blood groups of 200 people is distributed as follows: 50 have type </a:t>
            </a:r>
            <a:r>
              <a:rPr lang="en-US" b="1" i="1" dirty="0">
                <a:solidFill>
                  <a:srgbClr val="FF0000"/>
                </a:solidFill>
              </a:rPr>
              <a:t>A</a:t>
            </a:r>
            <a:r>
              <a:rPr lang="en-US" i="1" dirty="0">
                <a:solidFill>
                  <a:srgbClr val="FF0000"/>
                </a:solidFill>
              </a:rPr>
              <a:t> blood</a:t>
            </a:r>
            <a:r>
              <a:rPr lang="en-US" dirty="0"/>
              <a:t>, 65 have</a:t>
            </a:r>
            <a:r>
              <a:rPr lang="en-US" dirty="0">
                <a:solidFill>
                  <a:srgbClr val="FF0000"/>
                </a:solidFill>
              </a:rPr>
              <a:t> </a:t>
            </a:r>
            <a:r>
              <a:rPr lang="en-US" b="1" i="1" dirty="0">
                <a:solidFill>
                  <a:srgbClr val="FF0000"/>
                </a:solidFill>
              </a:rPr>
              <a:t>B</a:t>
            </a:r>
            <a:r>
              <a:rPr lang="en-US" i="1" dirty="0">
                <a:solidFill>
                  <a:srgbClr val="FF0000"/>
                </a:solidFill>
              </a:rPr>
              <a:t> blood </a:t>
            </a:r>
            <a:r>
              <a:rPr lang="en-US" dirty="0"/>
              <a:t>type, 70 have </a:t>
            </a:r>
            <a:r>
              <a:rPr lang="en-US" b="1" i="1" dirty="0">
                <a:solidFill>
                  <a:srgbClr val="FF0000"/>
                </a:solidFill>
              </a:rPr>
              <a:t>O</a:t>
            </a:r>
            <a:r>
              <a:rPr lang="en-US" i="1" dirty="0">
                <a:solidFill>
                  <a:srgbClr val="FF0000"/>
                </a:solidFill>
              </a:rPr>
              <a:t> blood </a:t>
            </a:r>
            <a:r>
              <a:rPr lang="en-US" dirty="0"/>
              <a:t>type and 15 have type </a:t>
            </a:r>
            <a:r>
              <a:rPr lang="en-US" b="1" dirty="0">
                <a:solidFill>
                  <a:srgbClr val="FF0000"/>
                </a:solidFill>
              </a:rPr>
              <a:t>AB</a:t>
            </a:r>
            <a:r>
              <a:rPr lang="en-US" dirty="0"/>
              <a:t> blood. If a person from this group is selected at random, what is the probability that this person has O blood type?  (0.35)</a:t>
            </a:r>
          </a:p>
          <a:p>
            <a:pPr marL="0" indent="0">
              <a:buNone/>
            </a:pPr>
            <a:endParaRPr lang="en-US" dirty="0"/>
          </a:p>
          <a:p>
            <a:r>
              <a:rPr lang="en-US" dirty="0"/>
              <a:t>Two cards are drawn from the pack of 52 cards. Find the probability that both are </a:t>
            </a:r>
            <a:r>
              <a:rPr lang="en-US" i="1" dirty="0">
                <a:solidFill>
                  <a:srgbClr val="FF0000"/>
                </a:solidFill>
              </a:rPr>
              <a:t>diamonds</a:t>
            </a:r>
            <a:r>
              <a:rPr lang="en-US" dirty="0"/>
              <a:t> or both are </a:t>
            </a:r>
            <a:r>
              <a:rPr lang="en-US" i="1" dirty="0">
                <a:solidFill>
                  <a:srgbClr val="FF0000"/>
                </a:solidFill>
              </a:rPr>
              <a:t>kings</a:t>
            </a:r>
            <a:r>
              <a:rPr lang="en-US" dirty="0"/>
              <a:t>. (14/221)</a:t>
            </a:r>
          </a:p>
        </p:txBody>
      </p:sp>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a:t>5.2.1 The Sample Space, Probabilities, and Independence </a:t>
            </a:r>
            <a:br>
              <a:rPr lang="en-US" sz="3300"/>
            </a:br>
            <a:endParaRPr lang="en-US" sz="3300" dirty="0"/>
          </a:p>
        </p:txBody>
      </p:sp>
    </p:spTree>
    <p:extLst>
      <p:ext uri="{BB962C8B-B14F-4D97-AF65-F5344CB8AC3E}">
        <p14:creationId xmlns:p14="http://schemas.microsoft.com/office/powerpoint/2010/main" val="31617309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52904"/>
            <a:ext cx="7886700" cy="3379819"/>
          </a:xfrm>
        </p:spPr>
        <p:txBody>
          <a:bodyPr/>
          <a:lstStyle/>
          <a:p>
            <a:r>
              <a:rPr lang="en-US" dirty="0"/>
              <a:t> Three dice are rolled together. What is the probability as getting </a:t>
            </a:r>
            <a:r>
              <a:rPr lang="en-US" i="1" dirty="0">
                <a:solidFill>
                  <a:srgbClr val="FF0000"/>
                </a:solidFill>
              </a:rPr>
              <a:t>at least one '4'</a:t>
            </a:r>
            <a:r>
              <a:rPr lang="en-US" dirty="0"/>
              <a:t>?</a:t>
            </a:r>
          </a:p>
          <a:p>
            <a:r>
              <a:rPr lang="en-US" dirty="0"/>
              <a:t>A problem is given to three persons P, Q, R whose respective chances of solving it are 2/7, 4/7, 4/9 respectively. What is the probability that the problem is solved?</a:t>
            </a:r>
          </a:p>
        </p:txBody>
      </p:sp>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5.2.1 The Sample Space, Probabilities, and Independence </a:t>
            </a:r>
            <a:br>
              <a:rPr lang="en-US" sz="3300" dirty="0"/>
            </a:br>
            <a:endParaRPr lang="en-US" sz="3300" dirty="0"/>
          </a:p>
        </p:txBody>
      </p:sp>
    </p:spTree>
    <p:extLst>
      <p:ext uri="{BB962C8B-B14F-4D97-AF65-F5344CB8AC3E}">
        <p14:creationId xmlns:p14="http://schemas.microsoft.com/office/powerpoint/2010/main" val="41005049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52904"/>
            <a:ext cx="7886700" cy="4339004"/>
          </a:xfrm>
        </p:spPr>
        <p:txBody>
          <a:bodyPr>
            <a:normAutofit fontScale="92500" lnSpcReduction="10000"/>
          </a:bodyPr>
          <a:lstStyle/>
          <a:p>
            <a:r>
              <a:rPr lang="en-US" dirty="0"/>
              <a:t> The probability of the union of two sets of events :</a:t>
            </a:r>
          </a:p>
          <a:p>
            <a:pPr marL="0" indent="0">
              <a:buNone/>
            </a:pPr>
            <a:r>
              <a:rPr lang="en-US" dirty="0"/>
              <a:t>		|A ∪ B| = |A| + |B| - |A ∩ B| </a:t>
            </a:r>
          </a:p>
          <a:p>
            <a:pPr marL="0" indent="0">
              <a:buNone/>
            </a:pPr>
            <a:r>
              <a:rPr lang="en-US" dirty="0"/>
              <a:t>		p(A ∪ B) = p(A) + p(B) - p(A ∩ B) </a:t>
            </a:r>
          </a:p>
          <a:p>
            <a:pPr marL="0" indent="0">
              <a:buNone/>
            </a:pPr>
            <a:endParaRPr lang="en-US" dirty="0"/>
          </a:p>
          <a:p>
            <a:pPr marL="0" indent="0">
              <a:lnSpc>
                <a:spcPct val="110000"/>
              </a:lnSpc>
              <a:buNone/>
            </a:pPr>
            <a:r>
              <a:rPr lang="en-US" dirty="0"/>
              <a:t>Example: A tutoring service specializes in preparing adults for high school equivalence tests. Among all the students seeking help from the service, 63% need help in mathematics, 34% need help in English, and 27% need help in both mathematics and English. What is the percentage of students who need help in either mathematics or English?</a:t>
            </a:r>
            <a:br>
              <a:rPr lang="en-US" dirty="0"/>
            </a:br>
            <a:r>
              <a:rPr lang="en-US" dirty="0"/>
              <a:t/>
            </a:r>
            <a:br>
              <a:rPr lang="en-US" dirty="0"/>
            </a:br>
            <a:endParaRPr lang="en-US" dirty="0"/>
          </a:p>
          <a:p>
            <a:pPr marL="0" indent="0">
              <a:buNone/>
            </a:pPr>
            <a:r>
              <a:rPr lang="en-US" dirty="0"/>
              <a:t/>
            </a:r>
            <a:br>
              <a:rPr lang="en-US" dirty="0"/>
            </a:br>
            <a:endParaRPr lang="en-US" dirty="0"/>
          </a:p>
        </p:txBody>
      </p:sp>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5.2.1 The Sample Space, Probabilities, and Independence </a:t>
            </a:r>
            <a:br>
              <a:rPr lang="en-US" sz="3300" dirty="0"/>
            </a:br>
            <a:endParaRPr lang="en-US" sz="3300" dirty="0"/>
          </a:p>
        </p:txBody>
      </p:sp>
      <p:sp>
        <p:nvSpPr>
          <p:cNvPr id="2" name="Right Arrow 1"/>
          <p:cNvSpPr/>
          <p:nvPr/>
        </p:nvSpPr>
        <p:spPr>
          <a:xfrm>
            <a:off x="1490297" y="2070592"/>
            <a:ext cx="481379" cy="125291"/>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865318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52904"/>
            <a:ext cx="7886700" cy="4339004"/>
          </a:xfrm>
        </p:spPr>
        <p:txBody>
          <a:bodyPr>
            <a:normAutofit fontScale="92500" lnSpcReduction="10000"/>
          </a:bodyPr>
          <a:lstStyle/>
          <a:p>
            <a:r>
              <a:rPr lang="en-US" sz="1800" b="1" i="1" u="sng" dirty="0">
                <a:solidFill>
                  <a:schemeClr val="tx2">
                    <a:lumMod val="75000"/>
                  </a:schemeClr>
                </a:solidFill>
              </a:rPr>
              <a:t> Solution: </a:t>
            </a:r>
          </a:p>
          <a:p>
            <a:pPr marL="0" indent="0" eaLnBrk="0" hangingPunct="0">
              <a:lnSpc>
                <a:spcPct val="150000"/>
              </a:lnSpc>
              <a:spcBef>
                <a:spcPct val="0"/>
              </a:spcBef>
              <a:buNone/>
            </a:pPr>
            <a:r>
              <a:rPr lang="en-US" sz="1800" dirty="0"/>
              <a:t> </a:t>
            </a:r>
            <a:r>
              <a:rPr lang="en-US" altLang="en-US" sz="1800" dirty="0">
                <a:latin typeface="Calibri Body"/>
              </a:rPr>
              <a:t>Imagine selecting a student at random, that is, in such a way that every student has the same chance of being selected. </a:t>
            </a:r>
          </a:p>
          <a:p>
            <a:pPr marL="0" indent="0" eaLnBrk="0" hangingPunct="0">
              <a:lnSpc>
                <a:spcPct val="150000"/>
              </a:lnSpc>
              <a:spcBef>
                <a:spcPct val="0"/>
              </a:spcBef>
              <a:buNone/>
            </a:pPr>
            <a:r>
              <a:rPr lang="en-US" altLang="en-US" sz="1800" dirty="0">
                <a:latin typeface="Calibri Body"/>
              </a:rPr>
              <a:t>Let </a:t>
            </a:r>
            <a:r>
              <a:rPr lang="en-US" altLang="en-US" sz="1800" i="1" dirty="0">
                <a:latin typeface="Calibri Body"/>
              </a:rPr>
              <a:t>M</a:t>
            </a:r>
            <a:r>
              <a:rPr lang="en-US" altLang="en-US" sz="1800" dirty="0">
                <a:latin typeface="Calibri Body"/>
              </a:rPr>
              <a:t> denote the event “the student needs help in mathematics” and let </a:t>
            </a:r>
            <a:r>
              <a:rPr lang="en-US" altLang="en-US" sz="1800" i="1" dirty="0">
                <a:latin typeface="Calibri Body"/>
              </a:rPr>
              <a:t>E</a:t>
            </a:r>
            <a:r>
              <a:rPr lang="en-US" altLang="en-US" sz="1800" dirty="0">
                <a:latin typeface="Calibri Body"/>
              </a:rPr>
              <a:t> denote the event “the student needs help in English.” </a:t>
            </a:r>
          </a:p>
          <a:p>
            <a:pPr marL="0" indent="0" eaLnBrk="0" hangingPunct="0">
              <a:lnSpc>
                <a:spcPct val="150000"/>
              </a:lnSpc>
              <a:spcBef>
                <a:spcPct val="0"/>
              </a:spcBef>
              <a:buNone/>
            </a:pPr>
            <a:r>
              <a:rPr lang="en-US" altLang="en-US" sz="1800" dirty="0">
                <a:latin typeface="Calibri Body"/>
              </a:rPr>
              <a:t>The information given is that </a:t>
            </a:r>
            <a:r>
              <a:rPr lang="en-US" altLang="en-US" sz="1800" b="1" dirty="0">
                <a:solidFill>
                  <a:srgbClr val="FF0000"/>
                </a:solidFill>
                <a:latin typeface="Calibri Body"/>
              </a:rPr>
              <a:t>P(M)=0.63</a:t>
            </a:r>
            <a:r>
              <a:rPr lang="en-US" altLang="en-US" sz="1800" dirty="0">
                <a:latin typeface="Calibri Body"/>
              </a:rPr>
              <a:t>, </a:t>
            </a:r>
            <a:r>
              <a:rPr lang="en-US" altLang="en-US" sz="1800" b="1" dirty="0">
                <a:solidFill>
                  <a:srgbClr val="FF0000"/>
                </a:solidFill>
                <a:latin typeface="Calibri Body"/>
              </a:rPr>
              <a:t>P(E)=0.34</a:t>
            </a:r>
            <a:r>
              <a:rPr lang="en-US" altLang="en-US" sz="1800" dirty="0">
                <a:latin typeface="Calibri Body"/>
              </a:rPr>
              <a:t>, and </a:t>
            </a:r>
            <a:r>
              <a:rPr lang="en-US" altLang="en-US" sz="1800" b="1" dirty="0">
                <a:solidFill>
                  <a:srgbClr val="FF0000"/>
                </a:solidFill>
                <a:latin typeface="Calibri Body"/>
              </a:rPr>
              <a:t>P(M∩E)=0.27</a:t>
            </a:r>
            <a:r>
              <a:rPr lang="en-US" altLang="en-US" sz="1800" dirty="0">
                <a:latin typeface="Calibri Body"/>
              </a:rPr>
              <a:t>. </a:t>
            </a:r>
          </a:p>
          <a:p>
            <a:pPr marL="0" indent="0" eaLnBrk="0" hangingPunct="0">
              <a:lnSpc>
                <a:spcPct val="150000"/>
              </a:lnSpc>
              <a:spcBef>
                <a:spcPct val="0"/>
              </a:spcBef>
              <a:buNone/>
            </a:pPr>
            <a:r>
              <a:rPr lang="en-US" altLang="en-US" sz="1800" dirty="0">
                <a:latin typeface="Calibri Body"/>
              </a:rPr>
              <a:t>The Additive Rule of Probability gives:</a:t>
            </a:r>
          </a:p>
          <a:p>
            <a:pPr marL="0" indent="0" eaLnBrk="0" hangingPunct="0">
              <a:lnSpc>
                <a:spcPct val="150000"/>
              </a:lnSpc>
              <a:spcBef>
                <a:spcPct val="0"/>
              </a:spcBef>
              <a:buNone/>
            </a:pPr>
            <a:r>
              <a:rPr lang="en-US" altLang="en-US" sz="1800" dirty="0">
                <a:latin typeface="Calibri Body"/>
              </a:rPr>
              <a:t>P(M∪E) = P(M) + P(E) − P(M∩E) = 0.63 + 0.34 − 0.27 = 0.70</a:t>
            </a:r>
          </a:p>
          <a:p>
            <a:pPr marL="0" indent="0">
              <a:buNone/>
            </a:pPr>
            <a:r>
              <a:rPr lang="en-US" sz="1800" dirty="0"/>
              <a:t/>
            </a:r>
            <a:br>
              <a:rPr lang="en-US" sz="1800" dirty="0"/>
            </a:br>
            <a:r>
              <a:rPr lang="en-US" sz="1800" dirty="0"/>
              <a:t/>
            </a:r>
            <a:br>
              <a:rPr lang="en-US" sz="1800" dirty="0"/>
            </a:br>
            <a:endParaRPr lang="en-US" sz="1800" dirty="0"/>
          </a:p>
          <a:p>
            <a:pPr marL="0" indent="0">
              <a:buNone/>
            </a:pPr>
            <a:r>
              <a:rPr lang="en-US" sz="1800" dirty="0"/>
              <a:t/>
            </a:r>
            <a:br>
              <a:rPr lang="en-US" sz="1800" dirty="0"/>
            </a:br>
            <a:endParaRPr lang="en-US" sz="1800" dirty="0"/>
          </a:p>
        </p:txBody>
      </p:sp>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5.2.1 The Sample Space, Probabilities, and Independence </a:t>
            </a:r>
            <a:br>
              <a:rPr lang="en-US" sz="3300" dirty="0"/>
            </a:br>
            <a:endParaRPr lang="en-US" sz="3300" dirty="0"/>
          </a:p>
        </p:txBody>
      </p:sp>
    </p:spTree>
    <p:extLst>
      <p:ext uri="{BB962C8B-B14F-4D97-AF65-F5344CB8AC3E}">
        <p14:creationId xmlns:p14="http://schemas.microsoft.com/office/powerpoint/2010/main" val="400182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52904"/>
            <a:ext cx="7886700" cy="5216037"/>
          </a:xfrm>
        </p:spPr>
        <p:txBody>
          <a:bodyPr>
            <a:normAutofit fontScale="85000" lnSpcReduction="20000"/>
          </a:bodyPr>
          <a:lstStyle/>
          <a:p>
            <a:r>
              <a:rPr lang="en-US" sz="1800" b="1" i="1" u="sng" dirty="0">
                <a:solidFill>
                  <a:schemeClr val="tx2">
                    <a:lumMod val="75000"/>
                  </a:schemeClr>
                </a:solidFill>
              </a:rPr>
              <a:t> Practice:</a:t>
            </a: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dirty="0"/>
          </a:p>
          <a:p>
            <a:pPr marL="0" indent="0">
              <a:buNone/>
            </a:pPr>
            <a:endParaRPr lang="en-US" dirty="0"/>
          </a:p>
          <a:p>
            <a:r>
              <a:rPr lang="en-US" dirty="0"/>
              <a:t>A volunteer is selected at random, meaning that each one has an equal chance of being chosen. Find the probability that:</a:t>
            </a:r>
          </a:p>
          <a:p>
            <a:pPr marL="0" indent="0">
              <a:buNone/>
            </a:pPr>
            <a:r>
              <a:rPr lang="en-US" dirty="0"/>
              <a:t>1. His specialty is IT and he speaks two or more languages?</a:t>
            </a:r>
          </a:p>
          <a:p>
            <a:pPr marL="0" indent="0">
              <a:buNone/>
            </a:pPr>
            <a:r>
              <a:rPr lang="en-US" dirty="0"/>
              <a:t>2. Either his specialty is IT or he speaks two or more languages?</a:t>
            </a:r>
          </a:p>
          <a:p>
            <a:pPr marL="0" indent="0">
              <a:buNone/>
            </a:pPr>
            <a:r>
              <a:rPr lang="en-US" dirty="0"/>
              <a:t>3. His specialty is something other than IT?</a:t>
            </a:r>
          </a:p>
          <a:p>
            <a:endParaRPr lang="en-US" sz="1800" b="1" i="1" u="sng" dirty="0">
              <a:solidFill>
                <a:schemeClr val="tx2">
                  <a:lumMod val="75000"/>
                </a:schemeClr>
              </a:solidFill>
            </a:endParaRPr>
          </a:p>
          <a:p>
            <a:pPr marL="0" indent="0">
              <a:buNone/>
            </a:pPr>
            <a:r>
              <a:rPr lang="en-US" sz="1800" b="1" i="1" u="sng" dirty="0">
                <a:solidFill>
                  <a:schemeClr val="tx2">
                    <a:lumMod val="75000"/>
                  </a:schemeClr>
                </a:solidFill>
              </a:rPr>
              <a:t> </a:t>
            </a:r>
          </a:p>
          <a:p>
            <a:pPr marL="0" indent="0" eaLnBrk="0" hangingPunct="0">
              <a:spcBef>
                <a:spcPct val="0"/>
              </a:spcBef>
              <a:buNone/>
            </a:pPr>
            <a:r>
              <a:rPr lang="en-US" sz="1800" dirty="0"/>
              <a:t> </a:t>
            </a:r>
            <a:br>
              <a:rPr lang="en-US" sz="1800" dirty="0"/>
            </a:br>
            <a:r>
              <a:rPr lang="en-US" sz="1800" dirty="0"/>
              <a:t/>
            </a:r>
            <a:br>
              <a:rPr lang="en-US" sz="1800" dirty="0"/>
            </a:br>
            <a:endParaRPr lang="en-US" sz="1800" dirty="0"/>
          </a:p>
          <a:p>
            <a:pPr marL="0" indent="0">
              <a:buNone/>
            </a:pPr>
            <a:r>
              <a:rPr lang="en-US" sz="1800" dirty="0"/>
              <a:t/>
            </a:r>
            <a:br>
              <a:rPr lang="en-US" sz="1800" dirty="0"/>
            </a:br>
            <a:endParaRPr lang="en-US" sz="1800" dirty="0"/>
          </a:p>
        </p:txBody>
      </p:sp>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5.2.1 The Sample Space, Probabilities, and Independence </a:t>
            </a:r>
            <a:br>
              <a:rPr lang="en-US" sz="3300" dirty="0"/>
            </a:br>
            <a:endParaRPr lang="en-US" sz="3300" dirty="0"/>
          </a:p>
        </p:txBody>
      </p:sp>
      <p:graphicFrame>
        <p:nvGraphicFramePr>
          <p:cNvPr id="2" name="Table 1"/>
          <p:cNvGraphicFramePr>
            <a:graphicFrameLocks noGrp="1"/>
          </p:cNvGraphicFramePr>
          <p:nvPr>
            <p:extLst/>
          </p:nvPr>
        </p:nvGraphicFramePr>
        <p:xfrm>
          <a:off x="1253638" y="1661752"/>
          <a:ext cx="6096000" cy="139065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16478724"/>
                    </a:ext>
                  </a:extLst>
                </a:gridCol>
                <a:gridCol w="2032000">
                  <a:extLst>
                    <a:ext uri="{9D8B030D-6E8A-4147-A177-3AD203B41FA5}">
                      <a16:colId xmlns:a16="http://schemas.microsoft.com/office/drawing/2014/main" val="1867074098"/>
                    </a:ext>
                  </a:extLst>
                </a:gridCol>
                <a:gridCol w="2032000">
                  <a:extLst>
                    <a:ext uri="{9D8B030D-6E8A-4147-A177-3AD203B41FA5}">
                      <a16:colId xmlns:a16="http://schemas.microsoft.com/office/drawing/2014/main" val="1317529701"/>
                    </a:ext>
                  </a:extLst>
                </a:gridCol>
              </a:tblGrid>
              <a:tr h="278130">
                <a:tc rowSpan="2">
                  <a:txBody>
                    <a:bodyPr/>
                    <a:lstStyle/>
                    <a:p>
                      <a:pPr algn="ctr"/>
                      <a:r>
                        <a:rPr lang="en-US" sz="1400" b="1" i="0" kern="1200" dirty="0">
                          <a:solidFill>
                            <a:schemeClr val="lt1"/>
                          </a:solidFill>
                          <a:effectLst/>
                          <a:latin typeface="+mn-lt"/>
                          <a:ea typeface="+mn-ea"/>
                          <a:cs typeface="+mn-cs"/>
                        </a:rPr>
                        <a:t>Specialty</a:t>
                      </a:r>
                      <a:endParaRPr lang="en-US" sz="1000" dirty="0"/>
                    </a:p>
                  </a:txBody>
                  <a:tcPr marL="68580" marR="68580" marT="34290" marB="34290" anchor="ctr"/>
                </a:tc>
                <a:tc gridSpan="2">
                  <a:txBody>
                    <a:bodyPr/>
                    <a:lstStyle/>
                    <a:p>
                      <a:pPr algn="ctr"/>
                      <a:r>
                        <a:rPr lang="en-US" sz="1000" dirty="0"/>
                        <a:t>Language</a:t>
                      </a:r>
                      <a:r>
                        <a:rPr lang="en-US" sz="1000" baseline="0" dirty="0"/>
                        <a:t> Ability</a:t>
                      </a:r>
                      <a:endParaRPr lang="en-US" sz="1000" dirty="0"/>
                    </a:p>
                  </a:txBody>
                  <a:tcPr marL="68580" marR="68580" marT="34290" marB="34290" anchor="ctr"/>
                </a:tc>
                <a:tc hMerge="1">
                  <a:txBody>
                    <a:bodyPr/>
                    <a:lstStyle/>
                    <a:p>
                      <a:endParaRPr lang="en-US" dirty="0"/>
                    </a:p>
                  </a:txBody>
                  <a:tcPr/>
                </a:tc>
                <a:extLst>
                  <a:ext uri="{0D108BD9-81ED-4DB2-BD59-A6C34878D82A}">
                    <a16:rowId xmlns:a16="http://schemas.microsoft.com/office/drawing/2014/main" val="158415719"/>
                  </a:ext>
                </a:extLst>
              </a:tr>
              <a:tr h="278130">
                <a:tc vMerge="1">
                  <a:txBody>
                    <a:bodyPr/>
                    <a:lstStyle/>
                    <a:p>
                      <a:endParaRPr lang="en-US" dirty="0"/>
                    </a:p>
                  </a:txBody>
                  <a:tcPr/>
                </a:tc>
                <a:tc>
                  <a:txBody>
                    <a:bodyPr/>
                    <a:lstStyle/>
                    <a:p>
                      <a:pPr algn="ctr"/>
                      <a:r>
                        <a:rPr lang="en-US" sz="1000" dirty="0"/>
                        <a:t>Single language</a:t>
                      </a:r>
                    </a:p>
                  </a:txBody>
                  <a:tcPr marL="68580" marR="68580" marT="34290" marB="34290" anchor="ctr"/>
                </a:tc>
                <a:tc>
                  <a:txBody>
                    <a:bodyPr/>
                    <a:lstStyle/>
                    <a:p>
                      <a:pPr algn="ctr"/>
                      <a:r>
                        <a:rPr lang="en-US" sz="1000" dirty="0"/>
                        <a:t>Two</a:t>
                      </a:r>
                      <a:r>
                        <a:rPr lang="en-US" sz="1000" baseline="0" dirty="0"/>
                        <a:t> or more languages</a:t>
                      </a:r>
                      <a:endParaRPr lang="en-US" sz="1000" dirty="0"/>
                    </a:p>
                  </a:txBody>
                  <a:tcPr marL="68580" marR="68580" marT="34290" marB="34290" anchor="ctr"/>
                </a:tc>
                <a:extLst>
                  <a:ext uri="{0D108BD9-81ED-4DB2-BD59-A6C34878D82A}">
                    <a16:rowId xmlns:a16="http://schemas.microsoft.com/office/drawing/2014/main" val="443425752"/>
                  </a:ext>
                </a:extLst>
              </a:tr>
              <a:tr h="278130">
                <a:tc>
                  <a:txBody>
                    <a:bodyPr/>
                    <a:lstStyle/>
                    <a:p>
                      <a:pPr algn="ctr"/>
                      <a:r>
                        <a:rPr lang="en-US" sz="1000" dirty="0"/>
                        <a:t>IT</a:t>
                      </a:r>
                    </a:p>
                  </a:txBody>
                  <a:tcPr marL="68580" marR="68580" marT="34290" marB="34290" anchor="ctr"/>
                </a:tc>
                <a:tc>
                  <a:txBody>
                    <a:bodyPr/>
                    <a:lstStyle/>
                    <a:p>
                      <a:pPr algn="ctr"/>
                      <a:r>
                        <a:rPr lang="en-US" sz="1000" dirty="0"/>
                        <a:t>6</a:t>
                      </a:r>
                    </a:p>
                  </a:txBody>
                  <a:tcPr marL="68580" marR="68580" marT="34290" marB="34290" anchor="ctr"/>
                </a:tc>
                <a:tc>
                  <a:txBody>
                    <a:bodyPr/>
                    <a:lstStyle/>
                    <a:p>
                      <a:pPr algn="ctr"/>
                      <a:r>
                        <a:rPr lang="en-US" sz="1000" dirty="0"/>
                        <a:t>2</a:t>
                      </a:r>
                    </a:p>
                  </a:txBody>
                  <a:tcPr marL="68580" marR="68580" marT="34290" marB="34290" anchor="ctr"/>
                </a:tc>
                <a:extLst>
                  <a:ext uri="{0D108BD9-81ED-4DB2-BD59-A6C34878D82A}">
                    <a16:rowId xmlns:a16="http://schemas.microsoft.com/office/drawing/2014/main" val="2926885757"/>
                  </a:ext>
                </a:extLst>
              </a:tr>
              <a:tr h="278130">
                <a:tc>
                  <a:txBody>
                    <a:bodyPr/>
                    <a:lstStyle/>
                    <a:p>
                      <a:pPr algn="ctr"/>
                      <a:r>
                        <a:rPr lang="en-US" sz="1000" dirty="0"/>
                        <a:t>BA</a:t>
                      </a:r>
                    </a:p>
                  </a:txBody>
                  <a:tcPr marL="68580" marR="68580" marT="34290" marB="34290" anchor="ctr"/>
                </a:tc>
                <a:tc>
                  <a:txBody>
                    <a:bodyPr/>
                    <a:lstStyle/>
                    <a:p>
                      <a:pPr algn="ctr"/>
                      <a:r>
                        <a:rPr lang="en-US" sz="1000" dirty="0"/>
                        <a:t>12</a:t>
                      </a:r>
                    </a:p>
                  </a:txBody>
                  <a:tcPr marL="68580" marR="68580" marT="34290" marB="34290" anchor="ctr"/>
                </a:tc>
                <a:tc>
                  <a:txBody>
                    <a:bodyPr/>
                    <a:lstStyle/>
                    <a:p>
                      <a:pPr algn="ctr"/>
                      <a:r>
                        <a:rPr lang="en-US" sz="1000" dirty="0"/>
                        <a:t>1</a:t>
                      </a:r>
                    </a:p>
                  </a:txBody>
                  <a:tcPr marL="68580" marR="68580" marT="34290" marB="34290" anchor="ctr"/>
                </a:tc>
                <a:extLst>
                  <a:ext uri="{0D108BD9-81ED-4DB2-BD59-A6C34878D82A}">
                    <a16:rowId xmlns:a16="http://schemas.microsoft.com/office/drawing/2014/main" val="2970119873"/>
                  </a:ext>
                </a:extLst>
              </a:tr>
              <a:tr h="278130">
                <a:tc>
                  <a:txBody>
                    <a:bodyPr/>
                    <a:lstStyle/>
                    <a:p>
                      <a:pPr algn="ctr"/>
                      <a:r>
                        <a:rPr lang="en-US" sz="1000" dirty="0"/>
                        <a:t>BME</a:t>
                      </a:r>
                    </a:p>
                  </a:txBody>
                  <a:tcPr marL="68580" marR="68580" marT="34290" marB="34290" anchor="ctr"/>
                </a:tc>
                <a:tc>
                  <a:txBody>
                    <a:bodyPr/>
                    <a:lstStyle/>
                    <a:p>
                      <a:pPr algn="ctr"/>
                      <a:r>
                        <a:rPr lang="en-US" sz="1000" dirty="0"/>
                        <a:t>4</a:t>
                      </a:r>
                    </a:p>
                  </a:txBody>
                  <a:tcPr marL="68580" marR="68580" marT="34290" marB="34290" anchor="ctr"/>
                </a:tc>
                <a:tc>
                  <a:txBody>
                    <a:bodyPr/>
                    <a:lstStyle/>
                    <a:p>
                      <a:pPr algn="ctr"/>
                      <a:r>
                        <a:rPr lang="en-US" sz="1000" dirty="0"/>
                        <a:t>3</a:t>
                      </a:r>
                    </a:p>
                  </a:txBody>
                  <a:tcPr marL="68580" marR="68580" marT="34290" marB="34290" anchor="ctr"/>
                </a:tc>
                <a:extLst>
                  <a:ext uri="{0D108BD9-81ED-4DB2-BD59-A6C34878D82A}">
                    <a16:rowId xmlns:a16="http://schemas.microsoft.com/office/drawing/2014/main" val="3068543753"/>
                  </a:ext>
                </a:extLst>
              </a:tr>
            </a:tbl>
          </a:graphicData>
        </a:graphic>
      </p:graphicFrame>
    </p:spTree>
    <p:extLst>
      <p:ext uri="{BB962C8B-B14F-4D97-AF65-F5344CB8AC3E}">
        <p14:creationId xmlns:p14="http://schemas.microsoft.com/office/powerpoint/2010/main" val="39927789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252904"/>
                <a:ext cx="7886700" cy="5779908"/>
              </a:xfrm>
            </p:spPr>
            <p:txBody>
              <a:bodyPr>
                <a:normAutofit fontScale="70000" lnSpcReduction="20000"/>
              </a:bodyPr>
              <a:lstStyle/>
              <a:p>
                <a:r>
                  <a:rPr lang="en-US" sz="1800" b="1" i="1" u="sng" dirty="0">
                    <a:solidFill>
                      <a:schemeClr val="tx2">
                        <a:lumMod val="75000"/>
                      </a:schemeClr>
                    </a:solidFill>
                  </a:rPr>
                  <a:t> Solution:</a:t>
                </a: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pPr marL="0" indent="0">
                  <a:buNone/>
                </a:pPr>
                <a:endParaRPr lang="en-US" sz="1800" dirty="0"/>
              </a:p>
              <a:p>
                <a:pPr marL="0" indent="0">
                  <a:buNone/>
                </a:pPr>
                <a:endParaRPr lang="en-US" sz="1800" dirty="0"/>
              </a:p>
              <a:p>
                <a:pPr marL="0" indent="0">
                  <a:buNone/>
                </a:pPr>
                <a:endParaRPr lang="en-US" sz="1800" dirty="0"/>
              </a:p>
              <a:p>
                <a:pPr marL="342900" indent="-342900">
                  <a:lnSpc>
                    <a:spcPct val="170000"/>
                  </a:lnSpc>
                  <a:buFont typeface="+mj-lt"/>
                  <a:buAutoNum type="arabicPeriod"/>
                </a:pPr>
                <a:r>
                  <a:rPr lang="en-US" altLang="en-US" sz="1800" dirty="0">
                    <a:solidFill>
                      <a:srgbClr val="333333"/>
                    </a:solidFill>
                  </a:rPr>
                  <a:t>The probability sought is P( I ∩ T). The table shows that there are 2 such people, out of 28 in all, hence P(I∩T)=2∕28≈0.07 or about a 7% chance.</a:t>
                </a:r>
              </a:p>
              <a:p>
                <a:pPr marL="342900" indent="-342900" eaLnBrk="0" hangingPunct="0">
                  <a:lnSpc>
                    <a:spcPct val="170000"/>
                  </a:lnSpc>
                  <a:spcBef>
                    <a:spcPct val="0"/>
                  </a:spcBef>
                  <a:buFont typeface="+mj-lt"/>
                  <a:buAutoNum type="arabicPeriod"/>
                </a:pPr>
                <a:r>
                  <a:rPr lang="en-US" altLang="en-US" sz="1800" dirty="0">
                    <a:solidFill>
                      <a:srgbClr val="333333"/>
                    </a:solidFill>
                  </a:rPr>
                  <a:t>The probability sought is P (I U T). The third row total and the grand total in the sample give P(M)=8∕28. The second column total and the grand total give P(T)=6∕28. Thus using the result from part (1),</a:t>
                </a:r>
              </a:p>
              <a:p>
                <a:pPr marL="0" indent="0" eaLnBrk="0" hangingPunct="0">
                  <a:lnSpc>
                    <a:spcPct val="170000"/>
                  </a:lnSpc>
                  <a:spcBef>
                    <a:spcPct val="0"/>
                  </a:spcBef>
                  <a:buNone/>
                </a:pPr>
                <a:r>
                  <a:rPr lang="en-US" altLang="en-US" sz="1800" dirty="0">
                    <a:solidFill>
                      <a:srgbClr val="333333"/>
                    </a:solidFill>
                  </a:rPr>
                  <a:t>	P (I U T) = P (I) + P(T) – P( I ∩ T) = </a:t>
                </a:r>
                <a14:m>
                  <m:oMath xmlns:m="http://schemas.openxmlformats.org/officeDocument/2006/math">
                    <m:f>
                      <m:fPr>
                        <m:ctrlPr>
                          <a:rPr lang="en-US" altLang="en-US" sz="1950" i="1">
                            <a:solidFill>
                              <a:srgbClr val="333333"/>
                            </a:solidFill>
                            <a:latin typeface="Cambria Math" panose="02040503050406030204" pitchFamily="18" charset="0"/>
                          </a:rPr>
                        </m:ctrlPr>
                      </m:fPr>
                      <m:num>
                        <m:r>
                          <a:rPr lang="en-US" altLang="en-US" sz="1950" i="1">
                            <a:solidFill>
                              <a:srgbClr val="333333"/>
                            </a:solidFill>
                            <a:latin typeface="Cambria Math" panose="02040503050406030204" pitchFamily="18" charset="0"/>
                          </a:rPr>
                          <m:t>8</m:t>
                        </m:r>
                      </m:num>
                      <m:den>
                        <m:r>
                          <a:rPr lang="en-US" altLang="en-US" sz="1950" i="1">
                            <a:solidFill>
                              <a:srgbClr val="333333"/>
                            </a:solidFill>
                            <a:latin typeface="Cambria Math" panose="02040503050406030204" pitchFamily="18" charset="0"/>
                          </a:rPr>
                          <m:t>28</m:t>
                        </m:r>
                      </m:den>
                    </m:f>
                    <m:r>
                      <a:rPr lang="en-US" altLang="en-US" sz="1950" i="1">
                        <a:solidFill>
                          <a:srgbClr val="333333"/>
                        </a:solidFill>
                        <a:latin typeface="Cambria Math" panose="02040503050406030204" pitchFamily="18" charset="0"/>
                      </a:rPr>
                      <m:t>+ </m:t>
                    </m:r>
                    <m:f>
                      <m:fPr>
                        <m:ctrlPr>
                          <a:rPr lang="en-US" altLang="en-US" sz="1950" i="1">
                            <a:solidFill>
                              <a:srgbClr val="333333"/>
                            </a:solidFill>
                            <a:latin typeface="Cambria Math" panose="02040503050406030204" pitchFamily="18" charset="0"/>
                          </a:rPr>
                        </m:ctrlPr>
                      </m:fPr>
                      <m:num>
                        <m:r>
                          <a:rPr lang="en-US" altLang="en-US" sz="1950" i="1">
                            <a:solidFill>
                              <a:srgbClr val="333333"/>
                            </a:solidFill>
                            <a:latin typeface="Cambria Math" panose="02040503050406030204" pitchFamily="18" charset="0"/>
                          </a:rPr>
                          <m:t>6</m:t>
                        </m:r>
                      </m:num>
                      <m:den>
                        <m:r>
                          <a:rPr lang="en-US" altLang="en-US" sz="1950" i="1">
                            <a:solidFill>
                              <a:srgbClr val="333333"/>
                            </a:solidFill>
                            <a:latin typeface="Cambria Math" panose="02040503050406030204" pitchFamily="18" charset="0"/>
                          </a:rPr>
                          <m:t>28</m:t>
                        </m:r>
                      </m:den>
                    </m:f>
                    <m:r>
                      <a:rPr lang="en-US" altLang="en-US" sz="1950" i="1">
                        <a:solidFill>
                          <a:srgbClr val="333333"/>
                        </a:solidFill>
                        <a:latin typeface="Cambria Math" panose="02040503050406030204" pitchFamily="18" charset="0"/>
                      </a:rPr>
                      <m:t> − </m:t>
                    </m:r>
                    <m:f>
                      <m:fPr>
                        <m:ctrlPr>
                          <a:rPr lang="en-US" altLang="en-US" sz="1950" i="1">
                            <a:solidFill>
                              <a:srgbClr val="333333"/>
                            </a:solidFill>
                            <a:latin typeface="Cambria Math" panose="02040503050406030204" pitchFamily="18" charset="0"/>
                          </a:rPr>
                        </m:ctrlPr>
                      </m:fPr>
                      <m:num>
                        <m:r>
                          <a:rPr lang="en-US" altLang="en-US" sz="1950" i="1">
                            <a:solidFill>
                              <a:srgbClr val="333333"/>
                            </a:solidFill>
                            <a:latin typeface="Cambria Math" panose="02040503050406030204" pitchFamily="18" charset="0"/>
                          </a:rPr>
                          <m:t>2</m:t>
                        </m:r>
                      </m:num>
                      <m:den>
                        <m:r>
                          <a:rPr lang="en-US" altLang="en-US" sz="1950" i="1">
                            <a:solidFill>
                              <a:srgbClr val="333333"/>
                            </a:solidFill>
                            <a:latin typeface="Cambria Math" panose="02040503050406030204" pitchFamily="18" charset="0"/>
                          </a:rPr>
                          <m:t>28</m:t>
                        </m:r>
                      </m:den>
                    </m:f>
                    <m:r>
                      <a:rPr lang="en-US" altLang="en-US" sz="1950" i="1">
                        <a:solidFill>
                          <a:srgbClr val="333333"/>
                        </a:solidFill>
                        <a:latin typeface="Cambria Math" panose="02040503050406030204" pitchFamily="18" charset="0"/>
                      </a:rPr>
                      <m:t>= </m:t>
                    </m:r>
                    <m:f>
                      <m:fPr>
                        <m:ctrlPr>
                          <a:rPr lang="en-US" altLang="en-US" sz="1950" i="1">
                            <a:solidFill>
                              <a:srgbClr val="333333"/>
                            </a:solidFill>
                            <a:latin typeface="Cambria Math" panose="02040503050406030204" pitchFamily="18" charset="0"/>
                          </a:rPr>
                        </m:ctrlPr>
                      </m:fPr>
                      <m:num>
                        <m:r>
                          <a:rPr lang="en-US" altLang="en-US" sz="1950" i="1">
                            <a:solidFill>
                              <a:srgbClr val="333333"/>
                            </a:solidFill>
                            <a:latin typeface="Cambria Math" panose="02040503050406030204" pitchFamily="18" charset="0"/>
                          </a:rPr>
                          <m:t>12</m:t>
                        </m:r>
                      </m:num>
                      <m:den>
                        <m:r>
                          <a:rPr lang="en-US" altLang="en-US" sz="1950" i="1">
                            <a:solidFill>
                              <a:srgbClr val="333333"/>
                            </a:solidFill>
                            <a:latin typeface="Cambria Math" panose="02040503050406030204" pitchFamily="18" charset="0"/>
                          </a:rPr>
                          <m:t>28</m:t>
                        </m:r>
                      </m:den>
                    </m:f>
                  </m:oMath>
                </a14:m>
                <a:endParaRPr lang="en-US" altLang="en-US" sz="1800" dirty="0">
                  <a:solidFill>
                    <a:srgbClr val="333333"/>
                  </a:solidFill>
                </a:endParaRPr>
              </a:p>
              <a:p>
                <a:pPr marL="342900" indent="-342900">
                  <a:lnSpc>
                    <a:spcPct val="170000"/>
                  </a:lnSpc>
                  <a:buAutoNum type="arabicPeriod"/>
                </a:pPr>
                <a:endParaRPr lang="en-US" altLang="en-US" sz="1800" dirty="0">
                  <a:solidFill>
                    <a:srgbClr val="333333"/>
                  </a:solidFill>
                </a:endParaRPr>
              </a:p>
              <a:p>
                <a:pPr marL="0" indent="0">
                  <a:buNone/>
                </a:pPr>
                <a:endParaRPr lang="en-US" sz="1800" b="1" i="1" u="sng" dirty="0">
                  <a:solidFill>
                    <a:schemeClr val="tx2">
                      <a:lumMod val="75000"/>
                    </a:schemeClr>
                  </a:solidFill>
                </a:endParaRPr>
              </a:p>
              <a:p>
                <a:endParaRPr lang="en-US" sz="1800" b="1" i="1" u="sng" dirty="0">
                  <a:solidFill>
                    <a:schemeClr val="tx2">
                      <a:lumMod val="75000"/>
                    </a:schemeClr>
                  </a:solidFill>
                </a:endParaRPr>
              </a:p>
              <a:p>
                <a:pPr marL="0" indent="0" eaLnBrk="0" hangingPunct="0">
                  <a:spcBef>
                    <a:spcPct val="0"/>
                  </a:spcBef>
                  <a:buNone/>
                </a:pPr>
                <a:r>
                  <a:rPr lang="en-US" sz="1800" dirty="0"/>
                  <a:t> </a:t>
                </a:r>
                <a:br>
                  <a:rPr lang="en-US" sz="1800" dirty="0"/>
                </a:br>
                <a:r>
                  <a:rPr lang="en-US" sz="1800" dirty="0"/>
                  <a:t/>
                </a:r>
                <a:br>
                  <a:rPr lang="en-US" sz="1800" dirty="0"/>
                </a:br>
                <a:endParaRPr lang="en-US" sz="1800" dirty="0"/>
              </a:p>
              <a:p>
                <a:pPr marL="0" indent="0">
                  <a:buNone/>
                </a:pPr>
                <a:r>
                  <a:rPr lang="en-US" sz="1800" dirty="0"/>
                  <a:t/>
                </a:r>
                <a:br>
                  <a:rPr lang="en-US" sz="1800" dirty="0"/>
                </a:b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252904"/>
                <a:ext cx="7886700" cy="5779908"/>
              </a:xfrm>
              <a:blipFill>
                <a:blip r:embed="rId3"/>
                <a:stretch>
                  <a:fillRect l="-155" t="-949"/>
                </a:stretch>
              </a:blipFill>
            </p:spPr>
            <p:txBody>
              <a:bodyPr/>
              <a:lstStyle/>
              <a:p>
                <a:r>
                  <a:rPr lang="en-US">
                    <a:noFill/>
                  </a:rPr>
                  <a:t> </a:t>
                </a:r>
              </a:p>
            </p:txBody>
          </p:sp>
        </mc:Fallback>
      </mc:AlternateContent>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5.2.1 The Sample Space, Probabilities, and Independence </a:t>
            </a:r>
            <a:br>
              <a:rPr lang="en-US" sz="3300" dirty="0"/>
            </a:br>
            <a:endParaRPr lang="en-US" sz="3300" dirty="0"/>
          </a:p>
        </p:txBody>
      </p:sp>
      <p:graphicFrame>
        <p:nvGraphicFramePr>
          <p:cNvPr id="5" name="Table 4"/>
          <p:cNvGraphicFramePr>
            <a:graphicFrameLocks noGrp="1"/>
          </p:cNvGraphicFramePr>
          <p:nvPr>
            <p:extLst/>
          </p:nvPr>
        </p:nvGraphicFramePr>
        <p:xfrm>
          <a:off x="1992191" y="962763"/>
          <a:ext cx="6096000" cy="17678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516478724"/>
                    </a:ext>
                  </a:extLst>
                </a:gridCol>
                <a:gridCol w="1524000">
                  <a:extLst>
                    <a:ext uri="{9D8B030D-6E8A-4147-A177-3AD203B41FA5}">
                      <a16:colId xmlns:a16="http://schemas.microsoft.com/office/drawing/2014/main" val="1867074098"/>
                    </a:ext>
                  </a:extLst>
                </a:gridCol>
                <a:gridCol w="1524000">
                  <a:extLst>
                    <a:ext uri="{9D8B030D-6E8A-4147-A177-3AD203B41FA5}">
                      <a16:colId xmlns:a16="http://schemas.microsoft.com/office/drawing/2014/main" val="1317529701"/>
                    </a:ext>
                  </a:extLst>
                </a:gridCol>
                <a:gridCol w="1524000">
                  <a:extLst>
                    <a:ext uri="{9D8B030D-6E8A-4147-A177-3AD203B41FA5}">
                      <a16:colId xmlns:a16="http://schemas.microsoft.com/office/drawing/2014/main" val="3123090622"/>
                    </a:ext>
                  </a:extLst>
                </a:gridCol>
              </a:tblGrid>
              <a:tr h="278130">
                <a:tc rowSpan="2">
                  <a:txBody>
                    <a:bodyPr/>
                    <a:lstStyle/>
                    <a:p>
                      <a:pPr algn="ctr"/>
                      <a:r>
                        <a:rPr lang="en-US" sz="1400" b="1" i="0" kern="1200" dirty="0">
                          <a:solidFill>
                            <a:schemeClr val="lt1"/>
                          </a:solidFill>
                          <a:effectLst/>
                          <a:latin typeface="+mn-lt"/>
                          <a:ea typeface="+mn-ea"/>
                          <a:cs typeface="+mn-cs"/>
                        </a:rPr>
                        <a:t>Specialty</a:t>
                      </a:r>
                      <a:endParaRPr lang="en-US" sz="1000" dirty="0"/>
                    </a:p>
                  </a:txBody>
                  <a:tcPr marL="68580" marR="68580" marT="34290" marB="34290" anchor="ctr"/>
                </a:tc>
                <a:tc gridSpan="2">
                  <a:txBody>
                    <a:bodyPr/>
                    <a:lstStyle/>
                    <a:p>
                      <a:pPr algn="ctr"/>
                      <a:r>
                        <a:rPr lang="en-US" sz="1000" dirty="0"/>
                        <a:t>Language</a:t>
                      </a:r>
                      <a:r>
                        <a:rPr lang="en-US" sz="1000" baseline="0" dirty="0"/>
                        <a:t> Ability</a:t>
                      </a:r>
                      <a:endParaRPr lang="en-US" sz="1000" dirty="0"/>
                    </a:p>
                  </a:txBody>
                  <a:tcPr marL="68580" marR="68580" marT="34290" marB="34290" anchor="ctr"/>
                </a:tc>
                <a:tc hMerge="1">
                  <a:txBody>
                    <a:bodyPr/>
                    <a:lstStyle/>
                    <a:p>
                      <a:endParaRPr lang="en-US" dirty="0"/>
                    </a:p>
                  </a:txBody>
                  <a:tcPr/>
                </a:tc>
                <a:tc>
                  <a:txBody>
                    <a:bodyPr/>
                    <a:lstStyle/>
                    <a:p>
                      <a:pPr algn="ctr"/>
                      <a:endParaRPr lang="en-US" sz="1000" dirty="0"/>
                    </a:p>
                  </a:txBody>
                  <a:tcPr marL="68580" marR="68580" marT="34290" marB="34290" anchor="ctr"/>
                </a:tc>
                <a:extLst>
                  <a:ext uri="{0D108BD9-81ED-4DB2-BD59-A6C34878D82A}">
                    <a16:rowId xmlns:a16="http://schemas.microsoft.com/office/drawing/2014/main" val="158415719"/>
                  </a:ext>
                </a:extLst>
              </a:tr>
              <a:tr h="377190">
                <a:tc vMerge="1">
                  <a:txBody>
                    <a:bodyPr/>
                    <a:lstStyle/>
                    <a:p>
                      <a:endParaRPr lang="en-US" dirty="0"/>
                    </a:p>
                  </a:txBody>
                  <a:tcPr/>
                </a:tc>
                <a:tc>
                  <a:txBody>
                    <a:bodyPr/>
                    <a:lstStyle/>
                    <a:p>
                      <a:pPr algn="ctr"/>
                      <a:r>
                        <a:rPr lang="en-US" sz="1000" dirty="0"/>
                        <a:t>Single language (S)</a:t>
                      </a:r>
                    </a:p>
                  </a:txBody>
                  <a:tcPr marL="68580" marR="68580" marT="34290" marB="34290" anchor="ctr"/>
                </a:tc>
                <a:tc>
                  <a:txBody>
                    <a:bodyPr/>
                    <a:lstStyle/>
                    <a:p>
                      <a:pPr algn="ctr"/>
                      <a:r>
                        <a:rPr lang="en-US" sz="1000" dirty="0"/>
                        <a:t>Two</a:t>
                      </a:r>
                      <a:r>
                        <a:rPr lang="en-US" sz="1000" baseline="0" dirty="0"/>
                        <a:t> or more languages (T)</a:t>
                      </a:r>
                      <a:endParaRPr lang="en-US" sz="1000" dirty="0"/>
                    </a:p>
                  </a:txBody>
                  <a:tcPr marL="68580" marR="68580" marT="34290" marB="34290" anchor="ctr"/>
                </a:tc>
                <a:tc>
                  <a:txBody>
                    <a:bodyPr/>
                    <a:lstStyle/>
                    <a:p>
                      <a:pPr algn="ctr"/>
                      <a:r>
                        <a:rPr lang="en-US" sz="1000" dirty="0"/>
                        <a:t>Total</a:t>
                      </a:r>
                    </a:p>
                  </a:txBody>
                  <a:tcPr marL="68580" marR="68580" marT="34290" marB="34290" anchor="ctr"/>
                </a:tc>
                <a:extLst>
                  <a:ext uri="{0D108BD9-81ED-4DB2-BD59-A6C34878D82A}">
                    <a16:rowId xmlns:a16="http://schemas.microsoft.com/office/drawing/2014/main" val="443425752"/>
                  </a:ext>
                </a:extLst>
              </a:tr>
              <a:tr h="278130">
                <a:tc>
                  <a:txBody>
                    <a:bodyPr/>
                    <a:lstStyle/>
                    <a:p>
                      <a:pPr algn="ctr"/>
                      <a:r>
                        <a:rPr lang="en-US" sz="1000" dirty="0"/>
                        <a:t>IT (I)</a:t>
                      </a:r>
                    </a:p>
                  </a:txBody>
                  <a:tcPr marL="68580" marR="68580" marT="34290" marB="34290" anchor="ctr"/>
                </a:tc>
                <a:tc>
                  <a:txBody>
                    <a:bodyPr/>
                    <a:lstStyle/>
                    <a:p>
                      <a:pPr algn="ctr"/>
                      <a:r>
                        <a:rPr lang="en-US" sz="1000" dirty="0"/>
                        <a:t>6</a:t>
                      </a:r>
                    </a:p>
                  </a:txBody>
                  <a:tcPr marL="68580" marR="68580" marT="34290" marB="34290" anchor="ctr"/>
                </a:tc>
                <a:tc>
                  <a:txBody>
                    <a:bodyPr/>
                    <a:lstStyle/>
                    <a:p>
                      <a:pPr algn="ctr"/>
                      <a:r>
                        <a:rPr lang="en-US" sz="1000" dirty="0"/>
                        <a:t>2</a:t>
                      </a:r>
                    </a:p>
                  </a:txBody>
                  <a:tcPr marL="68580" marR="68580" marT="34290" marB="34290" anchor="ctr"/>
                </a:tc>
                <a:tc>
                  <a:txBody>
                    <a:bodyPr/>
                    <a:lstStyle/>
                    <a:p>
                      <a:pPr algn="ctr"/>
                      <a:r>
                        <a:rPr lang="en-US" sz="1000" dirty="0"/>
                        <a:t>8</a:t>
                      </a:r>
                    </a:p>
                  </a:txBody>
                  <a:tcPr marL="68580" marR="68580" marT="34290" marB="34290" anchor="ctr"/>
                </a:tc>
                <a:extLst>
                  <a:ext uri="{0D108BD9-81ED-4DB2-BD59-A6C34878D82A}">
                    <a16:rowId xmlns:a16="http://schemas.microsoft.com/office/drawing/2014/main" val="2926885757"/>
                  </a:ext>
                </a:extLst>
              </a:tr>
              <a:tr h="278130">
                <a:tc>
                  <a:txBody>
                    <a:bodyPr/>
                    <a:lstStyle/>
                    <a:p>
                      <a:pPr algn="ctr"/>
                      <a:r>
                        <a:rPr lang="en-US" sz="1000" dirty="0"/>
                        <a:t>BA (B)</a:t>
                      </a:r>
                    </a:p>
                  </a:txBody>
                  <a:tcPr marL="68580" marR="68580" marT="34290" marB="34290" anchor="ctr"/>
                </a:tc>
                <a:tc>
                  <a:txBody>
                    <a:bodyPr/>
                    <a:lstStyle/>
                    <a:p>
                      <a:pPr algn="ctr"/>
                      <a:r>
                        <a:rPr lang="en-US" sz="1000" dirty="0"/>
                        <a:t>12</a:t>
                      </a:r>
                    </a:p>
                  </a:txBody>
                  <a:tcPr marL="68580" marR="68580" marT="34290" marB="34290" anchor="ctr"/>
                </a:tc>
                <a:tc>
                  <a:txBody>
                    <a:bodyPr/>
                    <a:lstStyle/>
                    <a:p>
                      <a:pPr algn="ctr"/>
                      <a:r>
                        <a:rPr lang="en-US" sz="1000" dirty="0"/>
                        <a:t>1</a:t>
                      </a:r>
                    </a:p>
                  </a:txBody>
                  <a:tcPr marL="68580" marR="68580" marT="34290" marB="34290" anchor="ctr"/>
                </a:tc>
                <a:tc>
                  <a:txBody>
                    <a:bodyPr/>
                    <a:lstStyle/>
                    <a:p>
                      <a:pPr algn="ctr"/>
                      <a:r>
                        <a:rPr lang="en-US" sz="1000" dirty="0"/>
                        <a:t>13</a:t>
                      </a:r>
                    </a:p>
                  </a:txBody>
                  <a:tcPr marL="68580" marR="68580" marT="34290" marB="34290" anchor="ctr"/>
                </a:tc>
                <a:extLst>
                  <a:ext uri="{0D108BD9-81ED-4DB2-BD59-A6C34878D82A}">
                    <a16:rowId xmlns:a16="http://schemas.microsoft.com/office/drawing/2014/main" val="2970119873"/>
                  </a:ext>
                </a:extLst>
              </a:tr>
              <a:tr h="278130">
                <a:tc>
                  <a:txBody>
                    <a:bodyPr/>
                    <a:lstStyle/>
                    <a:p>
                      <a:pPr algn="ctr"/>
                      <a:r>
                        <a:rPr lang="en-US" sz="1000" dirty="0"/>
                        <a:t>BME</a:t>
                      </a:r>
                      <a:r>
                        <a:rPr lang="en-US" sz="1000" baseline="0" dirty="0"/>
                        <a:t> (E)</a:t>
                      </a:r>
                      <a:endParaRPr lang="en-US" sz="1000" dirty="0"/>
                    </a:p>
                  </a:txBody>
                  <a:tcPr marL="68580" marR="68580" marT="34290" marB="34290" anchor="ctr"/>
                </a:tc>
                <a:tc>
                  <a:txBody>
                    <a:bodyPr/>
                    <a:lstStyle/>
                    <a:p>
                      <a:pPr algn="ctr"/>
                      <a:r>
                        <a:rPr lang="en-US" sz="1000" dirty="0"/>
                        <a:t>4</a:t>
                      </a:r>
                    </a:p>
                  </a:txBody>
                  <a:tcPr marL="68580" marR="68580" marT="34290" marB="34290" anchor="ctr"/>
                </a:tc>
                <a:tc>
                  <a:txBody>
                    <a:bodyPr/>
                    <a:lstStyle/>
                    <a:p>
                      <a:pPr algn="ctr"/>
                      <a:r>
                        <a:rPr lang="en-US" sz="1000" dirty="0"/>
                        <a:t>3</a:t>
                      </a:r>
                    </a:p>
                  </a:txBody>
                  <a:tcPr marL="68580" marR="68580" marT="34290" marB="34290" anchor="ctr"/>
                </a:tc>
                <a:tc>
                  <a:txBody>
                    <a:bodyPr/>
                    <a:lstStyle/>
                    <a:p>
                      <a:pPr algn="ctr"/>
                      <a:r>
                        <a:rPr lang="en-US" sz="1000" dirty="0"/>
                        <a:t>7</a:t>
                      </a:r>
                    </a:p>
                  </a:txBody>
                  <a:tcPr marL="68580" marR="68580" marT="34290" marB="34290" anchor="ctr"/>
                </a:tc>
                <a:extLst>
                  <a:ext uri="{0D108BD9-81ED-4DB2-BD59-A6C34878D82A}">
                    <a16:rowId xmlns:a16="http://schemas.microsoft.com/office/drawing/2014/main" val="3068543753"/>
                  </a:ext>
                </a:extLst>
              </a:tr>
              <a:tr h="278130">
                <a:tc>
                  <a:txBody>
                    <a:bodyPr/>
                    <a:lstStyle/>
                    <a:p>
                      <a:pPr algn="ctr"/>
                      <a:r>
                        <a:rPr lang="en-US" sz="1000" dirty="0"/>
                        <a:t>Total</a:t>
                      </a:r>
                    </a:p>
                  </a:txBody>
                  <a:tcPr marL="68580" marR="68580" marT="34290" marB="34290" anchor="ctr"/>
                </a:tc>
                <a:tc>
                  <a:txBody>
                    <a:bodyPr/>
                    <a:lstStyle/>
                    <a:p>
                      <a:pPr algn="ctr"/>
                      <a:r>
                        <a:rPr lang="en-US" sz="1000" dirty="0"/>
                        <a:t>22</a:t>
                      </a:r>
                    </a:p>
                  </a:txBody>
                  <a:tcPr marL="68580" marR="68580" marT="34290" marB="34290" anchor="ctr"/>
                </a:tc>
                <a:tc>
                  <a:txBody>
                    <a:bodyPr/>
                    <a:lstStyle/>
                    <a:p>
                      <a:pPr algn="ctr"/>
                      <a:r>
                        <a:rPr lang="en-US" sz="1000" dirty="0"/>
                        <a:t>6</a:t>
                      </a:r>
                    </a:p>
                  </a:txBody>
                  <a:tcPr marL="68580" marR="68580" marT="34290" marB="34290" anchor="ctr"/>
                </a:tc>
                <a:tc>
                  <a:txBody>
                    <a:bodyPr/>
                    <a:lstStyle/>
                    <a:p>
                      <a:pPr algn="ctr"/>
                      <a:r>
                        <a:rPr lang="en-US" sz="1000" dirty="0"/>
                        <a:t>28</a:t>
                      </a:r>
                    </a:p>
                  </a:txBody>
                  <a:tcPr marL="68580" marR="68580" marT="34290" marB="34290" anchor="ctr"/>
                </a:tc>
                <a:extLst>
                  <a:ext uri="{0D108BD9-81ED-4DB2-BD59-A6C34878D82A}">
                    <a16:rowId xmlns:a16="http://schemas.microsoft.com/office/drawing/2014/main" val="1047158508"/>
                  </a:ext>
                </a:extLst>
              </a:tr>
            </a:tbl>
          </a:graphicData>
        </a:graphic>
      </p:graphicFrame>
    </p:spTree>
    <p:extLst>
      <p:ext uri="{BB962C8B-B14F-4D97-AF65-F5344CB8AC3E}">
        <p14:creationId xmlns:p14="http://schemas.microsoft.com/office/powerpoint/2010/main" val="20874204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252904"/>
                <a:ext cx="7886700" cy="5779908"/>
              </a:xfrm>
            </p:spPr>
            <p:txBody>
              <a:bodyPr>
                <a:normAutofit lnSpcReduction="10000"/>
              </a:bodyPr>
              <a:lstStyle/>
              <a:p>
                <a:r>
                  <a:rPr lang="en-US" sz="1800" b="1" i="1" u="sng" dirty="0">
                    <a:solidFill>
                      <a:schemeClr val="tx2">
                        <a:lumMod val="75000"/>
                      </a:schemeClr>
                    </a:solidFill>
                  </a:rPr>
                  <a:t> Solution:</a:t>
                </a: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endParaRPr lang="en-US" sz="1800" b="1" i="1" u="sng" dirty="0">
                  <a:solidFill>
                    <a:schemeClr val="tx2">
                      <a:lumMod val="75000"/>
                    </a:schemeClr>
                  </a:solidFill>
                </a:endParaRPr>
              </a:p>
              <a:p>
                <a:pPr marL="342900" indent="-342900">
                  <a:buAutoNum type="arabicPeriod" startAt="3"/>
                </a:pPr>
                <a:r>
                  <a:rPr lang="en-US" altLang="en-US" sz="1350" dirty="0"/>
                  <a:t>This probability can be computed in two ways. </a:t>
                </a:r>
                <a:r>
                  <a:rPr lang="en-US" sz="1350" dirty="0"/>
                  <a:t>Since the event of interest can be viewed as the event </a:t>
                </a:r>
                <a:r>
                  <a:rPr lang="en-US" sz="1350" i="1" dirty="0"/>
                  <a:t>C</a:t>
                </a:r>
                <a:r>
                  <a:rPr lang="en-US" sz="1350" dirty="0"/>
                  <a:t> ∪ </a:t>
                </a:r>
                <a:r>
                  <a:rPr lang="en-US" sz="1350" i="1" dirty="0"/>
                  <a:t>E</a:t>
                </a:r>
                <a:r>
                  <a:rPr lang="en-US" sz="1350" dirty="0"/>
                  <a:t> and the events </a:t>
                </a:r>
                <a:r>
                  <a:rPr lang="en-US" sz="1350" i="1" dirty="0"/>
                  <a:t>C</a:t>
                </a:r>
                <a:r>
                  <a:rPr lang="en-US" sz="1350" dirty="0"/>
                  <a:t> and </a:t>
                </a:r>
                <a:r>
                  <a:rPr lang="en-US" sz="1350" i="1" dirty="0"/>
                  <a:t>E</a:t>
                </a:r>
                <a:r>
                  <a:rPr lang="en-US" sz="1350" dirty="0"/>
                  <a:t> are mutually exclusive, the answer is, using the first two row totals,</a:t>
                </a:r>
              </a:p>
              <a:p>
                <a:pPr marL="0" indent="0">
                  <a:buNone/>
                </a:pPr>
                <a:r>
                  <a:rPr lang="en-US" sz="1350" dirty="0"/>
                  <a:t>	P ( B U E ) = P (B) + P(E) -  P ( B </a:t>
                </a:r>
                <a:r>
                  <a:rPr lang="en-US" altLang="en-US" sz="1350" dirty="0">
                    <a:solidFill>
                      <a:srgbClr val="333333"/>
                    </a:solidFill>
                  </a:rPr>
                  <a:t>∩ E </a:t>
                </a:r>
                <a:r>
                  <a:rPr lang="en-US" sz="1350" dirty="0"/>
                  <a:t>) = </a:t>
                </a:r>
                <a14:m>
                  <m:oMath xmlns:m="http://schemas.openxmlformats.org/officeDocument/2006/math">
                    <m:f>
                      <m:fPr>
                        <m:ctrlPr>
                          <a:rPr lang="en-US" sz="1350" i="1">
                            <a:latin typeface="Cambria Math" panose="02040503050406030204" pitchFamily="18" charset="0"/>
                          </a:rPr>
                        </m:ctrlPr>
                      </m:fPr>
                      <m:num>
                        <m:r>
                          <a:rPr lang="en-US" sz="1350" i="1">
                            <a:latin typeface="Cambria Math" panose="02040503050406030204" pitchFamily="18" charset="0"/>
                          </a:rPr>
                          <m:t>13</m:t>
                        </m:r>
                      </m:num>
                      <m:den>
                        <m:r>
                          <a:rPr lang="en-US" sz="1350" i="1">
                            <a:latin typeface="Cambria Math" panose="02040503050406030204" pitchFamily="18" charset="0"/>
                          </a:rPr>
                          <m:t>28</m:t>
                        </m:r>
                      </m:den>
                    </m:f>
                    <m:r>
                      <a:rPr lang="en-US" sz="1350" i="1">
                        <a:latin typeface="Cambria Math" panose="02040503050406030204" pitchFamily="18" charset="0"/>
                      </a:rPr>
                      <m:t>+ </m:t>
                    </m:r>
                    <m:f>
                      <m:fPr>
                        <m:ctrlPr>
                          <a:rPr lang="en-US" sz="1350" i="1">
                            <a:latin typeface="Cambria Math" panose="02040503050406030204" pitchFamily="18" charset="0"/>
                          </a:rPr>
                        </m:ctrlPr>
                      </m:fPr>
                      <m:num>
                        <m:r>
                          <a:rPr lang="en-US" sz="1350" i="1">
                            <a:latin typeface="Cambria Math" panose="02040503050406030204" pitchFamily="18" charset="0"/>
                          </a:rPr>
                          <m:t>7</m:t>
                        </m:r>
                      </m:num>
                      <m:den>
                        <m:r>
                          <a:rPr lang="en-US" sz="1350" i="1">
                            <a:latin typeface="Cambria Math" panose="02040503050406030204" pitchFamily="18" charset="0"/>
                          </a:rPr>
                          <m:t>28</m:t>
                        </m:r>
                      </m:den>
                    </m:f>
                    <m:r>
                      <a:rPr lang="en-US" sz="1350" i="1">
                        <a:latin typeface="Cambria Math" panose="02040503050406030204" pitchFamily="18" charset="0"/>
                      </a:rPr>
                      <m:t> −</m:t>
                    </m:r>
                    <m:f>
                      <m:fPr>
                        <m:ctrlPr>
                          <a:rPr lang="en-US" sz="1350" i="1">
                            <a:latin typeface="Cambria Math" panose="02040503050406030204" pitchFamily="18" charset="0"/>
                          </a:rPr>
                        </m:ctrlPr>
                      </m:fPr>
                      <m:num>
                        <m:r>
                          <a:rPr lang="en-US" sz="1350" i="1">
                            <a:latin typeface="Cambria Math" panose="02040503050406030204" pitchFamily="18" charset="0"/>
                          </a:rPr>
                          <m:t>0</m:t>
                        </m:r>
                      </m:num>
                      <m:den>
                        <m:r>
                          <a:rPr lang="en-US" sz="1350" i="1">
                            <a:latin typeface="Cambria Math" panose="02040503050406030204" pitchFamily="18" charset="0"/>
                          </a:rPr>
                          <m:t>28</m:t>
                        </m:r>
                      </m:den>
                    </m:f>
                    <m:r>
                      <a:rPr lang="en-US" sz="1350" i="1">
                        <a:latin typeface="Cambria Math" panose="02040503050406030204" pitchFamily="18" charset="0"/>
                      </a:rPr>
                      <m:t>=</m:t>
                    </m:r>
                    <m:f>
                      <m:fPr>
                        <m:ctrlPr>
                          <a:rPr lang="en-US" sz="1350" i="1">
                            <a:latin typeface="Cambria Math" panose="02040503050406030204" pitchFamily="18" charset="0"/>
                          </a:rPr>
                        </m:ctrlPr>
                      </m:fPr>
                      <m:num>
                        <m:r>
                          <a:rPr lang="en-US" sz="1350" i="1">
                            <a:latin typeface="Cambria Math" panose="02040503050406030204" pitchFamily="18" charset="0"/>
                          </a:rPr>
                          <m:t>20</m:t>
                        </m:r>
                      </m:num>
                      <m:den>
                        <m:r>
                          <a:rPr lang="en-US" sz="1350" i="1">
                            <a:latin typeface="Cambria Math" panose="02040503050406030204" pitchFamily="18" charset="0"/>
                          </a:rPr>
                          <m:t>28</m:t>
                        </m:r>
                      </m:den>
                    </m:f>
                  </m:oMath>
                </a14:m>
                <a:r>
                  <a:rPr lang="en-US" altLang="en-US" sz="1350" dirty="0"/>
                  <a:t>	</a:t>
                </a:r>
              </a:p>
              <a:p>
                <a:pPr marL="0" indent="0">
                  <a:buNone/>
                </a:pPr>
                <a:r>
                  <a:rPr lang="en-US" altLang="en-US" sz="1350" dirty="0"/>
                  <a:t>On the other hand, the event of interest can be thought of as the complement </a:t>
                </a:r>
                <a:r>
                  <a:rPr lang="en-US" altLang="en-US" sz="1350" i="1" dirty="0"/>
                  <a:t>M</a:t>
                </a:r>
                <a:r>
                  <a:rPr lang="en-US" altLang="en-US" sz="1350" baseline="30000" dirty="0"/>
                  <a:t>  </a:t>
                </a:r>
                <a:r>
                  <a:rPr lang="en-US" altLang="en-US" sz="1350" dirty="0"/>
                  <a:t>of </a:t>
                </a:r>
                <a:r>
                  <a:rPr lang="en-US" altLang="en-US" sz="1350" i="1" dirty="0"/>
                  <a:t>M</a:t>
                </a:r>
                <a:r>
                  <a:rPr lang="en-US" altLang="en-US" sz="1350" dirty="0"/>
                  <a:t>, hence using the value of P(M) computed in part (2), </a:t>
                </a:r>
              </a:p>
              <a:p>
                <a:pPr marL="0" indent="0">
                  <a:buNone/>
                </a:pPr>
                <a:r>
                  <a:rPr lang="en-US" altLang="en-US" sz="1350" dirty="0"/>
                  <a:t>	P ( M complement ) = 1 – P ( M ) = </a:t>
                </a:r>
                <a14:m>
                  <m:oMath xmlns:m="http://schemas.openxmlformats.org/officeDocument/2006/math">
                    <m:r>
                      <a:rPr lang="en-US" altLang="en-US" sz="1350">
                        <a:latin typeface="Cambria Math" panose="02040503050406030204" pitchFamily="18" charset="0"/>
                      </a:rPr>
                      <m:t>1−</m:t>
                    </m:r>
                    <m:f>
                      <m:fPr>
                        <m:ctrlPr>
                          <a:rPr lang="en-US" altLang="en-US" sz="1350" i="1">
                            <a:latin typeface="Cambria Math" panose="02040503050406030204" pitchFamily="18" charset="0"/>
                          </a:rPr>
                        </m:ctrlPr>
                      </m:fPr>
                      <m:num>
                        <m:r>
                          <a:rPr lang="en-US" altLang="en-US" sz="1350" i="1">
                            <a:latin typeface="Cambria Math" panose="02040503050406030204" pitchFamily="18" charset="0"/>
                          </a:rPr>
                          <m:t>8</m:t>
                        </m:r>
                      </m:num>
                      <m:den>
                        <m:r>
                          <a:rPr lang="en-US" altLang="en-US" sz="1350" i="1">
                            <a:latin typeface="Cambria Math" panose="02040503050406030204" pitchFamily="18" charset="0"/>
                          </a:rPr>
                          <m:t>28</m:t>
                        </m:r>
                      </m:den>
                    </m:f>
                    <m:r>
                      <a:rPr lang="en-US" altLang="en-US" sz="1350" i="1">
                        <a:latin typeface="Cambria Math" panose="02040503050406030204" pitchFamily="18" charset="0"/>
                      </a:rPr>
                      <m:t>= </m:t>
                    </m:r>
                    <m:f>
                      <m:fPr>
                        <m:ctrlPr>
                          <a:rPr lang="en-US" altLang="en-US" sz="1350" i="1">
                            <a:latin typeface="Cambria Math" panose="02040503050406030204" pitchFamily="18" charset="0"/>
                          </a:rPr>
                        </m:ctrlPr>
                      </m:fPr>
                      <m:num>
                        <m:r>
                          <a:rPr lang="en-US" altLang="en-US" sz="1350" i="1">
                            <a:latin typeface="Cambria Math" panose="02040503050406030204" pitchFamily="18" charset="0"/>
                          </a:rPr>
                          <m:t>20</m:t>
                        </m:r>
                      </m:num>
                      <m:den>
                        <m:r>
                          <a:rPr lang="en-US" altLang="en-US" sz="1350" i="1">
                            <a:latin typeface="Cambria Math" panose="02040503050406030204" pitchFamily="18" charset="0"/>
                          </a:rPr>
                          <m:t>28</m:t>
                        </m:r>
                      </m:den>
                    </m:f>
                  </m:oMath>
                </a14:m>
                <a:r>
                  <a:rPr lang="en-US" altLang="en-US" sz="1350" dirty="0"/>
                  <a:t> </a:t>
                </a:r>
              </a:p>
              <a:p>
                <a:pPr marL="342900" indent="-342900">
                  <a:lnSpc>
                    <a:spcPct val="170000"/>
                  </a:lnSpc>
                  <a:buAutoNum type="arabicPeriod"/>
                </a:pPr>
                <a:endParaRPr lang="en-US" altLang="en-US" sz="1800" dirty="0">
                  <a:solidFill>
                    <a:srgbClr val="333333"/>
                  </a:solidFill>
                </a:endParaRPr>
              </a:p>
              <a:p>
                <a:pPr marL="0" indent="0">
                  <a:buNone/>
                </a:pPr>
                <a:endParaRPr lang="en-US" sz="1800" b="1" i="1" u="sng" dirty="0">
                  <a:solidFill>
                    <a:schemeClr val="tx2">
                      <a:lumMod val="75000"/>
                    </a:schemeClr>
                  </a:solidFill>
                </a:endParaRPr>
              </a:p>
              <a:p>
                <a:endParaRPr lang="en-US" sz="1800" b="1" i="1" u="sng" dirty="0">
                  <a:solidFill>
                    <a:schemeClr val="tx2">
                      <a:lumMod val="75000"/>
                    </a:schemeClr>
                  </a:solidFill>
                </a:endParaRPr>
              </a:p>
              <a:p>
                <a:pPr marL="0" indent="0" eaLnBrk="0" hangingPunct="0">
                  <a:spcBef>
                    <a:spcPct val="0"/>
                  </a:spcBef>
                  <a:buNone/>
                </a:pPr>
                <a:r>
                  <a:rPr lang="en-US" sz="1800" dirty="0"/>
                  <a:t> </a:t>
                </a:r>
                <a:br>
                  <a:rPr lang="en-US" sz="1800" dirty="0"/>
                </a:br>
                <a:r>
                  <a:rPr lang="en-US" sz="1800" dirty="0"/>
                  <a:t/>
                </a:r>
                <a:br>
                  <a:rPr lang="en-US" sz="1800" dirty="0"/>
                </a:br>
                <a:endParaRPr lang="en-US" sz="1800" dirty="0"/>
              </a:p>
              <a:p>
                <a:pPr marL="0" indent="0">
                  <a:buNone/>
                </a:pPr>
                <a:r>
                  <a:rPr lang="en-US" sz="1800" dirty="0"/>
                  <a:t/>
                </a:r>
                <a:br>
                  <a:rPr lang="en-US" sz="1800" dirty="0"/>
                </a:b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252904"/>
                <a:ext cx="7886700" cy="5779908"/>
              </a:xfrm>
              <a:blipFill>
                <a:blip r:embed="rId3"/>
                <a:stretch>
                  <a:fillRect l="-464" t="-1477"/>
                </a:stretch>
              </a:blipFill>
            </p:spPr>
            <p:txBody>
              <a:bodyPr/>
              <a:lstStyle/>
              <a:p>
                <a:r>
                  <a:rPr lang="en-US">
                    <a:noFill/>
                  </a:rPr>
                  <a:t> </a:t>
                </a:r>
              </a:p>
            </p:txBody>
          </p:sp>
        </mc:Fallback>
      </mc:AlternateContent>
      <p:sp>
        <p:nvSpPr>
          <p:cNvPr id="4" name="Title 1"/>
          <p:cNvSpPr txBox="1">
            <a:spLocks/>
          </p:cNvSpPr>
          <p:nvPr/>
        </p:nvSpPr>
        <p:spPr>
          <a:xfrm>
            <a:off x="628650" y="158261"/>
            <a:ext cx="8181242" cy="114080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t>5.2.1 The Sample Space, Probabilities, and Independence </a:t>
            </a:r>
            <a:br>
              <a:rPr lang="en-US" sz="3300" dirty="0"/>
            </a:br>
            <a:endParaRPr lang="en-US" sz="3300" dirty="0"/>
          </a:p>
        </p:txBody>
      </p:sp>
      <p:graphicFrame>
        <p:nvGraphicFramePr>
          <p:cNvPr id="5" name="Table 4"/>
          <p:cNvGraphicFramePr>
            <a:graphicFrameLocks noGrp="1"/>
          </p:cNvGraphicFramePr>
          <p:nvPr>
            <p:extLst/>
          </p:nvPr>
        </p:nvGraphicFramePr>
        <p:xfrm>
          <a:off x="1992191" y="962763"/>
          <a:ext cx="6096000" cy="17678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516478724"/>
                    </a:ext>
                  </a:extLst>
                </a:gridCol>
                <a:gridCol w="1524000">
                  <a:extLst>
                    <a:ext uri="{9D8B030D-6E8A-4147-A177-3AD203B41FA5}">
                      <a16:colId xmlns:a16="http://schemas.microsoft.com/office/drawing/2014/main" val="1867074098"/>
                    </a:ext>
                  </a:extLst>
                </a:gridCol>
                <a:gridCol w="1524000">
                  <a:extLst>
                    <a:ext uri="{9D8B030D-6E8A-4147-A177-3AD203B41FA5}">
                      <a16:colId xmlns:a16="http://schemas.microsoft.com/office/drawing/2014/main" val="1317529701"/>
                    </a:ext>
                  </a:extLst>
                </a:gridCol>
                <a:gridCol w="1524000">
                  <a:extLst>
                    <a:ext uri="{9D8B030D-6E8A-4147-A177-3AD203B41FA5}">
                      <a16:colId xmlns:a16="http://schemas.microsoft.com/office/drawing/2014/main" val="3123090622"/>
                    </a:ext>
                  </a:extLst>
                </a:gridCol>
              </a:tblGrid>
              <a:tr h="278130">
                <a:tc rowSpan="2">
                  <a:txBody>
                    <a:bodyPr/>
                    <a:lstStyle/>
                    <a:p>
                      <a:pPr algn="ctr"/>
                      <a:r>
                        <a:rPr lang="en-US" sz="1400" b="1" i="0" kern="1200" dirty="0">
                          <a:solidFill>
                            <a:schemeClr val="lt1"/>
                          </a:solidFill>
                          <a:effectLst/>
                          <a:latin typeface="+mn-lt"/>
                          <a:ea typeface="+mn-ea"/>
                          <a:cs typeface="+mn-cs"/>
                        </a:rPr>
                        <a:t>Specialty</a:t>
                      </a:r>
                      <a:endParaRPr lang="en-US" sz="1000" dirty="0"/>
                    </a:p>
                  </a:txBody>
                  <a:tcPr marL="68580" marR="68580" marT="34290" marB="34290" anchor="ctr"/>
                </a:tc>
                <a:tc gridSpan="2">
                  <a:txBody>
                    <a:bodyPr/>
                    <a:lstStyle/>
                    <a:p>
                      <a:pPr algn="ctr"/>
                      <a:r>
                        <a:rPr lang="en-US" sz="1000" dirty="0"/>
                        <a:t>Language</a:t>
                      </a:r>
                      <a:r>
                        <a:rPr lang="en-US" sz="1000" baseline="0" dirty="0"/>
                        <a:t> Ability</a:t>
                      </a:r>
                      <a:endParaRPr lang="en-US" sz="1000" dirty="0"/>
                    </a:p>
                  </a:txBody>
                  <a:tcPr marL="68580" marR="68580" marT="34290" marB="34290" anchor="ctr"/>
                </a:tc>
                <a:tc hMerge="1">
                  <a:txBody>
                    <a:bodyPr/>
                    <a:lstStyle/>
                    <a:p>
                      <a:endParaRPr lang="en-US" dirty="0"/>
                    </a:p>
                  </a:txBody>
                  <a:tcPr/>
                </a:tc>
                <a:tc>
                  <a:txBody>
                    <a:bodyPr/>
                    <a:lstStyle/>
                    <a:p>
                      <a:pPr algn="ctr"/>
                      <a:endParaRPr lang="en-US" sz="1000" dirty="0"/>
                    </a:p>
                  </a:txBody>
                  <a:tcPr marL="68580" marR="68580" marT="34290" marB="34290" anchor="ctr"/>
                </a:tc>
                <a:extLst>
                  <a:ext uri="{0D108BD9-81ED-4DB2-BD59-A6C34878D82A}">
                    <a16:rowId xmlns:a16="http://schemas.microsoft.com/office/drawing/2014/main" val="158415719"/>
                  </a:ext>
                </a:extLst>
              </a:tr>
              <a:tr h="377190">
                <a:tc vMerge="1">
                  <a:txBody>
                    <a:bodyPr/>
                    <a:lstStyle/>
                    <a:p>
                      <a:endParaRPr lang="en-US" dirty="0"/>
                    </a:p>
                  </a:txBody>
                  <a:tcPr/>
                </a:tc>
                <a:tc>
                  <a:txBody>
                    <a:bodyPr/>
                    <a:lstStyle/>
                    <a:p>
                      <a:pPr algn="ctr"/>
                      <a:r>
                        <a:rPr lang="en-US" sz="1000" dirty="0"/>
                        <a:t>Single language (S)</a:t>
                      </a:r>
                    </a:p>
                  </a:txBody>
                  <a:tcPr marL="68580" marR="68580" marT="34290" marB="34290" anchor="ctr"/>
                </a:tc>
                <a:tc>
                  <a:txBody>
                    <a:bodyPr/>
                    <a:lstStyle/>
                    <a:p>
                      <a:pPr algn="ctr"/>
                      <a:r>
                        <a:rPr lang="en-US" sz="1000" dirty="0"/>
                        <a:t>Two</a:t>
                      </a:r>
                      <a:r>
                        <a:rPr lang="en-US" sz="1000" baseline="0" dirty="0"/>
                        <a:t> or more languages (T)</a:t>
                      </a:r>
                      <a:endParaRPr lang="en-US" sz="1000" dirty="0"/>
                    </a:p>
                  </a:txBody>
                  <a:tcPr marL="68580" marR="68580" marT="34290" marB="34290" anchor="ctr"/>
                </a:tc>
                <a:tc>
                  <a:txBody>
                    <a:bodyPr/>
                    <a:lstStyle/>
                    <a:p>
                      <a:pPr algn="ctr"/>
                      <a:r>
                        <a:rPr lang="en-US" sz="1000" dirty="0"/>
                        <a:t>Total</a:t>
                      </a:r>
                    </a:p>
                  </a:txBody>
                  <a:tcPr marL="68580" marR="68580" marT="34290" marB="34290" anchor="ctr"/>
                </a:tc>
                <a:extLst>
                  <a:ext uri="{0D108BD9-81ED-4DB2-BD59-A6C34878D82A}">
                    <a16:rowId xmlns:a16="http://schemas.microsoft.com/office/drawing/2014/main" val="443425752"/>
                  </a:ext>
                </a:extLst>
              </a:tr>
              <a:tr h="278130">
                <a:tc>
                  <a:txBody>
                    <a:bodyPr/>
                    <a:lstStyle/>
                    <a:p>
                      <a:pPr algn="ctr"/>
                      <a:r>
                        <a:rPr lang="en-US" sz="1000" dirty="0"/>
                        <a:t>IT (I)</a:t>
                      </a:r>
                    </a:p>
                  </a:txBody>
                  <a:tcPr marL="68580" marR="68580" marT="34290" marB="34290" anchor="ctr"/>
                </a:tc>
                <a:tc>
                  <a:txBody>
                    <a:bodyPr/>
                    <a:lstStyle/>
                    <a:p>
                      <a:pPr algn="ctr"/>
                      <a:r>
                        <a:rPr lang="en-US" sz="1000" dirty="0"/>
                        <a:t>6</a:t>
                      </a:r>
                    </a:p>
                  </a:txBody>
                  <a:tcPr marL="68580" marR="68580" marT="34290" marB="34290" anchor="ctr"/>
                </a:tc>
                <a:tc>
                  <a:txBody>
                    <a:bodyPr/>
                    <a:lstStyle/>
                    <a:p>
                      <a:pPr algn="ctr"/>
                      <a:r>
                        <a:rPr lang="en-US" sz="1000" dirty="0"/>
                        <a:t>2</a:t>
                      </a:r>
                    </a:p>
                  </a:txBody>
                  <a:tcPr marL="68580" marR="68580" marT="34290" marB="34290" anchor="ctr"/>
                </a:tc>
                <a:tc>
                  <a:txBody>
                    <a:bodyPr/>
                    <a:lstStyle/>
                    <a:p>
                      <a:pPr algn="ctr"/>
                      <a:r>
                        <a:rPr lang="en-US" sz="1000" dirty="0"/>
                        <a:t>8</a:t>
                      </a:r>
                    </a:p>
                  </a:txBody>
                  <a:tcPr marL="68580" marR="68580" marT="34290" marB="34290" anchor="ctr"/>
                </a:tc>
                <a:extLst>
                  <a:ext uri="{0D108BD9-81ED-4DB2-BD59-A6C34878D82A}">
                    <a16:rowId xmlns:a16="http://schemas.microsoft.com/office/drawing/2014/main" val="2926885757"/>
                  </a:ext>
                </a:extLst>
              </a:tr>
              <a:tr h="278130">
                <a:tc>
                  <a:txBody>
                    <a:bodyPr/>
                    <a:lstStyle/>
                    <a:p>
                      <a:pPr algn="ctr"/>
                      <a:r>
                        <a:rPr lang="en-US" sz="1000" dirty="0"/>
                        <a:t>BA (B)</a:t>
                      </a:r>
                    </a:p>
                  </a:txBody>
                  <a:tcPr marL="68580" marR="68580" marT="34290" marB="34290" anchor="ctr"/>
                </a:tc>
                <a:tc>
                  <a:txBody>
                    <a:bodyPr/>
                    <a:lstStyle/>
                    <a:p>
                      <a:pPr algn="ctr"/>
                      <a:r>
                        <a:rPr lang="en-US" sz="1000" dirty="0"/>
                        <a:t>12</a:t>
                      </a:r>
                    </a:p>
                  </a:txBody>
                  <a:tcPr marL="68580" marR="68580" marT="34290" marB="34290" anchor="ctr"/>
                </a:tc>
                <a:tc>
                  <a:txBody>
                    <a:bodyPr/>
                    <a:lstStyle/>
                    <a:p>
                      <a:pPr algn="ctr"/>
                      <a:r>
                        <a:rPr lang="en-US" sz="1000" dirty="0"/>
                        <a:t>1</a:t>
                      </a:r>
                    </a:p>
                  </a:txBody>
                  <a:tcPr marL="68580" marR="68580" marT="34290" marB="34290" anchor="ctr"/>
                </a:tc>
                <a:tc>
                  <a:txBody>
                    <a:bodyPr/>
                    <a:lstStyle/>
                    <a:p>
                      <a:pPr algn="ctr"/>
                      <a:r>
                        <a:rPr lang="en-US" sz="1000" dirty="0"/>
                        <a:t>13</a:t>
                      </a:r>
                    </a:p>
                  </a:txBody>
                  <a:tcPr marL="68580" marR="68580" marT="34290" marB="34290" anchor="ctr"/>
                </a:tc>
                <a:extLst>
                  <a:ext uri="{0D108BD9-81ED-4DB2-BD59-A6C34878D82A}">
                    <a16:rowId xmlns:a16="http://schemas.microsoft.com/office/drawing/2014/main" val="2970119873"/>
                  </a:ext>
                </a:extLst>
              </a:tr>
              <a:tr h="278130">
                <a:tc>
                  <a:txBody>
                    <a:bodyPr/>
                    <a:lstStyle/>
                    <a:p>
                      <a:pPr algn="ctr"/>
                      <a:r>
                        <a:rPr lang="en-US" sz="1000" dirty="0"/>
                        <a:t>BME</a:t>
                      </a:r>
                      <a:r>
                        <a:rPr lang="en-US" sz="1000" baseline="0" dirty="0"/>
                        <a:t> (E)</a:t>
                      </a:r>
                      <a:endParaRPr lang="en-US" sz="1000" dirty="0"/>
                    </a:p>
                  </a:txBody>
                  <a:tcPr marL="68580" marR="68580" marT="34290" marB="34290" anchor="ctr"/>
                </a:tc>
                <a:tc>
                  <a:txBody>
                    <a:bodyPr/>
                    <a:lstStyle/>
                    <a:p>
                      <a:pPr algn="ctr"/>
                      <a:r>
                        <a:rPr lang="en-US" sz="1000" dirty="0"/>
                        <a:t>4</a:t>
                      </a:r>
                    </a:p>
                  </a:txBody>
                  <a:tcPr marL="68580" marR="68580" marT="34290" marB="34290" anchor="ctr"/>
                </a:tc>
                <a:tc>
                  <a:txBody>
                    <a:bodyPr/>
                    <a:lstStyle/>
                    <a:p>
                      <a:pPr algn="ctr"/>
                      <a:r>
                        <a:rPr lang="en-US" sz="1000" dirty="0"/>
                        <a:t>3</a:t>
                      </a:r>
                    </a:p>
                  </a:txBody>
                  <a:tcPr marL="68580" marR="68580" marT="34290" marB="34290" anchor="ctr"/>
                </a:tc>
                <a:tc>
                  <a:txBody>
                    <a:bodyPr/>
                    <a:lstStyle/>
                    <a:p>
                      <a:pPr algn="ctr"/>
                      <a:r>
                        <a:rPr lang="en-US" sz="1000" dirty="0"/>
                        <a:t>7</a:t>
                      </a:r>
                    </a:p>
                  </a:txBody>
                  <a:tcPr marL="68580" marR="68580" marT="34290" marB="34290" anchor="ctr"/>
                </a:tc>
                <a:extLst>
                  <a:ext uri="{0D108BD9-81ED-4DB2-BD59-A6C34878D82A}">
                    <a16:rowId xmlns:a16="http://schemas.microsoft.com/office/drawing/2014/main" val="3068543753"/>
                  </a:ext>
                </a:extLst>
              </a:tr>
              <a:tr h="278130">
                <a:tc>
                  <a:txBody>
                    <a:bodyPr/>
                    <a:lstStyle/>
                    <a:p>
                      <a:pPr algn="ctr"/>
                      <a:r>
                        <a:rPr lang="en-US" sz="1000" dirty="0"/>
                        <a:t>Total</a:t>
                      </a:r>
                    </a:p>
                  </a:txBody>
                  <a:tcPr marL="68580" marR="68580" marT="34290" marB="34290" anchor="ctr"/>
                </a:tc>
                <a:tc>
                  <a:txBody>
                    <a:bodyPr/>
                    <a:lstStyle/>
                    <a:p>
                      <a:pPr algn="ctr"/>
                      <a:r>
                        <a:rPr lang="en-US" sz="1000" dirty="0"/>
                        <a:t>22</a:t>
                      </a:r>
                    </a:p>
                  </a:txBody>
                  <a:tcPr marL="68580" marR="68580" marT="34290" marB="34290" anchor="ctr"/>
                </a:tc>
                <a:tc>
                  <a:txBody>
                    <a:bodyPr/>
                    <a:lstStyle/>
                    <a:p>
                      <a:pPr algn="ctr"/>
                      <a:r>
                        <a:rPr lang="en-US" sz="1000" dirty="0"/>
                        <a:t>6</a:t>
                      </a:r>
                    </a:p>
                  </a:txBody>
                  <a:tcPr marL="68580" marR="68580" marT="34290" marB="34290" anchor="ctr"/>
                </a:tc>
                <a:tc>
                  <a:txBody>
                    <a:bodyPr/>
                    <a:lstStyle/>
                    <a:p>
                      <a:pPr algn="ctr"/>
                      <a:r>
                        <a:rPr lang="en-US" sz="1000" dirty="0"/>
                        <a:t>28</a:t>
                      </a:r>
                    </a:p>
                  </a:txBody>
                  <a:tcPr marL="68580" marR="68580" marT="34290" marB="34290" anchor="ctr"/>
                </a:tc>
                <a:extLst>
                  <a:ext uri="{0D108BD9-81ED-4DB2-BD59-A6C34878D82A}">
                    <a16:rowId xmlns:a16="http://schemas.microsoft.com/office/drawing/2014/main" val="1047158508"/>
                  </a:ext>
                </a:extLst>
              </a:tr>
            </a:tbl>
          </a:graphicData>
        </a:graphic>
      </p:graphicFrame>
      <p:sp>
        <p:nvSpPr>
          <p:cNvPr id="2" name="Rectangle 1"/>
          <p:cNvSpPr>
            <a:spLocks noChangeArrowheads="1"/>
          </p:cNvSpPr>
          <p:nvPr/>
        </p:nvSpPr>
        <p:spPr bwMode="auto">
          <a:xfrm>
            <a:off x="0" y="-98103"/>
            <a:ext cx="5843587" cy="196208"/>
          </a:xfrm>
          <a:prstGeom prst="rect">
            <a:avLst/>
          </a:prstGeom>
          <a:solidFill>
            <a:srgbClr val="E3EF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US" sz="750" dirty="0">
                <a:solidFill>
                  <a:srgbClr val="333333"/>
                </a:solidFill>
                <a:latin typeface="Calibri2"/>
              </a:rPr>
              <a:t>On the other hand, the event of interest can be thought of as the complement </a:t>
            </a:r>
            <a:r>
              <a:rPr lang="en-US" altLang="en-US" sz="750" i="1" dirty="0" err="1">
                <a:solidFill>
                  <a:srgbClr val="333333"/>
                </a:solidFill>
                <a:latin typeface="Calibri2"/>
              </a:rPr>
              <a:t>M</a:t>
            </a:r>
            <a:r>
              <a:rPr lang="en-US" altLang="en-US" sz="600" baseline="30000" dirty="0" err="1">
                <a:solidFill>
                  <a:srgbClr val="333333"/>
                </a:solidFill>
                <a:latin typeface="Calibri2"/>
              </a:rPr>
              <a:t>c</a:t>
            </a:r>
            <a:r>
              <a:rPr lang="en-US" altLang="en-US" sz="750" dirty="0" err="1">
                <a:solidFill>
                  <a:srgbClr val="333333"/>
                </a:solidFill>
                <a:latin typeface="Calibri2"/>
              </a:rPr>
              <a:t>of</a:t>
            </a:r>
            <a:r>
              <a:rPr lang="en-US" altLang="en-US" sz="750" dirty="0">
                <a:solidFill>
                  <a:srgbClr val="333333"/>
                </a:solidFill>
                <a:latin typeface="Calibri2"/>
              </a:rPr>
              <a:t> </a:t>
            </a:r>
            <a:r>
              <a:rPr lang="en-US" altLang="en-US" sz="750" i="1" dirty="0">
                <a:solidFill>
                  <a:srgbClr val="333333"/>
                </a:solidFill>
                <a:latin typeface="Calibri2"/>
              </a:rPr>
              <a:t>M</a:t>
            </a:r>
            <a:r>
              <a:rPr lang="en-US" altLang="en-US" sz="750" dirty="0">
                <a:solidFill>
                  <a:srgbClr val="333333"/>
                </a:solidFill>
                <a:latin typeface="Calibri2"/>
              </a:rPr>
              <a:t>, hence using the value of </a:t>
            </a:r>
            <a:r>
              <a:rPr lang="en-US" altLang="en-US" sz="825" dirty="0">
                <a:solidFill>
                  <a:srgbClr val="333333"/>
                </a:solidFill>
                <a:latin typeface="MathJax_Math-italic"/>
              </a:rPr>
              <a:t>P</a:t>
            </a:r>
            <a:r>
              <a:rPr lang="en-US" altLang="en-US" sz="825" dirty="0">
                <a:solidFill>
                  <a:srgbClr val="333333"/>
                </a:solidFill>
                <a:latin typeface="MathJax_Main"/>
              </a:rPr>
              <a:t>(</a:t>
            </a:r>
            <a:r>
              <a:rPr lang="en-US" altLang="en-US" sz="825" dirty="0">
                <a:solidFill>
                  <a:srgbClr val="333333"/>
                </a:solidFill>
                <a:latin typeface="MathJax_Math-italic"/>
              </a:rPr>
              <a:t>M</a:t>
            </a:r>
            <a:r>
              <a:rPr lang="en-US" altLang="en-US" sz="825" dirty="0">
                <a:solidFill>
                  <a:srgbClr val="333333"/>
                </a:solidFill>
                <a:latin typeface="MathJax_Main"/>
              </a:rPr>
              <a:t>)</a:t>
            </a:r>
            <a:r>
              <a:rPr lang="en-US" altLang="en-US" sz="750" dirty="0">
                <a:solidFill>
                  <a:srgbClr val="333333"/>
                </a:solidFill>
                <a:latin typeface="Calibri2"/>
              </a:rPr>
              <a:t>P(M) computed in part (b),</a:t>
            </a:r>
            <a:r>
              <a:rPr lang="en-US" altLang="en-US" sz="600" dirty="0"/>
              <a:t> </a:t>
            </a:r>
            <a:endParaRPr lang="en-US" altLang="en-US" sz="1350" dirty="0"/>
          </a:p>
        </p:txBody>
      </p:sp>
    </p:spTree>
    <p:extLst>
      <p:ext uri="{BB962C8B-B14F-4D97-AF65-F5344CB8AC3E}">
        <p14:creationId xmlns:p14="http://schemas.microsoft.com/office/powerpoint/2010/main" val="16975216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Title 1"/>
          <p:cNvSpPr txBox="1">
            <a:spLocks/>
          </p:cNvSpPr>
          <p:nvPr/>
        </p:nvSpPr>
        <p:spPr>
          <a:xfrm>
            <a:off x="884419" y="620010"/>
            <a:ext cx="7375161"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2100" kern="1200">
                <a:solidFill>
                  <a:srgbClr val="FFFFFF"/>
                </a:solidFill>
                <a:latin typeface="+mj-lt"/>
                <a:ea typeface="+mj-ea"/>
                <a:cs typeface="+mj-cs"/>
              </a:rPr>
              <a:t>5.2.1 The Sample Space, Probabilities, and Independence </a:t>
            </a:r>
            <a:br>
              <a:rPr lang="en-US" sz="2100" kern="1200">
                <a:solidFill>
                  <a:srgbClr val="FFFFFF"/>
                </a:solidFill>
                <a:latin typeface="+mj-lt"/>
                <a:ea typeface="+mj-ea"/>
                <a:cs typeface="+mj-cs"/>
              </a:rPr>
            </a:br>
            <a:endParaRPr lang="en-US" sz="2100" kern="1200">
              <a:solidFill>
                <a:srgbClr val="FFFFFF"/>
              </a:solidFill>
              <a:latin typeface="+mj-lt"/>
              <a:ea typeface="+mj-ea"/>
              <a:cs typeface="+mj-cs"/>
            </a:endParaRPr>
          </a:p>
        </p:txBody>
      </p:sp>
      <p:sp>
        <p:nvSpPr>
          <p:cNvPr id="3" name="Content Placeholder 2"/>
          <p:cNvSpPr>
            <a:spLocks noGrp="1"/>
          </p:cNvSpPr>
          <p:nvPr>
            <p:ph idx="1"/>
          </p:nvPr>
        </p:nvSpPr>
        <p:spPr>
          <a:xfrm>
            <a:off x="884419" y="2319727"/>
            <a:ext cx="7375161" cy="2020482"/>
          </a:xfrm>
        </p:spPr>
        <p:txBody>
          <a:bodyPr vert="horz" lIns="91440" tIns="45720" rIns="91440" bIns="45720" rtlCol="0">
            <a:normAutofit/>
          </a:bodyPr>
          <a:lstStyle/>
          <a:p>
            <a:pPr indent="-228600">
              <a:lnSpc>
                <a:spcPct val="90000"/>
              </a:lnSpc>
              <a:buFont typeface="Arial" panose="020B0604020202020204" pitchFamily="34" charset="0"/>
              <a:buChar char="•"/>
            </a:pPr>
            <a:r>
              <a:rPr lang="en-US" sz="900" b="1" i="1" dirty="0">
                <a:solidFill>
                  <a:srgbClr val="000000"/>
                </a:solidFill>
              </a:rPr>
              <a:t> Independent events: </a:t>
            </a:r>
            <a:r>
              <a:rPr lang="en-US" sz="900" dirty="0">
                <a:solidFill>
                  <a:srgbClr val="000000"/>
                </a:solidFill>
              </a:rPr>
              <a:t>Two events A and B are </a:t>
            </a:r>
            <a:r>
              <a:rPr lang="en-US" sz="900" i="1" dirty="0">
                <a:solidFill>
                  <a:srgbClr val="000000"/>
                </a:solidFill>
              </a:rPr>
              <a:t>independent </a:t>
            </a:r>
            <a:r>
              <a:rPr lang="en-US" sz="900" dirty="0">
                <a:solidFill>
                  <a:srgbClr val="000000"/>
                </a:solidFill>
              </a:rPr>
              <a:t>if and only if the probability of their both occurring is equal to the product of their occurring individually. This independence relation</a:t>
            </a:r>
            <a:br>
              <a:rPr lang="en-US" sz="900" dirty="0">
                <a:solidFill>
                  <a:srgbClr val="000000"/>
                </a:solidFill>
              </a:rPr>
            </a:br>
            <a:r>
              <a:rPr lang="en-US" sz="900" dirty="0">
                <a:solidFill>
                  <a:srgbClr val="000000"/>
                </a:solidFill>
              </a:rPr>
              <a:t>is expressed:</a:t>
            </a:r>
            <a:br>
              <a:rPr lang="en-US" sz="900" dirty="0">
                <a:solidFill>
                  <a:srgbClr val="000000"/>
                </a:solidFill>
              </a:rPr>
            </a:br>
            <a:r>
              <a:rPr lang="en-US" sz="900" dirty="0">
                <a:solidFill>
                  <a:srgbClr val="000000"/>
                </a:solidFill>
              </a:rPr>
              <a:t>				p(A ∩ B) = p(A) * p(B) </a:t>
            </a:r>
          </a:p>
          <a:p>
            <a:pPr marL="0" indent="-228600">
              <a:lnSpc>
                <a:spcPct val="90000"/>
              </a:lnSpc>
              <a:buFont typeface="Arial" panose="020B0604020202020204" pitchFamily="34" charset="0"/>
              <a:buChar char="•"/>
            </a:pPr>
            <a:r>
              <a:rPr lang="en-US" sz="900" dirty="0">
                <a:solidFill>
                  <a:srgbClr val="000000"/>
                </a:solidFill>
              </a:rPr>
              <a:t>Example: There are 8 bit strings of length four that end with a 0: {1110, 1100, 1010, 1000,0010, 0100, 0110, 0000}. There are also 8 bit strings that have an even number of 1s: {1111, 1100, 1010, 1001, 0110, 0101, 0011, 0000}. The number of bit strings that have both an even number of 1s and end with a 0 is 4: {1100, 1010, 0110, 0000}. Now these two events are independent since </a:t>
            </a:r>
          </a:p>
          <a:p>
            <a:pPr marL="0" indent="-228600">
              <a:lnSpc>
                <a:spcPct val="90000"/>
              </a:lnSpc>
              <a:buFont typeface="Arial" panose="020B0604020202020204" pitchFamily="34" charset="0"/>
              <a:buChar char="•"/>
            </a:pPr>
            <a:r>
              <a:rPr lang="en-US" sz="900" dirty="0">
                <a:solidFill>
                  <a:srgbClr val="000000"/>
                </a:solidFill>
              </a:rPr>
              <a:t>p({even number of 1s} ∩ {end with 0}) = p({even number of 1s}) x p({end with 0})</a:t>
            </a:r>
            <a:br>
              <a:rPr lang="en-US" sz="900" dirty="0">
                <a:solidFill>
                  <a:srgbClr val="000000"/>
                </a:solidFill>
              </a:rPr>
            </a:br>
            <a:r>
              <a:rPr lang="en-US" sz="900" dirty="0">
                <a:solidFill>
                  <a:srgbClr val="000000"/>
                </a:solidFill>
              </a:rPr>
              <a:t>			4/16 = 8/16 x 8/16 = 1/4 </a:t>
            </a:r>
            <a:br>
              <a:rPr lang="en-US" sz="900" dirty="0">
                <a:solidFill>
                  <a:srgbClr val="000000"/>
                </a:solidFill>
              </a:rPr>
            </a:br>
            <a:r>
              <a:rPr lang="en-US" sz="900" dirty="0">
                <a:solidFill>
                  <a:srgbClr val="000000"/>
                </a:solidFill>
              </a:rPr>
              <a:t/>
            </a:r>
            <a:br>
              <a:rPr lang="en-US" sz="900" dirty="0">
                <a:solidFill>
                  <a:srgbClr val="000000"/>
                </a:solidFill>
              </a:rPr>
            </a:br>
            <a:r>
              <a:rPr lang="en-US" sz="900" dirty="0">
                <a:solidFill>
                  <a:srgbClr val="000000"/>
                </a:solidFill>
              </a:rPr>
              <a:t/>
            </a:r>
            <a:br>
              <a:rPr lang="en-US" sz="900" dirty="0">
                <a:solidFill>
                  <a:srgbClr val="000000"/>
                </a:solidFill>
              </a:rPr>
            </a:br>
            <a:endParaRPr lang="en-US" sz="900" dirty="0">
              <a:solidFill>
                <a:srgbClr val="000000"/>
              </a:solidFill>
            </a:endParaRPr>
          </a:p>
        </p:txBody>
      </p:sp>
    </p:spTree>
    <p:extLst>
      <p:ext uri="{BB962C8B-B14F-4D97-AF65-F5344CB8AC3E}">
        <p14:creationId xmlns:p14="http://schemas.microsoft.com/office/powerpoint/2010/main" val="620794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51DFE5-F63D-4BE0-BDA9-E3EB88F01A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06545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AA16612-ACD2-4A16-8F2B-4514FD6BF28F}"/>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Title 1"/>
          <p:cNvSpPr txBox="1">
            <a:spLocks/>
          </p:cNvSpPr>
          <p:nvPr/>
        </p:nvSpPr>
        <p:spPr>
          <a:xfrm>
            <a:off x="884419" y="620010"/>
            <a:ext cx="7375161"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2100" kern="1200">
                <a:solidFill>
                  <a:srgbClr val="FFFFFF"/>
                </a:solidFill>
                <a:latin typeface="+mj-lt"/>
                <a:ea typeface="+mj-ea"/>
                <a:cs typeface="+mj-cs"/>
              </a:rPr>
              <a:t>5.2.1 The Sample Space, Probabilities, and Independence </a:t>
            </a:r>
            <a:br>
              <a:rPr lang="en-US" sz="2100" kern="1200">
                <a:solidFill>
                  <a:srgbClr val="FFFFFF"/>
                </a:solidFill>
                <a:latin typeface="+mj-lt"/>
                <a:ea typeface="+mj-ea"/>
                <a:cs typeface="+mj-cs"/>
              </a:rPr>
            </a:br>
            <a:endParaRPr lang="en-US" sz="2100" kern="1200">
              <a:solidFill>
                <a:srgbClr val="FFFFFF"/>
              </a:solidFill>
              <a:latin typeface="+mj-lt"/>
              <a:ea typeface="+mj-ea"/>
              <a:cs typeface="+mj-cs"/>
            </a:endParaRPr>
          </a:p>
        </p:txBody>
      </p:sp>
      <p:sp>
        <p:nvSpPr>
          <p:cNvPr id="3" name="Content Placeholder 2"/>
          <p:cNvSpPr>
            <a:spLocks noGrp="1"/>
          </p:cNvSpPr>
          <p:nvPr>
            <p:ph idx="1"/>
          </p:nvPr>
        </p:nvSpPr>
        <p:spPr>
          <a:xfrm>
            <a:off x="884419" y="2319727"/>
            <a:ext cx="7375161" cy="2020482"/>
          </a:xfrm>
        </p:spPr>
        <p:txBody>
          <a:bodyPr vert="horz" lIns="91440" tIns="45720" rIns="91440" bIns="45720" rtlCol="0">
            <a:normAutofit/>
          </a:bodyPr>
          <a:lstStyle/>
          <a:p>
            <a:pPr indent="-228600">
              <a:lnSpc>
                <a:spcPct val="90000"/>
              </a:lnSpc>
              <a:buFont typeface="Arial" panose="020B0604020202020204" pitchFamily="34" charset="0"/>
              <a:buChar char="•"/>
            </a:pPr>
            <a:r>
              <a:rPr lang="en-US" sz="1500">
                <a:solidFill>
                  <a:srgbClr val="000000"/>
                </a:solidFill>
              </a:rPr>
              <a:t>A card is chosen at random from a deck of 52 cards. It is then replaced and a second card is chosen. What is the probability of choosing a jack and then an eight? (1/169)</a:t>
            </a:r>
          </a:p>
          <a:p>
            <a:pPr indent="-228600">
              <a:lnSpc>
                <a:spcPct val="90000"/>
              </a:lnSpc>
              <a:buFont typeface="Arial" panose="020B0604020202020204" pitchFamily="34" charset="0"/>
              <a:buChar char="•"/>
            </a:pPr>
            <a:r>
              <a:rPr lang="en-US" sz="1500">
                <a:solidFill>
                  <a:srgbClr val="000000"/>
                </a:solidFill>
              </a:rPr>
              <a:t>A jar contains 3 red, 5 green, 2 blue and 6 yellow marbles. A marble is chosen at random from the jar. After replacing it, a second marble is chosen. What is the probability of choosing a green and then a yellow marble? (15/128)</a:t>
            </a:r>
            <a:br>
              <a:rPr lang="en-US" sz="1500">
                <a:solidFill>
                  <a:srgbClr val="000000"/>
                </a:solidFill>
              </a:rPr>
            </a:br>
            <a:r>
              <a:rPr lang="en-US" sz="1500">
                <a:solidFill>
                  <a:srgbClr val="000000"/>
                </a:solidFill>
              </a:rPr>
              <a:t/>
            </a:r>
            <a:br>
              <a:rPr lang="en-US" sz="1500">
                <a:solidFill>
                  <a:srgbClr val="000000"/>
                </a:solidFill>
              </a:rPr>
            </a:br>
            <a:r>
              <a:rPr lang="en-US" sz="1500">
                <a:solidFill>
                  <a:srgbClr val="000000"/>
                </a:solidFill>
              </a:rPr>
              <a:t/>
            </a:r>
            <a:br>
              <a:rPr lang="en-US" sz="1500">
                <a:solidFill>
                  <a:srgbClr val="000000"/>
                </a:solidFill>
              </a:rPr>
            </a:br>
            <a:endParaRPr lang="en-US" sz="1500">
              <a:solidFill>
                <a:srgbClr val="000000"/>
              </a:solidFill>
            </a:endParaRPr>
          </a:p>
        </p:txBody>
      </p:sp>
    </p:spTree>
    <p:extLst>
      <p:ext uri="{BB962C8B-B14F-4D97-AF65-F5344CB8AC3E}">
        <p14:creationId xmlns:p14="http://schemas.microsoft.com/office/powerpoint/2010/main" val="3606999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a:t/>
            </a:r>
            <a:br>
              <a:rPr lang="en-US" dirty="0"/>
            </a:br>
            <a:r>
              <a:rPr lang="en-US" dirty="0"/>
              <a:t>5.2.1 The Sample Space, Probabilities, and Independence</a:t>
            </a:r>
            <a:br>
              <a:rPr lang="en-US" dirty="0"/>
            </a:br>
            <a:r>
              <a:rPr lang="en-US" dirty="0"/>
              <a:t/>
            </a:r>
            <a:br>
              <a:rPr lang="en-US" dirty="0"/>
            </a:br>
            <a:endParaRPr lang="en-US" dirty="0"/>
          </a:p>
        </p:txBody>
      </p:sp>
      <p:sp>
        <p:nvSpPr>
          <p:cNvPr id="3" name="Content Placeholder 2"/>
          <p:cNvSpPr>
            <a:spLocks noGrp="1"/>
          </p:cNvSpPr>
          <p:nvPr>
            <p:ph idx="1"/>
          </p:nvPr>
        </p:nvSpPr>
        <p:spPr/>
        <p:txBody>
          <a:bodyPr/>
          <a:lstStyle/>
          <a:p>
            <a:r>
              <a:rPr lang="en-US" b="1" i="1" dirty="0">
                <a:solidFill>
                  <a:srgbClr val="FF0000"/>
                </a:solidFill>
              </a:rPr>
              <a:t>Probabilistic Inference: </a:t>
            </a:r>
            <a:r>
              <a:rPr lang="en-US" dirty="0"/>
              <a:t>is the task of deriving the probability of one or more random variables taking a specific value or set of values.</a:t>
            </a:r>
          </a:p>
          <a:p>
            <a:pPr marL="0" indent="0">
              <a:buNone/>
            </a:pPr>
            <a:endParaRPr lang="en-US" dirty="0"/>
          </a:p>
          <a:p>
            <a:pPr marL="0" indent="0">
              <a:buNone/>
            </a:pPr>
            <a:r>
              <a:rPr lang="en-US" dirty="0"/>
              <a:t>Example: </a:t>
            </a:r>
          </a:p>
          <a:p>
            <a:pPr marL="0" indent="0">
              <a:buNone/>
            </a:pPr>
            <a:r>
              <a:rPr lang="en-US" dirty="0"/>
              <a:t>Suppose you are driving the interstate highway system and realize you are gradually slowing down because of increased traffic congestion. You begin to search for possible explanations of the slowdown. Could it be road construction? Has there been an accident? </a:t>
            </a:r>
            <a:br>
              <a:rPr lang="en-US" dirty="0"/>
            </a:br>
            <a:endParaRPr lang="en-US" dirty="0"/>
          </a:p>
        </p:txBody>
      </p:sp>
    </p:spTree>
    <p:extLst>
      <p:ext uri="{BB962C8B-B14F-4D97-AF65-F5344CB8AC3E}">
        <p14:creationId xmlns:p14="http://schemas.microsoft.com/office/powerpoint/2010/main" val="16593754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516" y="0"/>
            <a:ext cx="3566623" cy="1437542"/>
          </a:xfrm>
        </p:spPr>
        <p:txBody>
          <a:bodyPr/>
          <a:lstStyle/>
          <a:p>
            <a:r>
              <a:rPr lang="en-US" dirty="0"/>
              <a:t>5.2.1 The Sample Space, Probabilities, and Independence</a:t>
            </a:r>
          </a:p>
        </p:txBody>
      </p:sp>
      <p:pic>
        <p:nvPicPr>
          <p:cNvPr id="4" name="Content Placeholder 3"/>
          <p:cNvPicPr>
            <a:picLocks noGrp="1" noChangeAspect="1"/>
          </p:cNvPicPr>
          <p:nvPr>
            <p:ph idx="1"/>
          </p:nvPr>
        </p:nvPicPr>
        <p:blipFill>
          <a:blip r:embed="rId2"/>
          <a:stretch>
            <a:fillRect/>
          </a:stretch>
        </p:blipFill>
        <p:spPr>
          <a:xfrm>
            <a:off x="4028464" y="532968"/>
            <a:ext cx="4629150" cy="2439427"/>
          </a:xfrm>
          <a:prstGeom prst="rect">
            <a:avLst/>
          </a:prstGeom>
        </p:spPr>
      </p:pic>
      <p:sp>
        <p:nvSpPr>
          <p:cNvPr id="5" name="Text Placeholder 4"/>
          <p:cNvSpPr>
            <a:spLocks noGrp="1"/>
          </p:cNvSpPr>
          <p:nvPr>
            <p:ph type="body" sz="half" idx="2"/>
          </p:nvPr>
        </p:nvSpPr>
        <p:spPr>
          <a:xfrm>
            <a:off x="630239" y="1543050"/>
            <a:ext cx="2949575" cy="2858691"/>
          </a:xfrm>
        </p:spPr>
        <p:txBody>
          <a:bodyPr/>
          <a:lstStyle/>
          <a:p>
            <a:r>
              <a:rPr lang="en-US" sz="2800" dirty="0"/>
              <a:t>We can also work out the probability of any simple or complex set of events. </a:t>
            </a:r>
            <a:r>
              <a:rPr lang="en-US" dirty="0"/>
              <a:t/>
            </a:r>
            <a:br>
              <a:rPr lang="en-US" dirty="0"/>
            </a:br>
            <a:r>
              <a:rPr lang="en-US" dirty="0"/>
              <a:t>  </a:t>
            </a:r>
            <a:br>
              <a:rPr lang="en-US" dirty="0"/>
            </a:br>
            <a:endParaRPr lang="en-US" dirty="0"/>
          </a:p>
        </p:txBody>
      </p:sp>
      <p:pic>
        <p:nvPicPr>
          <p:cNvPr id="6" name="Picture 5"/>
          <p:cNvPicPr>
            <a:picLocks noChangeAspect="1"/>
          </p:cNvPicPr>
          <p:nvPr/>
        </p:nvPicPr>
        <p:blipFill>
          <a:blip r:embed="rId3"/>
          <a:stretch>
            <a:fillRect/>
          </a:stretch>
        </p:blipFill>
        <p:spPr>
          <a:xfrm>
            <a:off x="4912336" y="3093242"/>
            <a:ext cx="2496649" cy="1657577"/>
          </a:xfrm>
          <a:prstGeom prst="rect">
            <a:avLst/>
          </a:prstGeom>
        </p:spPr>
      </p:pic>
    </p:spTree>
    <p:extLst>
      <p:ext uri="{BB962C8B-B14F-4D97-AF65-F5344CB8AC3E}">
        <p14:creationId xmlns:p14="http://schemas.microsoft.com/office/powerpoint/2010/main" val="33851351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5.2.1 The Sample Space, Probabilities, and Independence</a:t>
            </a:r>
          </a:p>
        </p:txBody>
      </p:sp>
      <p:sp>
        <p:nvSpPr>
          <p:cNvPr id="7" name="Rectangle 6"/>
          <p:cNvSpPr/>
          <p:nvPr/>
        </p:nvSpPr>
        <p:spPr>
          <a:xfrm>
            <a:off x="703383" y="1243083"/>
            <a:ext cx="8170985" cy="2862322"/>
          </a:xfrm>
          <a:prstGeom prst="rect">
            <a:avLst/>
          </a:prstGeom>
        </p:spPr>
        <p:txBody>
          <a:bodyPr wrap="square">
            <a:spAutoFit/>
          </a:bodyPr>
          <a:lstStyle/>
          <a:p>
            <a:pPr marL="285750" indent="-285750">
              <a:buFontTx/>
              <a:buChar char="-"/>
            </a:pPr>
            <a:r>
              <a:rPr lang="en-US" dirty="0" smtClean="0"/>
              <a:t>Random </a:t>
            </a:r>
            <a:r>
              <a:rPr lang="en-US" dirty="0"/>
              <a:t>Variables:  is a function whose domain is a sample space and range a set of outcomes, most often real numbers. Rather than using a problem-specific event space, a random variable allows us to talk about probabilities </a:t>
            </a:r>
            <a:r>
              <a:rPr lang="en-US" dirty="0" smtClean="0"/>
              <a:t>as </a:t>
            </a:r>
            <a:r>
              <a:rPr lang="en-US" dirty="0"/>
              <a:t>numerical values that are related to an event space. </a:t>
            </a:r>
            <a:endParaRPr lang="en-US" dirty="0" smtClean="0"/>
          </a:p>
          <a:p>
            <a:pPr marL="285750" indent="-285750">
              <a:buFontTx/>
              <a:buChar char="-"/>
            </a:pPr>
            <a:endParaRPr lang="en-US" dirty="0"/>
          </a:p>
          <a:p>
            <a:pPr marL="285750" indent="-285750">
              <a:buFontTx/>
              <a:buChar char="-"/>
            </a:pPr>
            <a:r>
              <a:rPr lang="en-US" dirty="0" smtClean="0"/>
              <a:t>A </a:t>
            </a:r>
            <a:r>
              <a:rPr lang="en-US" dirty="0"/>
              <a:t>discrete random variable, which includes </a:t>
            </a:r>
            <a:r>
              <a:rPr lang="en-US" dirty="0" err="1"/>
              <a:t>boolean</a:t>
            </a:r>
            <a:r>
              <a:rPr lang="en-US" dirty="0"/>
              <a:t> random variables as a subset, </a:t>
            </a:r>
            <a:r>
              <a:rPr lang="en-US" dirty="0" smtClean="0"/>
              <a:t>is a </a:t>
            </a:r>
            <a:r>
              <a:rPr lang="en-US" dirty="0"/>
              <a:t>function from the sample space to (a countable subset of) real numbers in [0.0, 1.0]. </a:t>
            </a:r>
            <a:endParaRPr lang="en-US" dirty="0" smtClean="0"/>
          </a:p>
          <a:p>
            <a:pPr marL="285750" indent="-285750">
              <a:buFontTx/>
              <a:buChar char="-"/>
            </a:pPr>
            <a:endParaRPr lang="en-US" dirty="0"/>
          </a:p>
          <a:p>
            <a:r>
              <a:rPr lang="en-US" dirty="0" smtClean="0"/>
              <a:t>-A </a:t>
            </a:r>
            <a:r>
              <a:rPr lang="en-US" dirty="0"/>
              <a:t>continuous random variable has as its range the set of real numbers </a:t>
            </a:r>
          </a:p>
        </p:txBody>
      </p:sp>
    </p:spTree>
    <p:extLst>
      <p:ext uri="{BB962C8B-B14F-4D97-AF65-F5344CB8AC3E}">
        <p14:creationId xmlns:p14="http://schemas.microsoft.com/office/powerpoint/2010/main" val="30751495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5.2.1 The Sample Space, Probabilities, and Independence</a:t>
            </a:r>
          </a:p>
        </p:txBody>
      </p:sp>
      <p:sp>
        <p:nvSpPr>
          <p:cNvPr id="5" name="Rectangle 4"/>
          <p:cNvSpPr/>
          <p:nvPr/>
        </p:nvSpPr>
        <p:spPr>
          <a:xfrm>
            <a:off x="457200" y="1063229"/>
            <a:ext cx="6729046" cy="3693319"/>
          </a:xfrm>
          <a:prstGeom prst="rect">
            <a:avLst/>
          </a:prstGeom>
        </p:spPr>
        <p:txBody>
          <a:bodyPr wrap="square">
            <a:spAutoFit/>
          </a:bodyPr>
          <a:lstStyle/>
          <a:p>
            <a:pPr>
              <a:lnSpc>
                <a:spcPct val="120000"/>
              </a:lnSpc>
            </a:pPr>
            <a:r>
              <a:rPr lang="en-US" dirty="0"/>
              <a:t>Example: </a:t>
            </a:r>
            <a:r>
              <a:rPr lang="en-US" b="1" i="1" dirty="0">
                <a:solidFill>
                  <a:srgbClr val="FF0000"/>
                </a:solidFill>
              </a:rPr>
              <a:t>Discrete Random Variable</a:t>
            </a:r>
          </a:p>
          <a:p>
            <a:pPr marL="0" indent="0">
              <a:lnSpc>
                <a:spcPct val="120000"/>
              </a:lnSpc>
              <a:buNone/>
            </a:pPr>
            <a:r>
              <a:rPr lang="en-US" dirty="0"/>
              <a:t>For example, if a coin is tossed three times, the number of heads obtained can be 0, 1, 2 or 3. The probabilities of each of these possibilities can be tabulated as shown:</a:t>
            </a:r>
          </a:p>
          <a:p>
            <a:pPr marL="0" indent="0">
              <a:lnSpc>
                <a:spcPct val="120000"/>
              </a:lnSpc>
              <a:buNone/>
            </a:pPr>
            <a:endParaRPr lang="en-US" dirty="0"/>
          </a:p>
          <a:p>
            <a:pPr marL="0" indent="0">
              <a:lnSpc>
                <a:spcPct val="120000"/>
              </a:lnSpc>
              <a:buNone/>
            </a:pPr>
            <a:endParaRPr lang="en-US" dirty="0" smtClean="0"/>
          </a:p>
          <a:p>
            <a:pPr marL="0" indent="0">
              <a:lnSpc>
                <a:spcPct val="120000"/>
              </a:lnSpc>
              <a:buNone/>
            </a:pPr>
            <a:endParaRPr lang="en-US" dirty="0"/>
          </a:p>
          <a:p>
            <a:pPr marL="0" indent="0">
              <a:lnSpc>
                <a:spcPct val="120000"/>
              </a:lnSpc>
              <a:buNone/>
            </a:pPr>
            <a:r>
              <a:rPr lang="en-US" dirty="0"/>
              <a:t> In this example, the number of heads can only take 4 values (0, 1, 2, 3) and so the variable is discrete. The variable is said to be </a:t>
            </a:r>
            <a:r>
              <a:rPr lang="en-US" b="1" dirty="0"/>
              <a:t>random </a:t>
            </a:r>
            <a:r>
              <a:rPr lang="en-US" dirty="0"/>
              <a:t>if the sum of the probabilities is one. </a:t>
            </a:r>
          </a:p>
          <a:p>
            <a:endParaRPr lang="en-US" dirty="0"/>
          </a:p>
        </p:txBody>
      </p:sp>
    </p:spTree>
    <p:extLst>
      <p:ext uri="{BB962C8B-B14F-4D97-AF65-F5344CB8AC3E}">
        <p14:creationId xmlns:p14="http://schemas.microsoft.com/office/powerpoint/2010/main" val="22023385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5.2.1 The Sample Space, Probabilities, and Independence</a:t>
            </a:r>
          </a:p>
        </p:txBody>
      </p:sp>
      <p:sp>
        <p:nvSpPr>
          <p:cNvPr id="3" name="Rectangle 2"/>
          <p:cNvSpPr/>
          <p:nvPr/>
        </p:nvSpPr>
        <p:spPr>
          <a:xfrm>
            <a:off x="574431" y="1188317"/>
            <a:ext cx="7995137" cy="3570208"/>
          </a:xfrm>
          <a:prstGeom prst="rect">
            <a:avLst/>
          </a:prstGeom>
        </p:spPr>
        <p:txBody>
          <a:bodyPr wrap="square">
            <a:spAutoFit/>
          </a:bodyPr>
          <a:lstStyle/>
          <a:p>
            <a:pPr>
              <a:lnSpc>
                <a:spcPct val="160000"/>
              </a:lnSpc>
            </a:pPr>
            <a:r>
              <a:rPr lang="en-US" dirty="0"/>
              <a:t>Example: </a:t>
            </a:r>
            <a:r>
              <a:rPr lang="en-US" b="1" i="1" dirty="0">
                <a:solidFill>
                  <a:srgbClr val="FF0000"/>
                </a:solidFill>
              </a:rPr>
              <a:t>Continuous Random Variable</a:t>
            </a:r>
          </a:p>
          <a:p>
            <a:pPr lvl="1">
              <a:lnSpc>
                <a:spcPct val="160000"/>
              </a:lnSpc>
              <a:buFont typeface="Courier New" panose="02070309020205020404" pitchFamily="49" charset="0"/>
              <a:buChar char="o"/>
            </a:pPr>
            <a:r>
              <a:rPr lang="en-US" sz="2800" dirty="0"/>
              <a:t> Height of students in class</a:t>
            </a:r>
          </a:p>
          <a:p>
            <a:pPr lvl="1">
              <a:lnSpc>
                <a:spcPct val="160000"/>
              </a:lnSpc>
              <a:buFont typeface="Courier New" panose="02070309020205020404" pitchFamily="49" charset="0"/>
              <a:buChar char="o"/>
            </a:pPr>
            <a:r>
              <a:rPr lang="en-US" sz="2800" dirty="0"/>
              <a:t> Weight of students in class</a:t>
            </a:r>
          </a:p>
          <a:p>
            <a:pPr lvl="1">
              <a:lnSpc>
                <a:spcPct val="160000"/>
              </a:lnSpc>
              <a:buFont typeface="Courier New" panose="02070309020205020404" pitchFamily="49" charset="0"/>
              <a:buChar char="o"/>
            </a:pPr>
            <a:r>
              <a:rPr lang="en-US" sz="2800" dirty="0"/>
              <a:t> Time it takes to get to school</a:t>
            </a:r>
          </a:p>
          <a:p>
            <a:pPr lvl="1">
              <a:lnSpc>
                <a:spcPct val="160000"/>
              </a:lnSpc>
              <a:buFont typeface="Courier New" panose="02070309020205020404" pitchFamily="49" charset="0"/>
              <a:buChar char="o"/>
            </a:pPr>
            <a:r>
              <a:rPr lang="en-US" sz="2800" dirty="0"/>
              <a:t> Distance traveled between classes</a:t>
            </a:r>
          </a:p>
          <a:p>
            <a:endParaRPr lang="en-US" dirty="0"/>
          </a:p>
        </p:txBody>
      </p:sp>
    </p:spTree>
    <p:extLst>
      <p:ext uri="{BB962C8B-B14F-4D97-AF65-F5344CB8AC3E}">
        <p14:creationId xmlns:p14="http://schemas.microsoft.com/office/powerpoint/2010/main" val="352614353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5.2.1 The Sample Space, Probabilities, and Independence</a:t>
            </a:r>
          </a:p>
        </p:txBody>
      </p:sp>
      <p:sp>
        <p:nvSpPr>
          <p:cNvPr id="3" name="Rectangle 2"/>
          <p:cNvSpPr/>
          <p:nvPr/>
        </p:nvSpPr>
        <p:spPr>
          <a:xfrm>
            <a:off x="633046" y="1199204"/>
            <a:ext cx="8053754" cy="3250121"/>
          </a:xfrm>
          <a:prstGeom prst="rect">
            <a:avLst/>
          </a:prstGeom>
        </p:spPr>
        <p:txBody>
          <a:bodyPr wrap="square">
            <a:spAutoFit/>
          </a:bodyPr>
          <a:lstStyle/>
          <a:p>
            <a:pPr>
              <a:lnSpc>
                <a:spcPct val="120000"/>
              </a:lnSpc>
            </a:pPr>
            <a:r>
              <a:rPr lang="en-US" b="1" i="1" dirty="0" smtClean="0">
                <a:solidFill>
                  <a:srgbClr val="FF0000"/>
                </a:solidFill>
              </a:rPr>
              <a:t>- Binomial </a:t>
            </a:r>
            <a:r>
              <a:rPr lang="en-US" b="1" i="1" dirty="0">
                <a:solidFill>
                  <a:srgbClr val="FF0000"/>
                </a:solidFill>
              </a:rPr>
              <a:t>Distribution: </a:t>
            </a:r>
            <a:r>
              <a:rPr lang="en-US" dirty="0"/>
              <a:t>can be thought of as simply the probability of a SUCCESS or FAILURE outcome in an experiment or survey that is repeated multiple times</a:t>
            </a:r>
            <a:r>
              <a:rPr lang="en-US" i="1" dirty="0"/>
              <a:t>.</a:t>
            </a:r>
          </a:p>
          <a:p>
            <a:pPr>
              <a:lnSpc>
                <a:spcPct val="120000"/>
              </a:lnSpc>
            </a:pPr>
            <a:r>
              <a:rPr lang="en-US" dirty="0" smtClean="0"/>
              <a:t>- The </a:t>
            </a:r>
            <a:r>
              <a:rPr lang="en-US" dirty="0"/>
              <a:t>outcome of any situation where we want to measure </a:t>
            </a:r>
            <a:r>
              <a:rPr lang="en-US" b="1" i="1" dirty="0">
                <a:solidFill>
                  <a:srgbClr val="FF0000"/>
                </a:solidFill>
              </a:rPr>
              <a:t>r </a:t>
            </a:r>
            <a:r>
              <a:rPr lang="en-US" dirty="0"/>
              <a:t>successes in </a:t>
            </a:r>
            <a:r>
              <a:rPr lang="en-US" b="1" i="1" dirty="0">
                <a:solidFill>
                  <a:srgbClr val="FF0000"/>
                </a:solidFill>
              </a:rPr>
              <a:t>n</a:t>
            </a:r>
            <a:r>
              <a:rPr lang="en-US" dirty="0"/>
              <a:t> trials, where </a:t>
            </a:r>
            <a:r>
              <a:rPr lang="en-US" b="1" i="1" dirty="0">
                <a:solidFill>
                  <a:srgbClr val="FF0000"/>
                </a:solidFill>
              </a:rPr>
              <a:t>p</a:t>
            </a:r>
            <a:r>
              <a:rPr lang="en-US" dirty="0"/>
              <a:t> is the known probability of success may be represented as:</a:t>
            </a:r>
            <a:br>
              <a:rPr lang="en-US" dirty="0"/>
            </a:br>
            <a:r>
              <a:rPr lang="en-US" dirty="0"/>
              <a:t/>
            </a:r>
            <a:br>
              <a:rPr lang="en-US" dirty="0"/>
            </a:br>
            <a:endParaRPr lang="en-US" dirty="0"/>
          </a:p>
          <a:p>
            <a:r>
              <a:rPr lang="en-US" dirty="0"/>
              <a:t/>
            </a:r>
            <a:br>
              <a:rPr lang="en-US" dirty="0"/>
            </a:b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1806936" y="3207985"/>
            <a:ext cx="5530128" cy="1377315"/>
          </a:xfrm>
          <a:prstGeom prst="rect">
            <a:avLst/>
          </a:prstGeom>
        </p:spPr>
      </p:pic>
    </p:spTree>
    <p:extLst>
      <p:ext uri="{BB962C8B-B14F-4D97-AF65-F5344CB8AC3E}">
        <p14:creationId xmlns:p14="http://schemas.microsoft.com/office/powerpoint/2010/main" val="187848643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5.2.1 The Sample Space, Probabilities, and Independence</a:t>
            </a:r>
          </a:p>
        </p:txBody>
      </p:sp>
      <p:sp>
        <p:nvSpPr>
          <p:cNvPr id="3" name="Rectangle 2"/>
          <p:cNvSpPr/>
          <p:nvPr/>
        </p:nvSpPr>
        <p:spPr>
          <a:xfrm>
            <a:off x="457200" y="1378064"/>
            <a:ext cx="6858000" cy="2363724"/>
          </a:xfrm>
          <a:prstGeom prst="rect">
            <a:avLst/>
          </a:prstGeom>
        </p:spPr>
        <p:txBody>
          <a:bodyPr wrap="square">
            <a:spAutoFit/>
          </a:bodyPr>
          <a:lstStyle/>
          <a:p>
            <a:pPr>
              <a:lnSpc>
                <a:spcPct val="120000"/>
              </a:lnSpc>
            </a:pPr>
            <a:r>
              <a:rPr lang="en-US" b="1" i="1" u="sng" dirty="0">
                <a:solidFill>
                  <a:schemeClr val="accent1">
                    <a:lumMod val="50000"/>
                  </a:schemeClr>
                </a:solidFill>
              </a:rPr>
              <a:t>Example:</a:t>
            </a:r>
            <a:r>
              <a:rPr lang="en-US" dirty="0"/>
              <a:t> Calculate the probability of obtaining 5 heads in 7 flips of a fair coin.</a:t>
            </a:r>
          </a:p>
          <a:p>
            <a:pPr marL="0" indent="0" algn="ctr">
              <a:lnSpc>
                <a:spcPct val="120000"/>
              </a:lnSpc>
              <a:buNone/>
            </a:pPr>
            <a:r>
              <a:rPr lang="en-US" dirty="0"/>
              <a:t>n = 7</a:t>
            </a:r>
          </a:p>
          <a:p>
            <a:pPr marL="0" indent="0" algn="ctr">
              <a:lnSpc>
                <a:spcPct val="120000"/>
              </a:lnSpc>
              <a:buNone/>
            </a:pPr>
            <a:r>
              <a:rPr lang="en-US" dirty="0"/>
              <a:t>r = 5</a:t>
            </a:r>
          </a:p>
          <a:p>
            <a:pPr marL="0" indent="0" algn="ctr">
              <a:lnSpc>
                <a:spcPct val="120000"/>
              </a:lnSpc>
              <a:buNone/>
            </a:pPr>
            <a:r>
              <a:rPr lang="en-US" dirty="0"/>
              <a:t>p = ½</a:t>
            </a:r>
          </a:p>
          <a:p>
            <a:pPr marL="0" indent="0" algn="ctr">
              <a:lnSpc>
                <a:spcPct val="120000"/>
              </a:lnSpc>
              <a:buNone/>
            </a:pPr>
            <a:r>
              <a:rPr lang="en-US" dirty="0"/>
              <a:t>	 	</a:t>
            </a:r>
          </a:p>
          <a:p>
            <a:endParaRPr lang="en-US" dirty="0"/>
          </a:p>
        </p:txBody>
      </p:sp>
      <p:pic>
        <p:nvPicPr>
          <p:cNvPr id="4" name="Picture 3"/>
          <p:cNvPicPr>
            <a:picLocks noChangeAspect="1"/>
          </p:cNvPicPr>
          <p:nvPr/>
        </p:nvPicPr>
        <p:blipFill>
          <a:blip r:embed="rId2"/>
          <a:stretch>
            <a:fillRect/>
          </a:stretch>
        </p:blipFill>
        <p:spPr>
          <a:xfrm>
            <a:off x="2140780" y="3313639"/>
            <a:ext cx="4176637" cy="856298"/>
          </a:xfrm>
          <a:prstGeom prst="rect">
            <a:avLst/>
          </a:prstGeom>
        </p:spPr>
      </p:pic>
    </p:spTree>
    <p:extLst>
      <p:ext uri="{BB962C8B-B14F-4D97-AF65-F5344CB8AC3E}">
        <p14:creationId xmlns:p14="http://schemas.microsoft.com/office/powerpoint/2010/main" val="5582993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5.2.1 The Sample Space, Probabilities, and Independence</a:t>
            </a:r>
          </a:p>
        </p:txBody>
      </p:sp>
      <p:sp>
        <p:nvSpPr>
          <p:cNvPr id="3" name="Rectangle 2"/>
          <p:cNvSpPr/>
          <p:nvPr/>
        </p:nvSpPr>
        <p:spPr>
          <a:xfrm>
            <a:off x="726830" y="1382418"/>
            <a:ext cx="8147539" cy="1200329"/>
          </a:xfrm>
          <a:prstGeom prst="rect">
            <a:avLst/>
          </a:prstGeom>
        </p:spPr>
        <p:txBody>
          <a:bodyPr wrap="square">
            <a:spAutoFit/>
          </a:bodyPr>
          <a:lstStyle/>
          <a:p>
            <a:r>
              <a:rPr lang="en-US" b="1" i="1" u="sng" dirty="0">
                <a:solidFill>
                  <a:schemeClr val="accent1">
                    <a:lumMod val="50000"/>
                  </a:schemeClr>
                </a:solidFill>
              </a:rPr>
              <a:t>Expectation:</a:t>
            </a:r>
            <a:r>
              <a:rPr lang="en-US" dirty="0"/>
              <a:t>  If the reward for the occurrence of an event E, with probability p(E), is r, and the cost of the event not occurring, 1 - p(E), is c, then the </a:t>
            </a:r>
            <a:r>
              <a:rPr lang="en-US" i="1" dirty="0"/>
              <a:t>expectation </a:t>
            </a:r>
            <a:r>
              <a:rPr lang="en-US" dirty="0"/>
              <a:t>derived from an event occurring, ex(E), is:</a:t>
            </a:r>
            <a:br>
              <a:rPr lang="en-US" dirty="0"/>
            </a:br>
            <a:r>
              <a:rPr lang="en-US" dirty="0"/>
              <a:t>			ex(E) = r x p(E) + c x (1 - p(E))</a:t>
            </a:r>
          </a:p>
        </p:txBody>
      </p:sp>
    </p:spTree>
    <p:extLst>
      <p:ext uri="{BB962C8B-B14F-4D97-AF65-F5344CB8AC3E}">
        <p14:creationId xmlns:p14="http://schemas.microsoft.com/office/powerpoint/2010/main" val="84831076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5.2.1 The Sample Space, Probabilities, and Independence</a:t>
            </a:r>
          </a:p>
        </p:txBody>
      </p:sp>
      <p:sp>
        <p:nvSpPr>
          <p:cNvPr id="3" name="Rectangle 2"/>
          <p:cNvSpPr/>
          <p:nvPr/>
        </p:nvSpPr>
        <p:spPr>
          <a:xfrm>
            <a:off x="339969" y="1379752"/>
            <a:ext cx="8464061" cy="2419124"/>
          </a:xfrm>
          <a:prstGeom prst="rect">
            <a:avLst/>
          </a:prstGeom>
        </p:spPr>
        <p:txBody>
          <a:bodyPr wrap="square">
            <a:spAutoFit/>
          </a:bodyPr>
          <a:lstStyle/>
          <a:p>
            <a:pPr>
              <a:lnSpc>
                <a:spcPct val="120000"/>
              </a:lnSpc>
            </a:pPr>
            <a:r>
              <a:rPr lang="en-US" b="1" i="1" u="sng" dirty="0">
                <a:solidFill>
                  <a:schemeClr val="accent1">
                    <a:lumMod val="50000"/>
                  </a:schemeClr>
                </a:solidFill>
              </a:rPr>
              <a:t>Example: </a:t>
            </a:r>
            <a:r>
              <a:rPr lang="en-US" dirty="0"/>
              <a:t>Suppose that a fair roulette wheel has </a:t>
            </a:r>
            <a:r>
              <a:rPr lang="en-US" dirty="0" smtClean="0"/>
              <a:t>integers through </a:t>
            </a:r>
            <a:r>
              <a:rPr lang="en-US" dirty="0"/>
              <a:t>36 </a:t>
            </a:r>
            <a:r>
              <a:rPr lang="en-US" dirty="0" smtClean="0"/>
              <a:t>equally spaced </a:t>
            </a:r>
            <a:r>
              <a:rPr lang="en-US" dirty="0"/>
              <a:t>on the slots of the wheel. In the game each player places $1 on any number she chooses: if the wheel stops on the number chosen, she wins $35; otherwise she loses the dollar. The reward of a win is $35; the cost of a loss, $1. Since the probability of winning is 1/37, of losing, 36/37, the expected value for this event, ex(E), is: </a:t>
            </a:r>
          </a:p>
          <a:p>
            <a:pPr marL="0" indent="0">
              <a:lnSpc>
                <a:spcPct val="120000"/>
              </a:lnSpc>
              <a:buNone/>
            </a:pPr>
            <a:r>
              <a:rPr lang="en-US" dirty="0"/>
              <a:t>			ex(E) = 35 (1/37) + (-1) (36/37) ≈ -0.027</a:t>
            </a:r>
          </a:p>
        </p:txBody>
      </p:sp>
    </p:spTree>
    <p:extLst>
      <p:ext uri="{BB962C8B-B14F-4D97-AF65-F5344CB8AC3E}">
        <p14:creationId xmlns:p14="http://schemas.microsoft.com/office/powerpoint/2010/main" val="387838729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779584" y="1063229"/>
            <a:ext cx="7584831" cy="3323987"/>
          </a:xfrm>
          <a:prstGeom prst="rect">
            <a:avLst/>
          </a:prstGeom>
        </p:spPr>
        <p:txBody>
          <a:bodyPr wrap="square">
            <a:spAutoFit/>
          </a:bodyPr>
          <a:lstStyle/>
          <a:p>
            <a:r>
              <a:rPr lang="en-US" sz="2400" dirty="0">
                <a:solidFill>
                  <a:srgbClr val="FF0000"/>
                </a:solidFill>
              </a:rPr>
              <a:t>A.1 PRIOR PROBABILITY</a:t>
            </a:r>
          </a:p>
          <a:p>
            <a:r>
              <a:rPr lang="en-US" sz="2400" dirty="0"/>
              <a:t>-The prior probability, generally an unconditioned probability , of an event is the probability assigned based on all knowledge supporting its occurrence or absence, that is,</a:t>
            </a:r>
          </a:p>
          <a:p>
            <a:r>
              <a:rPr lang="en-US" sz="2400" dirty="0"/>
              <a:t>the probability of the event prior to any new evidence. The prior probability of an</a:t>
            </a:r>
          </a:p>
          <a:p>
            <a:r>
              <a:rPr lang="en-US" sz="2400" dirty="0"/>
              <a:t>event is symbolized: p(event).</a:t>
            </a:r>
          </a:p>
          <a:p>
            <a:endParaRPr lang="en-US" dirty="0"/>
          </a:p>
        </p:txBody>
      </p:sp>
    </p:spTree>
    <p:extLst>
      <p:ext uri="{BB962C8B-B14F-4D97-AF65-F5344CB8AC3E}">
        <p14:creationId xmlns:p14="http://schemas.microsoft.com/office/powerpoint/2010/main" val="21083049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664676" y="1063229"/>
            <a:ext cx="6881447" cy="1754326"/>
          </a:xfrm>
          <a:prstGeom prst="rect">
            <a:avLst/>
          </a:prstGeom>
        </p:spPr>
        <p:txBody>
          <a:bodyPr wrap="square">
            <a:spAutoFit/>
          </a:bodyPr>
          <a:lstStyle/>
          <a:p>
            <a:r>
              <a:rPr lang="en-US" dirty="0">
                <a:solidFill>
                  <a:srgbClr val="FF0000"/>
                </a:solidFill>
              </a:rPr>
              <a:t>A.2 POSTERIOR PROBABILITY</a:t>
            </a:r>
          </a:p>
          <a:p>
            <a:r>
              <a:rPr lang="en-US" dirty="0"/>
              <a:t>-The posterior (after  the  fact) probability,  generally  a conditional  probability, of  </a:t>
            </a:r>
            <a:r>
              <a:rPr lang="en-US" dirty="0" smtClean="0"/>
              <a:t>an event </a:t>
            </a:r>
            <a:r>
              <a:rPr lang="en-US" dirty="0"/>
              <a:t>is the probability of an event given some new evidence. The posterior probability of an event given some evidence is symbolized: p(event | evidence).</a:t>
            </a:r>
          </a:p>
          <a:p>
            <a:endParaRPr lang="en-US" dirty="0"/>
          </a:p>
        </p:txBody>
      </p:sp>
    </p:spTree>
    <p:extLst>
      <p:ext uri="{BB962C8B-B14F-4D97-AF65-F5344CB8AC3E}">
        <p14:creationId xmlns:p14="http://schemas.microsoft.com/office/powerpoint/2010/main" val="2519264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524000" y="1063229"/>
            <a:ext cx="6658708" cy="2092881"/>
          </a:xfrm>
          <a:prstGeom prst="rect">
            <a:avLst/>
          </a:prstGeom>
        </p:spPr>
        <p:txBody>
          <a:bodyPr wrap="square">
            <a:spAutoFit/>
          </a:bodyPr>
          <a:lstStyle/>
          <a:p>
            <a:r>
              <a:rPr lang="en-US" sz="2400" dirty="0">
                <a:solidFill>
                  <a:srgbClr val="FF0000"/>
                </a:solidFill>
              </a:rPr>
              <a:t>Example 1</a:t>
            </a:r>
          </a:p>
          <a:p>
            <a:endParaRPr lang="en-US" sz="1600" dirty="0">
              <a:solidFill>
                <a:srgbClr val="555555"/>
              </a:solidFill>
            </a:endParaRPr>
          </a:p>
          <a:p>
            <a:r>
              <a:rPr lang="en-US" dirty="0"/>
              <a:t>In a group of </a:t>
            </a:r>
            <a:r>
              <a:rPr lang="en-US" dirty="0">
                <a:solidFill>
                  <a:srgbClr val="FF0000"/>
                </a:solidFill>
              </a:rPr>
              <a:t>100 sports car buyers</a:t>
            </a:r>
            <a:r>
              <a:rPr lang="en-US" dirty="0"/>
              <a:t>, </a:t>
            </a:r>
            <a:r>
              <a:rPr lang="en-US" dirty="0">
                <a:solidFill>
                  <a:srgbClr val="FF0000"/>
                </a:solidFill>
              </a:rPr>
              <a:t>40 bought alarm systems</a:t>
            </a:r>
            <a:r>
              <a:rPr lang="en-US" dirty="0"/>
              <a:t>, </a:t>
            </a:r>
            <a:r>
              <a:rPr lang="en-US" dirty="0">
                <a:solidFill>
                  <a:srgbClr val="FF0000"/>
                </a:solidFill>
              </a:rPr>
              <a:t>30 purchased bucket seats</a:t>
            </a:r>
            <a:r>
              <a:rPr lang="en-US" dirty="0"/>
              <a:t>, and </a:t>
            </a:r>
            <a:r>
              <a:rPr lang="en-US" dirty="0">
                <a:solidFill>
                  <a:srgbClr val="FF0000"/>
                </a:solidFill>
              </a:rPr>
              <a:t>20 purchased an alarm system and bucket seats</a:t>
            </a:r>
            <a:r>
              <a:rPr lang="en-US" dirty="0"/>
              <a:t>. If a car buyer chosen at random bought an alarm system, what is the probability they </a:t>
            </a:r>
            <a:r>
              <a:rPr lang="en-US" dirty="0">
                <a:solidFill>
                  <a:srgbClr val="FF0000"/>
                </a:solidFill>
              </a:rPr>
              <a:t>also bought bucket seats</a:t>
            </a:r>
            <a:r>
              <a:rPr lang="en-US" dirty="0"/>
              <a:t>?</a:t>
            </a:r>
            <a:endParaRPr lang="en-US" dirty="0"/>
          </a:p>
        </p:txBody>
      </p:sp>
      <p:pic>
        <p:nvPicPr>
          <p:cNvPr id="5" name="Picture 4" descr="venn-diagram-of-conditional-probability.png (382Ã250)">
            <a:extLst>
              <a:ext uri="{FF2B5EF4-FFF2-40B4-BE49-F238E27FC236}">
                <a16:creationId xmlns:a16="http://schemas.microsoft.com/office/drawing/2014/main" id="{7BD47AB9-6A04-4FED-9505-F4A7CF8EB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448" y="3218992"/>
            <a:ext cx="2877753" cy="1588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08041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629506" y="1063229"/>
            <a:ext cx="7057294" cy="3785652"/>
          </a:xfrm>
          <a:prstGeom prst="rect">
            <a:avLst/>
          </a:prstGeom>
        </p:spPr>
        <p:txBody>
          <a:bodyPr wrap="square">
            <a:spAutoFit/>
          </a:bodyPr>
          <a:lstStyle/>
          <a:p>
            <a:r>
              <a:rPr lang="en-US" sz="2400" dirty="0">
                <a:solidFill>
                  <a:srgbClr val="FF0000"/>
                </a:solidFill>
              </a:rPr>
              <a:t>Solution:</a:t>
            </a:r>
          </a:p>
          <a:p>
            <a:endParaRPr lang="en-US" dirty="0">
              <a:latin typeface="pt sans"/>
            </a:endParaRPr>
          </a:p>
          <a:p>
            <a:r>
              <a:rPr lang="en-US" dirty="0">
                <a:solidFill>
                  <a:srgbClr val="0070C0"/>
                </a:solidFill>
              </a:rPr>
              <a:t>Step 1</a:t>
            </a:r>
            <a:r>
              <a:rPr lang="en-US" dirty="0"/>
              <a:t>: Figure out P(A). It’s given in the question as 40%, or 0.4.</a:t>
            </a:r>
          </a:p>
          <a:p>
            <a:endParaRPr lang="en-US" dirty="0"/>
          </a:p>
          <a:p>
            <a:r>
              <a:rPr lang="en-US" dirty="0">
                <a:solidFill>
                  <a:srgbClr val="0070C0"/>
                </a:solidFill>
              </a:rPr>
              <a:t>Step 2</a:t>
            </a:r>
            <a:r>
              <a:rPr lang="en-US" dirty="0"/>
              <a:t>: Figure out P(A∩B). This is the intersection of A and B: both  </a:t>
            </a:r>
          </a:p>
          <a:p>
            <a:r>
              <a:rPr lang="en-US" dirty="0"/>
              <a:t>             happening together. It’s given in the question 20 out of 100</a:t>
            </a:r>
          </a:p>
          <a:p>
            <a:r>
              <a:rPr lang="en-US" dirty="0"/>
              <a:t>             buyers, or 0.2.</a:t>
            </a:r>
          </a:p>
          <a:p>
            <a:endParaRPr lang="en-US" dirty="0"/>
          </a:p>
          <a:p>
            <a:r>
              <a:rPr lang="en-US" dirty="0">
                <a:solidFill>
                  <a:srgbClr val="0070C0"/>
                </a:solidFill>
              </a:rPr>
              <a:t>Step 3</a:t>
            </a:r>
            <a:r>
              <a:rPr lang="en-US" dirty="0"/>
              <a:t>: Insert your answers into the formula:</a:t>
            </a:r>
            <a:br>
              <a:rPr lang="en-US" dirty="0"/>
            </a:br>
            <a:r>
              <a:rPr lang="en-US" dirty="0"/>
              <a:t>                               P(B|A) = P(A∩B) / P(A) = 0.2 / 0.4 = 0.5.</a:t>
            </a:r>
          </a:p>
          <a:p>
            <a:endParaRPr lang="en-US" dirty="0"/>
          </a:p>
          <a:p>
            <a:r>
              <a:rPr lang="en-US" dirty="0">
                <a:solidFill>
                  <a:srgbClr val="FF0000"/>
                </a:solidFill>
              </a:rPr>
              <a:t>The probability that a buyer bought bucket seats, given that they purchased an alarm system, is 50%.</a:t>
            </a:r>
            <a:endParaRPr lang="en-US" dirty="0">
              <a:solidFill>
                <a:srgbClr val="FF0000"/>
              </a:solidFill>
            </a:endParaRPr>
          </a:p>
        </p:txBody>
      </p:sp>
    </p:spTree>
    <p:extLst>
      <p:ext uri="{BB962C8B-B14F-4D97-AF65-F5344CB8AC3E}">
        <p14:creationId xmlns:p14="http://schemas.microsoft.com/office/powerpoint/2010/main" val="42259016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pic>
        <p:nvPicPr>
          <p:cNvPr id="3" name="Picture 2">
            <a:extLst>
              <a:ext uri="{FF2B5EF4-FFF2-40B4-BE49-F238E27FC236}">
                <a16:creationId xmlns:a16="http://schemas.microsoft.com/office/drawing/2014/main" id="{57FF0383-2543-4CB9-92E4-DCBF337082EA}"/>
              </a:ext>
            </a:extLst>
          </p:cNvPr>
          <p:cNvPicPr>
            <a:picLocks noChangeAspect="1"/>
          </p:cNvPicPr>
          <p:nvPr/>
        </p:nvPicPr>
        <p:blipFill>
          <a:blip r:embed="rId2"/>
          <a:stretch>
            <a:fillRect/>
          </a:stretch>
        </p:blipFill>
        <p:spPr>
          <a:xfrm>
            <a:off x="1678598" y="927954"/>
            <a:ext cx="5336206" cy="1158753"/>
          </a:xfrm>
          <a:prstGeom prst="rect">
            <a:avLst/>
          </a:prstGeom>
        </p:spPr>
      </p:pic>
      <p:sp>
        <p:nvSpPr>
          <p:cNvPr id="4" name="Rectangle 3"/>
          <p:cNvSpPr/>
          <p:nvPr/>
        </p:nvSpPr>
        <p:spPr>
          <a:xfrm>
            <a:off x="457200" y="2192652"/>
            <a:ext cx="7326923" cy="3139321"/>
          </a:xfrm>
          <a:prstGeom prst="rect">
            <a:avLst/>
          </a:prstGeom>
        </p:spPr>
        <p:txBody>
          <a:bodyPr wrap="square">
            <a:spAutoFit/>
          </a:bodyPr>
          <a:lstStyle/>
          <a:p>
            <a:r>
              <a:rPr lang="en-US" dirty="0"/>
              <a:t>#Since the sample space for determining the probabilities of the numerator and denominator are the same, we get:</a:t>
            </a:r>
          </a:p>
          <a:p>
            <a:r>
              <a:rPr lang="en-US" dirty="0">
                <a:solidFill>
                  <a:srgbClr val="FF0000"/>
                </a:solidFill>
              </a:rPr>
              <a:t>p(</a:t>
            </a:r>
            <a:r>
              <a:rPr lang="en-US" dirty="0" err="1">
                <a:solidFill>
                  <a:srgbClr val="FF0000"/>
                </a:solidFill>
              </a:rPr>
              <a:t>d|s</a:t>
            </a:r>
            <a:r>
              <a:rPr lang="en-US" dirty="0">
                <a:solidFill>
                  <a:srgbClr val="FF0000"/>
                </a:solidFill>
              </a:rPr>
              <a:t>) = p(</a:t>
            </a:r>
            <a:r>
              <a:rPr lang="en-US" dirty="0" err="1">
                <a:solidFill>
                  <a:srgbClr val="FF0000"/>
                </a:solidFill>
              </a:rPr>
              <a:t>d∩s</a:t>
            </a:r>
            <a:r>
              <a:rPr lang="en-US" dirty="0">
                <a:solidFill>
                  <a:srgbClr val="FF0000"/>
                </a:solidFill>
              </a:rPr>
              <a:t>) / p(s).</a:t>
            </a:r>
          </a:p>
          <a:p>
            <a:endParaRPr lang="en-US" dirty="0">
              <a:solidFill>
                <a:srgbClr val="FF0000"/>
              </a:solidFill>
            </a:endParaRPr>
          </a:p>
          <a:p>
            <a:r>
              <a:rPr lang="en-US" dirty="0"/>
              <a:t>-There is an equivalent relationship for p(</a:t>
            </a:r>
            <a:r>
              <a:rPr lang="en-US" dirty="0" err="1"/>
              <a:t>s|d</a:t>
            </a:r>
            <a:r>
              <a:rPr lang="en-US" dirty="0"/>
              <a:t>);  </a:t>
            </a:r>
            <a:r>
              <a:rPr lang="en-US" dirty="0">
                <a:solidFill>
                  <a:srgbClr val="FF0000"/>
                </a:solidFill>
              </a:rPr>
              <a:t>p(</a:t>
            </a:r>
            <a:r>
              <a:rPr lang="en-US" dirty="0" err="1">
                <a:solidFill>
                  <a:srgbClr val="FF0000"/>
                </a:solidFill>
              </a:rPr>
              <a:t>s|d</a:t>
            </a:r>
            <a:r>
              <a:rPr lang="en-US" dirty="0">
                <a:solidFill>
                  <a:srgbClr val="FF0000"/>
                </a:solidFill>
              </a:rPr>
              <a:t>) = p(s∩ d) / p(d).</a:t>
            </a:r>
          </a:p>
          <a:p>
            <a:endParaRPr lang="en-US" dirty="0">
              <a:solidFill>
                <a:srgbClr val="FF0000"/>
              </a:solidFill>
            </a:endParaRPr>
          </a:p>
          <a:p>
            <a:r>
              <a:rPr lang="en-US" dirty="0"/>
              <a:t>-We next solve the p(</a:t>
            </a:r>
            <a:r>
              <a:rPr lang="en-US" dirty="0" err="1"/>
              <a:t>s|d</a:t>
            </a:r>
            <a:r>
              <a:rPr lang="en-US" dirty="0"/>
              <a:t>)equation to determine the value for p(</a:t>
            </a:r>
            <a:r>
              <a:rPr lang="en-US" dirty="0" err="1"/>
              <a:t>s∩d</a:t>
            </a:r>
            <a:r>
              <a:rPr lang="en-US" dirty="0"/>
              <a:t>):</a:t>
            </a:r>
          </a:p>
          <a:p>
            <a:r>
              <a:rPr lang="en-US" dirty="0">
                <a:solidFill>
                  <a:srgbClr val="FF0000"/>
                </a:solidFill>
              </a:rPr>
              <a:t>p(s∩ d) = p(</a:t>
            </a:r>
            <a:r>
              <a:rPr lang="en-US" dirty="0" err="1">
                <a:solidFill>
                  <a:srgbClr val="FF0000"/>
                </a:solidFill>
              </a:rPr>
              <a:t>s|d</a:t>
            </a:r>
            <a:r>
              <a:rPr lang="en-US" dirty="0">
                <a:solidFill>
                  <a:srgbClr val="FF0000"/>
                </a:solidFill>
              </a:rPr>
              <a:t>) p(d).</a:t>
            </a:r>
          </a:p>
          <a:p>
            <a:endParaRPr lang="en-US" dirty="0">
              <a:solidFill>
                <a:srgbClr val="FF0000"/>
              </a:solidFill>
            </a:endParaRPr>
          </a:p>
          <a:p>
            <a:r>
              <a:rPr lang="en-US" dirty="0">
                <a:solidFill>
                  <a:srgbClr val="FF0000"/>
                </a:solidFill>
              </a:rPr>
              <a:t>                                       Bayes’ rule:</a:t>
            </a:r>
          </a:p>
          <a:p>
            <a:endParaRPr lang="en-US" dirty="0">
              <a:solidFill>
                <a:srgbClr val="FF0000"/>
              </a:solidFill>
            </a:endParaRPr>
          </a:p>
        </p:txBody>
      </p:sp>
      <p:pic>
        <p:nvPicPr>
          <p:cNvPr id="5" name="Picture 4">
            <a:extLst>
              <a:ext uri="{FF2B5EF4-FFF2-40B4-BE49-F238E27FC236}">
                <a16:creationId xmlns:a16="http://schemas.microsoft.com/office/drawing/2014/main" id="{9D26BF19-90CF-48E3-9292-0D68DC920C9A}"/>
              </a:ext>
            </a:extLst>
          </p:cNvPr>
          <p:cNvPicPr>
            <a:picLocks noChangeAspect="1"/>
          </p:cNvPicPr>
          <p:nvPr/>
        </p:nvPicPr>
        <p:blipFill>
          <a:blip r:embed="rId3"/>
          <a:stretch>
            <a:fillRect/>
          </a:stretch>
        </p:blipFill>
        <p:spPr>
          <a:xfrm>
            <a:off x="4437185" y="4186798"/>
            <a:ext cx="2268416" cy="1042851"/>
          </a:xfrm>
          <a:prstGeom prst="rect">
            <a:avLst/>
          </a:prstGeom>
        </p:spPr>
      </p:pic>
    </p:spTree>
    <p:extLst>
      <p:ext uri="{BB962C8B-B14F-4D97-AF65-F5344CB8AC3E}">
        <p14:creationId xmlns:p14="http://schemas.microsoft.com/office/powerpoint/2010/main" val="21747009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617784" y="1511371"/>
            <a:ext cx="6858000" cy="2308324"/>
          </a:xfrm>
          <a:prstGeom prst="rect">
            <a:avLst/>
          </a:prstGeom>
        </p:spPr>
        <p:txBody>
          <a:bodyPr wrap="square">
            <a:spAutoFit/>
          </a:bodyPr>
          <a:lstStyle/>
          <a:p>
            <a:r>
              <a:rPr lang="en-US" sz="2400" dirty="0">
                <a:solidFill>
                  <a:srgbClr val="FF0000"/>
                </a:solidFill>
              </a:rPr>
              <a:t>Apply the Chain Rule: for two sets A1 and A2</a:t>
            </a:r>
          </a:p>
          <a:p>
            <a:r>
              <a:rPr lang="en-US" sz="2400" dirty="0"/>
              <a:t>p(A1∩ A2) = p(A1| A2) p(A2) = p(A2| A1) p(A1).</a:t>
            </a:r>
          </a:p>
          <a:p>
            <a:endParaRPr lang="en-US" sz="2400" dirty="0"/>
          </a:p>
          <a:p>
            <a:r>
              <a:rPr lang="en-US" sz="2400" dirty="0">
                <a:solidFill>
                  <a:srgbClr val="FF0000"/>
                </a:solidFill>
              </a:rPr>
              <a:t>Extend :</a:t>
            </a:r>
          </a:p>
          <a:p>
            <a:r>
              <a:rPr lang="pt-BR" sz="2400" dirty="0"/>
              <a:t>p(A1∩ A2∩... ∩ An) = p(A1) p(A2| A1) p(A3| A1∩ A2) .... p(An| ∩ Ai)</a:t>
            </a:r>
            <a:endParaRPr lang="en-US" sz="2400" dirty="0"/>
          </a:p>
        </p:txBody>
      </p:sp>
    </p:spTree>
    <p:extLst>
      <p:ext uri="{BB962C8B-B14F-4D97-AF65-F5344CB8AC3E}">
        <p14:creationId xmlns:p14="http://schemas.microsoft.com/office/powerpoint/2010/main" val="295383570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781907" y="1577355"/>
            <a:ext cx="6435969" cy="2677656"/>
          </a:xfrm>
          <a:prstGeom prst="rect">
            <a:avLst/>
          </a:prstGeom>
        </p:spPr>
        <p:txBody>
          <a:bodyPr wrap="square">
            <a:spAutoFit/>
          </a:bodyPr>
          <a:lstStyle/>
          <a:p>
            <a:r>
              <a:rPr lang="en-US" sz="2800" dirty="0">
                <a:solidFill>
                  <a:srgbClr val="FF0000"/>
                </a:solidFill>
              </a:rPr>
              <a:t>Example 2:</a:t>
            </a:r>
          </a:p>
          <a:p>
            <a:endParaRPr lang="en-US" sz="2800" dirty="0">
              <a:solidFill>
                <a:srgbClr val="555555"/>
              </a:solidFill>
            </a:endParaRPr>
          </a:p>
          <a:p>
            <a:r>
              <a:rPr lang="en-US" sz="2800" dirty="0"/>
              <a:t>An ordinary deck of </a:t>
            </a:r>
            <a:r>
              <a:rPr lang="en-US" sz="2800" dirty="0">
                <a:solidFill>
                  <a:srgbClr val="FF0000"/>
                </a:solidFill>
              </a:rPr>
              <a:t>52 playing cards</a:t>
            </a:r>
            <a:r>
              <a:rPr lang="en-US" sz="2800" dirty="0"/>
              <a:t> is </a:t>
            </a:r>
            <a:r>
              <a:rPr lang="en-US" sz="2800" dirty="0">
                <a:solidFill>
                  <a:srgbClr val="FF0000"/>
                </a:solidFill>
              </a:rPr>
              <a:t>randomly divided </a:t>
            </a:r>
            <a:r>
              <a:rPr lang="en-US" sz="2800" dirty="0"/>
              <a:t>into </a:t>
            </a:r>
            <a:r>
              <a:rPr lang="en-US" sz="2800" dirty="0">
                <a:solidFill>
                  <a:srgbClr val="FF0000"/>
                </a:solidFill>
              </a:rPr>
              <a:t>4 piles of 13 cards each</a:t>
            </a:r>
            <a:r>
              <a:rPr lang="en-US" sz="2800" dirty="0"/>
              <a:t>. Compute the probability that </a:t>
            </a:r>
            <a:r>
              <a:rPr lang="en-US" sz="2800" dirty="0">
                <a:solidFill>
                  <a:srgbClr val="FF0000"/>
                </a:solidFill>
              </a:rPr>
              <a:t>each pile has exactly 1 ace</a:t>
            </a:r>
            <a:r>
              <a:rPr lang="en-US" sz="2800" dirty="0"/>
              <a:t>.</a:t>
            </a:r>
            <a:endParaRPr lang="en-US" sz="2800" dirty="0"/>
          </a:p>
        </p:txBody>
      </p:sp>
    </p:spTree>
    <p:extLst>
      <p:ext uri="{BB962C8B-B14F-4D97-AF65-F5344CB8AC3E}">
        <p14:creationId xmlns:p14="http://schemas.microsoft.com/office/powerpoint/2010/main" val="413671546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smtClean="0"/>
              <a:t>5.2.4 Conditional Probability</a:t>
            </a:r>
            <a:r>
              <a:rPr lang="en-US" smtClean="0"/>
              <a:t/>
            </a:r>
            <a:br>
              <a:rPr lang="en-US" smtClean="0"/>
            </a:br>
            <a:endParaRPr lang="en-US" dirty="0"/>
          </a:p>
        </p:txBody>
      </p:sp>
      <p:sp>
        <p:nvSpPr>
          <p:cNvPr id="4" name="Rectangle 3"/>
          <p:cNvSpPr/>
          <p:nvPr/>
        </p:nvSpPr>
        <p:spPr>
          <a:xfrm>
            <a:off x="1852246" y="1237277"/>
            <a:ext cx="6635262" cy="3170099"/>
          </a:xfrm>
          <a:prstGeom prst="rect">
            <a:avLst/>
          </a:prstGeom>
        </p:spPr>
        <p:txBody>
          <a:bodyPr wrap="square">
            <a:spAutoFit/>
          </a:bodyPr>
          <a:lstStyle/>
          <a:p>
            <a:r>
              <a:rPr lang="en-US" sz="2000" dirty="0">
                <a:solidFill>
                  <a:srgbClr val="FF0000"/>
                </a:solidFill>
              </a:rPr>
              <a:t>Solution:</a:t>
            </a:r>
          </a:p>
          <a:p>
            <a:endParaRPr lang="en-US" sz="2000" dirty="0"/>
          </a:p>
          <a:p>
            <a:r>
              <a:rPr lang="en-US" sz="2000" dirty="0"/>
              <a:t>Define events </a:t>
            </a:r>
            <a:r>
              <a:rPr lang="en-US" sz="2000" dirty="0" err="1"/>
              <a:t>Ei</a:t>
            </a:r>
            <a:r>
              <a:rPr lang="en-US" sz="2000" dirty="0"/>
              <a:t> ; </a:t>
            </a:r>
            <a:r>
              <a:rPr lang="en-US" sz="2000" dirty="0" err="1"/>
              <a:t>i</a:t>
            </a:r>
            <a:r>
              <a:rPr lang="en-US" sz="2000" dirty="0"/>
              <a:t> = 1; 2; 3; 4;</a:t>
            </a:r>
          </a:p>
          <a:p>
            <a:endParaRPr lang="en-US" sz="2000" dirty="0"/>
          </a:p>
          <a:p>
            <a:r>
              <a:rPr lang="en-US" sz="2000" dirty="0"/>
              <a:t>E1 = ace of spades is in any one of the piles </a:t>
            </a:r>
          </a:p>
          <a:p>
            <a:r>
              <a:rPr lang="en-US" sz="2000" dirty="0"/>
              <a:t>E2 = face of spades and ace of hearts are in different piles </a:t>
            </a:r>
          </a:p>
          <a:p>
            <a:r>
              <a:rPr lang="en-US" sz="2000" dirty="0"/>
              <a:t>E3 = faces of spades, hearts, and diamonds are all in different piles </a:t>
            </a:r>
          </a:p>
          <a:p>
            <a:r>
              <a:rPr lang="en-US" sz="2000" dirty="0"/>
              <a:t>E4 = f4 aces are in different piles </a:t>
            </a:r>
            <a:endParaRPr lang="en-US" sz="2000" dirty="0"/>
          </a:p>
        </p:txBody>
      </p:sp>
    </p:spTree>
    <p:extLst>
      <p:ext uri="{BB962C8B-B14F-4D97-AF65-F5344CB8AC3E}">
        <p14:creationId xmlns:p14="http://schemas.microsoft.com/office/powerpoint/2010/main" val="4240475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endParaRPr lang="en-US" dirty="0"/>
          </a:p>
        </p:txBody>
      </p:sp>
      <p:sp>
        <p:nvSpPr>
          <p:cNvPr id="3" name="Rectangle 2"/>
          <p:cNvSpPr/>
          <p:nvPr/>
        </p:nvSpPr>
        <p:spPr>
          <a:xfrm>
            <a:off x="1957754" y="1154379"/>
            <a:ext cx="6248400" cy="4216539"/>
          </a:xfrm>
          <a:prstGeom prst="rect">
            <a:avLst/>
          </a:prstGeom>
        </p:spPr>
        <p:txBody>
          <a:bodyPr wrap="square">
            <a:spAutoFit/>
          </a:bodyPr>
          <a:lstStyle/>
          <a:p>
            <a:r>
              <a:rPr lang="en-US" sz="2000" dirty="0">
                <a:solidFill>
                  <a:srgbClr val="FF0000"/>
                </a:solidFill>
              </a:rPr>
              <a:t>Solution:</a:t>
            </a:r>
          </a:p>
          <a:p>
            <a:endParaRPr lang="en-US" sz="2000" dirty="0"/>
          </a:p>
          <a:p>
            <a:r>
              <a:rPr lang="en-US" sz="2000" dirty="0"/>
              <a:t>- P(E1) = 1</a:t>
            </a:r>
          </a:p>
          <a:p>
            <a:r>
              <a:rPr lang="en-US" sz="2000" dirty="0"/>
              <a:t>- P(E2 | E1) = (52 - 13)=(52 - 1) = 39=51</a:t>
            </a:r>
          </a:p>
          <a:p>
            <a:r>
              <a:rPr lang="en-US" sz="2000" dirty="0"/>
              <a:t>- P(E3 |E1E2) = (52 - 13 x 2)=(52  - 2) = 26=50</a:t>
            </a:r>
          </a:p>
          <a:p>
            <a:r>
              <a:rPr lang="en-US" sz="2000" dirty="0"/>
              <a:t>- P(E4 | E1E2E3) =(52 - 13 x 3)=(52 -  3) = 13=49</a:t>
            </a:r>
          </a:p>
          <a:p>
            <a:pPr marL="342900" indent="-342900">
              <a:buFontTx/>
              <a:buChar char="-"/>
            </a:pPr>
            <a:endParaRPr lang="en-US" sz="2000" dirty="0"/>
          </a:p>
          <a:p>
            <a:r>
              <a:rPr lang="en-US" sz="2000" dirty="0"/>
              <a:t>- P(E4) = P(E1E2E3E4)  </a:t>
            </a:r>
          </a:p>
          <a:p>
            <a:r>
              <a:rPr lang="en-US" sz="2000" dirty="0"/>
              <a:t>             = P(E1)P(E2|E1)P(E3|E1E2)P(E4|E1E2E3)</a:t>
            </a:r>
          </a:p>
          <a:p>
            <a:r>
              <a:rPr lang="en-US" sz="2000" dirty="0"/>
              <a:t>             = 1 x (39 / 51) x (26 /50) x (13/49)</a:t>
            </a:r>
          </a:p>
          <a:p>
            <a:endParaRPr lang="en-US" sz="2000" dirty="0"/>
          </a:p>
          <a:p>
            <a:endParaRPr lang="en-US" sz="2000" dirty="0"/>
          </a:p>
          <a:p>
            <a:pPr marL="342900" indent="-342900">
              <a:buFontTx/>
              <a:buChar char="-"/>
            </a:pPr>
            <a:endParaRPr lang="en-US" sz="2000" dirty="0"/>
          </a:p>
        </p:txBody>
      </p:sp>
    </p:spTree>
    <p:extLst>
      <p:ext uri="{BB962C8B-B14F-4D97-AF65-F5344CB8AC3E}">
        <p14:creationId xmlns:p14="http://schemas.microsoft.com/office/powerpoint/2010/main" val="122096634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5.2.4 Conditional Probability</a:t>
            </a:r>
            <a:br>
              <a:rPr lang="en-US" sz="3200" dirty="0" smtClean="0"/>
            </a:br>
            <a:endParaRPr lang="en-US" sz="3200" dirty="0"/>
          </a:p>
        </p:txBody>
      </p:sp>
      <p:sp>
        <p:nvSpPr>
          <p:cNvPr id="3" name="Rectangle 2"/>
          <p:cNvSpPr/>
          <p:nvPr/>
        </p:nvSpPr>
        <p:spPr>
          <a:xfrm>
            <a:off x="1617784" y="1297691"/>
            <a:ext cx="6307015" cy="3046988"/>
          </a:xfrm>
          <a:prstGeom prst="rect">
            <a:avLst/>
          </a:prstGeom>
        </p:spPr>
        <p:txBody>
          <a:bodyPr wrap="square">
            <a:spAutoFit/>
          </a:bodyPr>
          <a:lstStyle/>
          <a:p>
            <a:r>
              <a:rPr lang="en-US" sz="2400" dirty="0">
                <a:solidFill>
                  <a:srgbClr val="FF0000"/>
                </a:solidFill>
              </a:rPr>
              <a:t>B.1:INDEPENDENT EVENTS</a:t>
            </a:r>
          </a:p>
          <a:p>
            <a:endParaRPr lang="en-US" sz="2400" dirty="0"/>
          </a:p>
          <a:p>
            <a:r>
              <a:rPr lang="en-US" sz="2400" dirty="0"/>
              <a:t>-Two events A and B are independent of each other if and only if p(A∩ B) = p(A) p(B). When p(B)≠0 this is the same as saying that p(A) = p(A|B). That is, knowing</a:t>
            </a:r>
          </a:p>
          <a:p>
            <a:r>
              <a:rPr lang="en-US" sz="2400" dirty="0"/>
              <a:t>That B is true does not affect the probability of A being true.</a:t>
            </a:r>
            <a:endParaRPr lang="en-US" sz="2400" dirty="0"/>
          </a:p>
        </p:txBody>
      </p:sp>
    </p:spTree>
    <p:extLst>
      <p:ext uri="{BB962C8B-B14F-4D97-AF65-F5344CB8AC3E}">
        <p14:creationId xmlns:p14="http://schemas.microsoft.com/office/powerpoint/2010/main" val="47195709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623645" y="828253"/>
            <a:ext cx="7215555" cy="2369880"/>
          </a:xfrm>
          <a:prstGeom prst="rect">
            <a:avLst/>
          </a:prstGeom>
        </p:spPr>
        <p:txBody>
          <a:bodyPr wrap="square">
            <a:spAutoFit/>
          </a:bodyPr>
          <a:lstStyle/>
          <a:p>
            <a:r>
              <a:rPr lang="en-US" sz="3200" dirty="0">
                <a:solidFill>
                  <a:srgbClr val="FF0000"/>
                </a:solidFill>
              </a:rPr>
              <a:t>Example:</a:t>
            </a:r>
          </a:p>
          <a:p>
            <a:endParaRPr lang="en-US" sz="2000" dirty="0">
              <a:solidFill>
                <a:srgbClr val="555555"/>
              </a:solidFill>
            </a:endParaRPr>
          </a:p>
          <a:p>
            <a:r>
              <a:rPr lang="en-US" sz="2400" dirty="0"/>
              <a:t>A card is selected at random from an ordinary deck of 52 playing cards. Let A be the event that the selected card is an ace and H be the event that it is a heart, then are A and H independent?</a:t>
            </a:r>
            <a:endParaRPr lang="en-US" sz="2400" dirty="0"/>
          </a:p>
        </p:txBody>
      </p:sp>
      <p:sp>
        <p:nvSpPr>
          <p:cNvPr id="4" name="Rectangle 3"/>
          <p:cNvSpPr/>
          <p:nvPr/>
        </p:nvSpPr>
        <p:spPr>
          <a:xfrm>
            <a:off x="1623645" y="3198133"/>
            <a:ext cx="6248400" cy="1846659"/>
          </a:xfrm>
          <a:prstGeom prst="rect">
            <a:avLst/>
          </a:prstGeom>
        </p:spPr>
        <p:txBody>
          <a:bodyPr wrap="square">
            <a:spAutoFit/>
          </a:bodyPr>
          <a:lstStyle/>
          <a:p>
            <a:r>
              <a:rPr lang="en-US" sz="2400" dirty="0">
                <a:solidFill>
                  <a:srgbClr val="FF0000"/>
                </a:solidFill>
              </a:rPr>
              <a:t>Solution:</a:t>
            </a:r>
          </a:p>
          <a:p>
            <a:endParaRPr lang="en-US" dirty="0"/>
          </a:p>
          <a:p>
            <a:r>
              <a:rPr lang="en-US" dirty="0"/>
              <a:t>-P(A) = 4 / 52</a:t>
            </a:r>
          </a:p>
          <a:p>
            <a:r>
              <a:rPr lang="en-US" dirty="0"/>
              <a:t>-P(H) = 13 / 52</a:t>
            </a:r>
          </a:p>
          <a:p>
            <a:r>
              <a:rPr lang="en-US" dirty="0"/>
              <a:t>-P(AH ) = 1 / 52 = P(A) P(H)</a:t>
            </a:r>
          </a:p>
          <a:p>
            <a:r>
              <a:rPr lang="en-US" dirty="0"/>
              <a:t>-A and H are independent (but not mutually exclusive)</a:t>
            </a:r>
            <a:endParaRPr lang="en-US" dirty="0"/>
          </a:p>
        </p:txBody>
      </p:sp>
    </p:spTree>
    <p:extLst>
      <p:ext uri="{BB962C8B-B14F-4D97-AF65-F5344CB8AC3E}">
        <p14:creationId xmlns:p14="http://schemas.microsoft.com/office/powerpoint/2010/main" val="362869126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5.2.4 Conditional Probability</a:t>
            </a:r>
            <a:r>
              <a:rPr lang="en-US" dirty="0"/>
              <a:t/>
            </a:r>
            <a:br>
              <a:rPr lang="en-US" dirty="0"/>
            </a:br>
            <a:endParaRPr lang="en-US" dirty="0"/>
          </a:p>
        </p:txBody>
      </p:sp>
      <p:sp>
        <p:nvSpPr>
          <p:cNvPr id="3" name="Rectangle 2"/>
          <p:cNvSpPr/>
          <p:nvPr/>
        </p:nvSpPr>
        <p:spPr>
          <a:xfrm>
            <a:off x="1892300" y="1569988"/>
            <a:ext cx="6680200" cy="3108543"/>
          </a:xfrm>
          <a:prstGeom prst="rect">
            <a:avLst/>
          </a:prstGeom>
        </p:spPr>
        <p:txBody>
          <a:bodyPr wrap="square">
            <a:spAutoFit/>
          </a:bodyPr>
          <a:lstStyle/>
          <a:p>
            <a:r>
              <a:rPr lang="en-US" sz="2800" dirty="0">
                <a:solidFill>
                  <a:srgbClr val="FF0000"/>
                </a:solidFill>
              </a:rPr>
              <a:t>B.2: CONDITIONALLY INDEPENDENT EVENTS:</a:t>
            </a:r>
          </a:p>
          <a:p>
            <a:endParaRPr lang="en-US" sz="2800" dirty="0"/>
          </a:p>
          <a:p>
            <a:r>
              <a:rPr lang="en-US" sz="2800" dirty="0"/>
              <a:t> -Two  events A and B are  said  to  be conditionally independent of  each  other,  given Event C if and only if p((A∩ B) | C) = p(A | C) p(B | C).</a:t>
            </a:r>
            <a:endParaRPr lang="en-US" sz="2800" dirty="0"/>
          </a:p>
        </p:txBody>
      </p:sp>
    </p:spTree>
    <p:extLst>
      <p:ext uri="{BB962C8B-B14F-4D97-AF65-F5344CB8AC3E}">
        <p14:creationId xmlns:p14="http://schemas.microsoft.com/office/powerpoint/2010/main" val="205676830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82F7C1D-71C9-4062-A43E-BE00BB6435C6}"/>
              </a:ext>
            </a:extLst>
          </p:cNvPr>
          <p:cNvSpPr>
            <a:spLocks noGrp="1"/>
          </p:cNvSpPr>
          <p:nvPr>
            <p:ph type="title"/>
          </p:nvPr>
        </p:nvSpPr>
        <p:spPr>
          <a:xfrm>
            <a:off x="5059971" y="1337969"/>
            <a:ext cx="3483937" cy="2166835"/>
          </a:xfrm>
        </p:spPr>
        <p:txBody>
          <a:bodyPr vert="horz" lIns="91440" tIns="45720" rIns="91440" bIns="45720" rtlCol="0" anchor="b">
            <a:normAutofit/>
          </a:bodyPr>
          <a:lstStyle/>
          <a:p>
            <a:pPr algn="l">
              <a:lnSpc>
                <a:spcPct val="90000"/>
              </a:lnSpc>
            </a:pPr>
            <a:r>
              <a:rPr lang="en-US" sz="6000" b="1" dirty="0">
                <a:solidFill>
                  <a:schemeClr val="tx1"/>
                </a:solidFill>
              </a:rPr>
              <a:t>Bayes’ Theorem</a:t>
            </a:r>
          </a:p>
        </p:txBody>
      </p:sp>
      <p:sp>
        <p:nvSpPr>
          <p:cNvPr id="13" name="Freeform: Shape 12">
            <a:extLst>
              <a:ext uri="{FF2B5EF4-FFF2-40B4-BE49-F238E27FC236}">
                <a16:creationId xmlns:a16="http://schemas.microsoft.com/office/drawing/2014/main" id="{1DB7C82F-AB7E-4F0C-B829-FA1B9C4151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629586" cy="51435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An old photo of a person&#10;&#10;Description automatically generated">
            <a:extLst>
              <a:ext uri="{FF2B5EF4-FFF2-40B4-BE49-F238E27FC236}">
                <a16:creationId xmlns:a16="http://schemas.microsoft.com/office/drawing/2014/main" id="{F84A70C9-AA09-4FEF-8A89-8543774F2113}"/>
              </a:ext>
            </a:extLst>
          </p:cNvPr>
          <p:cNvPicPr>
            <a:picLocks noChangeAspect="1"/>
          </p:cNvPicPr>
          <p:nvPr/>
        </p:nvPicPr>
        <p:blipFill rotWithShape="1">
          <a:blip r:embed="rId2">
            <a:extLst>
              <a:ext uri="{28A0092B-C50C-407E-A947-70E740481C1C}">
                <a14:useLocalDpi xmlns:a14="http://schemas.microsoft.com/office/drawing/2010/main" val="0"/>
              </a:ext>
            </a:extLst>
          </a:blip>
          <a:srcRect l="927" r="4877" b="3"/>
          <a:stretch/>
        </p:blipFill>
        <p:spPr>
          <a:xfrm>
            <a:off x="20" y="10"/>
            <a:ext cx="4518095" cy="51434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Tree>
    <p:extLst>
      <p:ext uri="{BB962C8B-B14F-4D97-AF65-F5344CB8AC3E}">
        <p14:creationId xmlns:p14="http://schemas.microsoft.com/office/powerpoint/2010/main" val="22006556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9A66E5DD-6140-47D3-869A-3C7BB4230CFE}"/>
              </a:ext>
            </a:extLst>
          </p:cNvPr>
          <p:cNvSpPr>
            <a:spLocks noGrp="1"/>
          </p:cNvSpPr>
          <p:nvPr>
            <p:ph type="title"/>
          </p:nvPr>
        </p:nvSpPr>
        <p:spPr>
          <a:xfrm>
            <a:off x="480059" y="1540230"/>
            <a:ext cx="2751871" cy="2070074"/>
          </a:xfrm>
        </p:spPr>
        <p:txBody>
          <a:bodyPr>
            <a:normAutofit/>
          </a:bodyPr>
          <a:lstStyle/>
          <a:p>
            <a:r>
              <a:rPr lang="en-US">
                <a:solidFill>
                  <a:srgbClr val="FFFFFF"/>
                </a:solidFill>
              </a:rPr>
              <a:t>Bayes</a:t>
            </a:r>
            <a:r>
              <a:rPr lang="en-US" dirty="0">
                <a:solidFill>
                  <a:srgbClr val="FFFFFF"/>
                </a:solidFill>
              </a:rPr>
              <a:t>’ Theorem</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184E2D6-BF0A-4218-BEB9-0A1F59D75336}"/>
                  </a:ext>
                </a:extLst>
              </p:cNvPr>
              <p:cNvSpPr>
                <a:spLocks noGrp="1"/>
              </p:cNvSpPr>
              <p:nvPr>
                <p:ph idx="1"/>
              </p:nvPr>
            </p:nvSpPr>
            <p:spPr>
              <a:xfrm>
                <a:off x="4104000" y="610262"/>
                <a:ext cx="4328293" cy="3922976"/>
              </a:xfrm>
            </p:spPr>
            <p:txBody>
              <a:bodyPr anchor="ctr">
                <a:normAutofit/>
              </a:bodyPr>
              <a:lstStyle/>
              <a:p>
                <a:pPr marL="0" indent="0">
                  <a:lnSpc>
                    <a:spcPct val="90000"/>
                  </a:lnSpc>
                  <a:buNone/>
                </a:pPr>
                <a:r>
                  <a:rPr lang="en-US" sz="1500" dirty="0">
                    <a:solidFill>
                      <a:srgbClr val="000000"/>
                    </a:solidFill>
                  </a:rPr>
                  <a:t>Conditional Probability: </a:t>
                </a:r>
                <a14:m>
                  <m:oMath xmlns:m="http://schemas.openxmlformats.org/officeDocument/2006/math">
                    <m:r>
                      <a:rPr lang="en-US" sz="1800" b="0" i="1" smtClean="0">
                        <a:solidFill>
                          <a:srgbClr val="000000"/>
                        </a:solidFill>
                        <a:latin typeface="Cambria Math" panose="02040503050406030204" pitchFamily="18" charset="0"/>
                      </a:rPr>
                      <m:t>𝑃</m:t>
                    </m:r>
                    <m:d>
                      <m:dPr>
                        <m:ctrlPr>
                          <a:rPr lang="en-US" sz="1800" b="0" i="1" smtClean="0">
                            <a:solidFill>
                              <a:srgbClr val="000000"/>
                            </a:solidFill>
                            <a:latin typeface="Cambria Math" panose="02040503050406030204" pitchFamily="18" charset="0"/>
                          </a:rPr>
                        </m:ctrlPr>
                      </m:dPr>
                      <m:e>
                        <m:r>
                          <a:rPr lang="en-US" sz="1800" b="0" i="1" smtClean="0">
                            <a:solidFill>
                              <a:srgbClr val="000000"/>
                            </a:solidFill>
                            <a:latin typeface="Cambria Math" panose="02040503050406030204" pitchFamily="18" charset="0"/>
                          </a:rPr>
                          <m:t>𝐴</m:t>
                        </m:r>
                      </m:e>
                      <m:e>
                        <m:r>
                          <a:rPr lang="en-US" sz="1800" b="0" i="1" smtClean="0">
                            <a:solidFill>
                              <a:srgbClr val="000000"/>
                            </a:solidFill>
                            <a:latin typeface="Cambria Math" panose="02040503050406030204" pitchFamily="18" charset="0"/>
                          </a:rPr>
                          <m:t>𝐵</m:t>
                        </m:r>
                      </m:e>
                    </m:d>
                    <m:r>
                      <a:rPr lang="en-US" sz="1800" b="0" i="1" smtClean="0">
                        <a:solidFill>
                          <a:srgbClr val="000000"/>
                        </a:solidFill>
                        <a:latin typeface="Cambria Math" panose="02040503050406030204" pitchFamily="18" charset="0"/>
                      </a:rPr>
                      <m:t>= </m:t>
                    </m:r>
                    <m:f>
                      <m:fPr>
                        <m:ctrlPr>
                          <a:rPr lang="en-US" sz="1800" b="0" i="1" smtClean="0">
                            <a:solidFill>
                              <a:srgbClr val="000000"/>
                            </a:solidFill>
                            <a:latin typeface="Cambria Math" panose="02040503050406030204" pitchFamily="18" charset="0"/>
                          </a:rPr>
                        </m:ctrlPr>
                      </m:fPr>
                      <m:num>
                        <m:r>
                          <a:rPr lang="en-US" sz="1800" b="0" i="1" smtClean="0">
                            <a:solidFill>
                              <a:srgbClr val="000000"/>
                            </a:solidFill>
                            <a:latin typeface="Cambria Math" panose="02040503050406030204" pitchFamily="18" charset="0"/>
                          </a:rPr>
                          <m:t>𝑃</m:t>
                        </m:r>
                        <m:r>
                          <a:rPr lang="en-US" sz="1800" b="0" i="1" smtClean="0">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𝐴</m:t>
                        </m:r>
                        <m:r>
                          <a:rPr lang="en-US" sz="1800" b="0" i="1" smtClean="0">
                            <a:solidFill>
                              <a:srgbClr val="000000"/>
                            </a:solidFill>
                            <a:latin typeface="Cambria Math" panose="02040503050406030204" pitchFamily="18" charset="0"/>
                          </a:rPr>
                          <m:t> ∩ </m:t>
                        </m:r>
                        <m:r>
                          <a:rPr lang="en-US" sz="1800" b="0" i="1" smtClean="0">
                            <a:solidFill>
                              <a:srgbClr val="000000"/>
                            </a:solidFill>
                            <a:latin typeface="Cambria Math" panose="02040503050406030204" pitchFamily="18" charset="0"/>
                            <a:ea typeface="Cambria Math" panose="02040503050406030204" pitchFamily="18" charset="0"/>
                          </a:rPr>
                          <m:t>𝐵</m:t>
                        </m:r>
                        <m:r>
                          <a:rPr lang="en-US" sz="1800" b="0" i="1" smtClean="0">
                            <a:solidFill>
                              <a:srgbClr val="000000"/>
                            </a:solidFill>
                            <a:latin typeface="Cambria Math" panose="02040503050406030204" pitchFamily="18" charset="0"/>
                            <a:ea typeface="Cambria Math" panose="02040503050406030204" pitchFamily="18" charset="0"/>
                          </a:rPr>
                          <m:t>)</m:t>
                        </m:r>
                      </m:num>
                      <m:den>
                        <m:r>
                          <a:rPr lang="en-US" sz="1800" b="0" i="1" smtClean="0">
                            <a:solidFill>
                              <a:srgbClr val="000000"/>
                            </a:solidFill>
                            <a:latin typeface="Cambria Math" panose="02040503050406030204" pitchFamily="18" charset="0"/>
                          </a:rPr>
                          <m:t>𝑃</m:t>
                        </m:r>
                        <m:r>
                          <a:rPr lang="en-US" sz="1800" b="0" i="1" smtClean="0">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𝐵</m:t>
                        </m:r>
                        <m:r>
                          <a:rPr lang="en-US" sz="1800" b="0" i="1" smtClean="0">
                            <a:solidFill>
                              <a:srgbClr val="000000"/>
                            </a:solidFill>
                            <a:latin typeface="Cambria Math" panose="02040503050406030204" pitchFamily="18" charset="0"/>
                          </a:rPr>
                          <m:t>)</m:t>
                        </m:r>
                      </m:den>
                    </m:f>
                  </m:oMath>
                </a14:m>
                <a:endParaRPr lang="en-US" sz="1800" dirty="0">
                  <a:solidFill>
                    <a:srgbClr val="000000"/>
                  </a:solidFill>
                </a:endParaRPr>
              </a:p>
              <a:p>
                <a:pPr marL="0" indent="0">
                  <a:lnSpc>
                    <a:spcPct val="90000"/>
                  </a:lnSpc>
                  <a:buNone/>
                </a:pPr>
                <a:r>
                  <a:rPr lang="en-US" sz="1600" dirty="0">
                    <a:solidFill>
                      <a:srgbClr val="000000"/>
                    </a:solidFill>
                  </a:rPr>
                  <a:t>		   </a:t>
                </a:r>
                <a14:m>
                  <m:oMath xmlns:m="http://schemas.openxmlformats.org/officeDocument/2006/math">
                    <m:r>
                      <a:rPr lang="en-US" sz="1800" i="1">
                        <a:solidFill>
                          <a:srgbClr val="000000"/>
                        </a:solidFill>
                        <a:latin typeface="Cambria Math" panose="02040503050406030204" pitchFamily="18" charset="0"/>
                      </a:rPr>
                      <m:t>𝑃</m:t>
                    </m:r>
                    <m:d>
                      <m:dPr>
                        <m:ctrlPr>
                          <a:rPr lang="en-US" sz="1800" i="1">
                            <a:solidFill>
                              <a:srgbClr val="000000"/>
                            </a:solidFill>
                            <a:latin typeface="Cambria Math" panose="02040503050406030204" pitchFamily="18" charset="0"/>
                          </a:rPr>
                        </m:ctrlPr>
                      </m:dPr>
                      <m:e>
                        <m:r>
                          <a:rPr lang="en-US" sz="1800" b="0" i="1" smtClean="0">
                            <a:solidFill>
                              <a:srgbClr val="000000"/>
                            </a:solidFill>
                            <a:latin typeface="Cambria Math" panose="02040503050406030204" pitchFamily="18" charset="0"/>
                          </a:rPr>
                          <m:t>𝐵</m:t>
                        </m:r>
                      </m:e>
                      <m:e>
                        <m:r>
                          <a:rPr lang="en-US" sz="1800" b="0" i="1" smtClean="0">
                            <a:solidFill>
                              <a:srgbClr val="000000"/>
                            </a:solidFill>
                            <a:latin typeface="Cambria Math" panose="02040503050406030204" pitchFamily="18" charset="0"/>
                          </a:rPr>
                          <m:t>𝐴</m:t>
                        </m:r>
                      </m:e>
                    </m:d>
                    <m:r>
                      <a:rPr lang="en-US" sz="1800" i="1">
                        <a:solidFill>
                          <a:srgbClr val="000000"/>
                        </a:solidFill>
                        <a:latin typeface="Cambria Math" panose="02040503050406030204" pitchFamily="18" charset="0"/>
                      </a:rPr>
                      <m:t>= </m:t>
                    </m:r>
                    <m:f>
                      <m:fPr>
                        <m:ctrlPr>
                          <a:rPr lang="en-US" sz="1800" i="1">
                            <a:solidFill>
                              <a:srgbClr val="000000"/>
                            </a:solidFill>
                            <a:latin typeface="Cambria Math" panose="02040503050406030204" pitchFamily="18" charset="0"/>
                          </a:rPr>
                        </m:ctrlPr>
                      </m:fPr>
                      <m:num>
                        <m:r>
                          <a:rPr lang="en-US" sz="1800" i="1">
                            <a:solidFill>
                              <a:srgbClr val="000000"/>
                            </a:solidFill>
                            <a:latin typeface="Cambria Math" panose="02040503050406030204" pitchFamily="18" charset="0"/>
                          </a:rPr>
                          <m:t>𝑃</m:t>
                        </m:r>
                        <m:r>
                          <a:rPr lang="en-US" sz="1800" i="1">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𝐵</m:t>
                        </m:r>
                        <m:r>
                          <a:rPr lang="en-US" sz="1800" i="1">
                            <a:solidFill>
                              <a:srgbClr val="000000"/>
                            </a:solidFill>
                            <a:latin typeface="Cambria Math" panose="02040503050406030204" pitchFamily="18" charset="0"/>
                          </a:rPr>
                          <m:t> ∩</m:t>
                        </m:r>
                        <m:r>
                          <a:rPr lang="en-US" sz="1800" b="0" i="1" smtClean="0">
                            <a:solidFill>
                              <a:srgbClr val="000000"/>
                            </a:solidFill>
                            <a:latin typeface="Cambria Math" panose="02040503050406030204" pitchFamily="18" charset="0"/>
                          </a:rPr>
                          <m:t> </m:t>
                        </m:r>
                        <m:r>
                          <a:rPr lang="en-US" sz="1800" b="0" i="1" smtClean="0">
                            <a:solidFill>
                              <a:srgbClr val="000000"/>
                            </a:solidFill>
                            <a:latin typeface="Cambria Math" panose="02040503050406030204" pitchFamily="18" charset="0"/>
                          </a:rPr>
                          <m:t>𝐴</m:t>
                        </m:r>
                        <m:r>
                          <a:rPr lang="en-US" sz="1800" i="1">
                            <a:solidFill>
                              <a:srgbClr val="000000"/>
                            </a:solidFill>
                            <a:latin typeface="Cambria Math" panose="02040503050406030204" pitchFamily="18" charset="0"/>
                            <a:ea typeface="Cambria Math" panose="02040503050406030204" pitchFamily="18" charset="0"/>
                          </a:rPr>
                          <m:t>)</m:t>
                        </m:r>
                      </m:num>
                      <m:den>
                        <m:r>
                          <a:rPr lang="en-US" sz="1800" i="1">
                            <a:solidFill>
                              <a:srgbClr val="000000"/>
                            </a:solidFill>
                            <a:latin typeface="Cambria Math" panose="02040503050406030204" pitchFamily="18" charset="0"/>
                          </a:rPr>
                          <m:t>𝑃</m:t>
                        </m:r>
                        <m:r>
                          <a:rPr lang="en-US" sz="1800" i="1">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𝐴</m:t>
                        </m:r>
                        <m:r>
                          <a:rPr lang="en-US" sz="1800" i="1">
                            <a:solidFill>
                              <a:srgbClr val="000000"/>
                            </a:solidFill>
                            <a:latin typeface="Cambria Math" panose="02040503050406030204" pitchFamily="18" charset="0"/>
                          </a:rPr>
                          <m:t>)</m:t>
                        </m:r>
                      </m:den>
                    </m:f>
                  </m:oMath>
                </a14:m>
                <a:endParaRPr lang="en-US" sz="1800" dirty="0">
                  <a:solidFill>
                    <a:srgbClr val="000000"/>
                  </a:solidFill>
                </a:endParaRPr>
              </a:p>
              <a:p>
                <a:pPr marL="0" indent="0">
                  <a:lnSpc>
                    <a:spcPct val="90000"/>
                  </a:lnSpc>
                  <a:buNone/>
                </a:pPr>
                <a:endParaRPr lang="en-US" sz="1800" i="1" dirty="0">
                  <a:solidFill>
                    <a:srgbClr val="000000"/>
                  </a:solidFill>
                  <a:latin typeface="Cambria Math" panose="02040503050406030204" pitchFamily="18" charset="0"/>
                  <a:ea typeface="Cambria Math" panose="02040503050406030204" pitchFamily="18" charset="0"/>
                </a:endParaRPr>
              </a:p>
              <a:p>
                <a:pPr marL="0" indent="0">
                  <a:lnSpc>
                    <a:spcPct val="90000"/>
                  </a:lnSpc>
                  <a:buNone/>
                </a:pPr>
                <a14:m>
                  <m:oMathPara xmlns:m="http://schemas.openxmlformats.org/officeDocument/2006/math">
                    <m:oMathParaPr>
                      <m:jc m:val="centerGroup"/>
                    </m:oMathParaPr>
                    <m:oMath xmlns:m="http://schemas.openxmlformats.org/officeDocument/2006/math">
                      <m:r>
                        <a:rPr lang="en-US" sz="1800" i="1" smtClean="0">
                          <a:solidFill>
                            <a:srgbClr val="000000"/>
                          </a:solidFill>
                          <a:latin typeface="Cambria Math" panose="02040503050406030204" pitchFamily="18" charset="0"/>
                          <a:ea typeface="Cambria Math" panose="02040503050406030204" pitchFamily="18" charset="0"/>
                        </a:rPr>
                        <m:t>→</m:t>
                      </m:r>
                      <m:r>
                        <a:rPr lang="en-US" sz="1800" b="0" i="1" smtClean="0">
                          <a:solidFill>
                            <a:srgbClr val="000000"/>
                          </a:solidFill>
                          <a:latin typeface="Cambria Math" panose="02040503050406030204" pitchFamily="18" charset="0"/>
                          <a:ea typeface="Cambria Math" panose="02040503050406030204" pitchFamily="18" charset="0"/>
                        </a:rPr>
                        <m:t>𝑃</m:t>
                      </m:r>
                      <m:d>
                        <m:dPr>
                          <m:ctrlPr>
                            <a:rPr lang="en-US" sz="1800" b="0" i="1" smtClean="0">
                              <a:solidFill>
                                <a:srgbClr val="000000"/>
                              </a:solidFill>
                              <a:latin typeface="Cambria Math" panose="02040503050406030204" pitchFamily="18" charset="0"/>
                              <a:ea typeface="Cambria Math" panose="02040503050406030204" pitchFamily="18" charset="0"/>
                            </a:rPr>
                          </m:ctrlPr>
                        </m:dPr>
                        <m:e>
                          <m:r>
                            <a:rPr lang="en-US" sz="1800" b="0" i="1" smtClean="0">
                              <a:solidFill>
                                <a:srgbClr val="000000"/>
                              </a:solidFill>
                              <a:latin typeface="Cambria Math" panose="02040503050406030204" pitchFamily="18" charset="0"/>
                              <a:ea typeface="Cambria Math" panose="02040503050406030204" pitchFamily="18" charset="0"/>
                            </a:rPr>
                            <m:t>𝐴</m:t>
                          </m:r>
                        </m:e>
                        <m:e>
                          <m:r>
                            <a:rPr lang="en-US" sz="1800" b="0" i="1" smtClean="0">
                              <a:solidFill>
                                <a:srgbClr val="000000"/>
                              </a:solidFill>
                              <a:latin typeface="Cambria Math" panose="02040503050406030204" pitchFamily="18" charset="0"/>
                              <a:ea typeface="Cambria Math" panose="02040503050406030204" pitchFamily="18" charset="0"/>
                            </a:rPr>
                            <m:t>𝐵</m:t>
                          </m:r>
                        </m:e>
                      </m:d>
                      <m:r>
                        <a:rPr lang="en-US" sz="1800" b="0" i="1" smtClean="0">
                          <a:solidFill>
                            <a:srgbClr val="000000"/>
                          </a:solidFill>
                          <a:latin typeface="Cambria Math" panose="02040503050406030204" pitchFamily="18" charset="0"/>
                          <a:ea typeface="Cambria Math" panose="02040503050406030204" pitchFamily="18" charset="0"/>
                        </a:rPr>
                        <m:t>= </m:t>
                      </m:r>
                      <m:f>
                        <m:fPr>
                          <m:ctrlPr>
                            <a:rPr lang="en-US" sz="1800" b="0" i="1" smtClean="0">
                              <a:solidFill>
                                <a:srgbClr val="000000"/>
                              </a:solidFill>
                              <a:latin typeface="Cambria Math" panose="02040503050406030204" pitchFamily="18" charset="0"/>
                              <a:ea typeface="Cambria Math" panose="02040503050406030204" pitchFamily="18" charset="0"/>
                            </a:rPr>
                          </m:ctrlPr>
                        </m:fPr>
                        <m:num>
                          <m:r>
                            <a:rPr lang="en-US" sz="1800" b="0" i="1" smtClean="0">
                              <a:solidFill>
                                <a:srgbClr val="000000"/>
                              </a:solidFill>
                              <a:latin typeface="Cambria Math" panose="02040503050406030204" pitchFamily="18" charset="0"/>
                              <a:ea typeface="Cambria Math" panose="02040503050406030204" pitchFamily="18" charset="0"/>
                            </a:rPr>
                            <m:t>𝑃</m:t>
                          </m:r>
                          <m:d>
                            <m:dPr>
                              <m:ctrlPr>
                                <a:rPr lang="en-US" sz="1800" b="0" i="1" smtClean="0">
                                  <a:solidFill>
                                    <a:srgbClr val="000000"/>
                                  </a:solidFill>
                                  <a:latin typeface="Cambria Math" panose="02040503050406030204" pitchFamily="18" charset="0"/>
                                  <a:ea typeface="Cambria Math" panose="02040503050406030204" pitchFamily="18" charset="0"/>
                                </a:rPr>
                              </m:ctrlPr>
                            </m:dPr>
                            <m:e>
                              <m:r>
                                <a:rPr lang="en-US" sz="1800" b="0" i="1" smtClean="0">
                                  <a:solidFill>
                                    <a:srgbClr val="000000"/>
                                  </a:solidFill>
                                  <a:latin typeface="Cambria Math" panose="02040503050406030204" pitchFamily="18" charset="0"/>
                                  <a:ea typeface="Cambria Math" panose="02040503050406030204" pitchFamily="18" charset="0"/>
                                </a:rPr>
                                <m:t>𝐵</m:t>
                              </m:r>
                            </m:e>
                            <m:e>
                              <m:r>
                                <a:rPr lang="en-US" sz="1800" b="0" i="1" smtClean="0">
                                  <a:solidFill>
                                    <a:srgbClr val="000000"/>
                                  </a:solidFill>
                                  <a:latin typeface="Cambria Math" panose="02040503050406030204" pitchFamily="18" charset="0"/>
                                  <a:ea typeface="Cambria Math" panose="02040503050406030204" pitchFamily="18" charset="0"/>
                                </a:rPr>
                                <m:t>𝐴</m:t>
                              </m:r>
                            </m:e>
                          </m:d>
                          <m:r>
                            <a:rPr lang="en-US" sz="1800" b="0" i="1" smtClean="0">
                              <a:solidFill>
                                <a:srgbClr val="000000"/>
                              </a:solidFill>
                              <a:latin typeface="Cambria Math" panose="02040503050406030204" pitchFamily="18" charset="0"/>
                              <a:ea typeface="Cambria Math" panose="02040503050406030204" pitchFamily="18" charset="0"/>
                            </a:rPr>
                            <m:t>.</m:t>
                          </m:r>
                          <m:r>
                            <a:rPr lang="en-US" sz="1800" b="0" i="1" smtClean="0">
                              <a:solidFill>
                                <a:srgbClr val="000000"/>
                              </a:solidFill>
                              <a:latin typeface="Cambria Math" panose="02040503050406030204" pitchFamily="18" charset="0"/>
                              <a:ea typeface="Cambria Math" panose="02040503050406030204" pitchFamily="18" charset="0"/>
                            </a:rPr>
                            <m:t>𝑃</m:t>
                          </m:r>
                          <m:r>
                            <a:rPr lang="en-US" sz="1800" b="0" i="1" smtClean="0">
                              <a:solidFill>
                                <a:srgbClr val="000000"/>
                              </a:solidFill>
                              <a:latin typeface="Cambria Math" panose="02040503050406030204" pitchFamily="18" charset="0"/>
                              <a:ea typeface="Cambria Math" panose="02040503050406030204" pitchFamily="18" charset="0"/>
                            </a:rPr>
                            <m:t>(</m:t>
                          </m:r>
                          <m:r>
                            <a:rPr lang="en-US" sz="1800" b="0" i="1" smtClean="0">
                              <a:solidFill>
                                <a:srgbClr val="000000"/>
                              </a:solidFill>
                              <a:latin typeface="Cambria Math" panose="02040503050406030204" pitchFamily="18" charset="0"/>
                              <a:ea typeface="Cambria Math" panose="02040503050406030204" pitchFamily="18" charset="0"/>
                            </a:rPr>
                            <m:t>𝐴</m:t>
                          </m:r>
                          <m:r>
                            <a:rPr lang="en-US" sz="1800" b="0" i="1" smtClean="0">
                              <a:solidFill>
                                <a:srgbClr val="000000"/>
                              </a:solidFill>
                              <a:latin typeface="Cambria Math" panose="02040503050406030204" pitchFamily="18" charset="0"/>
                              <a:ea typeface="Cambria Math" panose="02040503050406030204" pitchFamily="18" charset="0"/>
                            </a:rPr>
                            <m:t>)</m:t>
                          </m:r>
                        </m:num>
                        <m:den>
                          <m:r>
                            <a:rPr lang="en-US" sz="1800" b="0" i="1" smtClean="0">
                              <a:solidFill>
                                <a:srgbClr val="000000"/>
                              </a:solidFill>
                              <a:latin typeface="Cambria Math" panose="02040503050406030204" pitchFamily="18" charset="0"/>
                              <a:ea typeface="Cambria Math" panose="02040503050406030204" pitchFamily="18" charset="0"/>
                            </a:rPr>
                            <m:t>𝑃</m:t>
                          </m:r>
                          <m:r>
                            <a:rPr lang="en-US" sz="1800" b="0" i="1" smtClean="0">
                              <a:solidFill>
                                <a:srgbClr val="000000"/>
                              </a:solidFill>
                              <a:latin typeface="Cambria Math" panose="02040503050406030204" pitchFamily="18" charset="0"/>
                              <a:ea typeface="Cambria Math" panose="02040503050406030204" pitchFamily="18" charset="0"/>
                            </a:rPr>
                            <m:t>(</m:t>
                          </m:r>
                          <m:r>
                            <a:rPr lang="en-US" sz="1800" b="0" i="1" smtClean="0">
                              <a:solidFill>
                                <a:srgbClr val="000000"/>
                              </a:solidFill>
                              <a:latin typeface="Cambria Math" panose="02040503050406030204" pitchFamily="18" charset="0"/>
                              <a:ea typeface="Cambria Math" panose="02040503050406030204" pitchFamily="18" charset="0"/>
                            </a:rPr>
                            <m:t>𝐵</m:t>
                          </m:r>
                          <m:r>
                            <a:rPr lang="en-US" sz="1800" b="0" i="1" smtClean="0">
                              <a:solidFill>
                                <a:srgbClr val="000000"/>
                              </a:solidFill>
                              <a:latin typeface="Cambria Math" panose="02040503050406030204" pitchFamily="18" charset="0"/>
                              <a:ea typeface="Cambria Math" panose="02040503050406030204" pitchFamily="18" charset="0"/>
                            </a:rPr>
                            <m:t>)</m:t>
                          </m:r>
                        </m:den>
                      </m:f>
                    </m:oMath>
                  </m:oMathPara>
                </a14:m>
                <a:endParaRPr lang="en-US" sz="1800" dirty="0">
                  <a:solidFill>
                    <a:srgbClr val="000000"/>
                  </a:solidFill>
                </a:endParaRPr>
              </a:p>
              <a:p>
                <a:pPr marL="0" indent="0">
                  <a:lnSpc>
                    <a:spcPct val="90000"/>
                  </a:lnSpc>
                  <a:buNone/>
                </a:pPr>
                <a:r>
                  <a:rPr lang="en-US" sz="1500" dirty="0">
                    <a:solidFill>
                      <a:srgbClr val="000000"/>
                    </a:solidFill>
                  </a:rPr>
                  <a:t>Ex: What is the probability of two girls given at least one girl? </a:t>
                </a:r>
              </a:p>
            </p:txBody>
          </p:sp>
        </mc:Choice>
        <mc:Fallback xmlns="">
          <p:sp>
            <p:nvSpPr>
              <p:cNvPr id="6" name="Content Placeholder 2">
                <a:extLst>
                  <a:ext uri="{FF2B5EF4-FFF2-40B4-BE49-F238E27FC236}">
                    <a16:creationId xmlns:a16="http://schemas.microsoft.com/office/drawing/2014/main" id="{6184E2D6-BF0A-4218-BEB9-0A1F59D75336}"/>
                  </a:ext>
                </a:extLst>
              </p:cNvPr>
              <p:cNvSpPr>
                <a:spLocks noGrp="1" noRot="1" noChangeAspect="1" noMove="1" noResize="1" noEditPoints="1" noAdjustHandles="1" noChangeArrowheads="1" noChangeShapeType="1" noTextEdit="1"/>
              </p:cNvSpPr>
              <p:nvPr>
                <p:ph idx="1"/>
              </p:nvPr>
            </p:nvSpPr>
            <p:spPr>
              <a:xfrm>
                <a:off x="4104000" y="610262"/>
                <a:ext cx="4328293" cy="3922976"/>
              </a:xfrm>
              <a:blipFill>
                <a:blip r:embed="rId3"/>
                <a:stretch>
                  <a:fillRect l="-563"/>
                </a:stretch>
              </a:blipFill>
            </p:spPr>
            <p:txBody>
              <a:bodyPr/>
              <a:lstStyle/>
              <a:p>
                <a:r>
                  <a:rPr lang="en-US">
                    <a:noFill/>
                  </a:rPr>
                  <a:t> </a:t>
                </a:r>
              </a:p>
            </p:txBody>
          </p:sp>
        </mc:Fallback>
      </mc:AlternateContent>
    </p:spTree>
    <p:extLst>
      <p:ext uri="{BB962C8B-B14F-4D97-AF65-F5344CB8AC3E}">
        <p14:creationId xmlns:p14="http://schemas.microsoft.com/office/powerpoint/2010/main" val="407970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9A66E5DD-6140-47D3-869A-3C7BB4230CFE}"/>
              </a:ext>
            </a:extLst>
          </p:cNvPr>
          <p:cNvSpPr>
            <a:spLocks noGrp="1"/>
          </p:cNvSpPr>
          <p:nvPr>
            <p:ph type="title"/>
          </p:nvPr>
        </p:nvSpPr>
        <p:spPr>
          <a:xfrm>
            <a:off x="480059" y="1540230"/>
            <a:ext cx="2751871" cy="2070074"/>
          </a:xfrm>
        </p:spPr>
        <p:txBody>
          <a:bodyPr>
            <a:normAutofit/>
          </a:bodyPr>
          <a:lstStyle/>
          <a:p>
            <a:r>
              <a:rPr lang="en-US">
                <a:solidFill>
                  <a:srgbClr val="FFFFFF"/>
                </a:solidFill>
              </a:rPr>
              <a:t>Bayes</a:t>
            </a:r>
            <a:r>
              <a:rPr lang="en-US" dirty="0">
                <a:solidFill>
                  <a:srgbClr val="FFFFFF"/>
                </a:solidFill>
              </a:rPr>
              <a:t>’ Theorem</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184E2D6-BF0A-4218-BEB9-0A1F59D75336}"/>
                  </a:ext>
                </a:extLst>
              </p:cNvPr>
              <p:cNvSpPr>
                <a:spLocks noGrp="1"/>
              </p:cNvSpPr>
              <p:nvPr>
                <p:ph idx="1"/>
              </p:nvPr>
            </p:nvSpPr>
            <p:spPr>
              <a:xfrm>
                <a:off x="4183200" y="610262"/>
                <a:ext cx="4328293" cy="3922976"/>
              </a:xfrm>
            </p:spPr>
            <p:txBody>
              <a:bodyPr anchor="ctr">
                <a:normAutofit/>
              </a:bodyPr>
              <a:lstStyle/>
              <a:p>
                <a:pPr marL="0" indent="0">
                  <a:lnSpc>
                    <a:spcPct val="90000"/>
                  </a:lnSpc>
                  <a:buNone/>
                </a:pPr>
                <a:r>
                  <a:rPr lang="en-US" sz="1500" dirty="0">
                    <a:solidFill>
                      <a:srgbClr val="000000"/>
                    </a:solidFill>
                  </a:rPr>
                  <a:t>Ex: What is the probability of two girls given at least one girl? </a:t>
                </a:r>
              </a:p>
              <a:p>
                <a:pPr marL="0" indent="0">
                  <a:lnSpc>
                    <a:spcPct val="90000"/>
                  </a:lnSpc>
                  <a:buNone/>
                </a:pPr>
                <a:r>
                  <a:rPr lang="en-US" sz="1500" dirty="0">
                    <a:solidFill>
                      <a:srgbClr val="000000"/>
                    </a:solidFill>
                  </a:rPr>
                  <a:t>A: We have 2 girls.</a:t>
                </a:r>
              </a:p>
              <a:p>
                <a:pPr marL="0" indent="0">
                  <a:lnSpc>
                    <a:spcPct val="90000"/>
                  </a:lnSpc>
                  <a:buNone/>
                </a:pPr>
                <a:r>
                  <a:rPr lang="en-US" sz="1500" dirty="0">
                    <a:solidFill>
                      <a:srgbClr val="000000"/>
                    </a:solidFill>
                  </a:rPr>
                  <a:t>B: We have at least 1 girl.</a:t>
                </a:r>
              </a:p>
              <a:p>
                <a:pPr marL="0" indent="0">
                  <a:lnSpc>
                    <a:spcPct val="90000"/>
                  </a:lnSpc>
                  <a:buNone/>
                </a:pPr>
                <a:endParaRPr lang="en-US" sz="1500" dirty="0">
                  <a:solidFill>
                    <a:srgbClr val="000000"/>
                  </a:solidFill>
                </a:endParaRPr>
              </a:p>
              <a:p>
                <a:pPr marL="0" indent="0">
                  <a:lnSpc>
                    <a:spcPct val="90000"/>
                  </a:lnSpc>
                  <a:buNone/>
                </a:pPr>
                <a14:m>
                  <m:oMathPara xmlns:m="http://schemas.openxmlformats.org/officeDocument/2006/math">
                    <m:oMathParaPr>
                      <m:jc m:val="centerGroup"/>
                    </m:oMathParaPr>
                    <m:oMath xmlns:m="http://schemas.openxmlformats.org/officeDocument/2006/math">
                      <m:r>
                        <a:rPr lang="en-US" sz="1500" b="0" i="1" smtClean="0">
                          <a:solidFill>
                            <a:srgbClr val="000000"/>
                          </a:solidFill>
                          <a:latin typeface="Cambria Math" panose="02040503050406030204" pitchFamily="18" charset="0"/>
                        </a:rPr>
                        <m:t>𝑃</m:t>
                      </m:r>
                      <m:d>
                        <m:dPr>
                          <m:ctrlPr>
                            <a:rPr lang="en-US" sz="1500" b="0" i="1" smtClean="0">
                              <a:solidFill>
                                <a:srgbClr val="000000"/>
                              </a:solidFill>
                              <a:latin typeface="Cambria Math" panose="02040503050406030204" pitchFamily="18" charset="0"/>
                            </a:rPr>
                          </m:ctrlPr>
                        </m:dPr>
                        <m:e>
                          <m:r>
                            <a:rPr lang="en-US" sz="1500" b="0" i="1" smtClean="0">
                              <a:solidFill>
                                <a:srgbClr val="000000"/>
                              </a:solidFill>
                              <a:latin typeface="Cambria Math" panose="02040503050406030204" pitchFamily="18" charset="0"/>
                            </a:rPr>
                            <m:t>𝐴</m:t>
                          </m:r>
                        </m:e>
                        <m:e>
                          <m:r>
                            <a:rPr lang="en-US" sz="1500" b="0" i="1" smtClean="0">
                              <a:solidFill>
                                <a:srgbClr val="000000"/>
                              </a:solidFill>
                              <a:latin typeface="Cambria Math" panose="02040503050406030204" pitchFamily="18" charset="0"/>
                            </a:rPr>
                            <m:t>𝐵</m:t>
                          </m:r>
                        </m:e>
                      </m:d>
                      <m:r>
                        <a:rPr lang="en-US" sz="1500" b="0" i="1" smtClean="0">
                          <a:solidFill>
                            <a:srgbClr val="000000"/>
                          </a:solidFill>
                          <a:latin typeface="Cambria Math" panose="02040503050406030204" pitchFamily="18" charset="0"/>
                        </a:rPr>
                        <m:t>= ?</m:t>
                      </m:r>
                    </m:oMath>
                  </m:oMathPara>
                </a14:m>
                <a:endParaRPr lang="en-US" sz="1500" b="0" i="1" dirty="0">
                  <a:solidFill>
                    <a:srgbClr val="000000"/>
                  </a:solidFill>
                  <a:latin typeface="Cambria Math" panose="02040503050406030204" pitchFamily="18" charset="0"/>
                </a:endParaRPr>
              </a:p>
              <a:p>
                <a:pPr marL="0" indent="0">
                  <a:lnSpc>
                    <a:spcPct val="90000"/>
                  </a:lnSpc>
                  <a:buNone/>
                </a:pPr>
                <a14:m>
                  <m:oMathPara xmlns:m="http://schemas.openxmlformats.org/officeDocument/2006/math">
                    <m:oMathParaPr>
                      <m:jc m:val="left"/>
                    </m:oMathParaPr>
                    <m:oMath xmlns:m="http://schemas.openxmlformats.org/officeDocument/2006/math">
                      <m:r>
                        <a:rPr lang="en-US" sz="1500" b="0" i="1" smtClean="0">
                          <a:solidFill>
                            <a:srgbClr val="000000"/>
                          </a:solidFill>
                          <a:latin typeface="Cambria Math" panose="02040503050406030204" pitchFamily="18" charset="0"/>
                        </a:rPr>
                        <m:t>=</m:t>
                      </m:r>
                      <m:f>
                        <m:fPr>
                          <m:ctrlPr>
                            <a:rPr lang="en-US" sz="1500" b="0" i="1" smtClean="0">
                              <a:solidFill>
                                <a:srgbClr val="000000"/>
                              </a:solidFill>
                              <a:latin typeface="Cambria Math" panose="02040503050406030204" pitchFamily="18" charset="0"/>
                            </a:rPr>
                          </m:ctrlPr>
                        </m:fPr>
                        <m:num>
                          <m:r>
                            <a:rPr lang="en-US" sz="1500" b="0" i="1" smtClean="0">
                              <a:solidFill>
                                <a:srgbClr val="000000"/>
                              </a:solidFill>
                              <a:latin typeface="Cambria Math" panose="02040503050406030204" pitchFamily="18" charset="0"/>
                            </a:rPr>
                            <m:t>𝑃</m:t>
                          </m:r>
                          <m:d>
                            <m:dPr>
                              <m:ctrlPr>
                                <a:rPr lang="en-US" sz="1500" b="0" i="1" smtClean="0">
                                  <a:solidFill>
                                    <a:srgbClr val="000000"/>
                                  </a:solidFill>
                                  <a:latin typeface="Cambria Math" panose="02040503050406030204" pitchFamily="18" charset="0"/>
                                </a:rPr>
                              </m:ctrlPr>
                            </m:dPr>
                            <m:e>
                              <m:r>
                                <a:rPr lang="en-US" sz="1500" b="0" i="1" smtClean="0">
                                  <a:solidFill>
                                    <a:srgbClr val="000000"/>
                                  </a:solidFill>
                                  <a:latin typeface="Cambria Math" panose="02040503050406030204" pitchFamily="18" charset="0"/>
                                </a:rPr>
                                <m:t>𝐵</m:t>
                              </m:r>
                            </m:e>
                            <m:e>
                              <m:r>
                                <a:rPr lang="en-US" sz="1500" b="0" i="1" smtClean="0">
                                  <a:solidFill>
                                    <a:srgbClr val="000000"/>
                                  </a:solidFill>
                                  <a:latin typeface="Cambria Math" panose="02040503050406030204" pitchFamily="18" charset="0"/>
                                </a:rPr>
                                <m:t>𝐴</m:t>
                              </m:r>
                            </m:e>
                          </m:d>
                          <m:r>
                            <a:rPr lang="en-US" sz="1500" b="0" i="1" smtClean="0">
                              <a:solidFill>
                                <a:srgbClr val="000000"/>
                              </a:solidFill>
                              <a:latin typeface="Cambria Math" panose="02040503050406030204" pitchFamily="18" charset="0"/>
                            </a:rPr>
                            <m:t> . </m:t>
                          </m:r>
                          <m:r>
                            <a:rPr lang="en-US" sz="1500" b="0" i="1" smtClean="0">
                              <a:solidFill>
                                <a:srgbClr val="000000"/>
                              </a:solidFill>
                              <a:latin typeface="Cambria Math" panose="02040503050406030204" pitchFamily="18" charset="0"/>
                            </a:rPr>
                            <m:t>𝑃</m:t>
                          </m:r>
                          <m:d>
                            <m:dPr>
                              <m:ctrlPr>
                                <a:rPr lang="en-US" sz="1500" b="0" i="1" smtClean="0">
                                  <a:solidFill>
                                    <a:srgbClr val="000000"/>
                                  </a:solidFill>
                                  <a:latin typeface="Cambria Math" panose="02040503050406030204" pitchFamily="18" charset="0"/>
                                </a:rPr>
                              </m:ctrlPr>
                            </m:dPr>
                            <m:e>
                              <m:r>
                                <a:rPr lang="en-US" sz="1500" b="0" i="1" smtClean="0">
                                  <a:solidFill>
                                    <a:srgbClr val="000000"/>
                                  </a:solidFill>
                                  <a:latin typeface="Cambria Math" panose="02040503050406030204" pitchFamily="18" charset="0"/>
                                </a:rPr>
                                <m:t>𝐴</m:t>
                              </m:r>
                            </m:e>
                          </m:d>
                        </m:num>
                        <m:den>
                          <m:r>
                            <a:rPr lang="en-US" sz="1500" b="0" i="1" smtClean="0">
                              <a:solidFill>
                                <a:srgbClr val="000000"/>
                              </a:solidFill>
                              <a:latin typeface="Cambria Math" panose="02040503050406030204" pitchFamily="18" charset="0"/>
                            </a:rPr>
                            <m:t>𝑃</m:t>
                          </m:r>
                          <m:r>
                            <a:rPr lang="en-US" sz="1500" b="0" i="1" smtClean="0">
                              <a:solidFill>
                                <a:srgbClr val="000000"/>
                              </a:solidFill>
                              <a:latin typeface="Cambria Math" panose="02040503050406030204" pitchFamily="18" charset="0"/>
                            </a:rPr>
                            <m:t>(</m:t>
                          </m:r>
                          <m:r>
                            <a:rPr lang="en-US" sz="1500" b="0" i="1" smtClean="0">
                              <a:solidFill>
                                <a:srgbClr val="000000"/>
                              </a:solidFill>
                              <a:latin typeface="Cambria Math" panose="02040503050406030204" pitchFamily="18" charset="0"/>
                            </a:rPr>
                            <m:t>𝐵</m:t>
                          </m:r>
                          <m:r>
                            <a:rPr lang="en-US" sz="1500" b="0" i="1" smtClean="0">
                              <a:solidFill>
                                <a:srgbClr val="000000"/>
                              </a:solidFill>
                              <a:latin typeface="Cambria Math" panose="02040503050406030204" pitchFamily="18" charset="0"/>
                            </a:rPr>
                            <m:t>)</m:t>
                          </m:r>
                        </m:den>
                      </m:f>
                    </m:oMath>
                  </m:oMathPara>
                </a14:m>
                <a:endParaRPr lang="en-US" sz="1500" dirty="0">
                  <a:solidFill>
                    <a:srgbClr val="000000"/>
                  </a:solidFill>
                </a:endParaRPr>
              </a:p>
              <a:p>
                <a:pPr marL="0" indent="0">
                  <a:lnSpc>
                    <a:spcPct val="90000"/>
                  </a:lnSpc>
                  <a:buNone/>
                </a:pPr>
                <a:endParaRPr lang="en-US" sz="1700" b="0" i="0" dirty="0">
                  <a:solidFill>
                    <a:srgbClr val="000000"/>
                  </a:solidFill>
                  <a:latin typeface="Cambria Math" panose="02040503050406030204" pitchFamily="18" charset="0"/>
                </a:endParaRPr>
              </a:p>
              <a:p>
                <a:pPr marL="0" indent="0">
                  <a:lnSpc>
                    <a:spcPct val="90000"/>
                  </a:lnSpc>
                  <a:buNone/>
                </a:pPr>
                <a14:m>
                  <m:oMathPara xmlns:m="http://schemas.openxmlformats.org/officeDocument/2006/math">
                    <m:oMathParaPr>
                      <m:jc m:val="left"/>
                    </m:oMathParaPr>
                    <m:oMath xmlns:m="http://schemas.openxmlformats.org/officeDocument/2006/math">
                      <m:r>
                        <a:rPr lang="en-US" sz="1700" b="0" i="0" smtClean="0">
                          <a:solidFill>
                            <a:srgbClr val="000000"/>
                          </a:solidFill>
                          <a:latin typeface="Cambria Math" panose="02040503050406030204" pitchFamily="18" charset="0"/>
                        </a:rPr>
                        <m:t>=</m:t>
                      </m:r>
                      <m:f>
                        <m:fPr>
                          <m:ctrlPr>
                            <a:rPr lang="en-US" sz="1700" i="1" smtClean="0">
                              <a:solidFill>
                                <a:srgbClr val="000000"/>
                              </a:solidFill>
                              <a:latin typeface="Cambria Math" panose="02040503050406030204" pitchFamily="18" charset="0"/>
                            </a:rPr>
                          </m:ctrlPr>
                        </m:fPr>
                        <m:num>
                          <m:f>
                            <m:fPr>
                              <m:type m:val="lin"/>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4</m:t>
                              </m:r>
                            </m:den>
                          </m:f>
                        </m:num>
                        <m:den>
                          <m:f>
                            <m:fPr>
                              <m:type m:val="lin"/>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3</m:t>
                              </m:r>
                            </m:num>
                            <m:den>
                              <m:r>
                                <a:rPr lang="en-US" sz="1700" b="0" i="1" smtClean="0">
                                  <a:solidFill>
                                    <a:srgbClr val="000000"/>
                                  </a:solidFill>
                                  <a:latin typeface="Cambria Math" panose="02040503050406030204" pitchFamily="18" charset="0"/>
                                </a:rPr>
                                <m:t>4</m:t>
                              </m:r>
                            </m:den>
                          </m:f>
                        </m:den>
                      </m:f>
                      <m:r>
                        <a:rPr lang="en-US" sz="1700" b="0" i="1" smtClean="0">
                          <a:solidFill>
                            <a:srgbClr val="000000"/>
                          </a:solidFill>
                          <a:latin typeface="Cambria Math" panose="02040503050406030204" pitchFamily="18" charset="0"/>
                        </a:rPr>
                        <m:t>=</m:t>
                      </m:r>
                      <m:f>
                        <m:fPr>
                          <m:ctrlPr>
                            <a:rPr lang="en-US" sz="1700" i="1">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3</m:t>
                          </m:r>
                        </m:den>
                      </m:f>
                    </m:oMath>
                  </m:oMathPara>
                </a14:m>
                <a:endParaRPr lang="en-US" sz="1700" dirty="0">
                  <a:solidFill>
                    <a:srgbClr val="000000"/>
                  </a:solidFill>
                </a:endParaRPr>
              </a:p>
            </p:txBody>
          </p:sp>
        </mc:Choice>
        <mc:Fallback xmlns="">
          <p:sp>
            <p:nvSpPr>
              <p:cNvPr id="6" name="Content Placeholder 2">
                <a:extLst>
                  <a:ext uri="{FF2B5EF4-FFF2-40B4-BE49-F238E27FC236}">
                    <a16:creationId xmlns:a16="http://schemas.microsoft.com/office/drawing/2014/main" id="{6184E2D6-BF0A-4218-BEB9-0A1F59D75336}"/>
                  </a:ext>
                </a:extLst>
              </p:cNvPr>
              <p:cNvSpPr>
                <a:spLocks noGrp="1" noRot="1" noChangeAspect="1" noMove="1" noResize="1" noEditPoints="1" noAdjustHandles="1" noChangeArrowheads="1" noChangeShapeType="1" noTextEdit="1"/>
              </p:cNvSpPr>
              <p:nvPr>
                <p:ph idx="1"/>
              </p:nvPr>
            </p:nvSpPr>
            <p:spPr>
              <a:xfrm>
                <a:off x="4183200" y="610262"/>
                <a:ext cx="4328293" cy="3922976"/>
              </a:xfrm>
              <a:blipFill>
                <a:blip r:embed="rId3"/>
                <a:stretch>
                  <a:fillRect l="-563"/>
                </a:stretch>
              </a:blipFill>
            </p:spPr>
            <p:txBody>
              <a:bodyPr/>
              <a:lstStyle/>
              <a:p>
                <a:r>
                  <a:rPr lang="en-US">
                    <a:noFill/>
                  </a:rPr>
                  <a:t> </a:t>
                </a:r>
              </a:p>
            </p:txBody>
          </p:sp>
        </mc:Fallback>
      </mc:AlternateContent>
    </p:spTree>
    <p:extLst>
      <p:ext uri="{BB962C8B-B14F-4D97-AF65-F5344CB8AC3E}">
        <p14:creationId xmlns:p14="http://schemas.microsoft.com/office/powerpoint/2010/main" val="320977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fade">
                                      <p:cBhvr>
                                        <p:cTn id="2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9A66E5DD-6140-47D3-869A-3C7BB4230CFE}"/>
              </a:ext>
            </a:extLst>
          </p:cNvPr>
          <p:cNvSpPr>
            <a:spLocks noGrp="1"/>
          </p:cNvSpPr>
          <p:nvPr>
            <p:ph type="title"/>
          </p:nvPr>
        </p:nvSpPr>
        <p:spPr>
          <a:xfrm>
            <a:off x="480059" y="1540230"/>
            <a:ext cx="2751871" cy="2070074"/>
          </a:xfrm>
        </p:spPr>
        <p:txBody>
          <a:bodyPr>
            <a:normAutofit/>
          </a:bodyPr>
          <a:lstStyle/>
          <a:p>
            <a:r>
              <a:rPr lang="en-US">
                <a:solidFill>
                  <a:srgbClr val="FFFFFF"/>
                </a:solidFill>
              </a:rPr>
              <a:t>Bayes</a:t>
            </a:r>
            <a:r>
              <a:rPr lang="en-US" dirty="0">
                <a:solidFill>
                  <a:srgbClr val="FFFFFF"/>
                </a:solidFill>
              </a:rPr>
              <a:t>’ Theorem</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184E2D6-BF0A-4218-BEB9-0A1F59D75336}"/>
                  </a:ext>
                </a:extLst>
              </p:cNvPr>
              <p:cNvSpPr>
                <a:spLocks noGrp="1"/>
              </p:cNvSpPr>
              <p:nvPr>
                <p:ph idx="1"/>
              </p:nvPr>
            </p:nvSpPr>
            <p:spPr>
              <a:xfrm>
                <a:off x="4147200" y="0"/>
                <a:ext cx="4328293" cy="5143500"/>
              </a:xfrm>
            </p:spPr>
            <p:txBody>
              <a:bodyPr anchor="ctr">
                <a:normAutofit/>
              </a:bodyPr>
              <a:lstStyle/>
              <a:p>
                <a:pPr marL="0" indent="0">
                  <a:lnSpc>
                    <a:spcPct val="90000"/>
                  </a:lnSpc>
                  <a:buNone/>
                </a:pPr>
                <a:r>
                  <a:rPr lang="en-US" sz="1700" dirty="0">
                    <a:solidFill>
                      <a:srgbClr val="000000"/>
                    </a:solidFill>
                  </a:rPr>
                  <a:t>Ex: We have 2 buckets. The first one has 3 red balls and 3 blue balls inside. The second one has 4 red balls and 2 blue balls. If I randomly choose a blue ball, what is the probability being in 1</a:t>
                </a:r>
                <a:r>
                  <a:rPr lang="en-US" sz="1700" baseline="30000" dirty="0">
                    <a:solidFill>
                      <a:srgbClr val="000000"/>
                    </a:solidFill>
                  </a:rPr>
                  <a:t>st</a:t>
                </a:r>
                <a:r>
                  <a:rPr lang="en-US" sz="1700" dirty="0">
                    <a:solidFill>
                      <a:srgbClr val="000000"/>
                    </a:solidFill>
                  </a:rPr>
                  <a:t> bucket?</a:t>
                </a:r>
              </a:p>
              <a:p>
                <a:pPr marL="0" indent="0">
                  <a:lnSpc>
                    <a:spcPct val="90000"/>
                  </a:lnSpc>
                  <a:buNone/>
                </a:pPr>
                <a:r>
                  <a:rPr lang="en-US" sz="1700" dirty="0">
                    <a:solidFill>
                      <a:srgbClr val="000000"/>
                    </a:solidFill>
                  </a:rPr>
                  <a:t>E: A blue ball is drawn.</a:t>
                </a:r>
              </a:p>
              <a:p>
                <a:pPr marL="0" indent="0">
                  <a:lnSpc>
                    <a:spcPct val="90000"/>
                  </a:lnSpc>
                  <a:buNone/>
                </a:pPr>
                <a:r>
                  <a:rPr lang="en-US" sz="1700" dirty="0">
                    <a:solidFill>
                      <a:srgbClr val="000000"/>
                    </a:solidFill>
                  </a:rPr>
                  <a:t>h1: Came from 1</a:t>
                </a:r>
                <a:r>
                  <a:rPr lang="en-US" sz="1700" baseline="30000" dirty="0">
                    <a:solidFill>
                      <a:srgbClr val="000000"/>
                    </a:solidFill>
                  </a:rPr>
                  <a:t>st</a:t>
                </a:r>
                <a:r>
                  <a:rPr lang="en-US" sz="1700" dirty="0">
                    <a:solidFill>
                      <a:srgbClr val="000000"/>
                    </a:solidFill>
                  </a:rPr>
                  <a:t> bucket.</a:t>
                </a:r>
              </a:p>
              <a:p>
                <a:pPr marL="0" indent="0">
                  <a:lnSpc>
                    <a:spcPct val="90000"/>
                  </a:lnSpc>
                  <a:buNone/>
                </a:pPr>
                <a:r>
                  <a:rPr lang="en-US" sz="1700" dirty="0">
                    <a:solidFill>
                      <a:srgbClr val="000000"/>
                    </a:solidFill>
                  </a:rPr>
                  <a:t>h2: Came from 2</a:t>
                </a:r>
                <a:r>
                  <a:rPr lang="en-US" sz="1700" baseline="30000" dirty="0">
                    <a:solidFill>
                      <a:srgbClr val="000000"/>
                    </a:solidFill>
                  </a:rPr>
                  <a:t>nd</a:t>
                </a:r>
                <a:r>
                  <a:rPr lang="en-US" sz="1700" dirty="0">
                    <a:solidFill>
                      <a:srgbClr val="000000"/>
                    </a:solidFill>
                  </a:rPr>
                  <a:t> bucket.</a:t>
                </a:r>
              </a:p>
              <a:p>
                <a:pPr marL="0" indent="0">
                  <a:lnSpc>
                    <a:spcPct val="90000"/>
                  </a:lnSpc>
                  <a:buNone/>
                </a:pPr>
                <a14:m>
                  <m:oMath xmlns:m="http://schemas.openxmlformats.org/officeDocument/2006/math">
                    <m:r>
                      <a:rPr lang="en-US" sz="1700" b="0" i="1" smtClean="0">
                        <a:solidFill>
                          <a:srgbClr val="000000"/>
                        </a:solidFill>
                        <a:latin typeface="Cambria Math" panose="02040503050406030204" pitchFamily="18" charset="0"/>
                      </a:rPr>
                      <m:t>𝑃</m:t>
                    </m:r>
                    <m:d>
                      <m:dPr>
                        <m:ctrlPr>
                          <a:rPr lang="en-US" sz="1700" b="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𝐸</m:t>
                        </m:r>
                      </m:e>
                      <m:e>
                        <m:r>
                          <a:rPr lang="en-US" sz="1700" b="0" i="1" smtClean="0">
                            <a:solidFill>
                              <a:srgbClr val="000000"/>
                            </a:solidFill>
                            <a:latin typeface="Cambria Math" panose="02040503050406030204" pitchFamily="18" charset="0"/>
                          </a:rPr>
                          <m:t>h</m:t>
                        </m:r>
                        <m:r>
                          <a:rPr lang="en-US" sz="1700" b="0" i="1" smtClean="0">
                            <a:solidFill>
                              <a:srgbClr val="000000"/>
                            </a:solidFill>
                            <a:latin typeface="Cambria Math" panose="02040503050406030204" pitchFamily="18" charset="0"/>
                          </a:rPr>
                          <m:t>1</m:t>
                        </m:r>
                      </m:e>
                    </m:d>
                    <m:r>
                      <a:rPr lang="en-US" sz="1700" b="0" i="1" smtClean="0">
                        <a:solidFill>
                          <a:srgbClr val="000000"/>
                        </a:solidFill>
                        <a:latin typeface="Cambria Math" panose="02040503050406030204" pitchFamily="18" charset="0"/>
                      </a:rPr>
                      <m:t>= </m:t>
                    </m:r>
                    <m:f>
                      <m:fPr>
                        <m:ctrlPr>
                          <a:rPr lang="en-US" sz="1700" i="1">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2</m:t>
                        </m:r>
                      </m:den>
                    </m:f>
                  </m:oMath>
                </a14:m>
                <a:r>
                  <a:rPr lang="en-US" sz="1700" i="1" dirty="0">
                    <a:solidFill>
                      <a:srgbClr val="000000"/>
                    </a:solidFill>
                  </a:rPr>
                  <a:t> 	</a:t>
                </a:r>
                <a:endParaRPr lang="en-US" sz="1700" i="1" dirty="0">
                  <a:solidFill>
                    <a:srgbClr val="000000"/>
                  </a:solidFill>
                  <a:latin typeface="Cambria Math" panose="02040503050406030204" pitchFamily="18" charset="0"/>
                </a:endParaRPr>
              </a:p>
              <a:p>
                <a:pPr marL="0" indent="0">
                  <a:lnSpc>
                    <a:spcPct val="90000"/>
                  </a:lnSpc>
                  <a:buNone/>
                </a:pPr>
                <a:endParaRPr lang="en-US" sz="1700" b="0" i="1" dirty="0">
                  <a:solidFill>
                    <a:srgbClr val="000000"/>
                  </a:solidFill>
                  <a:latin typeface="Cambria Math" panose="02040503050406030204" pitchFamily="18" charset="0"/>
                </a:endParaRPr>
              </a:p>
              <a:p>
                <a:pPr marL="0" indent="0">
                  <a:lnSpc>
                    <a:spcPct val="90000"/>
                  </a:lnSpc>
                  <a:buNone/>
                </a:pPr>
                <a:r>
                  <a:rPr lang="en-US" sz="1700" dirty="0">
                    <a:solidFill>
                      <a:srgbClr val="000000"/>
                    </a:solidFill>
                  </a:rPr>
                  <a:t>         </a:t>
                </a:r>
                <a14:m>
                  <m:oMath xmlns:m="http://schemas.openxmlformats.org/officeDocument/2006/math">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𝑃</m:t>
                    </m:r>
                    <m:d>
                      <m:dPr>
                        <m:ctrlPr>
                          <a:rPr lang="en-US" sz="1700" b="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𝐸</m:t>
                        </m:r>
                        <m:r>
                          <a:rPr lang="en-US" sz="1700" i="1">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h</m:t>
                        </m:r>
                        <m:r>
                          <a:rPr lang="en-US" sz="1700" b="0" i="1" smtClean="0">
                            <a:solidFill>
                              <a:srgbClr val="000000"/>
                            </a:solidFill>
                            <a:latin typeface="Cambria Math" panose="02040503050406030204" pitchFamily="18" charset="0"/>
                          </a:rPr>
                          <m:t>1</m:t>
                        </m:r>
                      </m:e>
                    </m:d>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𝑃</m:t>
                    </m:r>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𝐸</m:t>
                    </m:r>
                    <m:r>
                      <a:rPr lang="en-US" sz="1700" i="1">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h</m:t>
                    </m:r>
                    <m:r>
                      <a:rPr lang="en-US" sz="1700" b="0" i="1" smtClean="0">
                        <a:solidFill>
                          <a:srgbClr val="000000"/>
                        </a:solidFill>
                        <a:latin typeface="Cambria Math" panose="02040503050406030204" pitchFamily="18" charset="0"/>
                      </a:rPr>
                      <m:t>2)</m:t>
                    </m:r>
                  </m:oMath>
                </a14:m>
                <a:endParaRPr lang="en-US" sz="1700" i="1" dirty="0">
                  <a:solidFill>
                    <a:srgbClr val="000000"/>
                  </a:solidFill>
                </a:endParaRPr>
              </a:p>
              <a:p>
                <a:pPr marL="0" indent="0">
                  <a:lnSpc>
                    <a:spcPct val="90000"/>
                  </a:lnSpc>
                  <a:buNone/>
                </a:pPr>
                <a:r>
                  <a:rPr lang="en-US" sz="1700" i="1" dirty="0">
                    <a:solidFill>
                      <a:srgbClr val="000000"/>
                    </a:solidFill>
                  </a:rPr>
                  <a:t>         </a:t>
                </a:r>
                <a14:m>
                  <m:oMath xmlns:m="http://schemas.openxmlformats.org/officeDocument/2006/math">
                    <m:r>
                      <a:rPr lang="en-US" sz="1700" b="0" i="1" smtClean="0">
                        <a:solidFill>
                          <a:srgbClr val="000000"/>
                        </a:solidFill>
                        <a:latin typeface="Cambria Math" panose="02040503050406030204" pitchFamily="18" charset="0"/>
                      </a:rPr>
                      <m:t>=</m:t>
                    </m:r>
                    <m:r>
                      <a:rPr lang="en-US" sz="1700" i="1">
                        <a:solidFill>
                          <a:srgbClr val="000000"/>
                        </a:solidFill>
                        <a:latin typeface="Cambria Math" panose="02040503050406030204" pitchFamily="18" charset="0"/>
                      </a:rPr>
                      <m:t>𝑃</m:t>
                    </m:r>
                    <m:d>
                      <m:dPr>
                        <m:ctrlPr>
                          <a:rPr lang="en-US" sz="1700" i="1">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𝐸</m:t>
                        </m:r>
                      </m:e>
                      <m:e>
                        <m:r>
                          <a:rPr lang="en-US" sz="1700" b="0" i="1" smtClean="0">
                            <a:solidFill>
                              <a:srgbClr val="000000"/>
                            </a:solidFill>
                            <a:latin typeface="Cambria Math" panose="02040503050406030204" pitchFamily="18" charset="0"/>
                          </a:rPr>
                          <m:t>h</m:t>
                        </m:r>
                        <m:r>
                          <a:rPr lang="en-US" sz="1700" i="1">
                            <a:solidFill>
                              <a:srgbClr val="000000"/>
                            </a:solidFill>
                            <a:latin typeface="Cambria Math" panose="02040503050406030204" pitchFamily="18" charset="0"/>
                          </a:rPr>
                          <m:t>1</m:t>
                        </m:r>
                      </m:e>
                    </m:d>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𝑃</m:t>
                    </m:r>
                    <m:d>
                      <m:dPr>
                        <m:ctrlPr>
                          <a:rPr lang="en-US" sz="1700" b="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h</m:t>
                        </m:r>
                        <m:r>
                          <a:rPr lang="en-US" sz="1700" b="0" i="1" smtClean="0">
                            <a:solidFill>
                              <a:srgbClr val="000000"/>
                            </a:solidFill>
                            <a:latin typeface="Cambria Math" panose="02040503050406030204" pitchFamily="18" charset="0"/>
                          </a:rPr>
                          <m:t>1</m:t>
                        </m:r>
                      </m:e>
                    </m:d>
                    <m:r>
                      <a:rPr lang="en-US" sz="1700" b="0" i="1" smtClean="0">
                        <a:solidFill>
                          <a:srgbClr val="000000"/>
                        </a:solidFill>
                        <a:latin typeface="Cambria Math" panose="02040503050406030204" pitchFamily="18" charset="0"/>
                      </a:rPr>
                      <m:t>+</m:t>
                    </m:r>
                    <m:r>
                      <a:rPr lang="en-US" sz="1700" i="1">
                        <a:solidFill>
                          <a:srgbClr val="000000"/>
                        </a:solidFill>
                        <a:latin typeface="Cambria Math" panose="02040503050406030204" pitchFamily="18" charset="0"/>
                      </a:rPr>
                      <m:t>𝑃</m:t>
                    </m:r>
                    <m:d>
                      <m:dPr>
                        <m:ctrlPr>
                          <a:rPr lang="en-US" sz="1700" i="1">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𝐸</m:t>
                        </m:r>
                      </m:e>
                      <m:e>
                        <m:r>
                          <a:rPr lang="en-US" sz="1700" b="0" i="1" smtClean="0">
                            <a:solidFill>
                              <a:srgbClr val="000000"/>
                            </a:solidFill>
                            <a:latin typeface="Cambria Math" panose="02040503050406030204" pitchFamily="18" charset="0"/>
                          </a:rPr>
                          <m:t>h</m:t>
                        </m:r>
                        <m:r>
                          <a:rPr lang="en-US" sz="1700" b="0" i="1" smtClean="0">
                            <a:solidFill>
                              <a:srgbClr val="000000"/>
                            </a:solidFill>
                            <a:latin typeface="Cambria Math" panose="02040503050406030204" pitchFamily="18" charset="0"/>
                          </a:rPr>
                          <m:t>2</m:t>
                        </m:r>
                      </m:e>
                    </m:d>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𝑃</m:t>
                    </m:r>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h</m:t>
                    </m:r>
                    <m:r>
                      <a:rPr lang="en-US" sz="1700" b="0" i="1" smtClean="0">
                        <a:solidFill>
                          <a:srgbClr val="000000"/>
                        </a:solidFill>
                        <a:latin typeface="Cambria Math" panose="02040503050406030204" pitchFamily="18" charset="0"/>
                      </a:rPr>
                      <m:t>2)</m:t>
                    </m:r>
                  </m:oMath>
                </a14:m>
                <a:endParaRPr lang="en-US" sz="1700" i="1" dirty="0">
                  <a:solidFill>
                    <a:srgbClr val="000000"/>
                  </a:solidFill>
                </a:endParaRPr>
              </a:p>
              <a:p>
                <a:pPr marL="0" indent="0">
                  <a:lnSpc>
                    <a:spcPct val="90000"/>
                  </a:lnSpc>
                  <a:buNone/>
                </a:pPr>
                <a:r>
                  <a:rPr lang="en-US" sz="1700" i="1" dirty="0">
                    <a:solidFill>
                      <a:srgbClr val="000000"/>
                    </a:solidFill>
                  </a:rPr>
                  <a:t>         </a:t>
                </a:r>
                <a14:m>
                  <m:oMath xmlns:m="http://schemas.openxmlformats.org/officeDocument/2006/math">
                    <m:r>
                      <a:rPr lang="en-US" sz="1800" b="0" i="1" smtClean="0">
                        <a:solidFill>
                          <a:srgbClr val="000000"/>
                        </a:solidFill>
                        <a:latin typeface="Cambria Math" panose="02040503050406030204" pitchFamily="18" charset="0"/>
                      </a:rPr>
                      <m:t>=</m:t>
                    </m:r>
                    <m:f>
                      <m:fPr>
                        <m:ctrlPr>
                          <a:rPr lang="en-US" sz="1800" i="1" smtClean="0">
                            <a:solidFill>
                              <a:srgbClr val="000000"/>
                            </a:solidFill>
                            <a:latin typeface="Cambria Math" panose="02040503050406030204" pitchFamily="18" charset="0"/>
                          </a:rPr>
                        </m:ctrlPr>
                      </m:fPr>
                      <m:num>
                        <m:r>
                          <a:rPr lang="en-US" sz="1800" b="0" i="1" smtClean="0">
                            <a:solidFill>
                              <a:srgbClr val="000000"/>
                            </a:solidFill>
                            <a:latin typeface="Cambria Math" panose="02040503050406030204" pitchFamily="18" charset="0"/>
                          </a:rPr>
                          <m:t>1</m:t>
                        </m:r>
                      </m:num>
                      <m:den>
                        <m:r>
                          <a:rPr lang="en-US" sz="1800" b="0" i="1" smtClean="0">
                            <a:solidFill>
                              <a:srgbClr val="000000"/>
                            </a:solidFill>
                            <a:latin typeface="Cambria Math" panose="02040503050406030204" pitchFamily="18" charset="0"/>
                          </a:rPr>
                          <m:t>2</m:t>
                        </m:r>
                      </m:den>
                    </m:f>
                    <m:r>
                      <a:rPr lang="en-US" sz="1800" b="0" i="1" smtClean="0">
                        <a:solidFill>
                          <a:srgbClr val="000000"/>
                        </a:solidFill>
                        <a:latin typeface="Cambria Math" panose="02040503050406030204" pitchFamily="18" charset="0"/>
                      </a:rPr>
                      <m:t>.</m:t>
                    </m:r>
                    <m:f>
                      <m:fPr>
                        <m:ctrlPr>
                          <a:rPr lang="en-US" sz="1800" b="0" i="1" smtClean="0">
                            <a:solidFill>
                              <a:srgbClr val="000000"/>
                            </a:solidFill>
                            <a:latin typeface="Cambria Math" panose="02040503050406030204" pitchFamily="18" charset="0"/>
                          </a:rPr>
                        </m:ctrlPr>
                      </m:fPr>
                      <m:num>
                        <m:r>
                          <a:rPr lang="en-US" sz="1800" b="0" i="1" smtClean="0">
                            <a:solidFill>
                              <a:srgbClr val="000000"/>
                            </a:solidFill>
                            <a:latin typeface="Cambria Math" panose="02040503050406030204" pitchFamily="18" charset="0"/>
                          </a:rPr>
                          <m:t>1</m:t>
                        </m:r>
                      </m:num>
                      <m:den>
                        <m:r>
                          <a:rPr lang="en-US" sz="1800" b="0" i="1" smtClean="0">
                            <a:solidFill>
                              <a:srgbClr val="000000"/>
                            </a:solidFill>
                            <a:latin typeface="Cambria Math" panose="02040503050406030204" pitchFamily="18" charset="0"/>
                          </a:rPr>
                          <m:t>2</m:t>
                        </m:r>
                      </m:den>
                    </m:f>
                    <m:r>
                      <a:rPr lang="en-US" sz="1800" b="0" i="1" smtClean="0">
                        <a:solidFill>
                          <a:srgbClr val="000000"/>
                        </a:solidFill>
                        <a:latin typeface="Cambria Math" panose="02040503050406030204" pitchFamily="18" charset="0"/>
                      </a:rPr>
                      <m:t>+ </m:t>
                    </m:r>
                    <m:f>
                      <m:fPr>
                        <m:ctrlPr>
                          <a:rPr lang="en-US" sz="1800" b="0" i="1" smtClean="0">
                            <a:solidFill>
                              <a:srgbClr val="000000"/>
                            </a:solidFill>
                            <a:latin typeface="Cambria Math" panose="02040503050406030204" pitchFamily="18" charset="0"/>
                          </a:rPr>
                        </m:ctrlPr>
                      </m:fPr>
                      <m:num>
                        <m:r>
                          <a:rPr lang="en-US" sz="1800" b="0" i="1" smtClean="0">
                            <a:solidFill>
                              <a:srgbClr val="000000"/>
                            </a:solidFill>
                            <a:latin typeface="Cambria Math" panose="02040503050406030204" pitchFamily="18" charset="0"/>
                          </a:rPr>
                          <m:t>1</m:t>
                        </m:r>
                      </m:num>
                      <m:den>
                        <m:r>
                          <a:rPr lang="en-US" sz="1800" b="0" i="1" smtClean="0">
                            <a:solidFill>
                              <a:srgbClr val="000000"/>
                            </a:solidFill>
                            <a:latin typeface="Cambria Math" panose="02040503050406030204" pitchFamily="18" charset="0"/>
                          </a:rPr>
                          <m:t>3</m:t>
                        </m:r>
                      </m:den>
                    </m:f>
                    <m:r>
                      <a:rPr lang="en-US" sz="1800" b="0" i="1" smtClean="0">
                        <a:solidFill>
                          <a:srgbClr val="000000"/>
                        </a:solidFill>
                        <a:latin typeface="Cambria Math" panose="02040503050406030204" pitchFamily="18" charset="0"/>
                      </a:rPr>
                      <m:t>.</m:t>
                    </m:r>
                    <m:f>
                      <m:fPr>
                        <m:ctrlPr>
                          <a:rPr lang="en-US" sz="1800" b="0" i="1" smtClean="0">
                            <a:solidFill>
                              <a:srgbClr val="000000"/>
                            </a:solidFill>
                            <a:latin typeface="Cambria Math" panose="02040503050406030204" pitchFamily="18" charset="0"/>
                          </a:rPr>
                        </m:ctrlPr>
                      </m:fPr>
                      <m:num>
                        <m:r>
                          <a:rPr lang="en-US" sz="1800" b="0" i="1" smtClean="0">
                            <a:solidFill>
                              <a:srgbClr val="000000"/>
                            </a:solidFill>
                            <a:latin typeface="Cambria Math" panose="02040503050406030204" pitchFamily="18" charset="0"/>
                          </a:rPr>
                          <m:t>1</m:t>
                        </m:r>
                      </m:num>
                      <m:den>
                        <m:r>
                          <a:rPr lang="en-US" sz="1800" b="0" i="1" smtClean="0">
                            <a:solidFill>
                              <a:srgbClr val="000000"/>
                            </a:solidFill>
                            <a:latin typeface="Cambria Math" panose="02040503050406030204" pitchFamily="18" charset="0"/>
                          </a:rPr>
                          <m:t>2</m:t>
                        </m:r>
                      </m:den>
                    </m:f>
                    <m:r>
                      <a:rPr lang="en-US" sz="1800" b="0" i="1" smtClean="0">
                        <a:solidFill>
                          <a:srgbClr val="000000"/>
                        </a:solidFill>
                        <a:latin typeface="Cambria Math" panose="02040503050406030204" pitchFamily="18" charset="0"/>
                      </a:rPr>
                      <m:t>=</m:t>
                    </m:r>
                    <m:f>
                      <m:fPr>
                        <m:ctrlPr>
                          <a:rPr lang="en-US" sz="1800" i="1">
                            <a:solidFill>
                              <a:srgbClr val="000000"/>
                            </a:solidFill>
                            <a:latin typeface="Cambria Math" panose="02040503050406030204" pitchFamily="18" charset="0"/>
                          </a:rPr>
                        </m:ctrlPr>
                      </m:fPr>
                      <m:num>
                        <m:r>
                          <a:rPr lang="en-US" sz="1800" b="0" i="1" smtClean="0">
                            <a:solidFill>
                              <a:srgbClr val="000000"/>
                            </a:solidFill>
                            <a:latin typeface="Cambria Math" panose="02040503050406030204" pitchFamily="18" charset="0"/>
                          </a:rPr>
                          <m:t>5</m:t>
                        </m:r>
                      </m:num>
                      <m:den>
                        <m:r>
                          <a:rPr lang="en-US" sz="1800" b="0" i="1" smtClean="0">
                            <a:solidFill>
                              <a:srgbClr val="000000"/>
                            </a:solidFill>
                            <a:latin typeface="Cambria Math" panose="02040503050406030204" pitchFamily="18" charset="0"/>
                          </a:rPr>
                          <m:t>12</m:t>
                        </m:r>
                      </m:den>
                    </m:f>
                  </m:oMath>
                </a14:m>
                <a:endParaRPr lang="en-US" sz="1700" i="1" dirty="0">
                  <a:solidFill>
                    <a:srgbClr val="000000"/>
                  </a:solidFill>
                </a:endParaRPr>
              </a:p>
              <a:p>
                <a:pPr marL="0" indent="0">
                  <a:lnSpc>
                    <a:spcPct val="90000"/>
                  </a:lnSpc>
                  <a:buNone/>
                </a:pPr>
                <a:endParaRPr lang="en-US" sz="1500" i="1" dirty="0">
                  <a:solidFill>
                    <a:srgbClr val="000000"/>
                  </a:solidFill>
                </a:endParaRPr>
              </a:p>
              <a:p>
                <a:pPr marL="0" indent="0">
                  <a:lnSpc>
                    <a:spcPct val="90000"/>
                  </a:lnSpc>
                  <a:buNone/>
                </a:pPr>
                <a:r>
                  <a:rPr lang="en-US" sz="16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 .</m:t>
                        </m:r>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num>
                      <m:den>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5</m:t>
                            </m:r>
                          </m:num>
                          <m:den>
                            <m:r>
                              <a:rPr lang="en-US" sz="2800" b="0" i="1" smtClean="0">
                                <a:solidFill>
                                  <a:srgbClr val="000000"/>
                                </a:solidFill>
                                <a:latin typeface="Cambria Math" panose="02040503050406030204" pitchFamily="18" charset="0"/>
                              </a:rPr>
                              <m:t>12</m:t>
                            </m:r>
                          </m:den>
                        </m:f>
                      </m:den>
                    </m:f>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3</m:t>
                        </m:r>
                      </m:num>
                      <m:den>
                        <m:r>
                          <a:rPr lang="en-US" sz="2800" b="0" i="1" smtClean="0">
                            <a:solidFill>
                              <a:srgbClr val="000000"/>
                            </a:solidFill>
                            <a:latin typeface="Cambria Math" panose="02040503050406030204" pitchFamily="18" charset="0"/>
                          </a:rPr>
                          <m:t>5</m:t>
                        </m:r>
                      </m:den>
                    </m:f>
                  </m:oMath>
                </a14:m>
                <a:endParaRPr lang="en-US" sz="1500" i="1" dirty="0">
                  <a:solidFill>
                    <a:srgbClr val="000000"/>
                  </a:solidFill>
                </a:endParaRPr>
              </a:p>
            </p:txBody>
          </p:sp>
        </mc:Choice>
        <mc:Fallback xmlns="">
          <p:sp>
            <p:nvSpPr>
              <p:cNvPr id="6" name="Content Placeholder 2">
                <a:extLst>
                  <a:ext uri="{FF2B5EF4-FFF2-40B4-BE49-F238E27FC236}">
                    <a16:creationId xmlns:a16="http://schemas.microsoft.com/office/drawing/2014/main" id="{6184E2D6-BF0A-4218-BEB9-0A1F59D75336}"/>
                  </a:ext>
                </a:extLst>
              </p:cNvPr>
              <p:cNvSpPr>
                <a:spLocks noGrp="1" noRot="1" noChangeAspect="1" noMove="1" noResize="1" noEditPoints="1" noAdjustHandles="1" noChangeArrowheads="1" noChangeShapeType="1" noTextEdit="1"/>
              </p:cNvSpPr>
              <p:nvPr>
                <p:ph idx="1"/>
              </p:nvPr>
            </p:nvSpPr>
            <p:spPr>
              <a:xfrm>
                <a:off x="4147200" y="0"/>
                <a:ext cx="4328293" cy="5143500"/>
              </a:xfrm>
              <a:blipFill>
                <a:blip r:embed="rId3"/>
                <a:stretch>
                  <a:fillRect l="-845" t="-711" r="-22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F0230D6-7DE9-47B7-9BBD-D63EC5D1D18D}"/>
                  </a:ext>
                </a:extLst>
              </p:cNvPr>
              <p:cNvSpPr txBox="1"/>
              <p:nvPr/>
            </p:nvSpPr>
            <p:spPr>
              <a:xfrm>
                <a:off x="6080764" y="1988000"/>
                <a:ext cx="1876803" cy="5837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700" i="1">
                          <a:solidFill>
                            <a:srgbClr val="000000"/>
                          </a:solidFill>
                          <a:latin typeface="Cambria Math" panose="02040503050406030204" pitchFamily="18" charset="0"/>
                        </a:rPr>
                        <m:t>𝑃</m:t>
                      </m:r>
                      <m:d>
                        <m:dPr>
                          <m:ctrlPr>
                            <a:rPr lang="en-US" sz="1700" i="1">
                              <a:solidFill>
                                <a:srgbClr val="000000"/>
                              </a:solidFill>
                              <a:latin typeface="Cambria Math" panose="02040503050406030204" pitchFamily="18" charset="0"/>
                            </a:rPr>
                          </m:ctrlPr>
                        </m:dPr>
                        <m:e>
                          <m:r>
                            <a:rPr lang="en-US" sz="1700" i="1">
                              <a:solidFill>
                                <a:srgbClr val="000000"/>
                              </a:solidFill>
                              <a:latin typeface="Cambria Math" panose="02040503050406030204" pitchFamily="18" charset="0"/>
                            </a:rPr>
                            <m:t>𝐸</m:t>
                          </m:r>
                        </m:e>
                        <m:e>
                          <m:r>
                            <a:rPr lang="en-US" sz="1700" i="1">
                              <a:solidFill>
                                <a:srgbClr val="000000"/>
                              </a:solidFill>
                              <a:latin typeface="Cambria Math" panose="02040503050406030204" pitchFamily="18" charset="0"/>
                            </a:rPr>
                            <m:t>h</m:t>
                          </m:r>
                          <m:r>
                            <a:rPr lang="en-US" sz="1700" i="1">
                              <a:solidFill>
                                <a:srgbClr val="000000"/>
                              </a:solidFill>
                              <a:latin typeface="Cambria Math" panose="02040503050406030204" pitchFamily="18" charset="0"/>
                            </a:rPr>
                            <m:t>2</m:t>
                          </m:r>
                        </m:e>
                      </m:d>
                      <m:r>
                        <a:rPr lang="en-US" sz="1700" i="1">
                          <a:solidFill>
                            <a:srgbClr val="000000"/>
                          </a:solidFill>
                          <a:latin typeface="Cambria Math" panose="02040503050406030204" pitchFamily="18" charset="0"/>
                        </a:rPr>
                        <m:t>= </m:t>
                      </m:r>
                      <m:f>
                        <m:fPr>
                          <m:ctrlPr>
                            <a:rPr lang="en-US" sz="1700" i="1">
                              <a:solidFill>
                                <a:srgbClr val="000000"/>
                              </a:solidFill>
                              <a:latin typeface="Cambria Math" panose="02040503050406030204" pitchFamily="18" charset="0"/>
                            </a:rPr>
                          </m:ctrlPr>
                        </m:fPr>
                        <m:num>
                          <m:r>
                            <a:rPr lang="en-US" sz="1700" i="1">
                              <a:solidFill>
                                <a:srgbClr val="000000"/>
                              </a:solidFill>
                              <a:latin typeface="Cambria Math" panose="02040503050406030204" pitchFamily="18" charset="0"/>
                            </a:rPr>
                            <m:t>1</m:t>
                          </m:r>
                        </m:num>
                        <m:den>
                          <m:r>
                            <a:rPr lang="en-US" sz="1700" i="1">
                              <a:solidFill>
                                <a:srgbClr val="000000"/>
                              </a:solidFill>
                              <a:latin typeface="Cambria Math" panose="02040503050406030204" pitchFamily="18" charset="0"/>
                            </a:rPr>
                            <m:t>3</m:t>
                          </m:r>
                        </m:den>
                      </m:f>
                    </m:oMath>
                  </m:oMathPara>
                </a14:m>
                <a:endParaRPr lang="en-US" sz="1700" dirty="0"/>
              </a:p>
            </p:txBody>
          </p:sp>
        </mc:Choice>
        <mc:Fallback xmlns="">
          <p:sp>
            <p:nvSpPr>
              <p:cNvPr id="3" name="TextBox 2">
                <a:extLst>
                  <a:ext uri="{FF2B5EF4-FFF2-40B4-BE49-F238E27FC236}">
                    <a16:creationId xmlns:a16="http://schemas.microsoft.com/office/drawing/2014/main" id="{CF0230D6-7DE9-47B7-9BBD-D63EC5D1D18D}"/>
                  </a:ext>
                </a:extLst>
              </p:cNvPr>
              <p:cNvSpPr txBox="1">
                <a:spLocks noRot="1" noChangeAspect="1" noMove="1" noResize="1" noEditPoints="1" noAdjustHandles="1" noChangeArrowheads="1" noChangeShapeType="1" noTextEdit="1"/>
              </p:cNvSpPr>
              <p:nvPr/>
            </p:nvSpPr>
            <p:spPr>
              <a:xfrm>
                <a:off x="6080764" y="1988000"/>
                <a:ext cx="1876803" cy="58375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85CA522-1252-46C8-A456-13C7B9D15618}"/>
                  </a:ext>
                </a:extLst>
              </p:cNvPr>
              <p:cNvSpPr txBox="1"/>
              <p:nvPr/>
            </p:nvSpPr>
            <p:spPr>
              <a:xfrm>
                <a:off x="4197721" y="2742941"/>
                <a:ext cx="664616" cy="3539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700" i="1">
                          <a:solidFill>
                            <a:srgbClr val="000000"/>
                          </a:solidFill>
                          <a:latin typeface="Cambria Math" panose="02040503050406030204" pitchFamily="18" charset="0"/>
                        </a:rPr>
                        <m:t>𝑃</m:t>
                      </m:r>
                      <m:d>
                        <m:dPr>
                          <m:ctrlPr>
                            <a:rPr lang="en-US" sz="1700" i="1">
                              <a:solidFill>
                                <a:srgbClr val="000000"/>
                              </a:solidFill>
                              <a:latin typeface="Cambria Math" panose="02040503050406030204" pitchFamily="18" charset="0"/>
                            </a:rPr>
                          </m:ctrlPr>
                        </m:dPr>
                        <m:e>
                          <m:r>
                            <a:rPr lang="en-US" sz="1700" i="1">
                              <a:solidFill>
                                <a:srgbClr val="000000"/>
                              </a:solidFill>
                              <a:latin typeface="Cambria Math" panose="02040503050406030204" pitchFamily="18" charset="0"/>
                            </a:rPr>
                            <m:t>𝐸</m:t>
                          </m:r>
                        </m:e>
                      </m:d>
                    </m:oMath>
                  </m:oMathPara>
                </a14:m>
                <a:endParaRPr lang="en-US" sz="1700" dirty="0"/>
              </a:p>
            </p:txBody>
          </p:sp>
        </mc:Choice>
        <mc:Fallback xmlns="">
          <p:sp>
            <p:nvSpPr>
              <p:cNvPr id="8" name="TextBox 7">
                <a:extLst>
                  <a:ext uri="{FF2B5EF4-FFF2-40B4-BE49-F238E27FC236}">
                    <a16:creationId xmlns:a16="http://schemas.microsoft.com/office/drawing/2014/main" id="{385CA522-1252-46C8-A456-13C7B9D15618}"/>
                  </a:ext>
                </a:extLst>
              </p:cNvPr>
              <p:cNvSpPr txBox="1">
                <a:spLocks noRot="1" noChangeAspect="1" noMove="1" noResize="1" noEditPoints="1" noAdjustHandles="1" noChangeArrowheads="1" noChangeShapeType="1" noTextEdit="1"/>
              </p:cNvSpPr>
              <p:nvPr/>
            </p:nvSpPr>
            <p:spPr>
              <a:xfrm>
                <a:off x="4197721" y="2742941"/>
                <a:ext cx="664616" cy="35394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E025FFD-5A1D-491D-9DC4-826CA1426B07}"/>
                  </a:ext>
                </a:extLst>
              </p:cNvPr>
              <p:cNvSpPr txBox="1"/>
              <p:nvPr/>
            </p:nvSpPr>
            <p:spPr>
              <a:xfrm>
                <a:off x="4147199" y="4386858"/>
                <a:ext cx="1230032" cy="362984"/>
              </a:xfrm>
              <a:prstGeom prst="rect">
                <a:avLst/>
              </a:prstGeom>
              <a:noFill/>
            </p:spPr>
            <p:txBody>
              <a:bodyPr wrap="square" rtlCol="0">
                <a:spAutoFit/>
              </a:bodyPr>
              <a:lstStyle/>
              <a:p>
                <a14:m>
                  <m:oMath xmlns:m="http://schemas.openxmlformats.org/officeDocument/2006/math">
                    <m:r>
                      <a:rPr lang="en-US" sz="1700" i="1">
                        <a:solidFill>
                          <a:srgbClr val="000000"/>
                        </a:solidFill>
                        <a:latin typeface="Cambria Math" panose="02040503050406030204" pitchFamily="18" charset="0"/>
                      </a:rPr>
                      <m:t>𝑃</m:t>
                    </m:r>
                    <m:d>
                      <m:dPr>
                        <m:ctrlPr>
                          <a:rPr lang="en-US" sz="1700" i="1">
                            <a:solidFill>
                              <a:srgbClr val="000000"/>
                            </a:solidFill>
                            <a:latin typeface="Cambria Math" panose="02040503050406030204" pitchFamily="18" charset="0"/>
                          </a:rPr>
                        </m:ctrlPr>
                      </m:dPr>
                      <m:e>
                        <m:r>
                          <a:rPr lang="en-US" sz="1700" i="1">
                            <a:solidFill>
                              <a:srgbClr val="000000"/>
                            </a:solidFill>
                            <a:latin typeface="Cambria Math" panose="02040503050406030204" pitchFamily="18" charset="0"/>
                          </a:rPr>
                          <m:t>h</m:t>
                        </m:r>
                        <m:r>
                          <a:rPr lang="en-US" sz="1700" i="1">
                            <a:solidFill>
                              <a:srgbClr val="000000"/>
                            </a:solidFill>
                            <a:latin typeface="Cambria Math" panose="02040503050406030204" pitchFamily="18" charset="0"/>
                          </a:rPr>
                          <m:t>1</m:t>
                        </m:r>
                      </m:e>
                      <m:e>
                        <m:r>
                          <a:rPr lang="en-US" sz="1700" i="1">
                            <a:solidFill>
                              <a:srgbClr val="000000"/>
                            </a:solidFill>
                            <a:latin typeface="Cambria Math" panose="02040503050406030204" pitchFamily="18" charset="0"/>
                          </a:rPr>
                          <m:t>𝐸</m:t>
                        </m:r>
                      </m:e>
                    </m:d>
                  </m:oMath>
                </a14:m>
                <a:r>
                  <a:rPr lang="en-US" sz="1700" dirty="0"/>
                  <a:t> </a:t>
                </a:r>
                <a14:m>
                  <m:oMath xmlns:m="http://schemas.openxmlformats.org/officeDocument/2006/math">
                    <m:r>
                      <a:rPr lang="en-US" i="1">
                        <a:solidFill>
                          <a:srgbClr val="000000"/>
                        </a:solidFill>
                        <a:latin typeface="Cambria Math" panose="02040503050406030204" pitchFamily="18" charset="0"/>
                      </a:rPr>
                      <m:t>=</m:t>
                    </m:r>
                  </m:oMath>
                </a14:m>
                <a:endParaRPr lang="en-US" sz="1700" dirty="0"/>
              </a:p>
            </p:txBody>
          </p:sp>
        </mc:Choice>
        <mc:Fallback xmlns="">
          <p:sp>
            <p:nvSpPr>
              <p:cNvPr id="4" name="TextBox 3">
                <a:extLst>
                  <a:ext uri="{FF2B5EF4-FFF2-40B4-BE49-F238E27FC236}">
                    <a16:creationId xmlns:a16="http://schemas.microsoft.com/office/drawing/2014/main" id="{7E025FFD-5A1D-491D-9DC4-826CA1426B07}"/>
                  </a:ext>
                </a:extLst>
              </p:cNvPr>
              <p:cNvSpPr txBox="1">
                <a:spLocks noRot="1" noChangeAspect="1" noMove="1" noResize="1" noEditPoints="1" noAdjustHandles="1" noChangeArrowheads="1" noChangeShapeType="1" noTextEdit="1"/>
              </p:cNvSpPr>
              <p:nvPr/>
            </p:nvSpPr>
            <p:spPr>
              <a:xfrm>
                <a:off x="4147199" y="4386858"/>
                <a:ext cx="1230032" cy="36298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1109057-ACDE-45CC-8C90-354B9292D4A8}"/>
                  </a:ext>
                </a:extLst>
              </p:cNvPr>
              <p:cNvSpPr txBox="1"/>
              <p:nvPr/>
            </p:nvSpPr>
            <p:spPr>
              <a:xfrm>
                <a:off x="5163090" y="4228834"/>
                <a:ext cx="1763272" cy="6790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𝑃</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𝐸</m:t>
                              </m:r>
                            </m:e>
                            <m:e>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 . </m:t>
                          </m:r>
                          <m:r>
                            <a:rPr lang="en-US" i="1">
                              <a:solidFill>
                                <a:srgbClr val="000000"/>
                              </a:solidFill>
                              <a:latin typeface="Cambria Math" panose="02040503050406030204" pitchFamily="18" charset="0"/>
                            </a:rPr>
                            <m:t>𝑃</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1</m:t>
                              </m:r>
                            </m:e>
                          </m:d>
                        </m:num>
                        <m:den>
                          <m:r>
                            <a:rPr lang="en-US" i="1">
                              <a:solidFill>
                                <a:srgbClr val="000000"/>
                              </a:solidFill>
                              <a:latin typeface="Cambria Math" panose="02040503050406030204" pitchFamily="18" charset="0"/>
                            </a:rPr>
                            <m:t>𝑃</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𝐸</m:t>
                          </m:r>
                          <m:r>
                            <a:rPr lang="en-US" i="1">
                              <a:solidFill>
                                <a:srgbClr val="000000"/>
                              </a:solidFill>
                              <a:latin typeface="Cambria Math" panose="02040503050406030204" pitchFamily="18" charset="0"/>
                            </a:rPr>
                            <m:t>)</m:t>
                          </m:r>
                        </m:den>
                      </m:f>
                    </m:oMath>
                  </m:oMathPara>
                </a14:m>
                <a:endParaRPr lang="en-US" sz="1700" dirty="0"/>
              </a:p>
            </p:txBody>
          </p:sp>
        </mc:Choice>
        <mc:Fallback xmlns="">
          <p:sp>
            <p:nvSpPr>
              <p:cNvPr id="10" name="TextBox 9">
                <a:extLst>
                  <a:ext uri="{FF2B5EF4-FFF2-40B4-BE49-F238E27FC236}">
                    <a16:creationId xmlns:a16="http://schemas.microsoft.com/office/drawing/2014/main" id="{61109057-ACDE-45CC-8C90-354B9292D4A8}"/>
                  </a:ext>
                </a:extLst>
              </p:cNvPr>
              <p:cNvSpPr txBox="1">
                <a:spLocks noRot="1" noChangeAspect="1" noMove="1" noResize="1" noEditPoints="1" noAdjustHandles="1" noChangeArrowheads="1" noChangeShapeType="1" noTextEdit="1"/>
              </p:cNvSpPr>
              <p:nvPr/>
            </p:nvSpPr>
            <p:spPr>
              <a:xfrm>
                <a:off x="5163090" y="4228834"/>
                <a:ext cx="1763272" cy="6790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1468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fade">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0" end="10"/>
                                            </p:txEl>
                                          </p:spTgt>
                                        </p:tgtEl>
                                        <p:attrNameLst>
                                          <p:attrName>style.visibility</p:attrName>
                                        </p:attrNameLst>
                                      </p:cBhvr>
                                      <p:to>
                                        <p:strVal val="visible"/>
                                      </p:to>
                                    </p:set>
                                    <p:animEffect transition="in" filter="fade">
                                      <p:cBhvr>
                                        <p:cTn id="62"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4" grpId="0"/>
      <p:bldP spid="10"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9A66E5DD-6140-47D3-869A-3C7BB4230CFE}"/>
              </a:ext>
            </a:extLst>
          </p:cNvPr>
          <p:cNvSpPr>
            <a:spLocks noGrp="1"/>
          </p:cNvSpPr>
          <p:nvPr>
            <p:ph type="title"/>
          </p:nvPr>
        </p:nvSpPr>
        <p:spPr>
          <a:xfrm>
            <a:off x="480059" y="1540230"/>
            <a:ext cx="2751871" cy="2070074"/>
          </a:xfrm>
        </p:spPr>
        <p:txBody>
          <a:bodyPr>
            <a:normAutofit/>
          </a:bodyPr>
          <a:lstStyle/>
          <a:p>
            <a:r>
              <a:rPr lang="en-US">
                <a:solidFill>
                  <a:srgbClr val="FFFFFF"/>
                </a:solidFill>
              </a:rPr>
              <a:t>Bayes</a:t>
            </a:r>
            <a:r>
              <a:rPr lang="en-US" dirty="0">
                <a:solidFill>
                  <a:srgbClr val="FFFFFF"/>
                </a:solidFill>
              </a:rPr>
              <a:t>’ Theorem</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184E2D6-BF0A-4218-BEB9-0A1F59D75336}"/>
                  </a:ext>
                </a:extLst>
              </p:cNvPr>
              <p:cNvSpPr>
                <a:spLocks noGrp="1"/>
              </p:cNvSpPr>
              <p:nvPr>
                <p:ph idx="1"/>
              </p:nvPr>
            </p:nvSpPr>
            <p:spPr>
              <a:xfrm>
                <a:off x="4147200" y="0"/>
                <a:ext cx="4328293" cy="5143500"/>
              </a:xfrm>
            </p:spPr>
            <p:txBody>
              <a:bodyPr anchor="ctr">
                <a:normAutofit/>
              </a:bodyPr>
              <a:lstStyle/>
              <a:p>
                <a:pPr marL="0" indent="0">
                  <a:lnSpc>
                    <a:spcPct val="90000"/>
                  </a:lnSpc>
                  <a:buNone/>
                </a:pPr>
                <a14:m>
                  <m:oMathPara xmlns:m="http://schemas.openxmlformats.org/officeDocument/2006/math">
                    <m:oMathParaPr>
                      <m:jc m:val="left"/>
                    </m:oMathParaPr>
                    <m:oMath xmlns:m="http://schemas.openxmlformats.org/officeDocument/2006/math">
                      <m:r>
                        <a:rPr lang="en-US" sz="1600" i="1" smtClean="0">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𝐸</m:t>
                          </m:r>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𝐸</m:t>
                          </m:r>
                          <m:r>
                            <a:rPr lang="en-US" sz="1600" i="1">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h</m:t>
                          </m:r>
                          <m:r>
                            <a:rPr lang="en-US" sz="1600" i="1">
                              <a:solidFill>
                                <a:srgbClr val="000000"/>
                              </a:solidFill>
                              <a:latin typeface="Cambria Math" panose="02040503050406030204" pitchFamily="18" charset="0"/>
                            </a:rPr>
                            <m:t>1</m:t>
                          </m:r>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𝑃</m:t>
                      </m:r>
                      <m:r>
                        <a:rPr lang="en-US" sz="1600" i="1">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𝐸</m:t>
                      </m:r>
                      <m:r>
                        <a:rPr lang="en-US" sz="1600" i="1">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h</m:t>
                      </m:r>
                      <m:r>
                        <a:rPr lang="en-US" sz="1600" i="1">
                          <a:solidFill>
                            <a:srgbClr val="000000"/>
                          </a:solidFill>
                          <a:latin typeface="Cambria Math" panose="02040503050406030204" pitchFamily="18" charset="0"/>
                        </a:rPr>
                        <m:t>2)</m:t>
                      </m:r>
                    </m:oMath>
                  </m:oMathPara>
                </a14:m>
                <a:endParaRPr lang="en-US" sz="1600" i="1" dirty="0">
                  <a:solidFill>
                    <a:srgbClr val="000000"/>
                  </a:solidFill>
                </a:endParaRPr>
              </a:p>
              <a:p>
                <a:pPr marL="0" indent="0">
                  <a:lnSpc>
                    <a:spcPct val="90000"/>
                  </a:lnSpc>
                  <a:buNone/>
                </a:pPr>
                <a:r>
                  <a:rPr lang="en-US" sz="1600" i="1" dirty="0">
                    <a:solidFill>
                      <a:srgbClr val="000000"/>
                    </a:solidFill>
                  </a:rPr>
                  <a:t>         </a:t>
                </a:r>
                <a14:m>
                  <m:oMath xmlns:m="http://schemas.openxmlformats.org/officeDocument/2006/math">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𝐸</m:t>
                        </m:r>
                      </m:e>
                      <m:e>
                        <m:r>
                          <a:rPr lang="en-US" sz="1600" b="0" i="1" smtClean="0">
                            <a:solidFill>
                              <a:srgbClr val="000000"/>
                            </a:solidFill>
                            <a:latin typeface="Cambria Math" panose="02040503050406030204" pitchFamily="18" charset="0"/>
                          </a:rPr>
                          <m:t>h</m:t>
                        </m:r>
                        <m:r>
                          <a:rPr lang="en-US" sz="1600" i="1">
                            <a:solidFill>
                              <a:srgbClr val="000000"/>
                            </a:solidFill>
                            <a:latin typeface="Cambria Math" panose="02040503050406030204" pitchFamily="18" charset="0"/>
                          </a:rPr>
                          <m:t>1</m:t>
                        </m:r>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h</m:t>
                        </m:r>
                        <m:r>
                          <a:rPr lang="en-US" sz="1600" i="1">
                            <a:solidFill>
                              <a:srgbClr val="000000"/>
                            </a:solidFill>
                            <a:latin typeface="Cambria Math" panose="02040503050406030204" pitchFamily="18" charset="0"/>
                          </a:rPr>
                          <m:t>1</m:t>
                        </m:r>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𝐸</m:t>
                        </m:r>
                      </m:e>
                      <m:e>
                        <m:r>
                          <a:rPr lang="en-US" sz="1600" b="0" i="1" smtClean="0">
                            <a:solidFill>
                              <a:srgbClr val="000000"/>
                            </a:solidFill>
                            <a:latin typeface="Cambria Math" panose="02040503050406030204" pitchFamily="18" charset="0"/>
                          </a:rPr>
                          <m:t>h</m:t>
                        </m:r>
                        <m:r>
                          <a:rPr lang="en-US" sz="1600" i="1">
                            <a:solidFill>
                              <a:srgbClr val="000000"/>
                            </a:solidFill>
                            <a:latin typeface="Cambria Math" panose="02040503050406030204" pitchFamily="18" charset="0"/>
                          </a:rPr>
                          <m:t>2</m:t>
                        </m:r>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𝑃</m:t>
                    </m:r>
                    <m:r>
                      <a:rPr lang="en-US" sz="1600" i="1">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h</m:t>
                    </m:r>
                    <m:r>
                      <a:rPr lang="en-US" sz="1600" i="1">
                        <a:solidFill>
                          <a:srgbClr val="000000"/>
                        </a:solidFill>
                        <a:latin typeface="Cambria Math" panose="02040503050406030204" pitchFamily="18" charset="0"/>
                      </a:rPr>
                      <m:t>2)</m:t>
                    </m:r>
                  </m:oMath>
                </a14:m>
                <a:endParaRPr lang="en-US" sz="1600" i="1" dirty="0">
                  <a:solidFill>
                    <a:srgbClr val="000000"/>
                  </a:solidFill>
                </a:endParaRPr>
              </a:p>
              <a:p>
                <a:pPr marL="0" indent="0">
                  <a:lnSpc>
                    <a:spcPct val="90000"/>
                  </a:lnSpc>
                  <a:buNone/>
                </a:pPr>
                <a:endParaRPr lang="en-US" sz="1500" i="1" dirty="0">
                  <a:solidFill>
                    <a:srgbClr val="000000"/>
                  </a:solidFill>
                </a:endParaRPr>
              </a:p>
              <a:p>
                <a:pPr marL="0" indent="0">
                  <a:lnSpc>
                    <a:spcPct val="90000"/>
                  </a:lnSpc>
                  <a:buNone/>
                </a:pPr>
                <a:r>
                  <a:rPr lang="en-US" sz="1500" dirty="0" err="1">
                    <a:solidFill>
                      <a:srgbClr val="000000"/>
                    </a:solidFill>
                  </a:rPr>
                  <a:t>Genarally</a:t>
                </a:r>
                <a:r>
                  <a:rPr lang="en-US" sz="1500" dirty="0">
                    <a:solidFill>
                      <a:srgbClr val="000000"/>
                    </a:solidFill>
                  </a:rPr>
                  <a:t>: </a:t>
                </a:r>
                <a14:m>
                  <m:oMath xmlns:m="http://schemas.openxmlformats.org/officeDocument/2006/math">
                    <m:r>
                      <m:rPr>
                        <m:sty m:val="p"/>
                      </m:rPr>
                      <a:rPr lang="en-US" sz="1500" b="0" i="0" smtClean="0">
                        <a:solidFill>
                          <a:srgbClr val="000000"/>
                        </a:solidFill>
                        <a:latin typeface="Cambria Math" panose="02040503050406030204" pitchFamily="18" charset="0"/>
                      </a:rPr>
                      <m:t>P</m:t>
                    </m:r>
                    <m:d>
                      <m:dPr>
                        <m:ctrlPr>
                          <a:rPr lang="en-US" sz="1500" b="0" i="1" smtClean="0">
                            <a:solidFill>
                              <a:srgbClr val="000000"/>
                            </a:solidFill>
                            <a:latin typeface="Cambria Math" panose="02040503050406030204" pitchFamily="18" charset="0"/>
                          </a:rPr>
                        </m:ctrlPr>
                      </m:dPr>
                      <m:e>
                        <m:r>
                          <m:rPr>
                            <m:sty m:val="p"/>
                          </m:rPr>
                          <a:rPr lang="en-US" sz="1500" b="0" i="0" smtClean="0">
                            <a:solidFill>
                              <a:srgbClr val="000000"/>
                            </a:solidFill>
                            <a:latin typeface="Cambria Math" panose="02040503050406030204" pitchFamily="18" charset="0"/>
                          </a:rPr>
                          <m:t>E</m:t>
                        </m:r>
                      </m:e>
                    </m:d>
                    <m:r>
                      <a:rPr lang="en-US" sz="1500" b="0" i="0" smtClean="0">
                        <a:solidFill>
                          <a:srgbClr val="000000"/>
                        </a:solidFill>
                        <a:latin typeface="Cambria Math" panose="02040503050406030204" pitchFamily="18" charset="0"/>
                      </a:rPr>
                      <m:t>= </m:t>
                    </m:r>
                    <m:nary>
                      <m:naryPr>
                        <m:chr m:val="∑"/>
                        <m:limLoc m:val="subSup"/>
                        <m:supHide m:val="on"/>
                        <m:ctrlPr>
                          <a:rPr lang="en-US" sz="1500" i="1" smtClean="0">
                            <a:solidFill>
                              <a:srgbClr val="000000"/>
                            </a:solidFill>
                            <a:latin typeface="Cambria Math" panose="02040503050406030204" pitchFamily="18" charset="0"/>
                          </a:rPr>
                        </m:ctrlPr>
                      </m:naryPr>
                      <m:sub>
                        <m:r>
                          <m:rPr>
                            <m:brk m:alnAt="9"/>
                          </m:rPr>
                          <a:rPr lang="en-US" sz="1500" b="0" i="1" smtClean="0">
                            <a:solidFill>
                              <a:srgbClr val="000000"/>
                            </a:solidFill>
                            <a:latin typeface="Cambria Math" panose="02040503050406030204" pitchFamily="18" charset="0"/>
                          </a:rPr>
                          <m:t>𝑗</m:t>
                        </m:r>
                      </m:sub>
                      <m:sup/>
                      <m:e>
                        <m:r>
                          <a:rPr lang="en-US" sz="1500" b="0" i="1" smtClean="0">
                            <a:solidFill>
                              <a:srgbClr val="000000"/>
                            </a:solidFill>
                            <a:latin typeface="Cambria Math" panose="02040503050406030204" pitchFamily="18" charset="0"/>
                          </a:rPr>
                          <m:t>𝑃</m:t>
                        </m:r>
                        <m:d>
                          <m:dPr>
                            <m:ctrlPr>
                              <a:rPr lang="en-US" sz="1500" b="0" i="1" smtClean="0">
                                <a:solidFill>
                                  <a:srgbClr val="000000"/>
                                </a:solidFill>
                                <a:latin typeface="Cambria Math" panose="02040503050406030204" pitchFamily="18" charset="0"/>
                              </a:rPr>
                            </m:ctrlPr>
                          </m:dPr>
                          <m:e>
                            <m:r>
                              <a:rPr lang="en-US" sz="1500" b="0" i="1" smtClean="0">
                                <a:solidFill>
                                  <a:srgbClr val="000000"/>
                                </a:solidFill>
                                <a:latin typeface="Cambria Math" panose="02040503050406030204" pitchFamily="18" charset="0"/>
                              </a:rPr>
                              <m:t>𝐸</m:t>
                            </m:r>
                          </m:e>
                          <m:e>
                            <m:r>
                              <a:rPr lang="en-US" sz="1500" b="0" i="1" smtClean="0">
                                <a:solidFill>
                                  <a:srgbClr val="000000"/>
                                </a:solidFill>
                                <a:latin typeface="Cambria Math" panose="02040503050406030204" pitchFamily="18" charset="0"/>
                              </a:rPr>
                              <m:t>h𝑗</m:t>
                            </m:r>
                          </m:e>
                        </m:d>
                        <m:r>
                          <a:rPr lang="en-US" sz="1500" b="0" i="1" smtClean="0">
                            <a:solidFill>
                              <a:srgbClr val="000000"/>
                            </a:solidFill>
                            <a:latin typeface="Cambria Math" panose="02040503050406030204" pitchFamily="18" charset="0"/>
                          </a:rPr>
                          <m:t> . </m:t>
                        </m:r>
                        <m:r>
                          <a:rPr lang="en-US" sz="1500" b="0" i="1" smtClean="0">
                            <a:solidFill>
                              <a:srgbClr val="000000"/>
                            </a:solidFill>
                            <a:latin typeface="Cambria Math" panose="02040503050406030204" pitchFamily="18" charset="0"/>
                          </a:rPr>
                          <m:t>𝑃</m:t>
                        </m:r>
                        <m:r>
                          <a:rPr lang="en-US" sz="1500" b="0" i="1" smtClean="0">
                            <a:solidFill>
                              <a:srgbClr val="000000"/>
                            </a:solidFill>
                            <a:latin typeface="Cambria Math" panose="02040503050406030204" pitchFamily="18" charset="0"/>
                          </a:rPr>
                          <m:t>(</m:t>
                        </m:r>
                        <m:r>
                          <a:rPr lang="en-US" sz="1500" b="0" i="1" smtClean="0">
                            <a:solidFill>
                              <a:srgbClr val="000000"/>
                            </a:solidFill>
                            <a:latin typeface="Cambria Math" panose="02040503050406030204" pitchFamily="18" charset="0"/>
                          </a:rPr>
                          <m:t>h𝑗</m:t>
                        </m:r>
                        <m:r>
                          <a:rPr lang="en-US" sz="1500" b="0" i="1" smtClean="0">
                            <a:solidFill>
                              <a:srgbClr val="000000"/>
                            </a:solidFill>
                            <a:latin typeface="Cambria Math" panose="02040503050406030204" pitchFamily="18" charset="0"/>
                          </a:rPr>
                          <m:t>)</m:t>
                        </m:r>
                      </m:e>
                    </m:nary>
                  </m:oMath>
                </a14:m>
                <a:endParaRPr lang="en-US" sz="1500" dirty="0">
                  <a:solidFill>
                    <a:srgbClr val="000000"/>
                  </a:solidFill>
                </a:endParaRPr>
              </a:p>
              <a:p>
                <a:pPr marL="0" indent="0">
                  <a:lnSpc>
                    <a:spcPct val="90000"/>
                  </a:lnSpc>
                  <a:buNone/>
                </a:pPr>
                <a:endParaRPr lang="en-US" sz="1500" dirty="0">
                  <a:solidFill>
                    <a:srgbClr val="000000"/>
                  </a:solidFill>
                </a:endParaRPr>
              </a:p>
              <a:p>
                <a:pPr marL="0" indent="0">
                  <a:lnSpc>
                    <a:spcPct val="90000"/>
                  </a:lnSpc>
                  <a:buNone/>
                </a:pPr>
                <a14:m>
                  <m:oMathPara xmlns:m="http://schemas.openxmlformats.org/officeDocument/2006/math">
                    <m:oMathParaPr>
                      <m:jc m:val="centerGroup"/>
                    </m:oMathParaPr>
                    <m:oMath xmlns:m="http://schemas.openxmlformats.org/officeDocument/2006/math">
                      <m:r>
                        <a:rPr lang="en-US" sz="1800" b="1" i="1">
                          <a:solidFill>
                            <a:srgbClr val="000000"/>
                          </a:solidFill>
                          <a:latin typeface="Cambria Math" panose="02040503050406030204" pitchFamily="18" charset="0"/>
                        </a:rPr>
                        <m:t>𝑷</m:t>
                      </m:r>
                      <m:d>
                        <m:dPr>
                          <m:ctrlPr>
                            <a:rPr lang="en-US" sz="1800" b="1" i="1">
                              <a:solidFill>
                                <a:srgbClr val="000000"/>
                              </a:solidFill>
                              <a:latin typeface="Cambria Math" panose="02040503050406030204" pitchFamily="18" charset="0"/>
                            </a:rPr>
                          </m:ctrlPr>
                        </m:dPr>
                        <m:e>
                          <m:r>
                            <a:rPr lang="en-US" sz="1800" b="1" i="1">
                              <a:solidFill>
                                <a:srgbClr val="000000"/>
                              </a:solidFill>
                              <a:latin typeface="Cambria Math" panose="02040503050406030204" pitchFamily="18" charset="0"/>
                            </a:rPr>
                            <m:t>𝒉</m:t>
                          </m:r>
                          <m:r>
                            <a:rPr lang="en-US" sz="1800" b="1" i="1" smtClean="0">
                              <a:solidFill>
                                <a:srgbClr val="000000"/>
                              </a:solidFill>
                              <a:latin typeface="Cambria Math" panose="02040503050406030204" pitchFamily="18" charset="0"/>
                            </a:rPr>
                            <m:t>𝒊</m:t>
                          </m:r>
                        </m:e>
                        <m:e>
                          <m:r>
                            <a:rPr lang="en-US" sz="1800" b="1" i="1">
                              <a:solidFill>
                                <a:srgbClr val="000000"/>
                              </a:solidFill>
                              <a:latin typeface="Cambria Math" panose="02040503050406030204" pitchFamily="18" charset="0"/>
                            </a:rPr>
                            <m:t>𝑬</m:t>
                          </m:r>
                        </m:e>
                      </m:d>
                      <m:r>
                        <a:rPr lang="en-US" sz="1800" b="1" i="1" smtClean="0">
                          <a:solidFill>
                            <a:srgbClr val="000000"/>
                          </a:solidFill>
                          <a:latin typeface="Cambria Math" panose="02040503050406030204" pitchFamily="18" charset="0"/>
                        </a:rPr>
                        <m:t>=</m:t>
                      </m:r>
                      <m:f>
                        <m:fPr>
                          <m:ctrlPr>
                            <a:rPr lang="en-US" sz="1800" b="1" i="1">
                              <a:solidFill>
                                <a:srgbClr val="000000"/>
                              </a:solidFill>
                              <a:latin typeface="Cambria Math" panose="02040503050406030204" pitchFamily="18" charset="0"/>
                            </a:rPr>
                          </m:ctrlPr>
                        </m:fPr>
                        <m:num>
                          <m:r>
                            <a:rPr lang="en-US" sz="1800" b="1" i="1">
                              <a:solidFill>
                                <a:srgbClr val="000000"/>
                              </a:solidFill>
                              <a:latin typeface="Cambria Math" panose="02040503050406030204" pitchFamily="18" charset="0"/>
                            </a:rPr>
                            <m:t>𝑷</m:t>
                          </m:r>
                          <m:d>
                            <m:dPr>
                              <m:ctrlPr>
                                <a:rPr lang="en-US" sz="1800" b="1" i="1">
                                  <a:solidFill>
                                    <a:srgbClr val="000000"/>
                                  </a:solidFill>
                                  <a:latin typeface="Cambria Math" panose="02040503050406030204" pitchFamily="18" charset="0"/>
                                </a:rPr>
                              </m:ctrlPr>
                            </m:dPr>
                            <m:e>
                              <m:r>
                                <a:rPr lang="en-US" sz="1800" b="1" i="1">
                                  <a:solidFill>
                                    <a:srgbClr val="000000"/>
                                  </a:solidFill>
                                  <a:latin typeface="Cambria Math" panose="02040503050406030204" pitchFamily="18" charset="0"/>
                                </a:rPr>
                                <m:t>𝑬</m:t>
                              </m:r>
                            </m:e>
                            <m:e>
                              <m:r>
                                <a:rPr lang="en-US" sz="1800" b="1" i="1">
                                  <a:solidFill>
                                    <a:srgbClr val="000000"/>
                                  </a:solidFill>
                                  <a:latin typeface="Cambria Math" panose="02040503050406030204" pitchFamily="18" charset="0"/>
                                </a:rPr>
                                <m:t>𝒉</m:t>
                              </m:r>
                              <m:r>
                                <a:rPr lang="en-US" sz="1800" b="1" i="1" smtClean="0">
                                  <a:solidFill>
                                    <a:srgbClr val="000000"/>
                                  </a:solidFill>
                                  <a:latin typeface="Cambria Math" panose="02040503050406030204" pitchFamily="18" charset="0"/>
                                </a:rPr>
                                <m:t>𝒊</m:t>
                              </m:r>
                            </m:e>
                          </m:d>
                          <m:r>
                            <a:rPr lang="en-US" sz="1800" b="1" i="1">
                              <a:solidFill>
                                <a:srgbClr val="000000"/>
                              </a:solidFill>
                              <a:latin typeface="Cambria Math" panose="02040503050406030204" pitchFamily="18" charset="0"/>
                            </a:rPr>
                            <m:t> . </m:t>
                          </m:r>
                          <m:r>
                            <a:rPr lang="en-US" sz="1800" b="1" i="1">
                              <a:solidFill>
                                <a:srgbClr val="000000"/>
                              </a:solidFill>
                              <a:latin typeface="Cambria Math" panose="02040503050406030204" pitchFamily="18" charset="0"/>
                            </a:rPr>
                            <m:t>𝑷</m:t>
                          </m:r>
                          <m:d>
                            <m:dPr>
                              <m:ctrlPr>
                                <a:rPr lang="en-US" sz="1800" b="1" i="1">
                                  <a:solidFill>
                                    <a:srgbClr val="000000"/>
                                  </a:solidFill>
                                  <a:latin typeface="Cambria Math" panose="02040503050406030204" pitchFamily="18" charset="0"/>
                                </a:rPr>
                              </m:ctrlPr>
                            </m:dPr>
                            <m:e>
                              <m:r>
                                <a:rPr lang="en-US" sz="1800" b="1" i="1">
                                  <a:solidFill>
                                    <a:srgbClr val="000000"/>
                                  </a:solidFill>
                                  <a:latin typeface="Cambria Math" panose="02040503050406030204" pitchFamily="18" charset="0"/>
                                </a:rPr>
                                <m:t>𝒉</m:t>
                              </m:r>
                              <m:r>
                                <a:rPr lang="en-US" sz="1800" b="1" i="1" smtClean="0">
                                  <a:solidFill>
                                    <a:srgbClr val="000000"/>
                                  </a:solidFill>
                                  <a:latin typeface="Cambria Math" panose="02040503050406030204" pitchFamily="18" charset="0"/>
                                </a:rPr>
                                <m:t>𝒊</m:t>
                              </m:r>
                            </m:e>
                          </m:d>
                        </m:num>
                        <m:den>
                          <m:nary>
                            <m:naryPr>
                              <m:chr m:val="∑"/>
                              <m:limLoc m:val="subSup"/>
                              <m:supHide m:val="on"/>
                              <m:ctrlPr>
                                <a:rPr lang="en-US" sz="1800" b="1" i="1">
                                  <a:solidFill>
                                    <a:srgbClr val="000000"/>
                                  </a:solidFill>
                                  <a:latin typeface="Cambria Math" panose="02040503050406030204" pitchFamily="18" charset="0"/>
                                </a:rPr>
                              </m:ctrlPr>
                            </m:naryPr>
                            <m:sub>
                              <m:r>
                                <m:rPr>
                                  <m:brk m:alnAt="9"/>
                                </m:rPr>
                                <a:rPr lang="en-US" sz="1800" b="1" i="1">
                                  <a:solidFill>
                                    <a:srgbClr val="000000"/>
                                  </a:solidFill>
                                  <a:latin typeface="Cambria Math" panose="02040503050406030204" pitchFamily="18" charset="0"/>
                                </a:rPr>
                                <m:t>𝒋</m:t>
                              </m:r>
                            </m:sub>
                            <m:sup/>
                            <m:e>
                              <m:r>
                                <a:rPr lang="en-US" sz="1800" b="1" i="1">
                                  <a:solidFill>
                                    <a:srgbClr val="000000"/>
                                  </a:solidFill>
                                  <a:latin typeface="Cambria Math" panose="02040503050406030204" pitchFamily="18" charset="0"/>
                                </a:rPr>
                                <m:t>𝑷</m:t>
                              </m:r>
                              <m:d>
                                <m:dPr>
                                  <m:ctrlPr>
                                    <a:rPr lang="en-US" sz="1800" b="1" i="1">
                                      <a:solidFill>
                                        <a:srgbClr val="000000"/>
                                      </a:solidFill>
                                      <a:latin typeface="Cambria Math" panose="02040503050406030204" pitchFamily="18" charset="0"/>
                                    </a:rPr>
                                  </m:ctrlPr>
                                </m:dPr>
                                <m:e>
                                  <m:r>
                                    <a:rPr lang="en-US" sz="1800" b="1" i="1">
                                      <a:solidFill>
                                        <a:srgbClr val="000000"/>
                                      </a:solidFill>
                                      <a:latin typeface="Cambria Math" panose="02040503050406030204" pitchFamily="18" charset="0"/>
                                    </a:rPr>
                                    <m:t>𝑬</m:t>
                                  </m:r>
                                </m:e>
                                <m:e>
                                  <m:r>
                                    <a:rPr lang="en-US" sz="1800" b="1" i="1">
                                      <a:solidFill>
                                        <a:srgbClr val="000000"/>
                                      </a:solidFill>
                                      <a:latin typeface="Cambria Math" panose="02040503050406030204" pitchFamily="18" charset="0"/>
                                    </a:rPr>
                                    <m:t>𝒉𝒋</m:t>
                                  </m:r>
                                </m:e>
                              </m:d>
                              <m:r>
                                <a:rPr lang="en-US" sz="1800" b="1" i="1">
                                  <a:solidFill>
                                    <a:srgbClr val="000000"/>
                                  </a:solidFill>
                                  <a:latin typeface="Cambria Math" panose="02040503050406030204" pitchFamily="18" charset="0"/>
                                </a:rPr>
                                <m:t> . </m:t>
                              </m:r>
                              <m:r>
                                <a:rPr lang="en-US" sz="1800" b="1" i="1">
                                  <a:solidFill>
                                    <a:srgbClr val="000000"/>
                                  </a:solidFill>
                                  <a:latin typeface="Cambria Math" panose="02040503050406030204" pitchFamily="18" charset="0"/>
                                </a:rPr>
                                <m:t>𝑷</m:t>
                              </m:r>
                              <m:r>
                                <a:rPr lang="en-US" sz="1800" b="1" i="1">
                                  <a:solidFill>
                                    <a:srgbClr val="000000"/>
                                  </a:solidFill>
                                  <a:latin typeface="Cambria Math" panose="02040503050406030204" pitchFamily="18" charset="0"/>
                                </a:rPr>
                                <m:t>(</m:t>
                              </m:r>
                              <m:r>
                                <a:rPr lang="en-US" sz="1800" b="1" i="1">
                                  <a:solidFill>
                                    <a:srgbClr val="000000"/>
                                  </a:solidFill>
                                  <a:latin typeface="Cambria Math" panose="02040503050406030204" pitchFamily="18" charset="0"/>
                                </a:rPr>
                                <m:t>𝒉𝒋</m:t>
                              </m:r>
                              <m:r>
                                <a:rPr lang="en-US" sz="1800" b="1" i="1">
                                  <a:solidFill>
                                    <a:srgbClr val="000000"/>
                                  </a:solidFill>
                                  <a:latin typeface="Cambria Math" panose="02040503050406030204" pitchFamily="18" charset="0"/>
                                </a:rPr>
                                <m:t>)</m:t>
                              </m:r>
                            </m:e>
                          </m:nary>
                        </m:den>
                      </m:f>
                    </m:oMath>
                  </m:oMathPara>
                </a14:m>
                <a:endParaRPr lang="en-US" sz="1800" b="1" dirty="0">
                  <a:solidFill>
                    <a:srgbClr val="000000"/>
                  </a:solidFill>
                </a:endParaRPr>
              </a:p>
              <a:p>
                <a:pPr marL="0" indent="0">
                  <a:lnSpc>
                    <a:spcPct val="90000"/>
                  </a:lnSpc>
                  <a:buNone/>
                </a:pPr>
                <a:endParaRPr lang="en-US" sz="1500" dirty="0">
                  <a:solidFill>
                    <a:srgbClr val="000000"/>
                  </a:solidFill>
                </a:endParaRPr>
              </a:p>
              <a:p>
                <a:pPr marL="0" indent="0">
                  <a:lnSpc>
                    <a:spcPct val="90000"/>
                  </a:lnSpc>
                  <a:buNone/>
                </a:pPr>
                <a14:m>
                  <m:oMath xmlns:m="http://schemas.openxmlformats.org/officeDocument/2006/math">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i="1">
                            <a:solidFill>
                              <a:srgbClr val="000000"/>
                            </a:solidFill>
                            <a:latin typeface="Cambria Math" panose="02040503050406030204" pitchFamily="18" charset="0"/>
                          </a:rPr>
                          <m:t>h𝑖</m:t>
                        </m:r>
                      </m:e>
                      <m:e>
                        <m:r>
                          <a:rPr lang="en-US" sz="1600" i="1">
                            <a:solidFill>
                              <a:srgbClr val="000000"/>
                            </a:solidFill>
                            <a:latin typeface="Cambria Math" panose="02040503050406030204" pitchFamily="18" charset="0"/>
                          </a:rPr>
                          <m:t>𝐸</m:t>
                        </m:r>
                      </m:e>
                    </m:d>
                    <m:r>
                      <a:rPr lang="en-US" sz="1600" b="0" i="0" smtClean="0">
                        <a:solidFill>
                          <a:srgbClr val="000000"/>
                        </a:solidFill>
                        <a:latin typeface="Cambria Math" panose="02040503050406030204" pitchFamily="18" charset="0"/>
                      </a:rPr>
                      <m:t>:</m:t>
                    </m:r>
                  </m:oMath>
                </a14:m>
                <a:r>
                  <a:rPr lang="en-US" sz="1500" dirty="0">
                    <a:solidFill>
                      <a:srgbClr val="000000"/>
                    </a:solidFill>
                  </a:rPr>
                  <a:t> the probability that </a:t>
                </a:r>
                <a14:m>
                  <m:oMath xmlns:m="http://schemas.openxmlformats.org/officeDocument/2006/math">
                    <m:r>
                      <a:rPr lang="en-US" sz="1400" i="1">
                        <a:solidFill>
                          <a:srgbClr val="000000"/>
                        </a:solidFill>
                        <a:latin typeface="Cambria Math" panose="02040503050406030204" pitchFamily="18" charset="0"/>
                      </a:rPr>
                      <m:t>h𝑖</m:t>
                    </m:r>
                  </m:oMath>
                </a14:m>
                <a:r>
                  <a:rPr lang="en-US" sz="1500" dirty="0">
                    <a:solidFill>
                      <a:srgbClr val="000000"/>
                    </a:solidFill>
                  </a:rPr>
                  <a:t> is true given evidence </a:t>
                </a:r>
                <a14:m>
                  <m:oMath xmlns:m="http://schemas.openxmlformats.org/officeDocument/2006/math">
                    <m:r>
                      <a:rPr lang="en-US" sz="1400" i="1">
                        <a:solidFill>
                          <a:srgbClr val="000000"/>
                        </a:solidFill>
                        <a:latin typeface="Cambria Math" panose="02040503050406030204" pitchFamily="18" charset="0"/>
                      </a:rPr>
                      <m:t>𝐸</m:t>
                    </m:r>
                  </m:oMath>
                </a14:m>
                <a:r>
                  <a:rPr lang="en-US" sz="1500" dirty="0">
                    <a:solidFill>
                      <a:srgbClr val="000000"/>
                    </a:solidFill>
                  </a:rPr>
                  <a:t>.</a:t>
                </a:r>
              </a:p>
              <a:p>
                <a:pPr marL="0" indent="0">
                  <a:lnSpc>
                    <a:spcPct val="90000"/>
                  </a:lnSpc>
                  <a:buNone/>
                </a:pPr>
                <a14:m>
                  <m:oMath xmlns:m="http://schemas.openxmlformats.org/officeDocument/2006/math">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i="1">
                            <a:solidFill>
                              <a:srgbClr val="000000"/>
                            </a:solidFill>
                            <a:latin typeface="Cambria Math" panose="02040503050406030204" pitchFamily="18" charset="0"/>
                          </a:rPr>
                          <m:t>h𝑖</m:t>
                        </m:r>
                      </m:e>
                    </m:d>
                    <m:r>
                      <a:rPr lang="en-US" sz="1600" b="0" i="0" smtClean="0">
                        <a:solidFill>
                          <a:srgbClr val="000000"/>
                        </a:solidFill>
                        <a:latin typeface="Cambria Math" panose="02040503050406030204" pitchFamily="18" charset="0"/>
                      </a:rPr>
                      <m:t>:</m:t>
                    </m:r>
                  </m:oMath>
                </a14:m>
                <a:r>
                  <a:rPr lang="en-US" sz="1500" dirty="0">
                    <a:solidFill>
                      <a:srgbClr val="000000"/>
                    </a:solidFill>
                  </a:rPr>
                  <a:t> the probability that </a:t>
                </a:r>
                <a14:m>
                  <m:oMath xmlns:m="http://schemas.openxmlformats.org/officeDocument/2006/math">
                    <m:r>
                      <a:rPr lang="en-US" sz="1400" i="1">
                        <a:solidFill>
                          <a:srgbClr val="000000"/>
                        </a:solidFill>
                        <a:latin typeface="Cambria Math" panose="02040503050406030204" pitchFamily="18" charset="0"/>
                      </a:rPr>
                      <m:t>h𝑖</m:t>
                    </m:r>
                  </m:oMath>
                </a14:m>
                <a:r>
                  <a:rPr lang="en-US" sz="1500" dirty="0">
                    <a:solidFill>
                      <a:srgbClr val="000000"/>
                    </a:solidFill>
                  </a:rPr>
                  <a:t> is true.</a:t>
                </a:r>
              </a:p>
              <a:p>
                <a:pPr marL="0" indent="0">
                  <a:lnSpc>
                    <a:spcPct val="90000"/>
                  </a:lnSpc>
                  <a:buNone/>
                </a:pPr>
                <a14:m>
                  <m:oMath xmlns:m="http://schemas.openxmlformats.org/officeDocument/2006/math">
                    <m:r>
                      <a:rPr lang="en-US" sz="1600" i="1">
                        <a:solidFill>
                          <a:srgbClr val="000000"/>
                        </a:solidFill>
                        <a:latin typeface="Cambria Math" panose="02040503050406030204" pitchFamily="18" charset="0"/>
                      </a:rPr>
                      <m:t>𝑃</m:t>
                    </m:r>
                    <m:d>
                      <m:dPr>
                        <m:ctrlPr>
                          <a:rPr lang="en-US" sz="1600" i="1">
                            <a:solidFill>
                              <a:srgbClr val="000000"/>
                            </a:solidFill>
                            <a:latin typeface="Cambria Math" panose="02040503050406030204" pitchFamily="18" charset="0"/>
                          </a:rPr>
                        </m:ctrlPr>
                      </m:dPr>
                      <m:e>
                        <m:r>
                          <a:rPr lang="en-US" sz="1600" i="1">
                            <a:solidFill>
                              <a:srgbClr val="000000"/>
                            </a:solidFill>
                            <a:latin typeface="Cambria Math" panose="02040503050406030204" pitchFamily="18" charset="0"/>
                          </a:rPr>
                          <m:t>𝐸</m:t>
                        </m:r>
                      </m:e>
                      <m:e>
                        <m:r>
                          <a:rPr lang="en-US" sz="1600" i="1">
                            <a:solidFill>
                              <a:srgbClr val="000000"/>
                            </a:solidFill>
                            <a:latin typeface="Cambria Math" panose="02040503050406030204" pitchFamily="18" charset="0"/>
                          </a:rPr>
                          <m:t>h</m:t>
                        </m:r>
                        <m:r>
                          <a:rPr lang="en-US" sz="1600" b="0" i="1" smtClean="0">
                            <a:solidFill>
                              <a:srgbClr val="000000"/>
                            </a:solidFill>
                            <a:latin typeface="Cambria Math" panose="02040503050406030204" pitchFamily="18" charset="0"/>
                          </a:rPr>
                          <m:t>𝑖</m:t>
                        </m:r>
                      </m:e>
                    </m:d>
                  </m:oMath>
                </a14:m>
                <a:r>
                  <a:rPr lang="en-US" sz="1500" dirty="0">
                    <a:solidFill>
                      <a:srgbClr val="000000"/>
                    </a:solidFill>
                  </a:rPr>
                  <a:t> is the probability of observing evidence </a:t>
                </a:r>
                <a14:m>
                  <m:oMath xmlns:m="http://schemas.openxmlformats.org/officeDocument/2006/math">
                    <m:r>
                      <a:rPr lang="en-US" sz="1400" i="1">
                        <a:solidFill>
                          <a:srgbClr val="000000"/>
                        </a:solidFill>
                        <a:latin typeface="Cambria Math" panose="02040503050406030204" pitchFamily="18" charset="0"/>
                      </a:rPr>
                      <m:t>𝐸</m:t>
                    </m:r>
                    <m:r>
                      <a:rPr lang="en-US" sz="1400" i="1">
                        <a:solidFill>
                          <a:srgbClr val="000000"/>
                        </a:solidFill>
                        <a:latin typeface="Cambria Math" panose="02040503050406030204" pitchFamily="18" charset="0"/>
                      </a:rPr>
                      <m:t> </m:t>
                    </m:r>
                  </m:oMath>
                </a14:m>
                <a:r>
                  <a:rPr lang="en-US" sz="1500" dirty="0">
                    <a:solidFill>
                      <a:srgbClr val="000000"/>
                    </a:solidFill>
                  </a:rPr>
                  <a:t>when </a:t>
                </a:r>
                <a14:m>
                  <m:oMath xmlns:m="http://schemas.openxmlformats.org/officeDocument/2006/math">
                    <m:r>
                      <a:rPr lang="en-US" sz="1600" i="1">
                        <a:solidFill>
                          <a:srgbClr val="000000"/>
                        </a:solidFill>
                        <a:latin typeface="Cambria Math" panose="02040503050406030204" pitchFamily="18" charset="0"/>
                      </a:rPr>
                      <m:t>h𝑖</m:t>
                    </m:r>
                    <m:r>
                      <a:rPr lang="en-US" sz="1600" b="0" i="0" smtClean="0">
                        <a:solidFill>
                          <a:srgbClr val="000000"/>
                        </a:solidFill>
                        <a:latin typeface="Cambria Math" panose="02040503050406030204" pitchFamily="18" charset="0"/>
                      </a:rPr>
                      <m:t> </m:t>
                    </m:r>
                  </m:oMath>
                </a14:m>
                <a:r>
                  <a:rPr lang="en-US" sz="1500" dirty="0">
                    <a:solidFill>
                      <a:srgbClr val="000000"/>
                    </a:solidFill>
                  </a:rPr>
                  <a:t>is true.</a:t>
                </a:r>
                <a14:m>
                  <m:oMath xmlns:m="http://schemas.openxmlformats.org/officeDocument/2006/math">
                    <a:fld id="{375224DA-1FAD-4985-B166-F9B6919CAE2A}" type="mathplaceholder">
                      <a:rPr lang="en-US" sz="1500" i="1" smtClean="0">
                        <a:solidFill>
                          <a:srgbClr val="000000"/>
                        </a:solidFill>
                        <a:latin typeface="Cambria Math" panose="02040503050406030204" pitchFamily="18" charset="0"/>
                      </a:rPr>
                      <a:t>Type equation here.</a:t>
                    </a:fld>
                  </m:oMath>
                </a14:m>
                <a:endParaRPr lang="en-US" sz="1500" dirty="0">
                  <a:solidFill>
                    <a:srgbClr val="000000"/>
                  </a:solidFill>
                </a:endParaRPr>
              </a:p>
            </p:txBody>
          </p:sp>
        </mc:Choice>
        <mc:Fallback xmlns="">
          <p:sp>
            <p:nvSpPr>
              <p:cNvPr id="6" name="Content Placeholder 2">
                <a:extLst>
                  <a:ext uri="{FF2B5EF4-FFF2-40B4-BE49-F238E27FC236}">
                    <a16:creationId xmlns:a16="http://schemas.microsoft.com/office/drawing/2014/main" id="{6184E2D6-BF0A-4218-BEB9-0A1F59D75336}"/>
                  </a:ext>
                </a:extLst>
              </p:cNvPr>
              <p:cNvSpPr>
                <a:spLocks noGrp="1" noRot="1" noChangeAspect="1" noMove="1" noResize="1" noEditPoints="1" noAdjustHandles="1" noChangeArrowheads="1" noChangeShapeType="1" noTextEdit="1"/>
              </p:cNvSpPr>
              <p:nvPr>
                <p:ph idx="1"/>
              </p:nvPr>
            </p:nvSpPr>
            <p:spPr>
              <a:xfrm>
                <a:off x="4147200" y="0"/>
                <a:ext cx="4328293" cy="5143500"/>
              </a:xfrm>
              <a:blipFill>
                <a:blip r:embed="rId3"/>
                <a:stretch>
                  <a:fillRect l="-563"/>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6219E0F4-DCCE-4B59-B9E0-F34F0A39B420}"/>
              </a:ext>
            </a:extLst>
          </p:cNvPr>
          <p:cNvSpPr/>
          <p:nvPr/>
        </p:nvSpPr>
        <p:spPr>
          <a:xfrm>
            <a:off x="4737600" y="2044800"/>
            <a:ext cx="3268800" cy="84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895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5" end="5"/>
                                            </p:txEl>
                                          </p:spTgt>
                                        </p:tgtEl>
                                        <p:attrNameLst>
                                          <p:attrName>style.visibility</p:attrName>
                                        </p:attrNameLst>
                                      </p:cBhvr>
                                      <p:to>
                                        <p:strVal val="visible"/>
                                      </p:to>
                                    </p:set>
                                    <p:animEffect transition="in" filter="fade">
                                      <p:cBhvr>
                                        <p:cTn id="20" dur="500"/>
                                        <p:tgtEl>
                                          <p:spTgt spid="6">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7" end="7"/>
                                            </p:txEl>
                                          </p:spTgt>
                                        </p:tgtEl>
                                        <p:attrNameLst>
                                          <p:attrName>style.visibility</p:attrName>
                                        </p:attrNameLst>
                                      </p:cBhvr>
                                      <p:to>
                                        <p:strVal val="visible"/>
                                      </p:to>
                                    </p:set>
                                    <p:animEffect transition="in" filter="fade">
                                      <p:cBhvr>
                                        <p:cTn id="28" dur="500"/>
                                        <p:tgtEl>
                                          <p:spTgt spid="6">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Effect transition="in" filter="fade">
                                      <p:cBhvr>
                                        <p:cTn id="31" dur="500"/>
                                        <p:tgtEl>
                                          <p:spTgt spid="6">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9" end="9"/>
                                            </p:txEl>
                                          </p:spTgt>
                                        </p:tgtEl>
                                        <p:attrNameLst>
                                          <p:attrName>style.visibility</p:attrName>
                                        </p:attrNameLst>
                                      </p:cBhvr>
                                      <p:to>
                                        <p:strVal val="visible"/>
                                      </p:to>
                                    </p:set>
                                    <p:animEffect transition="in" filter="fade">
                                      <p:cBhvr>
                                        <p:cTn id="34"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5.4 Applications of the Stochastic Methodology</a:t>
            </a:r>
          </a:p>
        </p:txBody>
      </p:sp>
      <p:sp>
        <p:nvSpPr>
          <p:cNvPr id="3" name="Content Placeholder 2"/>
          <p:cNvSpPr>
            <a:spLocks noGrp="1"/>
          </p:cNvSpPr>
          <p:nvPr>
            <p:ph idx="1"/>
          </p:nvPr>
        </p:nvSpPr>
        <p:spPr>
          <a:xfrm>
            <a:off x="457200" y="1200150"/>
            <a:ext cx="8534400" cy="3638549"/>
          </a:xfrm>
        </p:spPr>
        <p:txBody>
          <a:bodyPr/>
          <a:lstStyle/>
          <a:p>
            <a:r>
              <a:rPr lang="en-US" sz="2000" dirty="0">
                <a:latin typeface="Arial" panose="020B0604020202020204" pitchFamily="34" charset="0"/>
                <a:cs typeface="Arial" panose="020B0604020202020204" pitchFamily="34" charset="0"/>
              </a:rPr>
              <a:t>**</a:t>
            </a:r>
            <a:r>
              <a:rPr lang="en-US" sz="1800" dirty="0">
                <a:solidFill>
                  <a:srgbClr val="FF0000"/>
                </a:solidFill>
                <a:latin typeface="Arial" panose="020B0604020202020204" pitchFamily="34" charset="0"/>
                <a:cs typeface="Arial" panose="020B0604020202020204" pitchFamily="34" charset="0"/>
              </a:rPr>
              <a:t>The most important is that use probability measures to reason about the interpretation  of  ambiguous  information</a:t>
            </a:r>
          </a:p>
          <a:p>
            <a:endParaRPr lang="en-US" sz="1800" dirty="0">
              <a:solidFill>
                <a:srgbClr val="FF0000"/>
              </a:solidFill>
              <a:latin typeface="Arial" panose="020B0604020202020204" pitchFamily="34" charset="0"/>
              <a:cs typeface="Arial" panose="020B0604020202020204" pitchFamily="34" charset="0"/>
            </a:endParaRPr>
          </a:p>
          <a:p>
            <a:r>
              <a:rPr lang="en-US" sz="1800" dirty="0">
                <a:solidFill>
                  <a:srgbClr val="FF0000"/>
                </a:solidFill>
                <a:latin typeface="Arial" panose="020B0604020202020204" pitchFamily="34" charset="0"/>
                <a:cs typeface="Arial" panose="020B0604020202020204" pitchFamily="34" charset="0"/>
              </a:rPr>
              <a:t>1. PROBABILISTIC FINITE STATE MACHINE</a:t>
            </a:r>
          </a:p>
          <a:p>
            <a:r>
              <a:rPr lang="en-US" sz="1800" dirty="0">
                <a:latin typeface="Arial" panose="020B0604020202020204" pitchFamily="34" charset="0"/>
                <a:cs typeface="Arial" panose="020B0604020202020204" pitchFamily="34" charset="0"/>
              </a:rPr>
              <a:t>A probabilistic finite state machine is a finite state machine where the next state function is a probability distribution over the full set of states of the machine. </a:t>
            </a:r>
          </a:p>
          <a:p>
            <a:endParaRPr lang="en-US" sz="1800" dirty="0">
              <a:latin typeface="Arial" panose="020B0604020202020204" pitchFamily="34" charset="0"/>
              <a:cs typeface="Arial" panose="020B0604020202020204" pitchFamily="34" charset="0"/>
            </a:endParaRPr>
          </a:p>
          <a:p>
            <a:r>
              <a:rPr lang="en-US" sz="1800" dirty="0">
                <a:solidFill>
                  <a:srgbClr val="FF0000"/>
                </a:solidFill>
                <a:latin typeface="Arial" panose="020B0604020202020204" pitchFamily="34" charset="0"/>
                <a:cs typeface="Arial" panose="020B0604020202020204" pitchFamily="34" charset="0"/>
              </a:rPr>
              <a:t>Example: </a:t>
            </a:r>
            <a:r>
              <a:rPr lang="en-US" sz="1800" dirty="0">
                <a:latin typeface="Arial" panose="020B0604020202020204" pitchFamily="34" charset="0"/>
                <a:cs typeface="Arial" panose="020B0604020202020204" pitchFamily="34" charset="0"/>
              </a:rPr>
              <a:t>The finite state machine </a:t>
            </a:r>
            <a:r>
              <a:rPr lang="en-US" sz="1800" dirty="0">
                <a:solidFill>
                  <a:srgbClr val="FF0000"/>
                </a:solidFill>
                <a:latin typeface="Arial" panose="020B0604020202020204" pitchFamily="34" charset="0"/>
                <a:cs typeface="Arial" panose="020B0604020202020204" pitchFamily="34" charset="0"/>
              </a:rPr>
              <a:t>(Input the value) </a:t>
            </a:r>
            <a:r>
              <a:rPr lang="en-US" sz="1800" dirty="0">
                <a:latin typeface="Arial" panose="020B0604020202020204" pitchFamily="34" charset="0"/>
                <a:cs typeface="Arial" panose="020B0604020202020204" pitchFamily="34" charset="0"/>
                <a:sym typeface="Wingdings" panose="05000000000000000000" pitchFamily="2" charset="2"/>
              </a:rPr>
              <a:t> output value (</a:t>
            </a:r>
            <a:r>
              <a:rPr lang="en-US" sz="1800" dirty="0">
                <a:solidFill>
                  <a:srgbClr val="FF0000"/>
                </a:solidFill>
                <a:latin typeface="Arial" panose="020B0604020202020204" pitchFamily="34" charset="0"/>
                <a:cs typeface="Arial" panose="020B0604020202020204" pitchFamily="34" charset="0"/>
                <a:sym typeface="Wingdings" panose="05000000000000000000" pitchFamily="2" charset="2"/>
              </a:rPr>
              <a:t>with sort of internal mechanism</a:t>
            </a:r>
            <a:r>
              <a:rPr lang="en-US" sz="1800" dirty="0">
                <a:latin typeface="Arial" panose="020B0604020202020204" pitchFamily="34" charset="0"/>
                <a:cs typeface="Arial" panose="020B0604020202020204" pitchFamily="34" charset="0"/>
                <a:sym typeface="Wingdings" panose="05000000000000000000" pitchFamily="2" charset="2"/>
              </a:rPr>
              <a:t>) to keep tack information of input value  </a:t>
            </a:r>
            <a:r>
              <a:rPr lang="en-US" sz="1800" dirty="0">
                <a:latin typeface="Arial" panose="020B0604020202020204" pitchFamily="34" charset="0"/>
                <a:cs typeface="Arial" panose="020B0604020202020204" pitchFamily="34" charset="0"/>
              </a:rPr>
              <a:t>FMS is a finite, directed, connected graph,  having  a  set  of  states,  a  set  of  input  values,  and  a  state  transition  function </a:t>
            </a:r>
            <a:r>
              <a:rPr lang="en-US" sz="1800" dirty="0">
                <a:latin typeface="Arial" panose="020B0604020202020204" pitchFamily="34" charset="0"/>
                <a:cs typeface="Arial" panose="020B0604020202020204" pitchFamily="34" charset="0"/>
                <a:sym typeface="Wingdings" panose="05000000000000000000" pitchFamily="2" charset="2"/>
              </a:rPr>
              <a:t> Thus the FSM can be seen as an abstract model of computation.</a:t>
            </a:r>
          </a:p>
          <a:p>
            <a:endParaRPr lang="en-US" dirty="0">
              <a:latin typeface="Arial" panose="020B0604020202020204" pitchFamily="34" charset="0"/>
              <a:cs typeface="Arial" panose="020B0604020202020204" pitchFamily="34" charset="0"/>
              <a:sym typeface="Wingdings" panose="05000000000000000000" pitchFamily="2" charset="2"/>
            </a:endParaRPr>
          </a:p>
          <a:p>
            <a:endParaRPr lang="en-US" dirty="0">
              <a:solidFill>
                <a:srgbClr val="FF0000"/>
              </a:solidFill>
              <a:latin typeface="Arial" panose="020B0604020202020204" pitchFamily="34" charset="0"/>
              <a:cs typeface="Arial" panose="020B0604020202020204" pitchFamily="34" charset="0"/>
              <a:sym typeface="Wingdings" panose="05000000000000000000" pitchFamily="2" charset="2"/>
            </a:endParaRPr>
          </a:p>
          <a:p>
            <a:endParaRPr lang="en-US" dirty="0">
              <a:solidFill>
                <a:srgbClr val="FF0000"/>
              </a:solidFill>
              <a:latin typeface="Arial" panose="020B0604020202020204" pitchFamily="34" charset="0"/>
              <a:cs typeface="Arial" panose="020B0604020202020204" pitchFamily="34" charset="0"/>
            </a:endParaRPr>
          </a:p>
          <a:p>
            <a:endParaRPr lang="en-US" dirty="0">
              <a:solidFill>
                <a:srgbClr val="FF0000"/>
              </a:solidFill>
              <a:latin typeface="Arial" panose="020B0604020202020204" pitchFamily="34" charset="0"/>
              <a:cs typeface="Arial" panose="020B0604020202020204" pitchFamily="34" charset="0"/>
            </a:endParaRPr>
          </a:p>
          <a:p>
            <a:endParaRPr lang="en-US" dirty="0">
              <a:solidFill>
                <a:srgbClr val="FF0000"/>
              </a:solidFill>
              <a:latin typeface="Arial" panose="020B0604020202020204" pitchFamily="34" charset="0"/>
              <a:cs typeface="Arial" panose="020B0604020202020204" pitchFamily="34" charset="0"/>
            </a:endParaRPr>
          </a:p>
          <a:p>
            <a:endParaRPr lang="en-US" dirty="0">
              <a:solidFill>
                <a:srgbClr val="FF0000"/>
              </a:solidFill>
              <a:latin typeface="Arial" panose="020B0604020202020204" pitchFamily="34" charset="0"/>
              <a:cs typeface="Arial" panose="020B0604020202020204" pitchFamily="34" charset="0"/>
            </a:endParaRPr>
          </a:p>
          <a:p>
            <a:endParaRPr lang="en-US" dirty="0">
              <a:solidFill>
                <a:srgbClr val="FF0000"/>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73525305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5.4 Applications of the Stochastic Methodology</a:t>
            </a:r>
          </a:p>
        </p:txBody>
      </p:sp>
      <p:sp>
        <p:nvSpPr>
          <p:cNvPr id="4" name="Content Placeholder 3"/>
          <p:cNvSpPr>
            <a:spLocks noGrp="1"/>
          </p:cNvSpPr>
          <p:nvPr>
            <p:ph idx="1"/>
          </p:nvPr>
        </p:nvSpPr>
        <p:spPr>
          <a:xfrm>
            <a:off x="457200" y="1200150"/>
            <a:ext cx="8458200" cy="3943349"/>
          </a:xfrm>
        </p:spPr>
        <p:txBody>
          <a:bodyPr/>
          <a:lstStyle/>
          <a:p>
            <a:endParaRPr lang="en-US" sz="1800" dirty="0"/>
          </a:p>
          <a:p>
            <a:r>
              <a:rPr lang="en-US" sz="1800" dirty="0">
                <a:solidFill>
                  <a:srgbClr val="FF0000"/>
                </a:solidFill>
                <a:sym typeface="Wingdings" panose="05000000000000000000" pitchFamily="2" charset="2"/>
              </a:rPr>
              <a:t>2. PROBABILISTIC FINITE STATE ACCEPTOR</a:t>
            </a:r>
          </a:p>
          <a:p>
            <a:r>
              <a:rPr lang="en-US" sz="1800" dirty="0">
                <a:sym typeface="Wingdings" panose="05000000000000000000" pitchFamily="2" charset="2"/>
              </a:rPr>
              <a:t>-A probabilistic finite state machine is </a:t>
            </a:r>
            <a:r>
              <a:rPr lang="en-US" sz="1800" dirty="0">
                <a:solidFill>
                  <a:srgbClr val="FF0000"/>
                </a:solidFill>
                <a:sym typeface="Wingdings" panose="05000000000000000000" pitchFamily="2" charset="2"/>
              </a:rPr>
              <a:t>an acceptor</a:t>
            </a:r>
            <a:r>
              <a:rPr lang="en-US" sz="1800" dirty="0">
                <a:sym typeface="Wingdings" panose="05000000000000000000" pitchFamily="2" charset="2"/>
              </a:rPr>
              <a:t>, when one or more states are indicated as the start states and one or more as </a:t>
            </a:r>
            <a:r>
              <a:rPr lang="en-US" sz="1800" dirty="0">
                <a:solidFill>
                  <a:srgbClr val="FF0000"/>
                </a:solidFill>
                <a:sym typeface="Wingdings" panose="05000000000000000000" pitchFamily="2" charset="2"/>
              </a:rPr>
              <a:t>the accept states.</a:t>
            </a:r>
          </a:p>
          <a:p>
            <a:endParaRPr lang="en-US" sz="1800" dirty="0">
              <a:sym typeface="Wingdings" panose="05000000000000000000" pitchFamily="2" charset="2"/>
            </a:endParaRPr>
          </a:p>
          <a:p>
            <a:r>
              <a:rPr lang="en-US" sz="1800" dirty="0">
                <a:sym typeface="Wingdings" panose="05000000000000000000" pitchFamily="2" charset="2"/>
              </a:rPr>
              <a:t>-Example: where:  ∃s0∈ S such that the input stream starts at s0, and ∃</a:t>
            </a:r>
            <a:r>
              <a:rPr lang="en-US" sz="1800" dirty="0" err="1">
                <a:sym typeface="Wingdings" panose="05000000000000000000" pitchFamily="2" charset="2"/>
              </a:rPr>
              <a:t>sn</a:t>
            </a:r>
            <a:r>
              <a:rPr lang="en-US" sz="1800" dirty="0">
                <a:sym typeface="Wingdings" panose="05000000000000000000" pitchFamily="2" charset="2"/>
              </a:rPr>
              <a:t>∈ S, an accept state. The input stream is accepted if it terminates in that state. In fact, there may be a set of accept states.  The finite state acceptor is represented as </a:t>
            </a:r>
          </a:p>
          <a:p>
            <a:r>
              <a:rPr lang="en-US" sz="1800" dirty="0">
                <a:sym typeface="Wingdings" panose="05000000000000000000" pitchFamily="2" charset="2"/>
              </a:rPr>
              <a:t>(S, s0, {s n}, I, F)</a:t>
            </a:r>
          </a:p>
          <a:p>
            <a:endParaRPr lang="en-US" dirty="0"/>
          </a:p>
        </p:txBody>
      </p:sp>
    </p:spTree>
    <p:extLst>
      <p:ext uri="{BB962C8B-B14F-4D97-AF65-F5344CB8AC3E}">
        <p14:creationId xmlns:p14="http://schemas.microsoft.com/office/powerpoint/2010/main" val="354411007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5.4 Applications of the Stochastic Methodology</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457200" y="1200151"/>
            <a:ext cx="4572000" cy="2739211"/>
          </a:xfrm>
          <a:prstGeom prst="rect">
            <a:avLst/>
          </a:prstGeom>
        </p:spPr>
        <p:txBody>
          <a:bodyPr>
            <a:spAutoFit/>
          </a:bodyPr>
          <a:lstStyle/>
          <a:p>
            <a:r>
              <a:rPr lang="en-US" sz="2800" dirty="0">
                <a:solidFill>
                  <a:srgbClr val="FF0000"/>
                </a:solidFill>
              </a:rPr>
              <a:t>• Diagnostic Reasoning: </a:t>
            </a:r>
          </a:p>
          <a:p>
            <a:endParaRPr lang="en-US" dirty="0">
              <a:solidFill>
                <a:srgbClr val="FF0000"/>
              </a:solidFill>
            </a:endParaRPr>
          </a:p>
          <a:p>
            <a:r>
              <a:rPr lang="en-US" dirty="0"/>
              <a:t>   *  In </a:t>
            </a:r>
            <a:r>
              <a:rPr lang="en-US" dirty="0">
                <a:solidFill>
                  <a:srgbClr val="FF0000"/>
                </a:solidFill>
              </a:rPr>
              <a:t>medical diagnosis</a:t>
            </a:r>
            <a:r>
              <a:rPr lang="en-US" dirty="0"/>
              <a:t>, </a:t>
            </a:r>
            <a:r>
              <a:rPr lang="en-US" dirty="0">
                <a:solidFill>
                  <a:srgbClr val="FF0000"/>
                </a:solidFill>
              </a:rPr>
              <a:t>for example</a:t>
            </a:r>
            <a:r>
              <a:rPr lang="en-US" dirty="0"/>
              <a:t>:</a:t>
            </a:r>
          </a:p>
          <a:p>
            <a:r>
              <a:rPr lang="en-US" dirty="0"/>
              <a:t>- There is   not always an obvious cause/effect relationship between the set of symptoms presented by the patient and the causes of these symptoms. In fact, the same sets of symptoms often suggest multiple possible causes.</a:t>
            </a:r>
            <a:endParaRPr lang="en-US" dirty="0"/>
          </a:p>
        </p:txBody>
      </p:sp>
      <p:pic>
        <p:nvPicPr>
          <p:cNvPr id="8" name="Picture 7">
            <a:extLst>
              <a:ext uri="{FF2B5EF4-FFF2-40B4-BE49-F238E27FC236}">
                <a16:creationId xmlns:a16="http://schemas.microsoft.com/office/drawing/2014/main" id="{4904E82C-1EAB-46FA-A69D-F426BDE5BF68}"/>
              </a:ext>
            </a:extLst>
          </p:cNvPr>
          <p:cNvPicPr>
            <a:picLocks noChangeAspect="1"/>
          </p:cNvPicPr>
          <p:nvPr/>
        </p:nvPicPr>
        <p:blipFill>
          <a:blip r:embed="rId2"/>
          <a:stretch>
            <a:fillRect/>
          </a:stretch>
        </p:blipFill>
        <p:spPr>
          <a:xfrm>
            <a:off x="5029200" y="1535745"/>
            <a:ext cx="3750248" cy="2540539"/>
          </a:xfrm>
          <a:prstGeom prst="rect">
            <a:avLst/>
          </a:prstGeom>
        </p:spPr>
      </p:pic>
    </p:spTree>
    <p:extLst>
      <p:ext uri="{BB962C8B-B14F-4D97-AF65-F5344CB8AC3E}">
        <p14:creationId xmlns:p14="http://schemas.microsoft.com/office/powerpoint/2010/main" val="88901956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5.4 Applications of the Stochastic Methodology</a:t>
            </a:r>
            <a:br>
              <a:rPr lang="en-US" dirty="0"/>
            </a:br>
            <a:endParaRPr lang="en-US" dirty="0"/>
          </a:p>
        </p:txBody>
      </p:sp>
      <p:sp>
        <p:nvSpPr>
          <p:cNvPr id="3" name="Content Placeholder 2"/>
          <p:cNvSpPr>
            <a:spLocks noGrp="1"/>
          </p:cNvSpPr>
          <p:nvPr>
            <p:ph idx="1"/>
          </p:nvPr>
        </p:nvSpPr>
        <p:spPr/>
        <p:txBody>
          <a:bodyPr/>
          <a:lstStyle/>
          <a:p>
            <a:r>
              <a:rPr lang="en-US" sz="3600" dirty="0">
                <a:solidFill>
                  <a:srgbClr val="FF0000"/>
                </a:solidFill>
                <a:latin typeface="Arial" panose="020B0604020202020204" pitchFamily="34" charset="0"/>
                <a:cs typeface="Arial" panose="020B0604020202020204" pitchFamily="34" charset="0"/>
              </a:rPr>
              <a:t>Machine Learning: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Use probabilistic models (Bayes’ and Markov’s algorithms) to </a:t>
            </a:r>
            <a:r>
              <a:rPr lang="en-US" dirty="0">
                <a:solidFill>
                  <a:srgbClr val="FF0000"/>
                </a:solidFill>
                <a:latin typeface="Arial" panose="020B0604020202020204" pitchFamily="34" charset="0"/>
                <a:cs typeface="Arial" panose="020B0604020202020204" pitchFamily="34" charset="0"/>
              </a:rPr>
              <a:t>interpret new experiences </a:t>
            </a:r>
            <a:r>
              <a:rPr lang="en-US" dirty="0">
                <a:latin typeface="Arial" panose="020B0604020202020204" pitchFamily="34" charset="0"/>
                <a:cs typeface="Arial" panose="020B0604020202020204" pitchFamily="34" charset="0"/>
              </a:rPr>
              <a:t>based on prior learned relationships. Many stochastic systems have the ability to sample situations and learn over time. Some are able to both sample data and predict outcomes as well as learn new probabilistic relationship </a:t>
            </a:r>
          </a:p>
          <a:p>
            <a:endParaRPr lang="en-US" dirty="0"/>
          </a:p>
        </p:txBody>
      </p:sp>
    </p:spTree>
    <p:extLst>
      <p:ext uri="{BB962C8B-B14F-4D97-AF65-F5344CB8AC3E}">
        <p14:creationId xmlns:p14="http://schemas.microsoft.com/office/powerpoint/2010/main" val="314988588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5.4.1 : So How Is “Tomato” Pronounced?</a:t>
            </a:r>
          </a:p>
        </p:txBody>
      </p:sp>
      <p:pic>
        <p:nvPicPr>
          <p:cNvPr id="4" name="Content Placeholder 3">
            <a:extLst>
              <a:ext uri="{FF2B5EF4-FFF2-40B4-BE49-F238E27FC236}">
                <a16:creationId xmlns:a16="http://schemas.microsoft.com/office/drawing/2014/main" id="{351AB823-DE7D-41D5-B39B-077F171D7D90}"/>
              </a:ext>
            </a:extLst>
          </p:cNvPr>
          <p:cNvPicPr>
            <a:picLocks noGrp="1" noChangeAspect="1"/>
          </p:cNvPicPr>
          <p:nvPr>
            <p:ph idx="1"/>
          </p:nvPr>
        </p:nvPicPr>
        <p:blipFill>
          <a:blip r:embed="rId2"/>
          <a:stretch>
            <a:fillRect/>
          </a:stretch>
        </p:blipFill>
        <p:spPr>
          <a:xfrm>
            <a:off x="1187450" y="961630"/>
            <a:ext cx="6483350" cy="1568444"/>
          </a:xfrm>
          <a:prstGeom prst="rect">
            <a:avLst/>
          </a:prstGeom>
        </p:spPr>
      </p:pic>
      <p:sp>
        <p:nvSpPr>
          <p:cNvPr id="5" name="Rectangle 4"/>
          <p:cNvSpPr/>
          <p:nvPr/>
        </p:nvSpPr>
        <p:spPr>
          <a:xfrm>
            <a:off x="457200" y="2619732"/>
            <a:ext cx="8445500" cy="2523768"/>
          </a:xfrm>
          <a:prstGeom prst="rect">
            <a:avLst/>
          </a:prstGeom>
        </p:spPr>
        <p:txBody>
          <a:bodyPr wrap="square">
            <a:spAutoFit/>
          </a:bodyPr>
          <a:lstStyle/>
          <a:p>
            <a:r>
              <a:rPr lang="en-US" sz="3200" dirty="0">
                <a:solidFill>
                  <a:srgbClr val="FF0000"/>
                </a:solidFill>
              </a:rPr>
              <a:t>Example:</a:t>
            </a:r>
          </a:p>
          <a:p>
            <a:endParaRPr lang="en-US" dirty="0"/>
          </a:p>
          <a:p>
            <a:r>
              <a:rPr lang="en-US" dirty="0"/>
              <a:t>-A particular acceptable pronunciation for the word tomato is characterized </a:t>
            </a:r>
            <a:r>
              <a:rPr lang="en-US" dirty="0">
                <a:solidFill>
                  <a:srgbClr val="FF0000"/>
                </a:solidFill>
              </a:rPr>
              <a:t>by a path from the start state to the accept state</a:t>
            </a:r>
            <a:r>
              <a:rPr lang="en-US" dirty="0"/>
              <a:t>. </a:t>
            </a:r>
          </a:p>
          <a:p>
            <a:r>
              <a:rPr lang="en-US" dirty="0"/>
              <a:t>-The decimal values that label the arcs of the graph represent the probability that the speaker will make that particular transition in the state machine</a:t>
            </a:r>
          </a:p>
          <a:p>
            <a:r>
              <a:rPr lang="en-US" dirty="0"/>
              <a:t>- The machine can try to determine the probabilistic path that best completes that word</a:t>
            </a:r>
            <a:endParaRPr lang="en-US" dirty="0"/>
          </a:p>
        </p:txBody>
      </p:sp>
    </p:spTree>
    <p:extLst>
      <p:ext uri="{BB962C8B-B14F-4D97-AF65-F5344CB8AC3E}">
        <p14:creationId xmlns:p14="http://schemas.microsoft.com/office/powerpoint/2010/main" val="345913836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5.4.1 : So How Is “</a:t>
            </a:r>
            <a:r>
              <a:rPr lang="en-US" dirty="0" smtClean="0"/>
              <a:t>Tomato</a:t>
            </a:r>
            <a:r>
              <a:rPr lang="en-US" dirty="0"/>
              <a:t>” Pronounced?</a:t>
            </a:r>
          </a:p>
        </p:txBody>
      </p:sp>
      <p:sp>
        <p:nvSpPr>
          <p:cNvPr id="3" name="Content Placeholder 2"/>
          <p:cNvSpPr>
            <a:spLocks noGrp="1"/>
          </p:cNvSpPr>
          <p:nvPr>
            <p:ph idx="1"/>
          </p:nvPr>
        </p:nvSpPr>
        <p:spPr>
          <a:xfrm>
            <a:off x="457200" y="1200150"/>
            <a:ext cx="4622800" cy="3498850"/>
          </a:xfrm>
        </p:spPr>
        <p:txBody>
          <a:bodyPr/>
          <a:lstStyle/>
          <a:p>
            <a:r>
              <a:rPr lang="en-US" sz="2000" dirty="0">
                <a:solidFill>
                  <a:srgbClr val="FF0000"/>
                </a:solidFill>
                <a:latin typeface="Arial" panose="020B0604020202020204" pitchFamily="34" charset="0"/>
                <a:cs typeface="Arial" panose="020B0604020202020204" pitchFamily="34" charset="0"/>
              </a:rPr>
              <a:t>• Natural language understanding:</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-&gt;  Statistical natural language processing uses stochastic methods, especially to resolve difficulties that arise because longer sentences are highly ambiguous when processed with realistic grammars, yielding thousands or millions of possible analyses. </a:t>
            </a:r>
          </a:p>
          <a:p>
            <a:endParaRPr lang="en-US" sz="2000" dirty="0"/>
          </a:p>
        </p:txBody>
      </p:sp>
      <p:pic>
        <p:nvPicPr>
          <p:cNvPr id="6" name="Picture 5">
            <a:extLst>
              <a:ext uri="{FF2B5EF4-FFF2-40B4-BE49-F238E27FC236}">
                <a16:creationId xmlns:a16="http://schemas.microsoft.com/office/drawing/2014/main" id="{35F66793-F027-4969-AE51-4F725E3D4671}"/>
              </a:ext>
            </a:extLst>
          </p:cNvPr>
          <p:cNvPicPr>
            <a:picLocks noChangeAspect="1"/>
          </p:cNvPicPr>
          <p:nvPr/>
        </p:nvPicPr>
        <p:blipFill>
          <a:blip r:embed="rId2"/>
          <a:stretch>
            <a:fillRect/>
          </a:stretch>
        </p:blipFill>
        <p:spPr>
          <a:xfrm>
            <a:off x="5080000" y="1587500"/>
            <a:ext cx="3943952" cy="2146300"/>
          </a:xfrm>
          <a:prstGeom prst="rect">
            <a:avLst/>
          </a:prstGeom>
        </p:spPr>
      </p:pic>
    </p:spTree>
    <p:extLst>
      <p:ext uri="{BB962C8B-B14F-4D97-AF65-F5344CB8AC3E}">
        <p14:creationId xmlns:p14="http://schemas.microsoft.com/office/powerpoint/2010/main" val="90520487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Arial" panose="020B0604020202020204" pitchFamily="34" charset="0"/>
                <a:cs typeface="Arial" panose="020B0604020202020204" pitchFamily="34" charset="0"/>
              </a:rPr>
              <a:t>5.4.2 Extending the Road/Traffic Example</a:t>
            </a:r>
            <a:br>
              <a:rPr lang="en-US" sz="3200" dirty="0">
                <a:latin typeface="Arial" panose="020B0604020202020204" pitchFamily="34" charset="0"/>
                <a:cs typeface="Arial" panose="020B0604020202020204" pitchFamily="34" charset="0"/>
              </a:rPr>
            </a:br>
            <a:endParaRPr lang="en-US" dirty="0"/>
          </a:p>
        </p:txBody>
      </p:sp>
      <p:sp>
        <p:nvSpPr>
          <p:cNvPr id="3" name="Content Placeholder 2"/>
          <p:cNvSpPr>
            <a:spLocks noGrp="1"/>
          </p:cNvSpPr>
          <p:nvPr>
            <p:ph idx="1"/>
          </p:nvPr>
        </p:nvSpPr>
        <p:spPr/>
        <p:txBody>
          <a:bodyPr/>
          <a:lstStyle/>
          <a:p>
            <a:r>
              <a:rPr lang="en-US" sz="3600" dirty="0">
                <a:solidFill>
                  <a:srgbClr val="FF0000"/>
                </a:solidFill>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You are driving, and  realize  you  are  gradually  slowing  down  because  of increased  traffic  congestion . Then search for the reason the explain why. </a:t>
            </a:r>
            <a:r>
              <a:rPr lang="en-US" dirty="0">
                <a:solidFill>
                  <a:srgbClr val="FF0000"/>
                </a:solidFill>
                <a:latin typeface="Arial" panose="020B0604020202020204" pitchFamily="34" charset="0"/>
                <a:cs typeface="Arial" panose="020B0604020202020204" pitchFamily="34" charset="0"/>
              </a:rPr>
              <a:t>Could it be road construction? Has there been an accident? Perhaps there are other possible explanations</a:t>
            </a:r>
          </a:p>
          <a:p>
            <a:endParaRPr lang="en-US" dirty="0">
              <a:solidFill>
                <a:srgbClr val="FF0000"/>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28164397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69483"/>
            <a:ext cx="5930900" cy="3243817"/>
          </a:xfrm>
        </p:spPr>
        <p:txBody>
          <a:bodyPr/>
          <a:lstStyle/>
          <a:p>
            <a:r>
              <a:rPr lang="en-US" sz="1800" dirty="0">
                <a:latin typeface="Arial" panose="020B0604020202020204" pitchFamily="34" charset="0"/>
                <a:cs typeface="Arial" panose="020B0604020202020204" pitchFamily="34" charset="0"/>
              </a:rPr>
              <a:t>- After a few minutes you come across orange barrels at the side of the road that begin to </a:t>
            </a:r>
            <a:r>
              <a:rPr lang="en-US" sz="1800" dirty="0">
                <a:solidFill>
                  <a:srgbClr val="FF0000"/>
                </a:solidFill>
                <a:latin typeface="Arial" panose="020B0604020202020204" pitchFamily="34" charset="0"/>
                <a:cs typeface="Arial" panose="020B0604020202020204" pitchFamily="34" charset="0"/>
              </a:rPr>
              <a:t>cut off the outside lane of traffic</a:t>
            </a:r>
            <a:r>
              <a:rPr lang="en-US" sz="1800" dirty="0">
                <a:latin typeface="Arial" panose="020B0604020202020204" pitchFamily="34" charset="0"/>
                <a:cs typeface="Arial" panose="020B0604020202020204" pitchFamily="34" charset="0"/>
              </a:rPr>
              <a:t>. At this point you </a:t>
            </a:r>
            <a:r>
              <a:rPr lang="en-US" sz="1800" dirty="0">
                <a:solidFill>
                  <a:srgbClr val="FF0000"/>
                </a:solidFill>
                <a:latin typeface="Arial" panose="020B0604020202020204" pitchFamily="34" charset="0"/>
                <a:cs typeface="Arial" panose="020B0604020202020204" pitchFamily="34" charset="0"/>
              </a:rPr>
              <a:t>determine</a:t>
            </a:r>
            <a:r>
              <a:rPr lang="en-US" sz="1800" dirty="0">
                <a:latin typeface="Arial" panose="020B0604020202020204" pitchFamily="34" charset="0"/>
                <a:cs typeface="Arial" panose="020B0604020202020204" pitchFamily="34" charset="0"/>
              </a:rPr>
              <a:t> that the best explanation of your slow down is </a:t>
            </a:r>
            <a:r>
              <a:rPr lang="en-US" sz="1800" dirty="0">
                <a:solidFill>
                  <a:srgbClr val="FF0000"/>
                </a:solidFill>
                <a:latin typeface="Arial" panose="020B0604020202020204" pitchFamily="34" charset="0"/>
                <a:cs typeface="Arial" panose="020B0604020202020204" pitchFamily="34" charset="0"/>
              </a:rPr>
              <a:t>road construction</a:t>
            </a:r>
            <a:r>
              <a:rPr lang="en-US" sz="1800" dirty="0">
                <a:latin typeface="Arial" panose="020B0604020202020204" pitchFamily="34" charset="0"/>
                <a:cs typeface="Arial" panose="020B0604020202020204" pitchFamily="34" charset="0"/>
              </a:rPr>
              <a:t>. At the same time the alternative hypothesis of accident is explained away.</a:t>
            </a:r>
          </a:p>
          <a:p>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-Similarly if you would have </a:t>
            </a:r>
            <a:r>
              <a:rPr lang="en-US" sz="1800" dirty="0">
                <a:solidFill>
                  <a:srgbClr val="FF0000"/>
                </a:solidFill>
                <a:latin typeface="Arial" panose="020B0604020202020204" pitchFamily="34" charset="0"/>
                <a:cs typeface="Arial" panose="020B0604020202020204" pitchFamily="34" charset="0"/>
              </a:rPr>
              <a:t>seen flashing lights</a:t>
            </a:r>
            <a:r>
              <a:rPr lang="en-US" sz="1800" dirty="0">
                <a:latin typeface="Arial" panose="020B0604020202020204" pitchFamily="34" charset="0"/>
                <a:cs typeface="Arial" panose="020B0604020202020204" pitchFamily="34" charset="0"/>
              </a:rPr>
              <a:t> in the distance ahead, such as from a police vehicle or an ambulance, the best explanation given  this  evidence  would  be  a  </a:t>
            </a:r>
            <a:r>
              <a:rPr lang="en-US" sz="1800" dirty="0">
                <a:solidFill>
                  <a:srgbClr val="FF0000"/>
                </a:solidFill>
                <a:latin typeface="Arial" panose="020B0604020202020204" pitchFamily="34" charset="0"/>
                <a:cs typeface="Arial" panose="020B0604020202020204" pitchFamily="34" charset="0"/>
              </a:rPr>
              <a:t>traffic  accident  </a:t>
            </a:r>
            <a:r>
              <a:rPr lang="en-US" sz="1800" dirty="0">
                <a:latin typeface="Arial" panose="020B0604020202020204" pitchFamily="34" charset="0"/>
                <a:cs typeface="Arial" panose="020B0604020202020204" pitchFamily="34" charset="0"/>
              </a:rPr>
              <a:t>and  road construction  would  have  been explained away.</a:t>
            </a:r>
          </a:p>
          <a:p>
            <a:endParaRPr lang="en-US" sz="1800" dirty="0"/>
          </a:p>
        </p:txBody>
      </p:sp>
      <p:sp>
        <p:nvSpPr>
          <p:cNvPr id="4" name="Title 3">
            <a:extLst>
              <a:ext uri="{FF2B5EF4-FFF2-40B4-BE49-F238E27FC236}">
                <a16:creationId xmlns:a16="http://schemas.microsoft.com/office/drawing/2014/main" id="{1F598308-4626-422C-AE8D-9389D21AD285}"/>
              </a:ext>
            </a:extLst>
          </p:cNvPr>
          <p:cNvSpPr>
            <a:spLocks noGrp="1"/>
          </p:cNvSpPr>
          <p:nvPr>
            <p:ph type="title"/>
          </p:nvPr>
        </p:nvSpPr>
        <p:spPr>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latin typeface="Arial" panose="020B0604020202020204" pitchFamily="34" charset="0"/>
                <a:cs typeface="Arial" panose="020B0604020202020204" pitchFamily="34" charset="0"/>
              </a:rPr>
              <a:t>5.4.2 Extending the Road/Traffic Example</a:t>
            </a:r>
          </a:p>
        </p:txBody>
      </p:sp>
      <p:sp>
        <p:nvSpPr>
          <p:cNvPr id="5" name="Rectangle 4"/>
          <p:cNvSpPr/>
          <p:nvPr/>
        </p:nvSpPr>
        <p:spPr>
          <a:xfrm>
            <a:off x="684686" y="1200151"/>
            <a:ext cx="1018227" cy="369332"/>
          </a:xfrm>
          <a:prstGeom prst="rect">
            <a:avLst/>
          </a:prstGeom>
        </p:spPr>
        <p:txBody>
          <a:bodyPr wrap="none">
            <a:spAutoFit/>
          </a:bodyPr>
          <a:lstStyle/>
          <a:p>
            <a:r>
              <a:rPr lang="en-US" dirty="0">
                <a:solidFill>
                  <a:srgbClr val="FF0000"/>
                </a:solidFill>
              </a:rPr>
              <a:t>Solution</a:t>
            </a:r>
            <a:endParaRPr lang="en-US" dirty="0"/>
          </a:p>
        </p:txBody>
      </p:sp>
      <p:pic>
        <p:nvPicPr>
          <p:cNvPr id="7" name="Picture 6">
            <a:extLst>
              <a:ext uri="{FF2B5EF4-FFF2-40B4-BE49-F238E27FC236}">
                <a16:creationId xmlns:a16="http://schemas.microsoft.com/office/drawing/2014/main" id="{85F2DE63-7FF4-4486-A908-A44CCA3855B4}"/>
              </a:ext>
            </a:extLst>
          </p:cNvPr>
          <p:cNvPicPr>
            <a:picLocks noChangeAspect="1"/>
          </p:cNvPicPr>
          <p:nvPr/>
        </p:nvPicPr>
        <p:blipFill>
          <a:blip r:embed="rId2"/>
          <a:stretch>
            <a:fillRect/>
          </a:stretch>
        </p:blipFill>
        <p:spPr>
          <a:xfrm>
            <a:off x="6145214" y="1569483"/>
            <a:ext cx="2846475" cy="3002517"/>
          </a:xfrm>
          <a:prstGeom prst="rect">
            <a:avLst/>
          </a:prstGeom>
        </p:spPr>
      </p:pic>
    </p:spTree>
    <p:extLst>
      <p:ext uri="{BB962C8B-B14F-4D97-AF65-F5344CB8AC3E}">
        <p14:creationId xmlns:p14="http://schemas.microsoft.com/office/powerpoint/2010/main" val="4259022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5.5 </a:t>
            </a:r>
            <a:r>
              <a:rPr lang="en-US" dirty="0"/>
              <a:t>Epilogue and References</a:t>
            </a:r>
            <a:endParaRPr lang="en-US" dirty="0"/>
          </a:p>
        </p:txBody>
      </p:sp>
      <p:sp>
        <p:nvSpPr>
          <p:cNvPr id="3" name="Content Placeholder 2"/>
          <p:cNvSpPr>
            <a:spLocks noGrp="1"/>
          </p:cNvSpPr>
          <p:nvPr>
            <p:ph idx="1"/>
          </p:nvPr>
        </p:nvSpPr>
        <p:spPr/>
        <p:txBody>
          <a:bodyPr/>
          <a:lstStyle/>
          <a:p>
            <a:r>
              <a:rPr lang="en-US" dirty="0"/>
              <a:t>As noted in the chapter, probabilistic reasoning begins with determining </a:t>
            </a:r>
            <a:r>
              <a:rPr lang="en-US" dirty="0" smtClean="0"/>
              <a:t>principles of </a:t>
            </a:r>
            <a:r>
              <a:rPr lang="en-US" dirty="0"/>
              <a:t>counting and </a:t>
            </a:r>
            <a:r>
              <a:rPr lang="en-US" dirty="0" err="1"/>
              <a:t>combinatorics</a:t>
            </a:r>
            <a:r>
              <a:rPr lang="en-US" dirty="0" smtClean="0"/>
              <a:t>.</a:t>
            </a:r>
          </a:p>
          <a:p>
            <a:r>
              <a:rPr lang="en-US" dirty="0"/>
              <a:t>Actually, one of the first combinatorial “machines” </a:t>
            </a:r>
            <a:r>
              <a:rPr lang="en-US" dirty="0" smtClean="0"/>
              <a:t>is attributed </a:t>
            </a:r>
            <a:r>
              <a:rPr lang="en-US" dirty="0"/>
              <a:t>to </a:t>
            </a:r>
            <a:r>
              <a:rPr lang="en-US" dirty="0" err="1" smtClean="0"/>
              <a:t>Raon</a:t>
            </a:r>
            <a:r>
              <a:rPr lang="en-US" dirty="0" smtClean="0"/>
              <a:t> </a:t>
            </a:r>
            <a:r>
              <a:rPr lang="en-US" dirty="0" err="1"/>
              <a:t>Llull</a:t>
            </a:r>
            <a:r>
              <a:rPr lang="en-US" dirty="0"/>
              <a:t> (Ford et al. 1995), automatically enumerate the attributes of God, with </a:t>
            </a:r>
            <a:r>
              <a:rPr lang="en-US" dirty="0" smtClean="0"/>
              <a:t>the intention </a:t>
            </a:r>
            <a:r>
              <a:rPr lang="en-US" dirty="0"/>
              <a:t>of converting heathens. The first publication on probabilities,</a:t>
            </a:r>
          </a:p>
        </p:txBody>
      </p:sp>
    </p:spTree>
    <p:extLst>
      <p:ext uri="{BB962C8B-B14F-4D97-AF65-F5344CB8AC3E}">
        <p14:creationId xmlns:p14="http://schemas.microsoft.com/office/powerpoint/2010/main" val="135942767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329"/>
            <a:ext cx="8229600" cy="857250"/>
          </a:xfrm>
        </p:spPr>
        <p:txBody>
          <a:bodyPr/>
          <a:lstStyle/>
          <a:p>
            <a:r>
              <a:rPr lang="en-US" b="1" dirty="0"/>
              <a:t>5.5 </a:t>
            </a:r>
            <a:r>
              <a:rPr lang="en-US" dirty="0"/>
              <a:t>Epilogue and References</a:t>
            </a:r>
          </a:p>
        </p:txBody>
      </p:sp>
      <p:sp>
        <p:nvSpPr>
          <p:cNvPr id="3" name="Content Placeholder 2"/>
          <p:cNvSpPr>
            <a:spLocks noGrp="1"/>
          </p:cNvSpPr>
          <p:nvPr>
            <p:ph idx="1"/>
          </p:nvPr>
        </p:nvSpPr>
        <p:spPr>
          <a:xfrm>
            <a:off x="457200" y="1200150"/>
            <a:ext cx="8229600" cy="3651250"/>
          </a:xfrm>
        </p:spPr>
        <p:txBody>
          <a:bodyPr/>
          <a:lstStyle/>
          <a:p>
            <a:r>
              <a:rPr lang="en-US" dirty="0"/>
              <a:t>The definitions of probabilities presented in Section 5.2.1 are based on the </a:t>
            </a:r>
            <a:r>
              <a:rPr lang="en-US" dirty="0" smtClean="0"/>
              <a:t>formalism proposed </a:t>
            </a:r>
            <a:r>
              <a:rPr lang="en-US" dirty="0"/>
              <a:t>by the French </a:t>
            </a:r>
            <a:r>
              <a:rPr lang="en-US" dirty="0" smtClean="0"/>
              <a:t>mathematician </a:t>
            </a:r>
            <a:r>
              <a:rPr lang="en-US" dirty="0"/>
              <a:t>Pierre Simon Laplace</a:t>
            </a:r>
            <a:r>
              <a:rPr lang="en-US" dirty="0" smtClean="0"/>
              <a:t>.</a:t>
            </a:r>
          </a:p>
          <a:p>
            <a:r>
              <a:rPr lang="en-US" dirty="0"/>
              <a:t>Thomas Bayes was a mathematician and a minister. His famous theorem was </a:t>
            </a:r>
            <a:r>
              <a:rPr lang="en-US" dirty="0" smtClean="0"/>
              <a:t>published in </a:t>
            </a:r>
            <a:r>
              <a:rPr lang="en-US" dirty="0"/>
              <a:t>1764, after his death</a:t>
            </a:r>
            <a:r>
              <a:rPr lang="en-US" dirty="0" smtClean="0"/>
              <a:t>.</a:t>
            </a:r>
          </a:p>
          <a:p>
            <a:r>
              <a:rPr lang="en-US" dirty="0"/>
              <a:t>The mathematicians of the early twentieth century, completed the foundation of modern probability theory </a:t>
            </a:r>
            <a:r>
              <a:rPr lang="en-US" dirty="0" smtClean="0"/>
              <a:t>continuing the </a:t>
            </a:r>
            <a:r>
              <a:rPr lang="en-US" dirty="0"/>
              <a:t>“subjective/objective” debates on the nature of probabilities </a:t>
            </a:r>
          </a:p>
        </p:txBody>
      </p:sp>
    </p:spTree>
    <p:extLst>
      <p:ext uri="{BB962C8B-B14F-4D97-AF65-F5344CB8AC3E}">
        <p14:creationId xmlns:p14="http://schemas.microsoft.com/office/powerpoint/2010/main" val="213649652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5.5 </a:t>
            </a:r>
            <a:r>
              <a:rPr lang="en-US" dirty="0"/>
              <a:t>Epilogue and References</a:t>
            </a:r>
          </a:p>
        </p:txBody>
      </p:sp>
      <p:sp>
        <p:nvSpPr>
          <p:cNvPr id="3" name="Content Placeholder 2"/>
          <p:cNvSpPr>
            <a:spLocks noGrp="1"/>
          </p:cNvSpPr>
          <p:nvPr>
            <p:ph idx="1"/>
          </p:nvPr>
        </p:nvSpPr>
        <p:spPr/>
        <p:txBody>
          <a:bodyPr/>
          <a:lstStyle/>
          <a:p>
            <a:r>
              <a:rPr lang="en-US" dirty="0"/>
              <a:t>We have chosen the second approach to </a:t>
            </a:r>
            <a:r>
              <a:rPr lang="en-US" dirty="0" smtClean="0"/>
              <a:t>probabilistic reasoning</a:t>
            </a:r>
            <a:r>
              <a:rPr lang="en-US" dirty="0"/>
              <a:t>, feeling this orientation is a bit more intuitive, bringing to bear all </a:t>
            </a:r>
            <a:r>
              <a:rPr lang="en-US" dirty="0" smtClean="0"/>
              <a:t>the counting </a:t>
            </a:r>
            <a:r>
              <a:rPr lang="en-US" dirty="0"/>
              <a:t>and other techniques of set theory, as seen in Section </a:t>
            </a:r>
            <a:r>
              <a:rPr lang="en-US" dirty="0" smtClean="0"/>
              <a:t>5.1</a:t>
            </a:r>
          </a:p>
          <a:p>
            <a:r>
              <a:rPr lang="en-US" dirty="0"/>
              <a:t>Bayes’ theorem has offered a foundation for several expert systems of the 1970s </a:t>
            </a:r>
            <a:r>
              <a:rPr lang="en-US" dirty="0" smtClean="0"/>
              <a:t>and1980s</a:t>
            </a:r>
          </a:p>
          <a:p>
            <a:endParaRPr lang="en-US" dirty="0"/>
          </a:p>
          <a:p>
            <a:endParaRPr lang="en-US" dirty="0"/>
          </a:p>
        </p:txBody>
      </p:sp>
    </p:spTree>
    <p:extLst>
      <p:ext uri="{BB962C8B-B14F-4D97-AF65-F5344CB8AC3E}">
        <p14:creationId xmlns:p14="http://schemas.microsoft.com/office/powerpoint/2010/main" val="377023481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naive Bayes approach has been used in a number of classification problems, including pattern recognition, natural language processing and </a:t>
            </a:r>
            <a:r>
              <a:rPr lang="en-US" dirty="0" smtClean="0"/>
              <a:t>elsewhere.</a:t>
            </a:r>
          </a:p>
          <a:p>
            <a:r>
              <a:rPr lang="en-US" dirty="0" smtClean="0"/>
              <a:t>**</a:t>
            </a:r>
            <a:r>
              <a:rPr lang="en-US" dirty="0" err="1" smtClean="0"/>
              <a:t>Domingos</a:t>
            </a:r>
            <a:r>
              <a:rPr lang="en-US" dirty="0" smtClean="0"/>
              <a:t> and </a:t>
            </a:r>
            <a:r>
              <a:rPr lang="en-US" dirty="0" err="1"/>
              <a:t>Pazzani</a:t>
            </a:r>
            <a:r>
              <a:rPr lang="en-US" dirty="0"/>
              <a:t> (1997) offer justification for the successes of naive Bayes classifiers in </a:t>
            </a:r>
            <a:r>
              <a:rPr lang="en-US" dirty="0" smtClean="0"/>
              <a:t>situations which </a:t>
            </a:r>
            <a:r>
              <a:rPr lang="en-US" dirty="0"/>
              <a:t>do not meet Bayesian independence assumptions</a:t>
            </a:r>
            <a:r>
              <a:rPr lang="en-US" dirty="0" smtClean="0"/>
              <a:t>.</a:t>
            </a:r>
          </a:p>
          <a:p>
            <a:r>
              <a:rPr lang="en-US" dirty="0"/>
              <a:t>Uncertain reasoning makes up </a:t>
            </a:r>
            <a:r>
              <a:rPr lang="en-US" dirty="0" smtClean="0"/>
              <a:t>a component </a:t>
            </a:r>
            <a:r>
              <a:rPr lang="en-US" dirty="0"/>
              <a:t>of AI conferences, including AAAI, IJCAI, NIPS, and UAI</a:t>
            </a:r>
          </a:p>
          <a:p>
            <a:endParaRPr lang="en-US" dirty="0" smtClean="0"/>
          </a:p>
          <a:p>
            <a:endParaRPr lang="en-US" dirty="0"/>
          </a:p>
          <a:p>
            <a:endParaRPr lang="en-US" dirty="0"/>
          </a:p>
        </p:txBody>
      </p:sp>
    </p:spTree>
    <p:extLst>
      <p:ext uri="{BB962C8B-B14F-4D97-AF65-F5344CB8AC3E}">
        <p14:creationId xmlns:p14="http://schemas.microsoft.com/office/powerpoint/2010/main" val="3342500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4344</Words>
  <Application>Microsoft Office PowerPoint</Application>
  <PresentationFormat>On-screen Show (16:9)</PresentationFormat>
  <Paragraphs>549</Paragraphs>
  <Slides>81</Slides>
  <Notes>11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81</vt:i4>
      </vt:variant>
    </vt:vector>
  </HeadingPairs>
  <TitlesOfParts>
    <vt:vector size="94" baseType="lpstr">
      <vt:lpstr>Arial</vt:lpstr>
      <vt:lpstr>Calibri</vt:lpstr>
      <vt:lpstr>Calibri Body</vt:lpstr>
      <vt:lpstr>Calibri Light</vt:lpstr>
      <vt:lpstr>Calibri2</vt:lpstr>
      <vt:lpstr>Cambria Math</vt:lpstr>
      <vt:lpstr>Courier New</vt:lpstr>
      <vt:lpstr>MathJax_Main</vt:lpstr>
      <vt:lpstr>MathJax_Math-italic</vt:lpstr>
      <vt:lpstr>pt sans</vt:lpstr>
      <vt:lpstr>Wingdings</vt:lpstr>
      <vt:lpstr>Diseño predeterminado</vt:lpstr>
      <vt:lpstr>Office Theme</vt:lpstr>
      <vt:lpstr>Artificial Intelligence  Chapter 5: STOCHASTIC METHODS</vt:lpstr>
      <vt:lpstr>OutLine</vt:lpstr>
      <vt:lpstr>I. Introduction </vt:lpstr>
      <vt:lpstr>Introduction</vt:lpstr>
      <vt:lpstr>Introduction</vt:lpstr>
      <vt:lpstr>Introduction</vt:lpstr>
      <vt:lpstr>Introduction</vt:lpstr>
      <vt:lpstr>Introduction</vt:lpstr>
      <vt:lpstr>Introduction</vt:lpstr>
      <vt:lpstr>Introduction</vt:lpstr>
      <vt:lpstr>5.1 The Elements of Counting</vt:lpstr>
      <vt:lpstr>5.1.1 The Addition and Multiplication Rules  </vt:lpstr>
      <vt:lpstr>PowerPoint Presentation</vt:lpstr>
      <vt:lpstr>PowerPoint Presentation</vt:lpstr>
      <vt:lpstr>PowerPoint Presentation</vt:lpstr>
      <vt:lpstr>5.1.1 The Addition and Multiplication Rules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5.1.2 Permutations and Combinations</vt:lpstr>
      <vt:lpstr>5.1.2 The Permutations and Combinations  </vt:lpstr>
      <vt:lpstr>5.1.2 The Permutations and Combinations  </vt:lpstr>
      <vt:lpstr>5.1.2 The Permutations and Combinations  </vt:lpstr>
      <vt:lpstr>5.1.2 The Permutations and Combinations  </vt:lpstr>
      <vt:lpstr>5.2 Elements of Probability Theory  </vt:lpstr>
      <vt:lpstr>5.2.1 The Sample Space, Probabilities, and Independence  </vt:lpstr>
      <vt:lpstr>5.2.1 The Sample Space, Probabilities, and Independence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5.2.1 The Sample Space, Probabilities, and Independence  </vt:lpstr>
      <vt:lpstr>5.2.1 The Sample Space, Probabilities, and Independence</vt:lpstr>
      <vt:lpstr>5.2.1 The Sample Space, Probabilities, and Independence</vt:lpstr>
      <vt:lpstr>5.2.1 The Sample Space, Probabilities, and Independence</vt:lpstr>
      <vt:lpstr>5.2.1 The Sample Space, Probabilities, and Independence</vt:lpstr>
      <vt:lpstr>5.2.1 The Sample Space, Probabilities, and Independence</vt:lpstr>
      <vt:lpstr>5.2.1 The Sample Space, Probabilities, and Independence</vt:lpstr>
      <vt:lpstr>5.2.1 The Sample Space, Probabilities, and Independence</vt:lpstr>
      <vt:lpstr>5.2.1 The Sample Space, Probabilities, and Independence</vt:lpstr>
      <vt:lpstr>5.2.4 Conditional Probability </vt:lpstr>
      <vt:lpstr>5.2.4 Conditional Probability </vt:lpstr>
      <vt:lpstr>5.2.4 Conditional Probability </vt:lpstr>
      <vt:lpstr>5.2.4 Conditional Probability </vt:lpstr>
      <vt:lpstr>5.2.4 Conditional Probability </vt:lpstr>
      <vt:lpstr>5.2.4 Conditional Probability </vt:lpstr>
      <vt:lpstr>5.2.4 Conditional Probability </vt:lpstr>
      <vt:lpstr>5.2.4 Conditional Probability </vt:lpstr>
      <vt:lpstr>5.2.4 Conditional Probability</vt:lpstr>
      <vt:lpstr>5.2.4 Conditional Probability </vt:lpstr>
      <vt:lpstr>5.2.4 Conditional Probability </vt:lpstr>
      <vt:lpstr>5.2.4 Conditional Probability </vt:lpstr>
      <vt:lpstr>Bayes’ Theorem</vt:lpstr>
      <vt:lpstr>Bayes’ Theorem</vt:lpstr>
      <vt:lpstr>Bayes’ Theorem</vt:lpstr>
      <vt:lpstr>Bayes’ Theorem</vt:lpstr>
      <vt:lpstr>Bayes’ Theorem</vt:lpstr>
      <vt:lpstr>5.4 Applications of the Stochastic Methodology</vt:lpstr>
      <vt:lpstr>5.4 Applications of the Stochastic Methodology</vt:lpstr>
      <vt:lpstr>5.4 Applications of the Stochastic Methodology</vt:lpstr>
      <vt:lpstr>5.4 Applications of the Stochastic Methodology </vt:lpstr>
      <vt:lpstr>5.4.1 : So How Is “Tomato” Pronounced?</vt:lpstr>
      <vt:lpstr>5.4.1 : So How Is “Tomato” Pronounced?</vt:lpstr>
      <vt:lpstr>5.4.2 Extending the Road/Traffic Example </vt:lpstr>
      <vt:lpstr>5.4.2 Extending the Road/Traffic Example</vt:lpstr>
      <vt:lpstr>5.5 Epilogue and References</vt:lpstr>
      <vt:lpstr>5.5 Epilogue and References</vt:lpstr>
      <vt:lpstr>5.5 Epilogue and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2019-03-28T13:57:51Z</dcterms:created>
  <dcterms:modified xsi:type="dcterms:W3CDTF">2019-03-28T17:43:43Z</dcterms:modified>
</cp:coreProperties>
</file>